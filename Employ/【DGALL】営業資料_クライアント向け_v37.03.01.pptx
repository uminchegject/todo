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omments/modernComment_52D_E127EF4.xml" ContentType="application/vnd.ms-powerpoint.comments+xml"/>
  <Override PartName="/ppt/notesSlides/notesSlide50.xml" ContentType="application/vnd.openxmlformats-officedocument.presentationml.notesSlide+xml"/>
  <Override PartName="/ppt/comments/modernComment_531_A9A72C00.xml" ContentType="application/vnd.ms-powerpoint.comments+xml"/>
  <Override PartName="/ppt/comments/modernComment_4E3_682DBA9.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93" r:id="rId4"/>
    <p:sldMasterId id="2147483714" r:id="rId5"/>
  </p:sldMasterIdLst>
  <p:notesMasterIdLst>
    <p:notesMasterId r:id="rId75"/>
  </p:notesMasterIdLst>
  <p:handoutMasterIdLst>
    <p:handoutMasterId r:id="rId76"/>
  </p:handoutMasterIdLst>
  <p:sldIdLst>
    <p:sldId id="1239" r:id="rId6"/>
    <p:sldId id="1289" r:id="rId7"/>
    <p:sldId id="1338" r:id="rId8"/>
    <p:sldId id="1312" r:id="rId9"/>
    <p:sldId id="1234" r:id="rId10"/>
    <p:sldId id="1309" r:id="rId11"/>
    <p:sldId id="1311" r:id="rId12"/>
    <p:sldId id="1314" r:id="rId13"/>
    <p:sldId id="1306" r:id="rId14"/>
    <p:sldId id="1089" r:id="rId15"/>
    <p:sldId id="1414" r:id="rId16"/>
    <p:sldId id="1360" r:id="rId17"/>
    <p:sldId id="1111" r:id="rId18"/>
    <p:sldId id="1415" r:id="rId19"/>
    <p:sldId id="1419" r:id="rId20"/>
    <p:sldId id="1418" r:id="rId21"/>
    <p:sldId id="1403" r:id="rId22"/>
    <p:sldId id="1407" r:id="rId23"/>
    <p:sldId id="1417" r:id="rId24"/>
    <p:sldId id="1422" r:id="rId25"/>
    <p:sldId id="1410" r:id="rId26"/>
    <p:sldId id="1413" r:id="rId27"/>
    <p:sldId id="1408" r:id="rId28"/>
    <p:sldId id="1421" r:id="rId29"/>
    <p:sldId id="1411" r:id="rId30"/>
    <p:sldId id="1420" r:id="rId31"/>
    <p:sldId id="1416" r:id="rId32"/>
    <p:sldId id="1370" r:id="rId33"/>
    <p:sldId id="1357" r:id="rId34"/>
    <p:sldId id="1355" r:id="rId35"/>
    <p:sldId id="1361" r:id="rId36"/>
    <p:sldId id="1365" r:id="rId37"/>
    <p:sldId id="319" r:id="rId38"/>
    <p:sldId id="1349" r:id="rId39"/>
    <p:sldId id="1328" r:id="rId40"/>
    <p:sldId id="1359" r:id="rId41"/>
    <p:sldId id="1337" r:id="rId42"/>
    <p:sldId id="1366" r:id="rId43"/>
    <p:sldId id="1356" r:id="rId44"/>
    <p:sldId id="1396" r:id="rId45"/>
    <p:sldId id="1383" r:id="rId46"/>
    <p:sldId id="1385" r:id="rId47"/>
    <p:sldId id="1386" r:id="rId48"/>
    <p:sldId id="1333" r:id="rId49"/>
    <p:sldId id="1395" r:id="rId50"/>
    <p:sldId id="1335" r:id="rId51"/>
    <p:sldId id="1336" r:id="rId52"/>
    <p:sldId id="1378" r:id="rId53"/>
    <p:sldId id="1400" r:id="rId54"/>
    <p:sldId id="1393" r:id="rId55"/>
    <p:sldId id="1412" r:id="rId56"/>
    <p:sldId id="1373" r:id="rId57"/>
    <p:sldId id="1380" r:id="rId58"/>
    <p:sldId id="1326" r:id="rId59"/>
    <p:sldId id="1375" r:id="rId60"/>
    <p:sldId id="1399" r:id="rId61"/>
    <p:sldId id="1397" r:id="rId62"/>
    <p:sldId id="1394" r:id="rId63"/>
    <p:sldId id="1384" r:id="rId64"/>
    <p:sldId id="1387" r:id="rId65"/>
    <p:sldId id="1374" r:id="rId66"/>
    <p:sldId id="1368" r:id="rId67"/>
    <p:sldId id="1351" r:id="rId68"/>
    <p:sldId id="1352" r:id="rId69"/>
    <p:sldId id="1388" r:id="rId70"/>
    <p:sldId id="1325" r:id="rId71"/>
    <p:sldId id="1246" r:id="rId72"/>
    <p:sldId id="1329" r:id="rId73"/>
    <p:sldId id="1251" r:id="rId7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会社紹介　※必須" id="{EFDCB2C7-680D-487E-AF8B-0B42FA398599}">
          <p14:sldIdLst>
            <p14:sldId id="1239"/>
            <p14:sldId id="1289"/>
            <p14:sldId id="1338"/>
            <p14:sldId id="1312"/>
            <p14:sldId id="1234"/>
            <p14:sldId id="1309"/>
            <p14:sldId id="1311"/>
            <p14:sldId id="1314"/>
            <p14:sldId id="1306"/>
          </p14:sldIdLst>
        </p14:section>
        <p14:section name="DG紹介" id="{3E75678C-AAA5-4658-8467-FE8E6CC15C97}">
          <p14:sldIdLst>
            <p14:sldId id="1089"/>
            <p14:sldId id="1414"/>
            <p14:sldId id="1360"/>
            <p14:sldId id="1111"/>
            <p14:sldId id="1415"/>
            <p14:sldId id="1419"/>
            <p14:sldId id="1418"/>
            <p14:sldId id="1403"/>
            <p14:sldId id="1407"/>
            <p14:sldId id="1417"/>
            <p14:sldId id="1422"/>
            <p14:sldId id="1410"/>
            <p14:sldId id="1413"/>
            <p14:sldId id="1408"/>
            <p14:sldId id="1421"/>
            <p14:sldId id="1411"/>
            <p14:sldId id="1420"/>
            <p14:sldId id="1416"/>
            <p14:sldId id="1370"/>
            <p14:sldId id="1357"/>
            <p14:sldId id="1355"/>
            <p14:sldId id="1361"/>
            <p14:sldId id="1365"/>
            <p14:sldId id="319"/>
            <p14:sldId id="1349"/>
          </p14:sldIdLst>
        </p14:section>
        <p14:section name="プロデュース事業のスライド　※自由選択" id="{7F778AE7-619C-4619-A37F-139DACA16013}">
          <p14:sldIdLst>
            <p14:sldId id="1328"/>
            <p14:sldId id="1359"/>
            <p14:sldId id="1337"/>
            <p14:sldId id="1366"/>
            <p14:sldId id="1356"/>
            <p14:sldId id="1396"/>
            <p14:sldId id="1383"/>
            <p14:sldId id="1385"/>
            <p14:sldId id="1386"/>
          </p14:sldIdLst>
        </p14:section>
        <p14:section name="エージェンシー事業のスライド　※自由選択" id="{11E0E685-D79A-484F-A539-4BAC6702FD45}">
          <p14:sldIdLst>
            <p14:sldId id="1333"/>
            <p14:sldId id="1395"/>
            <p14:sldId id="1335"/>
            <p14:sldId id="1336"/>
          </p14:sldIdLst>
        </p14:section>
        <p14:section name="最近の取り組み：※自由選択" id="{B2258CEA-6575-42A2-8DDB-98B6C61C2FF3}">
          <p14:sldIdLst>
            <p14:sldId id="1378"/>
            <p14:sldId id="1400"/>
            <p14:sldId id="1393"/>
            <p14:sldId id="1412"/>
            <p14:sldId id="1373"/>
            <p14:sldId id="1380"/>
            <p14:sldId id="1326"/>
            <p14:sldId id="1375"/>
            <p14:sldId id="1399"/>
            <p14:sldId id="1397"/>
            <p14:sldId id="1394"/>
            <p14:sldId id="1384"/>
            <p14:sldId id="1387"/>
            <p14:sldId id="1374"/>
            <p14:sldId id="1368"/>
            <p14:sldId id="1351"/>
            <p14:sldId id="1352"/>
            <p14:sldId id="1388"/>
            <p14:sldId id="1325"/>
            <p14:sldId id="1246"/>
            <p14:sldId id="1329"/>
            <p14:sldId id="125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2E5C70E-FBE2-1C0F-655B-113D08165138}" name="Nakamura,Eriko CR/CPG" initials="NC" userId="S::e_nakamu@hq.cri.co.jp::b3278c3d-b2e3-43a5-a714-3e24a424a992" providerId="AD"/>
  <p188:author id="{6ACA3753-D85C-D90D-15A9-002A9F4B501E}" name="Kaneko,Megumi CR/CPG" initials="KC" userId="S::megumi.kaneko@hq.cri.co.jp::ae72b880-283f-4d02-94ec-933a3e8176b9" providerId="AD"/>
  <p188:author id="{DE168569-F255-0131-BAD2-8E03ED5EC6EB}" name="Matsui,Rie CR/1DG" initials="MC" userId="S::r.matsui@hq.cri.co.jp::1e64dcec-ec78-4026-b084-382b2e194fb7" providerId="AD"/>
  <p188:author id="{9CF4EA89-DFFC-9F61-B9A0-26C118A176F7}" name="松井 理絵" initials="M" userId="松井 理絵"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FF00FF"/>
    <a:srgbClr val="000000"/>
    <a:srgbClr val="1D4EA1"/>
    <a:srgbClr val="FFFFFF"/>
    <a:srgbClr val="F5B630"/>
    <a:srgbClr val="F4B82D"/>
    <a:srgbClr val="335FAA"/>
    <a:srgbClr val="006ED6"/>
    <a:srgbClr val="FF8B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0F4ADD-5477-CA20-23D8-DBE4E425928C}" v="2" dt="2026-03-05T09:51:30.05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82" Type="http://schemas.microsoft.com/office/2018/10/relationships/authors" Target="author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viewProps" Target="viewProps.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53F-4380-9CEC-63003733B64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2-453F-4380-9CEC-63003733B64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3-453F-4380-9CEC-63003733B64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4-453F-4380-9CEC-63003733B64F}"/>
              </c:ext>
            </c:extLst>
          </c:dPt>
          <c:cat>
            <c:strRef>
              <c:f>Sheet1!$A$2:$A$5</c:f>
              <c:strCache>
                <c:ptCount val="4"/>
                <c:pt idx="0">
                  <c:v>プロデュース
(開発･請負)</c:v>
                </c:pt>
                <c:pt idx="1">
                  <c:v>エージェンシー
(派遣)</c:v>
                </c:pt>
                <c:pt idx="2">
                  <c:v>エージェンシー
(紹介)</c:v>
                </c:pt>
                <c:pt idx="3">
                  <c:v>ライツマネジメント他</c:v>
                </c:pt>
              </c:strCache>
            </c:strRef>
          </c:cat>
          <c:val>
            <c:numRef>
              <c:f>Sheet1!$B$2:$B$5</c:f>
              <c:numCache>
                <c:formatCode>General</c:formatCode>
                <c:ptCount val="4"/>
                <c:pt idx="0">
                  <c:v>50.9</c:v>
                </c:pt>
                <c:pt idx="1">
                  <c:v>33.700000000000003</c:v>
                </c:pt>
                <c:pt idx="2">
                  <c:v>11.2</c:v>
                </c:pt>
                <c:pt idx="3">
                  <c:v>4.2</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売上高</c:v>
                      </c:pt>
                    </c:strCache>
                  </c:strRef>
                </c15:tx>
              </c15:filteredSeriesTitle>
            </c:ext>
            <c:ext xmlns:c16="http://schemas.microsoft.com/office/drawing/2014/chart" uri="{C3380CC4-5D6E-409C-BE32-E72D297353CC}">
              <c16:uniqueId val="{00000000-453F-4380-9CEC-63003733B64F}"/>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TV/映像</c:v>
                </c:pt>
              </c:strCache>
            </c:strRef>
          </c:tx>
          <c:spPr>
            <a:solidFill>
              <a:schemeClr val="accent1"/>
            </a:solidFill>
            <a:ln>
              <a:noFill/>
            </a:ln>
            <a:effectLst/>
          </c:spPr>
          <c:invertIfNegative val="0"/>
          <c:cat>
            <c:strRef>
              <c:f>Sheet1!$A$2:$A$3</c:f>
              <c:strCache>
                <c:ptCount val="2"/>
                <c:pt idx="0">
                  <c:v>営業利益</c:v>
                </c:pt>
                <c:pt idx="1">
                  <c:v>売上高</c:v>
                </c:pt>
              </c:strCache>
            </c:strRef>
          </c:cat>
          <c:val>
            <c:numRef>
              <c:f>Sheet1!$B$2:$B$3</c:f>
              <c:numCache>
                <c:formatCode>General</c:formatCode>
                <c:ptCount val="2"/>
                <c:pt idx="0">
                  <c:v>16.600000000000001</c:v>
                </c:pt>
                <c:pt idx="1">
                  <c:v>21.9</c:v>
                </c:pt>
              </c:numCache>
            </c:numRef>
          </c:val>
          <c:extLst>
            <c:ext xmlns:c16="http://schemas.microsoft.com/office/drawing/2014/chart" uri="{C3380CC4-5D6E-409C-BE32-E72D297353CC}">
              <c16:uniqueId val="{00000000-BC43-411C-A930-AB91D32B5AAA}"/>
            </c:ext>
          </c:extLst>
        </c:ser>
        <c:ser>
          <c:idx val="1"/>
          <c:order val="1"/>
          <c:tx>
            <c:strRef>
              <c:f>Sheet1!$C$1</c:f>
              <c:strCache>
                <c:ptCount val="1"/>
                <c:pt idx="0">
                  <c:v>ゲーム</c:v>
                </c:pt>
              </c:strCache>
            </c:strRef>
          </c:tx>
          <c:spPr>
            <a:solidFill>
              <a:schemeClr val="accent2"/>
            </a:solidFill>
            <a:ln>
              <a:noFill/>
            </a:ln>
            <a:effectLst/>
          </c:spPr>
          <c:invertIfNegative val="0"/>
          <c:cat>
            <c:strRef>
              <c:f>Sheet1!$A$2:$A$3</c:f>
              <c:strCache>
                <c:ptCount val="2"/>
                <c:pt idx="0">
                  <c:v>営業利益</c:v>
                </c:pt>
                <c:pt idx="1">
                  <c:v>売上高</c:v>
                </c:pt>
              </c:strCache>
            </c:strRef>
          </c:cat>
          <c:val>
            <c:numRef>
              <c:f>Sheet1!$C$2:$C$3</c:f>
              <c:numCache>
                <c:formatCode>General</c:formatCode>
                <c:ptCount val="2"/>
                <c:pt idx="0">
                  <c:v>39.799999999999997</c:v>
                </c:pt>
                <c:pt idx="1">
                  <c:v>26</c:v>
                </c:pt>
              </c:numCache>
            </c:numRef>
          </c:val>
          <c:extLst>
            <c:ext xmlns:c16="http://schemas.microsoft.com/office/drawing/2014/chart" uri="{C3380CC4-5D6E-409C-BE32-E72D297353CC}">
              <c16:uniqueId val="{00000001-BC43-411C-A930-AB91D32B5AAA}"/>
            </c:ext>
          </c:extLst>
        </c:ser>
        <c:ser>
          <c:idx val="2"/>
          <c:order val="2"/>
          <c:tx>
            <c:strRef>
              <c:f>Sheet1!$D$1</c:f>
              <c:strCache>
                <c:ptCount val="1"/>
                <c:pt idx="0">
                  <c:v>Web</c:v>
                </c:pt>
              </c:strCache>
            </c:strRef>
          </c:tx>
          <c:spPr>
            <a:solidFill>
              <a:schemeClr val="accent3"/>
            </a:solidFill>
            <a:ln>
              <a:noFill/>
            </a:ln>
            <a:effectLst/>
          </c:spPr>
          <c:invertIfNegative val="0"/>
          <c:cat>
            <c:strRef>
              <c:f>Sheet1!$A$2:$A$3</c:f>
              <c:strCache>
                <c:ptCount val="2"/>
                <c:pt idx="0">
                  <c:v>営業利益</c:v>
                </c:pt>
                <c:pt idx="1">
                  <c:v>売上高</c:v>
                </c:pt>
              </c:strCache>
            </c:strRef>
          </c:cat>
          <c:val>
            <c:numRef>
              <c:f>Sheet1!$D$2:$D$3</c:f>
              <c:numCache>
                <c:formatCode>General</c:formatCode>
                <c:ptCount val="2"/>
                <c:pt idx="0">
                  <c:v>18.8</c:v>
                </c:pt>
                <c:pt idx="1">
                  <c:v>18.2</c:v>
                </c:pt>
              </c:numCache>
            </c:numRef>
          </c:val>
          <c:extLst>
            <c:ext xmlns:c16="http://schemas.microsoft.com/office/drawing/2014/chart" uri="{C3380CC4-5D6E-409C-BE32-E72D297353CC}">
              <c16:uniqueId val="{00000002-BC43-411C-A930-AB91D32B5AAA}"/>
            </c:ext>
          </c:extLst>
        </c:ser>
        <c:ser>
          <c:idx val="3"/>
          <c:order val="3"/>
          <c:tx>
            <c:strRef>
              <c:f>Sheet1!$E$1</c:f>
              <c:strCache>
                <c:ptCount val="1"/>
                <c:pt idx="0">
                  <c:v>医療</c:v>
                </c:pt>
              </c:strCache>
            </c:strRef>
          </c:tx>
          <c:spPr>
            <a:solidFill>
              <a:schemeClr val="accent4"/>
            </a:solidFill>
            <a:ln>
              <a:noFill/>
            </a:ln>
            <a:effectLst/>
          </c:spPr>
          <c:invertIfNegative val="0"/>
          <c:cat>
            <c:strRef>
              <c:f>Sheet1!$A$2:$A$3</c:f>
              <c:strCache>
                <c:ptCount val="2"/>
                <c:pt idx="0">
                  <c:v>営業利益</c:v>
                </c:pt>
                <c:pt idx="1">
                  <c:v>売上高</c:v>
                </c:pt>
              </c:strCache>
            </c:strRef>
          </c:cat>
          <c:val>
            <c:numRef>
              <c:f>Sheet1!$E$2:$E$3</c:f>
              <c:numCache>
                <c:formatCode>General</c:formatCode>
                <c:ptCount val="2"/>
                <c:pt idx="0">
                  <c:v>29.1</c:v>
                </c:pt>
                <c:pt idx="1">
                  <c:v>10.5</c:v>
                </c:pt>
              </c:numCache>
            </c:numRef>
          </c:val>
          <c:extLst>
            <c:ext xmlns:c16="http://schemas.microsoft.com/office/drawing/2014/chart" uri="{C3380CC4-5D6E-409C-BE32-E72D297353CC}">
              <c16:uniqueId val="{00000003-BC43-411C-A930-AB91D32B5AAA}"/>
            </c:ext>
          </c:extLst>
        </c:ser>
        <c:ser>
          <c:idx val="4"/>
          <c:order val="4"/>
          <c:tx>
            <c:strRef>
              <c:f>Sheet1!$F$1</c:f>
              <c:strCache>
                <c:ptCount val="1"/>
                <c:pt idx="0">
                  <c:v>会計</c:v>
                </c:pt>
              </c:strCache>
            </c:strRef>
          </c:tx>
          <c:spPr>
            <a:solidFill>
              <a:schemeClr val="accent5"/>
            </a:solidFill>
            <a:ln>
              <a:noFill/>
            </a:ln>
            <a:effectLst/>
          </c:spPr>
          <c:invertIfNegative val="0"/>
          <c:cat>
            <c:strRef>
              <c:f>Sheet1!$A$2:$A$3</c:f>
              <c:strCache>
                <c:ptCount val="2"/>
                <c:pt idx="0">
                  <c:v>営業利益</c:v>
                </c:pt>
                <c:pt idx="1">
                  <c:v>売上高</c:v>
                </c:pt>
              </c:strCache>
            </c:strRef>
          </c:cat>
          <c:val>
            <c:numRef>
              <c:f>Sheet1!$F$2:$F$3</c:f>
              <c:numCache>
                <c:formatCode>General</c:formatCode>
                <c:ptCount val="2"/>
                <c:pt idx="0">
                  <c:v>1.4</c:v>
                </c:pt>
                <c:pt idx="1">
                  <c:v>4.2</c:v>
                </c:pt>
              </c:numCache>
            </c:numRef>
          </c:val>
          <c:extLst>
            <c:ext xmlns:c16="http://schemas.microsoft.com/office/drawing/2014/chart" uri="{C3380CC4-5D6E-409C-BE32-E72D297353CC}">
              <c16:uniqueId val="{00000004-BC43-411C-A930-AB91D32B5AAA}"/>
            </c:ext>
          </c:extLst>
        </c:ser>
        <c:ser>
          <c:idx val="5"/>
          <c:order val="5"/>
          <c:tx>
            <c:strRef>
              <c:f>Sheet1!$G$1</c:f>
              <c:strCache>
                <c:ptCount val="1"/>
                <c:pt idx="0">
                  <c:v>電子書籍・版権</c:v>
                </c:pt>
              </c:strCache>
            </c:strRef>
          </c:tx>
          <c:spPr>
            <a:solidFill>
              <a:schemeClr val="accent6"/>
            </a:solidFill>
            <a:ln>
              <a:noFill/>
            </a:ln>
            <a:effectLst/>
          </c:spPr>
          <c:invertIfNegative val="0"/>
          <c:cat>
            <c:strRef>
              <c:f>Sheet1!$A$2:$A$3</c:f>
              <c:strCache>
                <c:ptCount val="2"/>
                <c:pt idx="0">
                  <c:v>営業利益</c:v>
                </c:pt>
                <c:pt idx="1">
                  <c:v>売上高</c:v>
                </c:pt>
              </c:strCache>
            </c:strRef>
          </c:cat>
          <c:val>
            <c:numRef>
              <c:f>Sheet1!$G$2:$G$3</c:f>
              <c:numCache>
                <c:formatCode>General</c:formatCode>
                <c:ptCount val="2"/>
                <c:pt idx="0">
                  <c:v>8.1</c:v>
                </c:pt>
                <c:pt idx="1">
                  <c:v>1.7</c:v>
                </c:pt>
              </c:numCache>
            </c:numRef>
          </c:val>
          <c:extLst>
            <c:ext xmlns:c16="http://schemas.microsoft.com/office/drawing/2014/chart" uri="{C3380CC4-5D6E-409C-BE32-E72D297353CC}">
              <c16:uniqueId val="{00000005-BC43-411C-A930-AB91D32B5AAA}"/>
            </c:ext>
          </c:extLst>
        </c:ser>
        <c:ser>
          <c:idx val="6"/>
          <c:order val="6"/>
          <c:tx>
            <c:strRef>
              <c:f>Sheet1!$H$1</c:f>
              <c:strCache>
                <c:ptCount val="1"/>
                <c:pt idx="0">
                  <c:v>韓国</c:v>
                </c:pt>
              </c:strCache>
            </c:strRef>
          </c:tx>
          <c:spPr>
            <a:solidFill>
              <a:schemeClr val="accent1">
                <a:lumMod val="60000"/>
              </a:schemeClr>
            </a:solidFill>
            <a:ln>
              <a:noFill/>
            </a:ln>
            <a:effectLst/>
          </c:spPr>
          <c:invertIfNegative val="0"/>
          <c:cat>
            <c:strRef>
              <c:f>Sheet1!$A$2:$A$3</c:f>
              <c:strCache>
                <c:ptCount val="2"/>
                <c:pt idx="0">
                  <c:v>営業利益</c:v>
                </c:pt>
                <c:pt idx="1">
                  <c:v>売上高</c:v>
                </c:pt>
              </c:strCache>
            </c:strRef>
          </c:cat>
          <c:val>
            <c:numRef>
              <c:f>Sheet1!$H$2:$H$3</c:f>
              <c:numCache>
                <c:formatCode>General</c:formatCode>
                <c:ptCount val="2"/>
                <c:pt idx="0">
                  <c:v>0.7</c:v>
                </c:pt>
                <c:pt idx="1">
                  <c:v>6.1</c:v>
                </c:pt>
              </c:numCache>
            </c:numRef>
          </c:val>
          <c:extLst>
            <c:ext xmlns:c16="http://schemas.microsoft.com/office/drawing/2014/chart" uri="{C3380CC4-5D6E-409C-BE32-E72D297353CC}">
              <c16:uniqueId val="{00000006-BC43-411C-A930-AB91D32B5AAA}"/>
            </c:ext>
          </c:extLst>
        </c:ser>
        <c:ser>
          <c:idx val="7"/>
          <c:order val="7"/>
          <c:tx>
            <c:strRef>
              <c:f>Sheet1!$I$1</c:f>
              <c:strCache>
                <c:ptCount val="1"/>
                <c:pt idx="0">
                  <c:v>法曹</c:v>
                </c:pt>
              </c:strCache>
            </c:strRef>
          </c:tx>
          <c:spPr>
            <a:solidFill>
              <a:schemeClr val="accent2">
                <a:lumMod val="60000"/>
              </a:schemeClr>
            </a:solidFill>
            <a:ln>
              <a:noFill/>
            </a:ln>
            <a:effectLst/>
          </c:spPr>
          <c:invertIfNegative val="0"/>
          <c:cat>
            <c:strRef>
              <c:f>Sheet1!$A$2:$A$3</c:f>
              <c:strCache>
                <c:ptCount val="2"/>
                <c:pt idx="0">
                  <c:v>営業利益</c:v>
                </c:pt>
                <c:pt idx="1">
                  <c:v>売上高</c:v>
                </c:pt>
              </c:strCache>
            </c:strRef>
          </c:cat>
          <c:val>
            <c:numRef>
              <c:f>Sheet1!$I$2:$I$3</c:f>
              <c:numCache>
                <c:formatCode>General</c:formatCode>
                <c:ptCount val="2"/>
                <c:pt idx="0">
                  <c:v>1.8</c:v>
                </c:pt>
                <c:pt idx="1">
                  <c:v>0</c:v>
                </c:pt>
              </c:numCache>
            </c:numRef>
          </c:val>
          <c:extLst>
            <c:ext xmlns:c16="http://schemas.microsoft.com/office/drawing/2014/chart" uri="{C3380CC4-5D6E-409C-BE32-E72D297353CC}">
              <c16:uniqueId val="{00000009-BC43-411C-A930-AB91D32B5AAA}"/>
            </c:ext>
          </c:extLst>
        </c:ser>
        <c:ser>
          <c:idx val="8"/>
          <c:order val="8"/>
          <c:tx>
            <c:strRef>
              <c:f>Sheet1!$J$1</c:f>
              <c:strCache>
                <c:ptCount val="1"/>
                <c:pt idx="0">
                  <c:v>他</c:v>
                </c:pt>
              </c:strCache>
            </c:strRef>
          </c:tx>
          <c:spPr>
            <a:solidFill>
              <a:schemeClr val="accent3">
                <a:lumMod val="60000"/>
              </a:schemeClr>
            </a:solidFill>
            <a:ln>
              <a:noFill/>
            </a:ln>
            <a:effectLst/>
          </c:spPr>
          <c:invertIfNegative val="0"/>
          <c:dPt>
            <c:idx val="0"/>
            <c:invertIfNegative val="0"/>
            <c:bubble3D val="0"/>
            <c:spPr>
              <a:pattFill prst="wdUpDiag">
                <a:fgClr>
                  <a:srgbClr val="AE9D1A"/>
                </a:fgClr>
                <a:bgClr>
                  <a:schemeClr val="bg1"/>
                </a:bgClr>
              </a:pattFill>
              <a:ln>
                <a:noFill/>
              </a:ln>
              <a:effectLst/>
            </c:spPr>
            <c:extLst>
              <c:ext xmlns:c16="http://schemas.microsoft.com/office/drawing/2014/chart" uri="{C3380CC4-5D6E-409C-BE32-E72D297353CC}">
                <c16:uniqueId val="{00000001-B8BE-448F-B9DA-60015DF6BC04}"/>
              </c:ext>
            </c:extLst>
          </c:dPt>
          <c:cat>
            <c:strRef>
              <c:f>Sheet1!$A$2:$A$3</c:f>
              <c:strCache>
                <c:ptCount val="2"/>
                <c:pt idx="0">
                  <c:v>営業利益</c:v>
                </c:pt>
                <c:pt idx="1">
                  <c:v>売上高</c:v>
                </c:pt>
              </c:strCache>
            </c:strRef>
          </c:cat>
          <c:val>
            <c:numRef>
              <c:f>Sheet1!$J$2:$J$3</c:f>
              <c:numCache>
                <c:formatCode>General</c:formatCode>
                <c:ptCount val="2"/>
                <c:pt idx="0">
                  <c:v>15.6</c:v>
                </c:pt>
                <c:pt idx="1">
                  <c:v>11.4</c:v>
                </c:pt>
              </c:numCache>
            </c:numRef>
          </c:val>
          <c:extLst>
            <c:ext xmlns:c16="http://schemas.microsoft.com/office/drawing/2014/chart" uri="{C3380CC4-5D6E-409C-BE32-E72D297353CC}">
              <c16:uniqueId val="{00000002-B6DB-434C-AD9B-E37ECEFDCBA2}"/>
            </c:ext>
          </c:extLst>
        </c:ser>
        <c:dLbls>
          <c:showLegendKey val="0"/>
          <c:showVal val="0"/>
          <c:showCatName val="0"/>
          <c:showSerName val="0"/>
          <c:showPercent val="0"/>
          <c:showBubbleSize val="0"/>
        </c:dLbls>
        <c:gapWidth val="79"/>
        <c:overlap val="100"/>
        <c:axId val="1576530704"/>
        <c:axId val="1444872128"/>
      </c:barChart>
      <c:catAx>
        <c:axId val="1576530704"/>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064" b="1" i="0" u="none" strike="noStrike" kern="1200" cap="all" spc="120" normalizeH="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crossAx val="1444872128"/>
        <c:crosses val="autoZero"/>
        <c:auto val="1"/>
        <c:lblAlgn val="ctr"/>
        <c:lblOffset val="100"/>
        <c:noMultiLvlLbl val="0"/>
      </c:catAx>
      <c:valAx>
        <c:axId val="1444872128"/>
        <c:scaling>
          <c:orientation val="minMax"/>
        </c:scaling>
        <c:delete val="1"/>
        <c:axPos val="b"/>
        <c:numFmt formatCode="0%" sourceLinked="1"/>
        <c:majorTickMark val="out"/>
        <c:minorTickMark val="none"/>
        <c:tickLblPos val="nextTo"/>
        <c:crossAx val="1576530704"/>
        <c:crosses val="autoZero"/>
        <c:crossBetween val="between"/>
      </c:valAx>
      <c:spPr>
        <a:noFill/>
        <a:ln>
          <a:noFill/>
        </a:ln>
        <a:effectLst/>
      </c:spPr>
    </c:plotArea>
    <c:legend>
      <c:legendPos val="r"/>
      <c:layout>
        <c:manualLayout>
          <c:xMode val="edge"/>
          <c:yMode val="edge"/>
          <c:x val="0.85503764462137066"/>
          <c:y val="4.0641252015921558E-2"/>
          <c:w val="0.13715377744056745"/>
          <c:h val="0.92486064984842453"/>
        </c:manualLayout>
      </c:layout>
      <c:overlay val="0"/>
      <c:spPr>
        <a:noFill/>
        <a:ln>
          <a:noFill/>
        </a:ln>
        <a:effectLst/>
      </c:spPr>
      <c:txPr>
        <a:bodyPr rot="0" spcFirstLastPara="1" vertOverflow="ellipsis" vert="horz" wrap="square" anchor="ctr" anchorCtr="1"/>
        <a:lstStyle/>
        <a:p>
          <a:pPr>
            <a:defRPr lang="ja-JP" sz="1197"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列1</c:v>
                </c:pt>
              </c:strCache>
            </c:strRef>
          </c:tx>
          <c:spPr>
            <a:solidFill>
              <a:schemeClr val="accent4">
                <a:lumMod val="60000"/>
                <a:lumOff val="40000"/>
              </a:schemeClr>
            </a:solidFill>
            <a:ln>
              <a:noFill/>
            </a:ln>
            <a:effectLst/>
          </c:spPr>
          <c:invertIfNegative val="0"/>
          <c:cat>
            <c:strRef>
              <c:f>Sheet1!$A$2:$A$6</c:f>
              <c:strCache>
                <c:ptCount val="5"/>
                <c:pt idx="0">
                  <c:v>FY2021</c:v>
                </c:pt>
                <c:pt idx="1">
                  <c:v>FY2022</c:v>
                </c:pt>
                <c:pt idx="2">
                  <c:v>FY2023</c:v>
                </c:pt>
                <c:pt idx="3">
                  <c:v>FY2024</c:v>
                </c:pt>
                <c:pt idx="4">
                  <c:v>FY2025</c:v>
                </c:pt>
              </c:strCache>
            </c:strRef>
          </c:cat>
          <c:val>
            <c:numRef>
              <c:f>Sheet1!$B$2:$B$6</c:f>
              <c:numCache>
                <c:formatCode>#,##0</c:formatCode>
                <c:ptCount val="5"/>
                <c:pt idx="0">
                  <c:v>37314</c:v>
                </c:pt>
                <c:pt idx="1">
                  <c:v>41799</c:v>
                </c:pt>
                <c:pt idx="2">
                  <c:v>44121</c:v>
                </c:pt>
                <c:pt idx="3">
                  <c:v>49799</c:v>
                </c:pt>
                <c:pt idx="4">
                  <c:v>50200</c:v>
                </c:pt>
              </c:numCache>
            </c:numRef>
          </c:val>
          <c:extLst>
            <c:ext xmlns:c16="http://schemas.microsoft.com/office/drawing/2014/chart" uri="{C3380CC4-5D6E-409C-BE32-E72D297353CC}">
              <c16:uniqueId val="{00000000-06CB-40E5-BBD7-0C1C3BE59107}"/>
            </c:ext>
          </c:extLst>
        </c:ser>
        <c:dLbls>
          <c:showLegendKey val="0"/>
          <c:showVal val="0"/>
          <c:showCatName val="0"/>
          <c:showSerName val="0"/>
          <c:showPercent val="0"/>
          <c:showBubbleSize val="0"/>
        </c:dLbls>
        <c:gapWidth val="80"/>
        <c:overlap val="25"/>
        <c:axId val="1316901440"/>
        <c:axId val="1316875520"/>
      </c:barChart>
      <c:valAx>
        <c:axId val="1316875520"/>
        <c:scaling>
          <c:orientation val="minMax"/>
        </c:scaling>
        <c:delete val="1"/>
        <c:axPos val="r"/>
        <c:majorGridlines>
          <c:spPr>
            <a:ln w="9525" cap="flat" cmpd="sng" algn="ctr">
              <a:solidFill>
                <a:schemeClr val="tx1">
                  <a:lumMod val="5000"/>
                  <a:lumOff val="95000"/>
                </a:schemeClr>
              </a:solidFill>
              <a:round/>
            </a:ln>
            <a:effectLst/>
          </c:spPr>
        </c:majorGridlines>
        <c:numFmt formatCode="#,##0" sourceLinked="1"/>
        <c:majorTickMark val="out"/>
        <c:minorTickMark val="none"/>
        <c:tickLblPos val="nextTo"/>
        <c:crossAx val="1316901440"/>
        <c:crosses val="max"/>
        <c:crossBetween val="between"/>
      </c:valAx>
      <c:catAx>
        <c:axId val="1316901440"/>
        <c:scaling>
          <c:orientation val="minMax"/>
        </c:scaling>
        <c:delete val="0"/>
        <c:axPos val="b"/>
        <c:numFmt formatCode="General" sourceLinked="1"/>
        <c:majorTickMark val="out"/>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lang="ja-JP" sz="1197" b="0" i="0" u="none" strike="noStrike" kern="1200" cap="none" spc="20" normalizeH="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crossAx val="1316875520"/>
        <c:crosses val="autoZero"/>
        <c:auto val="1"/>
        <c:lblAlgn val="ctr"/>
        <c:lblOffset val="100"/>
        <c:noMultiLvlLbl val="0"/>
      </c:cat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アカデミー</c:v>
                </c:pt>
              </c:strCache>
            </c:strRef>
          </c:tx>
          <c:spPr>
            <a:ln w="28575" cap="rnd">
              <a:solidFill>
                <a:schemeClr val="accent1"/>
              </a:solidFill>
              <a:round/>
            </a:ln>
            <a:effectLst/>
          </c:spPr>
          <c:marker>
            <c:symbol val="none"/>
          </c:marker>
          <c:cat>
            <c:strRef>
              <c:f>Sheet1!$A$2:$A$7</c:f>
              <c:strCache>
                <c:ptCount val="6"/>
                <c:pt idx="0">
                  <c:v>1か月</c:v>
                </c:pt>
                <c:pt idx="1">
                  <c:v>2か月</c:v>
                </c:pt>
                <c:pt idx="2">
                  <c:v>3か月</c:v>
                </c:pt>
                <c:pt idx="3">
                  <c:v>4か月</c:v>
                </c:pt>
                <c:pt idx="4">
                  <c:v>5か月</c:v>
                </c:pt>
                <c:pt idx="5">
                  <c:v>6か月</c:v>
                </c:pt>
              </c:strCache>
            </c:strRef>
          </c:cat>
          <c:val>
            <c:numRef>
              <c:f>Sheet1!$B$2:$B$7</c:f>
              <c:numCache>
                <c:formatCode>General</c:formatCode>
                <c:ptCount val="6"/>
                <c:pt idx="0">
                  <c:v>0.7</c:v>
                </c:pt>
                <c:pt idx="1">
                  <c:v>0.72</c:v>
                </c:pt>
                <c:pt idx="2">
                  <c:v>0.73</c:v>
                </c:pt>
                <c:pt idx="3">
                  <c:v>0.8</c:v>
                </c:pt>
                <c:pt idx="4">
                  <c:v>0.8</c:v>
                </c:pt>
                <c:pt idx="5">
                  <c:v>0.85</c:v>
                </c:pt>
              </c:numCache>
            </c:numRef>
          </c:val>
          <c:smooth val="0"/>
          <c:extLst>
            <c:ext xmlns:c16="http://schemas.microsoft.com/office/drawing/2014/chart" uri="{C3380CC4-5D6E-409C-BE32-E72D297353CC}">
              <c16:uniqueId val="{00000000-2521-47A5-B277-D0142BD66218}"/>
            </c:ext>
          </c:extLst>
        </c:ser>
        <c:ser>
          <c:idx val="1"/>
          <c:order val="1"/>
          <c:tx>
            <c:strRef>
              <c:f>Sheet1!$C$1</c:f>
              <c:strCache>
                <c:ptCount val="1"/>
                <c:pt idx="0">
                  <c:v>未経験（独学）</c:v>
                </c:pt>
              </c:strCache>
            </c:strRef>
          </c:tx>
          <c:spPr>
            <a:ln w="28575" cap="rnd">
              <a:solidFill>
                <a:schemeClr val="accent2"/>
              </a:solidFill>
              <a:round/>
            </a:ln>
            <a:effectLst/>
          </c:spPr>
          <c:marker>
            <c:symbol val="none"/>
          </c:marker>
          <c:cat>
            <c:strRef>
              <c:f>Sheet1!$A$2:$A$7</c:f>
              <c:strCache>
                <c:ptCount val="6"/>
                <c:pt idx="0">
                  <c:v>1か月</c:v>
                </c:pt>
                <c:pt idx="1">
                  <c:v>2か月</c:v>
                </c:pt>
                <c:pt idx="2">
                  <c:v>3か月</c:v>
                </c:pt>
                <c:pt idx="3">
                  <c:v>4か月</c:v>
                </c:pt>
                <c:pt idx="4">
                  <c:v>5か月</c:v>
                </c:pt>
                <c:pt idx="5">
                  <c:v>6か月</c:v>
                </c:pt>
              </c:strCache>
            </c:strRef>
          </c:cat>
          <c:val>
            <c:numRef>
              <c:f>Sheet1!$C$2:$C$7</c:f>
              <c:numCache>
                <c:formatCode>General</c:formatCode>
                <c:ptCount val="6"/>
                <c:pt idx="0">
                  <c:v>0.3</c:v>
                </c:pt>
                <c:pt idx="1">
                  <c:v>0.35</c:v>
                </c:pt>
                <c:pt idx="2">
                  <c:v>0.35</c:v>
                </c:pt>
                <c:pt idx="3">
                  <c:v>0.4</c:v>
                </c:pt>
                <c:pt idx="4">
                  <c:v>0.4</c:v>
                </c:pt>
                <c:pt idx="5">
                  <c:v>0.5</c:v>
                </c:pt>
              </c:numCache>
            </c:numRef>
          </c:val>
          <c:smooth val="0"/>
          <c:extLst>
            <c:ext xmlns:c16="http://schemas.microsoft.com/office/drawing/2014/chart" uri="{C3380CC4-5D6E-409C-BE32-E72D297353CC}">
              <c16:uniqueId val="{00000001-2521-47A5-B277-D0142BD66218}"/>
            </c:ext>
          </c:extLst>
        </c:ser>
        <c:dLbls>
          <c:showLegendKey val="0"/>
          <c:showVal val="0"/>
          <c:showCatName val="0"/>
          <c:showSerName val="0"/>
          <c:showPercent val="0"/>
          <c:showBubbleSize val="0"/>
        </c:dLbls>
        <c:smooth val="0"/>
        <c:axId val="1292889344"/>
        <c:axId val="1292869664"/>
      </c:lineChart>
      <c:catAx>
        <c:axId val="1292889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97" b="1"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crossAx val="1292869664"/>
        <c:crosses val="autoZero"/>
        <c:auto val="1"/>
        <c:lblAlgn val="ctr"/>
        <c:lblOffset val="100"/>
        <c:noMultiLvlLbl val="0"/>
      </c:catAx>
      <c:valAx>
        <c:axId val="12928696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crossAx val="1292889344"/>
        <c:crosses val="autoZero"/>
        <c:crossBetween val="between"/>
        <c:majorUnit val="0.2"/>
      </c:valAx>
      <c:spPr>
        <a:noFill/>
        <a:ln>
          <a:noFill/>
        </a:ln>
        <a:effectLst/>
      </c:spPr>
    </c:plotArea>
    <c:legend>
      <c:legendPos val="b"/>
      <c:overlay val="0"/>
      <c:spPr>
        <a:noFill/>
        <a:ln>
          <a:noFill/>
        </a:ln>
        <a:effectLst/>
      </c:spPr>
      <c:txPr>
        <a:bodyPr rot="0" spcFirstLastPara="1" vertOverflow="ellipsis" vert="horz" wrap="square" anchor="t" anchorCtr="1"/>
        <a:lstStyle/>
        <a:p>
          <a:pPr>
            <a:defRPr lang="ja-JP" sz="1197" b="1"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4E3_682DBA9.xml><?xml version="1.0" encoding="utf-8"?>
<p188:cmLst xmlns:a="http://schemas.openxmlformats.org/drawingml/2006/main" xmlns:r="http://schemas.openxmlformats.org/officeDocument/2006/relationships" xmlns:p188="http://schemas.microsoft.com/office/powerpoint/2018/8/main">
  <p188:cm id="{B2B82D79-85F6-41D2-8168-7A42CDE34E4E}" authorId="{62E5C70E-FBE2-1C0F-655B-113D08165138}" created="2025-09-12T08:43:16.131">
    <ac:txMkLst xmlns:ac="http://schemas.microsoft.com/office/drawing/2013/main/command">
      <pc:docMk xmlns:pc="http://schemas.microsoft.com/office/powerpoint/2013/main/command"/>
      <pc:sldMk xmlns:pc="http://schemas.microsoft.com/office/powerpoint/2013/main/command" cId="109239209" sldId="1251"/>
      <ac:spMk id="16" creationId="{D08CDBB3-025E-D062-5064-6EAFEF419B10}"/>
      <ac:txMk cp="11">
        <ac:context len="71" hash="4047664362"/>
      </ac:txMk>
    </ac:txMkLst>
    <p188:pos x="1417052" y="868947"/>
    <p188:txBody>
      <a:bodyPr/>
      <a:lstStyle/>
      <a:p>
        <a:r>
          <a:rPr lang="en-US"/>
          <a:t>さまざま</a:t>
        </a:r>
      </a:p>
    </p188:txBody>
    <p188:extLst>
      <p:ext xmlns:p="http://schemas.openxmlformats.org/presentationml/2006/main" uri="{57CB4572-C831-44C2-8A1C-0ADB6CCDFE69}">
        <p223:reactions xmlns:p223="http://schemas.microsoft.com/office/powerpoint/2022/03/main">
          <p223:rxn type="👍">
            <p223:instance time="2025-09-12T09:28:08.519" authorId="{DE168569-F255-0131-BAD2-8E03ED5EC6EB}"/>
          </p223:rxn>
        </p223:reactions>
      </p:ext>
    </p188:extLst>
  </p188:cm>
  <p188:cm id="{D17BB813-69A0-4021-B411-C0F3BFFD9C76}" authorId="{62E5C70E-FBE2-1C0F-655B-113D08165138}" created="2025-09-12T08:45:17.368">
    <ac:txMkLst xmlns:ac="http://schemas.microsoft.com/office/drawing/2013/main/command">
      <pc:docMk xmlns:pc="http://schemas.microsoft.com/office/powerpoint/2013/main/command"/>
      <pc:sldMk xmlns:pc="http://schemas.microsoft.com/office/powerpoint/2013/main/command" cId="109239209" sldId="1251"/>
      <ac:spMk id="16" creationId="{D08CDBB3-025E-D062-5064-6EAFEF419B10}"/>
      <ac:txMk cp="11" len="12">
        <ac:context len="71" hash="4047664362"/>
      </ac:txMk>
    </ac:txMkLst>
    <p188:pos x="5200315" y="868947"/>
    <p188:txBody>
      <a:bodyPr/>
      <a:lstStyle/>
      <a:p>
        <a:r>
          <a:rPr lang="en-US"/>
          <a:t>クリエイターもプロフェッショナルなので、「クリエイターをはじめとする多様なプロフェッショナルを」などでも良いかも</a:t>
        </a:r>
      </a:p>
    </p188:txBody>
    <p188:extLst>
      <p:ext xmlns:p="http://schemas.openxmlformats.org/presentationml/2006/main" uri="{57CB4572-C831-44C2-8A1C-0ADB6CCDFE69}">
        <p223:reactions xmlns:p223="http://schemas.microsoft.com/office/powerpoint/2022/03/main">
          <p223:rxn type="👍">
            <p223:instance time="2025-09-12T09:28:52.731" authorId="{DE168569-F255-0131-BAD2-8E03ED5EC6EB}"/>
          </p223:rxn>
        </p223:reactions>
      </p:ext>
    </p188:extLst>
  </p188:cm>
</p188:cmLst>
</file>

<file path=ppt/comments/modernComment_52D_E127EF4.xml><?xml version="1.0" encoding="utf-8"?>
<p188:cmLst xmlns:a="http://schemas.openxmlformats.org/drawingml/2006/main" xmlns:r="http://schemas.openxmlformats.org/officeDocument/2006/relationships" xmlns:p188="http://schemas.microsoft.com/office/powerpoint/2018/8/main">
  <p188:cm id="{9B130847-4494-4624-B4FB-FF49905A6AE8}" authorId="{6ACA3753-D85C-D90D-15A9-002A9F4B501E}" created="2025-09-12T06:34:04.112">
    <ac:deMkLst xmlns:ac="http://schemas.microsoft.com/office/drawing/2013/main/command">
      <pc:docMk xmlns:pc="http://schemas.microsoft.com/office/powerpoint/2013/main/command"/>
      <pc:sldMk xmlns:pc="http://schemas.microsoft.com/office/powerpoint/2013/main/command" cId="236093172" sldId="1325"/>
      <ac:picMk id="18" creationId="{5EC4120B-82F9-DCE1-E065-9A74CB2FC675}"/>
    </ac:deMkLst>
    <p188:replyLst>
      <p188:reply id="{CB8B3DF3-B990-43C8-8771-6028E1A59EAD}" authorId="{DE168569-F255-0131-BAD2-8E03ED5EC6EB}" created="2025-09-12T09:23:01.444">
        <p188:txBody>
          <a:bodyPr/>
          <a:lstStyle/>
          <a:p>
            <a:r>
              <a:rPr lang="en-US"/>
              <a:t>[@Kaneko,Megumi CR/CPG] 
i今回はShiftallのみ画像紹介として、来月easy360のリリース後にVRJの実績を追加したいと思います。</a:t>
            </a:r>
          </a:p>
        </p188:txBody>
      </p188:reply>
    </p188:replyLst>
    <p188:txBody>
      <a:bodyPr/>
      <a:lstStyle/>
      <a:p>
        <a:r>
          <a:rPr lang="en-US"/>
          <a:t>VRJと順天堂大学の取り組みは現在行っていないので、トルでお願いいたします。</a:t>
        </a:r>
      </a:p>
    </p188:txBody>
  </p188:cm>
</p188:cmLst>
</file>

<file path=ppt/comments/modernComment_531_A9A72C00.xml><?xml version="1.0" encoding="utf-8"?>
<p188:cmLst xmlns:a="http://schemas.openxmlformats.org/drawingml/2006/main" xmlns:r="http://schemas.openxmlformats.org/officeDocument/2006/relationships" xmlns:p188="http://schemas.microsoft.com/office/powerpoint/2018/8/main">
  <p188:cm id="{7EF4D01A-8B77-476C-961D-1C4016FBB940}" authorId="{6ACA3753-D85C-D90D-15A9-002A9F4B501E}" created="2025-09-12T06:36:15.976">
    <pc:sldMkLst xmlns:pc="http://schemas.microsoft.com/office/powerpoint/2013/main/command">
      <pc:docMk/>
      <pc:sldMk cId="2846305280" sldId="1329"/>
    </pc:sldMkLst>
    <p188:replyLst>
      <p188:reply id="{D6EEBF3D-C944-499D-BB3D-342150CD45DD}" authorId="{62E5C70E-FBE2-1C0F-655B-113D08165138}" created="2025-09-12T08:42:36.130">
        <p188:txBody>
          <a:bodyPr/>
          <a:lstStyle/>
          <a:p>
            <a:r>
              <a:rPr lang="en-US"/>
              <a:t>こちらのプレスを参考にしていただたら。写真も使っていただいてOKです！
https://www.cri.co.jp/news/005657.html
写真はこっちのほうがきれいです。
https://www.cri.co.jp/news/005713.html</a:t>
            </a:r>
          </a:p>
        </p188:txBody>
      </p188:reply>
      <p188:reply id="{6149B33F-C22B-4E83-8CED-E5BF1A67E772}" authorId="{DE168569-F255-0131-BAD2-8E03ED5EC6EB}" created="2025-09-12T09:15:49.553">
        <p188:txBody>
          <a:bodyPr/>
          <a:lstStyle/>
          <a:p>
            <a:r>
              <a:rPr lang="en-US"/>
              <a:t>[@Kaneko,Megumi CR/CPG] 
[@Nakamura,Eriko CR/CPG] 
ご支給ありがとうございます！
更新してみました！</a:t>
            </a:r>
          </a:p>
        </p188:txBody>
      </p188:reply>
    </p188:replyLst>
    <p188:txBody>
      <a:bodyPr/>
      <a:lstStyle/>
      <a:p>
        <a:r>
          <a:rPr lang="en-US"/>
          <a:t>『Fun Eat Makers in Okuma』がオープンしたので、内容を更新されてもいいかもしれません。
▼ニュースリリースはこちらの内容を出しております
https://www.cri.co.jp/news/005713.html
https://www.cri.co.jp/news/005657.html</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434B8DE5-1B29-FA4C-0D1E-807C9F6335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F5D67ED4-B54D-F54A-CF3C-84346828496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C83686-BF39-4BD7-B803-957ECDFD5281}" type="datetime1">
              <a:rPr kumimoji="1" lang="ja-JP" altLang="en-US" smtClean="0"/>
              <a:t>2026/4/6</a:t>
            </a:fld>
            <a:endParaRPr kumimoji="1" lang="ja-JP" altLang="en-US"/>
          </a:p>
        </p:txBody>
      </p:sp>
      <p:sp>
        <p:nvSpPr>
          <p:cNvPr id="4" name="フッター プレースホルダー 3">
            <a:extLst>
              <a:ext uri="{FF2B5EF4-FFF2-40B4-BE49-F238E27FC236}">
                <a16:creationId xmlns:a16="http://schemas.microsoft.com/office/drawing/2014/main" id="{F2F292B5-C420-E66B-C646-1DCAEAD08C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C0DE10F8-4D0E-1DBD-2C9B-0C077DC3650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65C1CC-1E6C-4F1A-9D8B-9B2BE6A5A7BF}" type="slidenum">
              <a:rPr kumimoji="1" lang="ja-JP" altLang="en-US" smtClean="0"/>
              <a:t>‹#›</a:t>
            </a:fld>
            <a:endParaRPr kumimoji="1" lang="ja-JP" altLang="en-US"/>
          </a:p>
        </p:txBody>
      </p:sp>
    </p:spTree>
    <p:extLst>
      <p:ext uri="{BB962C8B-B14F-4D97-AF65-F5344CB8AC3E}">
        <p14:creationId xmlns:p14="http://schemas.microsoft.com/office/powerpoint/2010/main" val="112771420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F3A42F-618E-49CF-9A82-02AF84B89794}" type="datetime1">
              <a:rPr kumimoji="1" lang="ja-JP" altLang="en-US" smtClean="0"/>
              <a:t>2026/4/6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DB7F34-A504-4C18-B7BA-E5D4B7DB8C39}" type="slidenum">
              <a:rPr kumimoji="1" lang="ja-JP" altLang="en-US" smtClean="0"/>
              <a:t>‹#›</a:t>
            </a:fld>
            <a:endParaRPr kumimoji="1" lang="ja-JP" altLang="en-US"/>
          </a:p>
        </p:txBody>
      </p:sp>
    </p:spTree>
    <p:extLst>
      <p:ext uri="{BB962C8B-B14F-4D97-AF65-F5344CB8AC3E}">
        <p14:creationId xmlns:p14="http://schemas.microsoft.com/office/powerpoint/2010/main" val="130994516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126333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C&amp;R</a:t>
            </a:r>
            <a:r>
              <a:rPr kumimoji="1" lang="ja-JP" altLang="en-US"/>
              <a:t>個社：大阪、名古屋、札幌、九州、仙台</a:t>
            </a:r>
          </a:p>
        </p:txBody>
      </p:sp>
      <p:sp>
        <p:nvSpPr>
          <p:cNvPr id="4" name="スライド番号プレースホルダー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72ABDA5E-B6FB-4060-B2F0-6E0E9A1B8EC6}" type="slidenum">
              <a:rPr kumimoji="1" lang="ja-JP" altLang="en-US" sz="1200" b="0" i="0" u="none" strike="noStrike" kern="1200" cap="none" spc="0" normalizeH="0" baseline="0" noProof="0" smtClean="0">
                <a:ln>
                  <a:noFill/>
                </a:ln>
                <a:solidFill>
                  <a:srgbClr val="000000"/>
                </a:solidFill>
                <a:effectLst/>
                <a:uLnTx/>
                <a:uFillTx/>
                <a:latin typeface="HGP創英角ｺﾞｼｯｸUB" pitchFamily="50" charset="-128"/>
                <a:ea typeface="HGP創英角ｺﾞｼｯｸUB" pitchFamily="50"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1" lang="ja-JP" altLang="en-US" sz="12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p:txBody>
      </p:sp>
    </p:spTree>
    <p:extLst>
      <p:ext uri="{BB962C8B-B14F-4D97-AF65-F5344CB8AC3E}">
        <p14:creationId xmlns:p14="http://schemas.microsoft.com/office/powerpoint/2010/main" val="3567449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222478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251780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spcBef>
                <a:spcPts val="600"/>
              </a:spcBef>
            </a:pPr>
            <a:r>
              <a:rPr lang="ja-JP" altLang="en-US" sz="1200" b="1">
                <a:solidFill>
                  <a:schemeClr val="tx1">
                    <a:lumMod val="85000"/>
                    <a:lumOff val="15000"/>
                  </a:schemeClr>
                </a:solidFill>
                <a:latin typeface="Meiryo UI" panose="020B0604030504040204" pitchFamily="50" charset="-128"/>
                <a:ea typeface="Meiryo UI" panose="020B0604030504040204" pitchFamily="50" charset="-128"/>
              </a:rPr>
              <a:t>多様な</a:t>
            </a:r>
            <a:r>
              <a:rPr kumimoji="1" lang="ja-JP" altLang="en-US" sz="1200" b="1">
                <a:solidFill>
                  <a:schemeClr val="tx1">
                    <a:lumMod val="85000"/>
                    <a:lumOff val="15000"/>
                  </a:schemeClr>
                </a:solidFill>
                <a:latin typeface="Meiryo UI" panose="020B0604030504040204" pitchFamily="50" charset="-128"/>
                <a:ea typeface="Meiryo UI" panose="020B0604030504040204" pitchFamily="50" charset="-128"/>
              </a:rPr>
              <a:t>リソースをダイナミックに</a:t>
            </a:r>
            <a:endParaRPr kumimoji="1" lang="en-US" altLang="ja-JP" sz="1200" b="1">
              <a:solidFill>
                <a:schemeClr val="tx1">
                  <a:lumMod val="85000"/>
                  <a:lumOff val="15000"/>
                </a:schemeClr>
              </a:solidFill>
              <a:latin typeface="Meiryo UI" panose="020B0604030504040204" pitchFamily="50" charset="-128"/>
              <a:ea typeface="Meiryo UI" panose="020B0604030504040204" pitchFamily="50" charset="-128"/>
            </a:endParaRPr>
          </a:p>
          <a:p>
            <a:pPr>
              <a:spcBef>
                <a:spcPts val="600"/>
              </a:spcBef>
            </a:pPr>
            <a:r>
              <a:rPr kumimoji="1" lang="ja-JP" altLang="en-US" sz="1200" b="1">
                <a:solidFill>
                  <a:schemeClr val="tx1">
                    <a:lumMod val="85000"/>
                    <a:lumOff val="15000"/>
                  </a:schemeClr>
                </a:solidFill>
                <a:latin typeface="Meiryo UI" panose="020B0604030504040204" pitchFamily="50" charset="-128"/>
                <a:ea typeface="Meiryo UI" panose="020B0604030504040204" pitchFamily="50" charset="-128"/>
              </a:rPr>
              <a:t>組み合わせることで、実現できる</a:t>
            </a:r>
            <a:endParaRPr kumimoji="1" lang="en-US" altLang="ja-JP" sz="1200" b="1">
              <a:solidFill>
                <a:schemeClr val="tx1">
                  <a:lumMod val="85000"/>
                  <a:lumOff val="15000"/>
                </a:schemeClr>
              </a:solidFill>
              <a:latin typeface="Meiryo UI" panose="020B0604030504040204" pitchFamily="50" charset="-128"/>
              <a:ea typeface="Meiryo UI" panose="020B0604030504040204" pitchFamily="50" charset="-128"/>
            </a:endParaRPr>
          </a:p>
          <a:p>
            <a:pPr>
              <a:spcBef>
                <a:spcPts val="600"/>
              </a:spcBef>
            </a:pPr>
            <a:r>
              <a:rPr lang="ja-JP" altLang="en-US" sz="1200" b="1">
                <a:solidFill>
                  <a:schemeClr val="tx1">
                    <a:lumMod val="85000"/>
                    <a:lumOff val="15000"/>
                  </a:schemeClr>
                </a:solidFill>
                <a:latin typeface="Meiryo UI" panose="020B0604030504040204" pitchFamily="50" charset="-128"/>
                <a:ea typeface="Meiryo UI" panose="020B0604030504040204" pitchFamily="50" charset="-128"/>
              </a:rPr>
              <a:t>企画アイディア・ビジネスプランは無限大！</a:t>
            </a:r>
            <a:endParaRPr kumimoji="1" lang="ja-JP" altLang="en-US" sz="1200" b="1">
              <a:solidFill>
                <a:schemeClr val="tx1">
                  <a:lumMod val="85000"/>
                  <a:lumOff val="15000"/>
                </a:schemeClr>
              </a:solidFill>
              <a:latin typeface="Meiryo UI" panose="020B0604030504040204" pitchFamily="50" charset="-128"/>
              <a:ea typeface="Meiryo UI" panose="020B0604030504040204" pitchFamily="50" charset="-128"/>
            </a:endParaRPr>
          </a:p>
          <a:p>
            <a:endParaRPr lang="en-US" altLang="ja-JP">
              <a:solidFill>
                <a:schemeClr val="tx1">
                  <a:lumMod val="75000"/>
                  <a:lumOff val="25000"/>
                </a:schemeClr>
              </a:solidFill>
              <a:latin typeface="Meiryo UI"/>
              <a:ea typeface="Meiryo UI"/>
            </a:endParaRPr>
          </a:p>
          <a:p>
            <a:r>
              <a:rPr lang="ja-JP" altLang="en-US">
                <a:solidFill>
                  <a:schemeClr val="tx1">
                    <a:lumMod val="75000"/>
                    <a:lumOff val="25000"/>
                  </a:schemeClr>
                </a:solidFill>
                <a:latin typeface="Meiryo UI"/>
                <a:ea typeface="Meiryo UI"/>
              </a:rPr>
              <a:t>✔当社ビジネスの核は日本最大、</a:t>
            </a:r>
            <a:endParaRPr lang="en-US" altLang="ja-JP">
              <a:solidFill>
                <a:schemeClr val="tx1">
                  <a:lumMod val="75000"/>
                  <a:lumOff val="25000"/>
                </a:schemeClr>
              </a:solidFill>
              <a:latin typeface="Meiryo UI"/>
              <a:ea typeface="Meiryo UI"/>
            </a:endParaRPr>
          </a:p>
          <a:p>
            <a:r>
              <a:rPr lang="ja-JP" altLang="en-US">
                <a:solidFill>
                  <a:schemeClr val="tx1">
                    <a:lumMod val="75000"/>
                    <a:lumOff val="25000"/>
                  </a:schemeClr>
                </a:solidFill>
                <a:latin typeface="Meiryo UI"/>
                <a:ea typeface="Meiryo UI"/>
              </a:rPr>
              <a:t>　圧倒的な</a:t>
            </a:r>
            <a:r>
              <a:rPr kumimoji="1" lang="ja-JP" altLang="en-US">
                <a:solidFill>
                  <a:schemeClr val="tx1">
                    <a:lumMod val="75000"/>
                    <a:lumOff val="25000"/>
                  </a:schemeClr>
                </a:solidFill>
                <a:latin typeface="Meiryo UI"/>
                <a:ea typeface="Meiryo UI"/>
              </a:rPr>
              <a:t>プロフェッショナルネットワーク</a:t>
            </a:r>
            <a:endParaRPr lang="en-US" altLang="ja-JP">
              <a:solidFill>
                <a:schemeClr val="tx1">
                  <a:lumMod val="75000"/>
                  <a:lumOff val="25000"/>
                </a:schemeClr>
              </a:solidFill>
              <a:latin typeface="Meiryo UI"/>
              <a:ea typeface="Meiryo UI"/>
            </a:endParaRPr>
          </a:p>
          <a:p>
            <a:endParaRPr kumimoji="1" lang="en-US" altLang="ja-JP">
              <a:solidFill>
                <a:schemeClr val="tx1">
                  <a:lumMod val="75000"/>
                  <a:lumOff val="25000"/>
                </a:schemeClr>
              </a:solidFill>
              <a:latin typeface="Meiryo UI" panose="020B0604030504040204" pitchFamily="50" charset="-128"/>
              <a:ea typeface="Meiryo UI" panose="020B0604030504040204" pitchFamily="50" charset="-128"/>
            </a:endParaRPr>
          </a:p>
          <a:p>
            <a:r>
              <a:rPr kumimoji="1" lang="ja-JP" altLang="en-US">
                <a:solidFill>
                  <a:schemeClr val="tx1">
                    <a:lumMod val="75000"/>
                    <a:lumOff val="25000"/>
                  </a:schemeClr>
                </a:solidFill>
                <a:latin typeface="Meiryo UI" panose="020B0604030504040204" pitchFamily="50" charset="-128"/>
                <a:ea typeface="Meiryo UI" panose="020B0604030504040204" pitchFamily="50" charset="-128"/>
              </a:rPr>
              <a:t>✔多種多様なクリエイティブ領域、</a:t>
            </a:r>
            <a:endParaRPr kumimoji="1" lang="en-US" altLang="ja-JP">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a:solidFill>
                  <a:schemeClr val="tx1">
                    <a:lumMod val="75000"/>
                    <a:lumOff val="25000"/>
                  </a:schemeClr>
                </a:solidFill>
                <a:latin typeface="Meiryo UI" panose="020B0604030504040204" pitchFamily="50" charset="-128"/>
                <a:ea typeface="Meiryo UI" panose="020B0604030504040204" pitchFamily="50" charset="-128"/>
              </a:rPr>
              <a:t>　プロフェッショナル領域をカバー</a:t>
            </a:r>
            <a:endParaRPr kumimoji="1" lang="en-US" altLang="ja-JP">
              <a:solidFill>
                <a:schemeClr val="tx1">
                  <a:lumMod val="75000"/>
                  <a:lumOff val="25000"/>
                </a:schemeClr>
              </a:solidFill>
              <a:latin typeface="Meiryo UI" panose="020B0604030504040204" pitchFamily="50" charset="-128"/>
              <a:ea typeface="Meiryo UI" panose="020B0604030504040204" pitchFamily="50" charset="-128"/>
            </a:endParaRPr>
          </a:p>
          <a:p>
            <a:endParaRPr kumimoji="1" lang="en-US" altLang="ja-JP">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a:solidFill>
                  <a:schemeClr val="tx1">
                    <a:lumMod val="75000"/>
                    <a:lumOff val="25000"/>
                  </a:schemeClr>
                </a:solidFill>
                <a:latin typeface="Meiryo UI"/>
                <a:ea typeface="Meiryo UI"/>
              </a:rPr>
              <a:t>✔4</a:t>
            </a:r>
            <a:r>
              <a:rPr lang="en-US" altLang="ja-JP">
                <a:solidFill>
                  <a:schemeClr val="tx1">
                    <a:lumMod val="75000"/>
                    <a:lumOff val="25000"/>
                  </a:schemeClr>
                </a:solidFill>
                <a:latin typeface="Meiryo UI"/>
                <a:ea typeface="Meiryo UI"/>
              </a:rPr>
              <a:t>8</a:t>
            </a:r>
            <a:r>
              <a:rPr lang="ja-JP" altLang="en-US">
                <a:solidFill>
                  <a:schemeClr val="tx1">
                    <a:lumMod val="75000"/>
                    <a:lumOff val="25000"/>
                  </a:schemeClr>
                </a:solidFill>
                <a:latin typeface="Meiryo UI"/>
                <a:ea typeface="Meiryo UI"/>
              </a:rPr>
              <a:t>,000社の広範なクライアントに向けて</a:t>
            </a:r>
            <a:endParaRPr lang="en-US" altLang="ja-JP">
              <a:solidFill>
                <a:schemeClr val="tx1">
                  <a:lumMod val="75000"/>
                  <a:lumOff val="25000"/>
                </a:schemeClr>
              </a:solidFill>
              <a:latin typeface="Meiryo UI"/>
              <a:ea typeface="Meiryo UI"/>
            </a:endParaRPr>
          </a:p>
          <a:p>
            <a:r>
              <a:rPr lang="ja-JP" altLang="en-US">
                <a:solidFill>
                  <a:schemeClr val="tx1">
                    <a:lumMod val="75000"/>
                    <a:lumOff val="25000"/>
                  </a:schemeClr>
                </a:solidFill>
                <a:latin typeface="Meiryo UI" panose="020B0604030504040204" pitchFamily="50" charset="-128"/>
                <a:ea typeface="Meiryo UI" panose="020B0604030504040204" pitchFamily="50" charset="-128"/>
              </a:rPr>
              <a:t>　クリエイティブの力で価値創造・提供　</a:t>
            </a:r>
          </a:p>
          <a:p>
            <a:endParaRPr kumimoji="1" lang="en-US" altLang="ja-JP"/>
          </a:p>
          <a:p>
            <a:endParaRPr kumimoji="1" lang="en-US" altLang="ja-JP"/>
          </a:p>
          <a:p>
            <a:endParaRPr kumimoji="1" lang="ja-JP" altLang="en-US"/>
          </a:p>
        </p:txBody>
      </p:sp>
    </p:spTree>
    <p:extLst>
      <p:ext uri="{BB962C8B-B14F-4D97-AF65-F5344CB8AC3E}">
        <p14:creationId xmlns:p14="http://schemas.microsoft.com/office/powerpoint/2010/main" val="2632741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222478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313504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797354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effectLst/>
              </a:rPr>
              <a:t>・人材</a:t>
            </a:r>
            <a:endParaRPr lang="en-US" altLang="ja-JP">
              <a:effectLst/>
            </a:endParaRPr>
          </a:p>
          <a:p>
            <a:r>
              <a:rPr lang="ja-JP" altLang="en-US">
                <a:effectLst/>
              </a:rPr>
              <a:t> ┗目利きされ、且つ教育された社員クリエイターが揃っており、</a:t>
            </a:r>
            <a:r>
              <a:rPr lang="en-US" altLang="ja-JP">
                <a:effectLst/>
              </a:rPr>
              <a:t>1</a:t>
            </a:r>
            <a:r>
              <a:rPr lang="ja-JP" altLang="en-US">
                <a:effectLst/>
              </a:rPr>
              <a:t>人でもチーム単位でも紹介できる </a:t>
            </a:r>
            <a:endParaRPr lang="en-US" altLang="ja-JP">
              <a:effectLst/>
            </a:endParaRPr>
          </a:p>
          <a:p>
            <a:r>
              <a:rPr lang="ja-JP" altLang="en-US">
                <a:effectLst/>
              </a:rPr>
              <a:t>・制作</a:t>
            </a:r>
            <a:r>
              <a:rPr lang="en-US" altLang="ja-JP">
                <a:effectLst/>
              </a:rPr>
              <a:t>/</a:t>
            </a:r>
            <a:r>
              <a:rPr lang="ja-JP" altLang="en-US">
                <a:effectLst/>
              </a:rPr>
              <a:t>開発</a:t>
            </a:r>
            <a:endParaRPr lang="en-US" altLang="ja-JP">
              <a:effectLst/>
            </a:endParaRPr>
          </a:p>
          <a:p>
            <a:r>
              <a:rPr lang="ja-JP" altLang="en-US">
                <a:effectLst/>
              </a:rPr>
              <a:t> ┗専門特化した</a:t>
            </a:r>
            <a:r>
              <a:rPr lang="en-US" altLang="ja-JP">
                <a:effectLst/>
              </a:rPr>
              <a:t>12</a:t>
            </a:r>
            <a:r>
              <a:rPr lang="ja-JP" altLang="en-US">
                <a:effectLst/>
              </a:rPr>
              <a:t>のスタジオが制作</a:t>
            </a:r>
            <a:r>
              <a:rPr lang="en-US" altLang="ja-JP">
                <a:effectLst/>
              </a:rPr>
              <a:t>/</a:t>
            </a:r>
            <a:r>
              <a:rPr lang="ja-JP" altLang="en-US">
                <a:effectLst/>
              </a:rPr>
              <a:t>開発ニーズにこたえられる。質と量の両方に対応できる。 </a:t>
            </a:r>
            <a:endParaRPr lang="en-US" altLang="ja-JP">
              <a:effectLst/>
            </a:endParaRPr>
          </a:p>
          <a:p>
            <a:r>
              <a:rPr lang="ja-JP" altLang="en-US">
                <a:effectLst/>
              </a:rPr>
              <a:t>・ソリューション</a:t>
            </a:r>
            <a:endParaRPr lang="en-US" altLang="ja-JP">
              <a:effectLst/>
            </a:endParaRPr>
          </a:p>
          <a:p>
            <a:r>
              <a:rPr lang="ja-JP" altLang="en-US">
                <a:effectLst/>
              </a:rPr>
              <a:t> ┗経営</a:t>
            </a:r>
            <a:r>
              <a:rPr lang="en-US" altLang="ja-JP">
                <a:effectLst/>
              </a:rPr>
              <a:t>/</a:t>
            </a:r>
            <a:r>
              <a:rPr lang="ja-JP" altLang="en-US">
                <a:effectLst/>
              </a:rPr>
              <a:t>事業課題の発見と、その解決策を提案できる</a:t>
            </a:r>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19338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a:p>
        </p:txBody>
      </p:sp>
    </p:spTree>
    <p:extLst>
      <p:ext uri="{BB962C8B-B14F-4D97-AF65-F5344CB8AC3E}">
        <p14:creationId xmlns:p14="http://schemas.microsoft.com/office/powerpoint/2010/main" val="1406678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4049022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42147941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A8B46-C603-E1E7-CCD8-C8E76228F4E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9A3910-2077-F086-C5E7-41A539B9E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50A3FA-972C-39F1-D8FB-75A960EF5BE6}"/>
              </a:ext>
            </a:extLst>
          </p:cNvPr>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2687949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3C813-71D8-B1E4-CFD0-EA7F114808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A169FA9-15F6-4F9D-B446-5CE69D07721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AB39AD2-FBB0-AB19-A2A3-0CEB9B047DBE}"/>
              </a:ext>
            </a:extLst>
          </p:cNvPr>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2237109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A71A-5B56-F3CD-7FBC-575E982EFCE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30BE626-8792-7CE9-94F9-4BC3AACAC1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66EED6-93CA-3123-15DB-12B0A8480964}"/>
              </a:ext>
            </a:extLst>
          </p:cNvPr>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3301534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9D898-463E-4E3B-05D9-3CCAB03D49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AF6A74E-3E96-D402-26BC-178C2C7671C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2B74A42-0692-BB4F-0B97-224311E69565}"/>
              </a:ext>
            </a:extLst>
          </p:cNvPr>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9615827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77061-C70A-67EC-5AAA-C81E69CD8F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D51B0AA-B844-B116-8EE4-8FEC4EDB56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271FD6-5371-9B66-F5CE-AD20218B65C7}"/>
              </a:ext>
            </a:extLst>
          </p:cNvPr>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40657231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31216-D729-3CDB-9344-F49640A2D6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CBB3675-CFD9-DA40-D160-C2A876E15CB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4CC933-3339-FD15-D907-F0497A5C05DE}"/>
              </a:ext>
            </a:extLst>
          </p:cNvPr>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32080341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88E45-F25D-ED7A-AF38-5A06AF4B87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4C93A4-69C8-612B-A2AE-31A37BB4319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EC567F2-6CBB-A421-3D11-3263149C6382}"/>
              </a:ext>
            </a:extLst>
          </p:cNvPr>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39255686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DCCBD-57A4-E10A-6B12-987D44B3E93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AE0CE7B-BC68-BBDC-1989-71C49016440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527587-3C08-286C-C024-0C0CD89E8231}"/>
              </a:ext>
            </a:extLst>
          </p:cNvPr>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3403223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a:p>
            <a:endParaRPr kumimoji="1" lang="ja-JP" altLang="en-US"/>
          </a:p>
        </p:txBody>
      </p:sp>
    </p:spTree>
    <p:extLst>
      <p:ext uri="{BB962C8B-B14F-4D97-AF65-F5344CB8AC3E}">
        <p14:creationId xmlns:p14="http://schemas.microsoft.com/office/powerpoint/2010/main" val="3493429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4619816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7031068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998765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0647584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9911397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原則、</a:t>
            </a:r>
            <a:r>
              <a:rPr kumimoji="1" lang="en-US" altLang="ja-JP" dirty="0"/>
              <a:t>CRDG</a:t>
            </a:r>
            <a:r>
              <a:rPr kumimoji="1" lang="ja-JP" altLang="en-US"/>
              <a:t>サイトを投影にて詳細をご案内ください</a:t>
            </a:r>
          </a:p>
        </p:txBody>
      </p:sp>
    </p:spTree>
    <p:extLst>
      <p:ext uri="{BB962C8B-B14F-4D97-AF65-F5344CB8AC3E}">
        <p14:creationId xmlns:p14="http://schemas.microsoft.com/office/powerpoint/2010/main" val="5651114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29060476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3ds Max, Maya, Houdini, Live2D, 3D-Coat, Marvelous Design­er, Motion Builder, Substance 3D Designer, Substance 3D Pa­inter, </a:t>
            </a:r>
            <a:r>
              <a:rPr kumimoji="1" lang="en-US" altLang="ja-JP" err="1"/>
              <a:t>ZBrush</a:t>
            </a:r>
            <a:r>
              <a:rPr kumimoji="1" lang="en-US" altLang="ja-JP"/>
              <a:t>, V-Ray, Arnold, Pencil+ 4, Unity, Unreal Engine, Premiere Pro, After Effects, Flow Production Tracking,</a:t>
            </a:r>
            <a:endParaRPr kumimoji="1" lang="ja-JP" altLang="en-US"/>
          </a:p>
        </p:txBody>
      </p:sp>
    </p:spTree>
    <p:extLst>
      <p:ext uri="{BB962C8B-B14F-4D97-AF65-F5344CB8AC3E}">
        <p14:creationId xmlns:p14="http://schemas.microsoft.com/office/powerpoint/2010/main" val="25028311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37CC3-E26B-7932-1561-3C6EBBA60B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387EA1-776B-2B40-DEF0-6B6D1DA9FB3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E130956-7698-C3C8-8A9D-5D34897E831D}"/>
              </a:ext>
            </a:extLst>
          </p:cNvPr>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24370242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B96DA-4AF4-26C5-7B5E-015939D745E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D294C4-9BCC-4A05-7122-DE5E431B974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D7B084-518C-4ECA-6942-1AE6406391A0}"/>
              </a:ext>
            </a:extLst>
          </p:cNvPr>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40507462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6E7C4-EBC1-DC32-D3CF-1A2D820FE90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4F8D314-589E-59CF-17FB-B6D0FCC958D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20D0705-BF56-EEFF-F113-546015B19B7D}"/>
              </a:ext>
            </a:extLst>
          </p:cNvPr>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1029173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lang="ja-JP" altLang="en-US" b="0" i="0">
                <a:solidFill>
                  <a:srgbClr val="222427"/>
                </a:solidFill>
                <a:effectLst/>
                <a:latin typeface="Meiryo UI" panose="020B0604030504040204" pitchFamily="50" charset="-128"/>
                <a:ea typeface="Meiryo UI" panose="020B0604030504040204" pitchFamily="50" charset="-128"/>
              </a:rPr>
              <a:t>クライアントのニーズとプロフェッショナルのスキルをつなぐ</a:t>
            </a:r>
          </a:p>
          <a:p>
            <a:pPr algn="l"/>
            <a:r>
              <a:rPr lang="ja-JP" altLang="en-US" b="0" i="0">
                <a:solidFill>
                  <a:srgbClr val="222427"/>
                </a:solidFill>
                <a:effectLst/>
                <a:latin typeface="Meiryo UI" panose="020B0604030504040204" pitchFamily="50" charset="-128"/>
                <a:ea typeface="Meiryo UI" panose="020B0604030504040204" pitchFamily="50" charset="-128"/>
              </a:rPr>
              <a:t>クライアントのニーズとプロフェッショナルの意向を把握し、双方にとって効果が最大となる雇用形態（派遣・紹介など）で提案します。</a:t>
            </a:r>
            <a:endParaRPr lang="en-US" altLang="ja-JP" b="0" i="0">
              <a:solidFill>
                <a:srgbClr val="222427"/>
              </a:solidFill>
              <a:effectLst/>
              <a:latin typeface="Meiryo UI" panose="020B0604030504040204" pitchFamily="50" charset="-128"/>
              <a:ea typeface="Meiryo UI" panose="020B0604030504040204" pitchFamily="50" charset="-128"/>
            </a:endParaRPr>
          </a:p>
          <a:p>
            <a:pPr algn="l"/>
            <a:r>
              <a:rPr lang="ja-JP" altLang="en-US" b="0" i="0">
                <a:solidFill>
                  <a:srgbClr val="222427"/>
                </a:solidFill>
                <a:effectLst/>
                <a:latin typeface="Meiryo UI" panose="020B0604030504040204" pitchFamily="50" charset="-128"/>
                <a:ea typeface="Meiryo UI" panose="020B0604030504040204" pitchFamily="50" charset="-128"/>
              </a:rPr>
              <a:t>制作や開発条件に合わせたチーム構築や守秘義務・雇用に関する契約方法など、様々な相談に</a:t>
            </a:r>
            <a:r>
              <a:rPr lang="en-US" altLang="ja-JP" b="0" i="0">
                <a:solidFill>
                  <a:srgbClr val="222427"/>
                </a:solidFill>
                <a:effectLst/>
                <a:latin typeface="Meiryo UI" panose="020B0604030504040204" pitchFamily="50" charset="-128"/>
                <a:ea typeface="Meiryo UI" panose="020B0604030504040204" pitchFamily="50" charset="-128"/>
              </a:rPr>
              <a:t>C&amp;R</a:t>
            </a:r>
            <a:r>
              <a:rPr lang="ja-JP" altLang="en-US" b="0" i="0">
                <a:solidFill>
                  <a:srgbClr val="222427"/>
                </a:solidFill>
                <a:effectLst/>
                <a:latin typeface="Meiryo UI" panose="020B0604030504040204" pitchFamily="50" charset="-128"/>
                <a:ea typeface="Meiryo UI" panose="020B0604030504040204" pitchFamily="50" charset="-128"/>
              </a:rPr>
              <a:t>グループの担当者が対応します。</a:t>
            </a:r>
          </a:p>
        </p:txBody>
      </p:sp>
    </p:spTree>
    <p:extLst>
      <p:ext uri="{BB962C8B-B14F-4D97-AF65-F5344CB8AC3E}">
        <p14:creationId xmlns:p14="http://schemas.microsoft.com/office/powerpoint/2010/main" val="37569124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42147941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原則、</a:t>
            </a:r>
            <a:r>
              <a:rPr kumimoji="1" lang="en-US" altLang="ja-JP"/>
              <a:t>CRDG</a:t>
            </a:r>
            <a:r>
              <a:rPr kumimoji="1" lang="ja-JP" altLang="en-US"/>
              <a:t>サイトを投影にて詳細をご案内ください</a:t>
            </a:r>
          </a:p>
        </p:txBody>
      </p:sp>
    </p:spTree>
    <p:extLst>
      <p:ext uri="{BB962C8B-B14F-4D97-AF65-F5344CB8AC3E}">
        <p14:creationId xmlns:p14="http://schemas.microsoft.com/office/powerpoint/2010/main" val="28193266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3A075-3DD9-577D-E053-60674CBEEF5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96AA56C-9689-1553-097D-EC6F0AE84B9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BFC86E-47AA-04B1-45F4-1C4CFB45BD02}"/>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5782403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425C9-D2A9-F6D1-C474-D500CCAD0EF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15D459B-945F-5046-3562-20C36C7E2EE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ACA23B0-D9BA-12AB-D24D-D8C870EBE502}"/>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908711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602EC98F-F3CD-4799-ADAA-9CB8CF44AE4D}" type="slidenum">
              <a:rPr kumimoji="1" lang="ja-JP" altLang="en-US" smtClean="0"/>
              <a:t>50</a:t>
            </a:fld>
            <a:endParaRPr kumimoji="1" lang="ja-JP" altLang="en-US"/>
          </a:p>
        </p:txBody>
      </p:sp>
    </p:spTree>
    <p:extLst>
      <p:ext uri="{BB962C8B-B14F-4D97-AF65-F5344CB8AC3E}">
        <p14:creationId xmlns:p14="http://schemas.microsoft.com/office/powerpoint/2010/main" val="4463917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5105793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4736028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8106813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3BA88-AAC0-772F-4B96-6106702AF83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5B0096-ACC9-DF43-4104-A6314ECD52C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EA09F0D-F7C6-00F2-B5BE-6EDC1FFF2D46}"/>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4527623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3BA88-AAC0-772F-4B96-6106702AF83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5B0096-ACC9-DF43-4104-A6314ECD52C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EA09F0D-F7C6-00F2-B5BE-6EDC1FFF2D46}"/>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4527623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577FE-3E07-F983-41E7-BFBB9FDAE02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14A6FB5-3687-8472-1E2E-28D94C35B52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D9AAC9-BF95-2F90-21FB-FF385A7CF4CB}"/>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2311325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0237471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8568944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7475133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34C8B-C6C4-CD07-FDCB-238DF562DF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164AE2F-0385-8DA3-8EA0-7666821FF63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2C2EA30-FD01-815A-0179-D95EB2B1EB14}"/>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5908103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6948934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002162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21" name="楕円 20">
            <a:extLst>
              <a:ext uri="{FF2B5EF4-FFF2-40B4-BE49-F238E27FC236}">
                <a16:creationId xmlns:a16="http://schemas.microsoft.com/office/drawing/2014/main" id="{3B9858AC-F746-B5D8-0558-016A3FE96BF5}"/>
              </a:ext>
            </a:extLst>
          </p:cNvPr>
          <p:cNvSpPr/>
          <p:nvPr userDrawn="1"/>
        </p:nvSpPr>
        <p:spPr>
          <a:xfrm rot="18000000" flipH="1">
            <a:off x="5880659" y="428597"/>
            <a:ext cx="1363629" cy="1363629"/>
          </a:xfrm>
          <a:prstGeom prst="ellipse">
            <a:avLst/>
          </a:prstGeom>
          <a:noFill/>
          <a:ln>
            <a:gradFill>
              <a:gsLst>
                <a:gs pos="0">
                  <a:srgbClr val="E99168"/>
                </a:gs>
                <a:gs pos="38000">
                  <a:srgbClr val="CEC866"/>
                </a:gs>
                <a:gs pos="68000">
                  <a:srgbClr val="94C86B"/>
                </a:gs>
                <a:gs pos="100000">
                  <a:srgbClr val="73BACB"/>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tx1"/>
              </a:solidFill>
            </a:endParaRPr>
          </a:p>
        </p:txBody>
      </p:sp>
      <p:sp>
        <p:nvSpPr>
          <p:cNvPr id="19" name="楕円 18">
            <a:extLst>
              <a:ext uri="{FF2B5EF4-FFF2-40B4-BE49-F238E27FC236}">
                <a16:creationId xmlns:a16="http://schemas.microsoft.com/office/drawing/2014/main" id="{6C45CDDC-A683-86E8-D2EB-F4F92377971B}"/>
              </a:ext>
            </a:extLst>
          </p:cNvPr>
          <p:cNvSpPr/>
          <p:nvPr userDrawn="1"/>
        </p:nvSpPr>
        <p:spPr>
          <a:xfrm rot="18900000">
            <a:off x="6950380" y="538231"/>
            <a:ext cx="398351" cy="398351"/>
          </a:xfrm>
          <a:prstGeom prst="ellipse">
            <a:avLst/>
          </a:prstGeom>
          <a:gradFill>
            <a:gsLst>
              <a:gs pos="0">
                <a:srgbClr val="E99168"/>
              </a:gs>
              <a:gs pos="35000">
                <a:srgbClr val="E8D966"/>
              </a:gs>
              <a:gs pos="69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tx1"/>
              </a:solidFill>
            </a:endParaRPr>
          </a:p>
        </p:txBody>
      </p:sp>
      <p:sp>
        <p:nvSpPr>
          <p:cNvPr id="22" name="楕円 21">
            <a:extLst>
              <a:ext uri="{FF2B5EF4-FFF2-40B4-BE49-F238E27FC236}">
                <a16:creationId xmlns:a16="http://schemas.microsoft.com/office/drawing/2014/main" id="{AC14F533-CF24-65BA-BE80-C907C9929EA2}"/>
              </a:ext>
            </a:extLst>
          </p:cNvPr>
          <p:cNvSpPr/>
          <p:nvPr userDrawn="1"/>
        </p:nvSpPr>
        <p:spPr>
          <a:xfrm>
            <a:off x="8551801" y="5939038"/>
            <a:ext cx="365125" cy="365125"/>
          </a:xfrm>
          <a:prstGeom prst="ellipse">
            <a:avLst/>
          </a:prstGeom>
          <a:gradFill>
            <a:gsLst>
              <a:gs pos="0">
                <a:srgbClr val="E99168"/>
              </a:gs>
              <a:gs pos="35000">
                <a:srgbClr val="E8D966"/>
              </a:gs>
              <a:gs pos="69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tx1"/>
              </a:solidFill>
            </a:endParaRPr>
          </a:p>
        </p:txBody>
      </p:sp>
      <p:sp>
        <p:nvSpPr>
          <p:cNvPr id="13" name="タイトル 1">
            <a:extLst>
              <a:ext uri="{FF2B5EF4-FFF2-40B4-BE49-F238E27FC236}">
                <a16:creationId xmlns:a16="http://schemas.microsoft.com/office/drawing/2014/main" id="{6EBBF3E4-D838-C77C-DDB7-436D033A4583}"/>
              </a:ext>
            </a:extLst>
          </p:cNvPr>
          <p:cNvSpPr>
            <a:spLocks noGrp="1"/>
          </p:cNvSpPr>
          <p:nvPr>
            <p:ph type="title"/>
          </p:nvPr>
        </p:nvSpPr>
        <p:spPr>
          <a:xfrm>
            <a:off x="1127760" y="1201739"/>
            <a:ext cx="10219690" cy="2227262"/>
          </a:xfrm>
          <a:prstGeom prst="rect">
            <a:avLst/>
          </a:prstGeom>
        </p:spPr>
        <p:txBody>
          <a:bodyPr anchor="b">
            <a:normAutofit/>
          </a:bodyPr>
          <a:lstStyle>
            <a:lvl1pPr>
              <a:defRPr sz="3600">
                <a:solidFill>
                  <a:srgbClr val="333333"/>
                </a:solidFill>
                <a:latin typeface="メイリオ" panose="020B0604030504040204" pitchFamily="50" charset="-128"/>
                <a:ea typeface="メイリオ" panose="020B0604030504040204" pitchFamily="50" charset="-128"/>
              </a:defRPr>
            </a:lvl1pPr>
          </a:lstStyle>
          <a:p>
            <a:r>
              <a:rPr kumimoji="1" lang="ja-JP" altLang="en-US"/>
              <a:t>マスター タイトルの書式設定</a:t>
            </a:r>
          </a:p>
        </p:txBody>
      </p:sp>
      <p:sp>
        <p:nvSpPr>
          <p:cNvPr id="14" name="テキスト プレースホルダー 2">
            <a:extLst>
              <a:ext uri="{FF2B5EF4-FFF2-40B4-BE49-F238E27FC236}">
                <a16:creationId xmlns:a16="http://schemas.microsoft.com/office/drawing/2014/main" id="{44611A44-3C18-DBB1-7FE2-003DB83DDD89}"/>
              </a:ext>
            </a:extLst>
          </p:cNvPr>
          <p:cNvSpPr>
            <a:spLocks noGrp="1"/>
          </p:cNvSpPr>
          <p:nvPr>
            <p:ph type="body" idx="1"/>
          </p:nvPr>
        </p:nvSpPr>
        <p:spPr>
          <a:xfrm>
            <a:off x="1127760" y="3429001"/>
            <a:ext cx="10219690" cy="2152650"/>
          </a:xfrm>
          <a:prstGeom prst="rect">
            <a:avLst/>
          </a:prstGeom>
        </p:spPr>
        <p:txBody>
          <a:bodyPr>
            <a:normAutofit/>
          </a:bodyPr>
          <a:lstStyle>
            <a:lvl1pPr marL="0" indent="0">
              <a:buNone/>
              <a:defRPr sz="2800">
                <a:solidFill>
                  <a:srgbClr val="333333"/>
                </a:solidFill>
                <a:latin typeface="メイリオ" panose="020B0604030504040204" pitchFamily="50" charset="-128"/>
                <a:ea typeface="メイリオ" panose="020B0604030504040204" pitchFamily="50" charset="-128"/>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2" name="フリーフォーム: 図形 1">
            <a:extLst>
              <a:ext uri="{FF2B5EF4-FFF2-40B4-BE49-F238E27FC236}">
                <a16:creationId xmlns:a16="http://schemas.microsoft.com/office/drawing/2014/main" id="{45F89B63-ECE2-36A0-A3F1-F124BF851C9A}"/>
              </a:ext>
            </a:extLst>
          </p:cNvPr>
          <p:cNvSpPr/>
          <p:nvPr userDrawn="1"/>
        </p:nvSpPr>
        <p:spPr>
          <a:xfrm rot="18000000">
            <a:off x="8699151" y="887687"/>
            <a:ext cx="5507479" cy="4427619"/>
          </a:xfrm>
          <a:custGeom>
            <a:avLst/>
            <a:gdLst>
              <a:gd name="connsiteX0" fmla="*/ 5507479 w 5507479"/>
              <a:gd name="connsiteY0" fmla="*/ 1477387 h 4427619"/>
              <a:gd name="connsiteX1" fmla="*/ 4683090 w 5507479"/>
              <a:gd name="connsiteY1" fmla="*/ 1953348 h 4427619"/>
              <a:gd name="connsiteX2" fmla="*/ 4610808 w 5507479"/>
              <a:gd name="connsiteY2" fmla="*/ 1834369 h 4427619"/>
              <a:gd name="connsiteX3" fmla="*/ 2952503 w 5507479"/>
              <a:gd name="connsiteY3" fmla="*/ 952655 h 4427619"/>
              <a:gd name="connsiteX4" fmla="*/ 952655 w 5507479"/>
              <a:gd name="connsiteY4" fmla="*/ 2952503 h 4427619"/>
              <a:gd name="connsiteX5" fmla="*/ 1194026 w 5507479"/>
              <a:gd name="connsiteY5" fmla="*/ 3905749 h 4427619"/>
              <a:gd name="connsiteX6" fmla="*/ 1221916 w 5507479"/>
              <a:gd name="connsiteY6" fmla="*/ 3951658 h 4427619"/>
              <a:gd name="connsiteX7" fmla="*/ 397528 w 5507479"/>
              <a:gd name="connsiteY7" fmla="*/ 4427619 h 4427619"/>
              <a:gd name="connsiteX8" fmla="*/ 356351 w 5507479"/>
              <a:gd name="connsiteY8" fmla="*/ 4359841 h 4427619"/>
              <a:gd name="connsiteX9" fmla="*/ 0 w 5507479"/>
              <a:gd name="connsiteY9" fmla="*/ 2952503 h 4427619"/>
              <a:gd name="connsiteX10" fmla="*/ 2952503 w 5507479"/>
              <a:gd name="connsiteY10" fmla="*/ 0 h 4427619"/>
              <a:gd name="connsiteX11" fmla="*/ 5400765 w 5507479"/>
              <a:gd name="connsiteY11" fmla="*/ 1301731 h 4427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07479" h="4427619">
                <a:moveTo>
                  <a:pt x="5507479" y="1477387"/>
                </a:moveTo>
                <a:lnTo>
                  <a:pt x="4683090" y="1953348"/>
                </a:lnTo>
                <a:lnTo>
                  <a:pt x="4610808" y="1834369"/>
                </a:lnTo>
                <a:cubicBezTo>
                  <a:pt x="4251421" y="1302406"/>
                  <a:pt x="3642807" y="952655"/>
                  <a:pt x="2952503" y="952655"/>
                </a:cubicBezTo>
                <a:cubicBezTo>
                  <a:pt x="1848017" y="952655"/>
                  <a:pt x="952655" y="1848017"/>
                  <a:pt x="952655" y="2952503"/>
                </a:cubicBezTo>
                <a:cubicBezTo>
                  <a:pt x="952655" y="3297655"/>
                  <a:pt x="1040093" y="3622384"/>
                  <a:pt x="1194026" y="3905749"/>
                </a:cubicBezTo>
                <a:lnTo>
                  <a:pt x="1221916" y="3951658"/>
                </a:lnTo>
                <a:lnTo>
                  <a:pt x="397528" y="4427619"/>
                </a:lnTo>
                <a:lnTo>
                  <a:pt x="356351" y="4359841"/>
                </a:lnTo>
                <a:cubicBezTo>
                  <a:pt x="129090" y="3941492"/>
                  <a:pt x="0" y="3462072"/>
                  <a:pt x="0" y="2952503"/>
                </a:cubicBezTo>
                <a:cubicBezTo>
                  <a:pt x="0" y="1321881"/>
                  <a:pt x="1321881" y="0"/>
                  <a:pt x="2952503" y="0"/>
                </a:cubicBezTo>
                <a:cubicBezTo>
                  <a:pt x="3971641" y="-1"/>
                  <a:pt x="4870179" y="516360"/>
                  <a:pt x="5400765" y="1301731"/>
                </a:cubicBezTo>
                <a:close/>
              </a:path>
            </a:pathLst>
          </a:custGeom>
          <a:gradFill>
            <a:gsLst>
              <a:gs pos="0">
                <a:srgbClr val="E99168"/>
              </a:gs>
              <a:gs pos="35000">
                <a:srgbClr val="CEC866"/>
              </a:gs>
              <a:gs pos="63000">
                <a:srgbClr val="65C570"/>
              </a:gs>
              <a:gs pos="93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solidFill>
                <a:schemeClr val="tx1"/>
              </a:solidFill>
            </a:endParaRPr>
          </a:p>
        </p:txBody>
      </p:sp>
      <p:sp>
        <p:nvSpPr>
          <p:cNvPr id="3" name="フリーフォーム: 図形 2">
            <a:extLst>
              <a:ext uri="{FF2B5EF4-FFF2-40B4-BE49-F238E27FC236}">
                <a16:creationId xmlns:a16="http://schemas.microsoft.com/office/drawing/2014/main" id="{7B0AFC53-7110-9013-4340-8B6131E6899B}"/>
              </a:ext>
            </a:extLst>
          </p:cNvPr>
          <p:cNvSpPr/>
          <p:nvPr userDrawn="1"/>
        </p:nvSpPr>
        <p:spPr>
          <a:xfrm>
            <a:off x="785511" y="1"/>
            <a:ext cx="83496" cy="2149939"/>
          </a:xfrm>
          <a:custGeom>
            <a:avLst/>
            <a:gdLst>
              <a:gd name="connsiteX0" fmla="*/ 0 w 83496"/>
              <a:gd name="connsiteY0" fmla="*/ 0 h 2149939"/>
              <a:gd name="connsiteX1" fmla="*/ 83496 w 83496"/>
              <a:gd name="connsiteY1" fmla="*/ 0 h 2149939"/>
              <a:gd name="connsiteX2" fmla="*/ 83495 w 83496"/>
              <a:gd name="connsiteY2" fmla="*/ 2108191 h 2149939"/>
              <a:gd name="connsiteX3" fmla="*/ 41747 w 83496"/>
              <a:gd name="connsiteY3" fmla="*/ 2149939 h 2149939"/>
              <a:gd name="connsiteX4" fmla="*/ 41748 w 83496"/>
              <a:gd name="connsiteY4" fmla="*/ 2149938 h 2149939"/>
              <a:gd name="connsiteX5" fmla="*/ 0 w 83496"/>
              <a:gd name="connsiteY5" fmla="*/ 2108190 h 214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496" h="2149939">
                <a:moveTo>
                  <a:pt x="0" y="0"/>
                </a:moveTo>
                <a:lnTo>
                  <a:pt x="83496" y="0"/>
                </a:lnTo>
                <a:lnTo>
                  <a:pt x="83495" y="2108191"/>
                </a:lnTo>
                <a:cubicBezTo>
                  <a:pt x="83495" y="2131248"/>
                  <a:pt x="64804" y="2149939"/>
                  <a:pt x="41747" y="2149939"/>
                </a:cubicBezTo>
                <a:lnTo>
                  <a:pt x="41748" y="2149938"/>
                </a:lnTo>
                <a:cubicBezTo>
                  <a:pt x="18691" y="2149938"/>
                  <a:pt x="0" y="2131247"/>
                  <a:pt x="0" y="2108190"/>
                </a:cubicBezTo>
                <a:close/>
              </a:path>
            </a:pathLst>
          </a:cu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5" name="フリーフォーム: 図形 4">
            <a:extLst>
              <a:ext uri="{FF2B5EF4-FFF2-40B4-BE49-F238E27FC236}">
                <a16:creationId xmlns:a16="http://schemas.microsoft.com/office/drawing/2014/main" id="{5D52CFDE-16D2-961B-9A81-F84D870589B2}"/>
              </a:ext>
            </a:extLst>
          </p:cNvPr>
          <p:cNvSpPr/>
          <p:nvPr userDrawn="1"/>
        </p:nvSpPr>
        <p:spPr>
          <a:xfrm rot="10800000">
            <a:off x="571371" y="6352"/>
            <a:ext cx="83494" cy="1356207"/>
          </a:xfrm>
          <a:custGeom>
            <a:avLst/>
            <a:gdLst>
              <a:gd name="connsiteX0" fmla="*/ 83493 w 83494"/>
              <a:gd name="connsiteY0" fmla="*/ 1356207 h 1356207"/>
              <a:gd name="connsiteX1" fmla="*/ 0 w 83494"/>
              <a:gd name="connsiteY1" fmla="*/ 1356207 h 1356207"/>
              <a:gd name="connsiteX2" fmla="*/ 0 w 83494"/>
              <a:gd name="connsiteY2" fmla="*/ 41747 h 1356207"/>
              <a:gd name="connsiteX3" fmla="*/ 41747 w 83494"/>
              <a:gd name="connsiteY3" fmla="*/ 0 h 1356207"/>
              <a:gd name="connsiteX4" fmla="*/ 83494 w 83494"/>
              <a:gd name="connsiteY4" fmla="*/ 41747 h 1356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494" h="1356207">
                <a:moveTo>
                  <a:pt x="83493" y="1356207"/>
                </a:moveTo>
                <a:lnTo>
                  <a:pt x="0" y="1356207"/>
                </a:lnTo>
                <a:lnTo>
                  <a:pt x="0" y="41747"/>
                </a:lnTo>
                <a:cubicBezTo>
                  <a:pt x="0" y="18691"/>
                  <a:pt x="18691" y="0"/>
                  <a:pt x="41747" y="0"/>
                </a:cubicBezTo>
                <a:cubicBezTo>
                  <a:pt x="64803" y="0"/>
                  <a:pt x="83494" y="18691"/>
                  <a:pt x="83494" y="41747"/>
                </a:cubicBezTo>
                <a:close/>
              </a:path>
            </a:pathLst>
          </a:cu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6" name="スライド番号プレースホルダー 5">
            <a:extLst>
              <a:ext uri="{FF2B5EF4-FFF2-40B4-BE49-F238E27FC236}">
                <a16:creationId xmlns:a16="http://schemas.microsoft.com/office/drawing/2014/main" id="{F0D488A1-E729-88EF-0DA1-6B5811AE6A76}"/>
              </a:ext>
            </a:extLst>
          </p:cNvPr>
          <p:cNvSpPr>
            <a:spLocks noGrp="1"/>
          </p:cNvSpPr>
          <p:nvPr>
            <p:ph type="sldNum" sz="quarter" idx="10"/>
          </p:nvPr>
        </p:nvSpPr>
        <p:spPr/>
        <p:txBody>
          <a:bodyPr/>
          <a:lstStyle/>
          <a:p>
            <a:fld id="{B75FDD43-FCEC-4ECC-8189-A5C6D2E08DC6}" type="slidenum">
              <a:rPr lang="ja-JP" altLang="en-US" smtClean="0"/>
              <a:pPr/>
              <a:t>‹#›</a:t>
            </a:fld>
            <a:endParaRPr lang="ja-JP" altLang="en-US"/>
          </a:p>
        </p:txBody>
      </p:sp>
    </p:spTree>
    <p:extLst>
      <p:ext uri="{BB962C8B-B14F-4D97-AF65-F5344CB8AC3E}">
        <p14:creationId xmlns:p14="http://schemas.microsoft.com/office/powerpoint/2010/main" val="910990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本文">
    <p:spTree>
      <p:nvGrpSpPr>
        <p:cNvPr id="1" name=""/>
        <p:cNvGrpSpPr/>
        <p:nvPr/>
      </p:nvGrpSpPr>
      <p:grpSpPr>
        <a:xfrm>
          <a:off x="0" y="0"/>
          <a:ext cx="0" cy="0"/>
          <a:chOff x="0" y="0"/>
          <a:chExt cx="0" cy="0"/>
        </a:xfrm>
      </p:grpSpPr>
      <p:sp>
        <p:nvSpPr>
          <p:cNvPr id="14" name="コンテンツ プレースホルダー 2">
            <a:extLst>
              <a:ext uri="{FF2B5EF4-FFF2-40B4-BE49-F238E27FC236}">
                <a16:creationId xmlns:a16="http://schemas.microsoft.com/office/drawing/2014/main" id="{6DD99A85-6EAD-1464-A0BA-2FA8369EB4CE}"/>
              </a:ext>
            </a:extLst>
          </p:cNvPr>
          <p:cNvSpPr>
            <a:spLocks noGrp="1"/>
          </p:cNvSpPr>
          <p:nvPr>
            <p:ph idx="10"/>
          </p:nvPr>
        </p:nvSpPr>
        <p:spPr>
          <a:xfrm>
            <a:off x="653802" y="652081"/>
            <a:ext cx="11086078" cy="5987780"/>
          </a:xfrm>
          <a:prstGeom prst="rect">
            <a:avLst/>
          </a:prstGeom>
        </p:spPr>
        <p:txBody>
          <a:bodyPr>
            <a:normAutofit/>
          </a:bodyPr>
          <a:lstStyle>
            <a:lvl1pPr marL="0" indent="0">
              <a:buNone/>
              <a:defRPr sz="1800">
                <a:solidFill>
                  <a:schemeClr val="tx1"/>
                </a:solidFill>
                <a:latin typeface="メイリオ" panose="020B0604030504040204" pitchFamily="50" charset="-128"/>
                <a:ea typeface="メイリオ" panose="020B0604030504040204" pitchFamily="50" charset="-128"/>
              </a:defRPr>
            </a:lvl1pPr>
            <a:lvl2pPr marL="457200" indent="0">
              <a:buNone/>
              <a:defRPr sz="1600">
                <a:solidFill>
                  <a:schemeClr val="tx1"/>
                </a:solidFill>
                <a:latin typeface="メイリオ" panose="020B0604030504040204" pitchFamily="50" charset="-128"/>
                <a:ea typeface="メイリオ" panose="020B0604030504040204" pitchFamily="50" charset="-128"/>
              </a:defRPr>
            </a:lvl2pPr>
            <a:lvl3pPr marL="914400" indent="0">
              <a:buNone/>
              <a:defRPr sz="1600">
                <a:solidFill>
                  <a:schemeClr val="tx1"/>
                </a:solidFill>
                <a:latin typeface="メイリオ" panose="020B0604030504040204" pitchFamily="50" charset="-128"/>
                <a:ea typeface="メイリオ" panose="020B0604030504040204" pitchFamily="50" charset="-128"/>
              </a:defRPr>
            </a:lvl3pPr>
            <a:lvl4pPr marL="1371600" indent="0">
              <a:buNone/>
              <a:defRPr sz="1600">
                <a:solidFill>
                  <a:schemeClr val="tx1"/>
                </a:solidFill>
                <a:latin typeface="メイリオ" panose="020B0604030504040204" pitchFamily="50" charset="-128"/>
                <a:ea typeface="メイリオ" panose="020B0604030504040204" pitchFamily="50" charset="-128"/>
              </a:defRPr>
            </a:lvl4pPr>
            <a:lvl5pPr marL="1828800" indent="0">
              <a:buNone/>
              <a:defRPr sz="1600">
                <a:solidFill>
                  <a:schemeClr val="tx1"/>
                </a:solidFill>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タイトル 1">
            <a:extLst>
              <a:ext uri="{FF2B5EF4-FFF2-40B4-BE49-F238E27FC236}">
                <a16:creationId xmlns:a16="http://schemas.microsoft.com/office/drawing/2014/main" id="{9B5C1432-4251-DCED-77E7-6872FE39F20D}"/>
              </a:ext>
            </a:extLst>
          </p:cNvPr>
          <p:cNvSpPr>
            <a:spLocks noGrp="1"/>
          </p:cNvSpPr>
          <p:nvPr>
            <p:ph type="title"/>
          </p:nvPr>
        </p:nvSpPr>
        <p:spPr>
          <a:xfrm>
            <a:off x="653802" y="92360"/>
            <a:ext cx="11086078" cy="467359"/>
          </a:xfrm>
          <a:prstGeom prst="rect">
            <a:avLst/>
          </a:prstGeom>
        </p:spPr>
        <p:txBody>
          <a:bodyPr>
            <a:normAutofit/>
          </a:bodyPr>
          <a:lstStyle>
            <a:lvl1pPr algn="l">
              <a:defRPr sz="2500">
                <a:solidFill>
                  <a:srgbClr val="333333"/>
                </a:solidFill>
                <a:latin typeface="メイリオ" panose="020B0604030504040204" pitchFamily="50" charset="-128"/>
                <a:ea typeface="メイリオ" panose="020B0604030504040204" pitchFamily="50" charset="-128"/>
              </a:defRPr>
            </a:lvl1pPr>
          </a:lstStyle>
          <a:p>
            <a:r>
              <a:rPr kumimoji="1" lang="ja-JP" altLang="en-US"/>
              <a:t>マスター タイトルの書式設定</a:t>
            </a:r>
          </a:p>
        </p:txBody>
      </p:sp>
      <p:sp>
        <p:nvSpPr>
          <p:cNvPr id="10" name="四角形: 上の 2 つの角を丸める 9">
            <a:extLst>
              <a:ext uri="{FF2B5EF4-FFF2-40B4-BE49-F238E27FC236}">
                <a16:creationId xmlns:a16="http://schemas.microsoft.com/office/drawing/2014/main" id="{420D0F8C-DA0F-3283-D973-CBF7D0042B07}"/>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DADFF681-F6D6-128A-F185-FCDC64A859A2}"/>
              </a:ext>
            </a:extLst>
          </p:cNvPr>
          <p:cNvSpPr>
            <a:spLocks noGrp="1"/>
          </p:cNvSpPr>
          <p:nvPr>
            <p:ph type="sldNum" sz="quarter" idx="11"/>
          </p:nvPr>
        </p:nvSpPr>
        <p:spPr/>
        <p:txBody>
          <a:bodyPr/>
          <a:lstStyle/>
          <a:p>
            <a:fld id="{B75FDD43-FCEC-4ECC-8189-A5C6D2E08DC6}" type="slidenum">
              <a:rPr lang="ja-JP" altLang="en-US" smtClean="0"/>
              <a:pPr/>
              <a:t>‹#›</a:t>
            </a:fld>
            <a:endParaRPr lang="ja-JP" altLang="en-US"/>
          </a:p>
        </p:txBody>
      </p:sp>
    </p:spTree>
    <p:extLst>
      <p:ext uri="{BB962C8B-B14F-4D97-AF65-F5344CB8AC3E}">
        <p14:creationId xmlns:p14="http://schemas.microsoft.com/office/powerpoint/2010/main" val="1032851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本文_C&amp;Rロゴ">
    <p:spTree>
      <p:nvGrpSpPr>
        <p:cNvPr id="1" name=""/>
        <p:cNvGrpSpPr/>
        <p:nvPr/>
      </p:nvGrpSpPr>
      <p:grpSpPr>
        <a:xfrm>
          <a:off x="0" y="0"/>
          <a:ext cx="0" cy="0"/>
          <a:chOff x="0" y="0"/>
          <a:chExt cx="0" cy="0"/>
        </a:xfrm>
      </p:grpSpPr>
      <p:sp>
        <p:nvSpPr>
          <p:cNvPr id="14" name="コンテンツ プレースホルダー 2">
            <a:extLst>
              <a:ext uri="{FF2B5EF4-FFF2-40B4-BE49-F238E27FC236}">
                <a16:creationId xmlns:a16="http://schemas.microsoft.com/office/drawing/2014/main" id="{6DD99A85-6EAD-1464-A0BA-2FA8369EB4CE}"/>
              </a:ext>
            </a:extLst>
          </p:cNvPr>
          <p:cNvSpPr>
            <a:spLocks noGrp="1"/>
          </p:cNvSpPr>
          <p:nvPr>
            <p:ph idx="10"/>
          </p:nvPr>
        </p:nvSpPr>
        <p:spPr>
          <a:xfrm>
            <a:off x="653802" y="652081"/>
            <a:ext cx="11086078" cy="5987780"/>
          </a:xfrm>
          <a:prstGeom prst="rect">
            <a:avLst/>
          </a:prstGeom>
        </p:spPr>
        <p:txBody>
          <a:bodyPr>
            <a:normAutofit/>
          </a:bodyPr>
          <a:lstStyle>
            <a:lvl1pPr marL="0" indent="0">
              <a:buNone/>
              <a:defRPr sz="1800">
                <a:solidFill>
                  <a:schemeClr val="tx1"/>
                </a:solidFill>
                <a:latin typeface="メイリオ" panose="020B0604030504040204" pitchFamily="50" charset="-128"/>
                <a:ea typeface="メイリオ" panose="020B0604030504040204" pitchFamily="50" charset="-128"/>
              </a:defRPr>
            </a:lvl1pPr>
            <a:lvl2pPr marL="457200" indent="0">
              <a:buNone/>
              <a:defRPr sz="1600">
                <a:solidFill>
                  <a:schemeClr val="tx1"/>
                </a:solidFill>
                <a:latin typeface="メイリオ" panose="020B0604030504040204" pitchFamily="50" charset="-128"/>
                <a:ea typeface="メイリオ" panose="020B0604030504040204" pitchFamily="50" charset="-128"/>
              </a:defRPr>
            </a:lvl2pPr>
            <a:lvl3pPr marL="914400" indent="0">
              <a:buNone/>
              <a:defRPr sz="1600">
                <a:solidFill>
                  <a:schemeClr val="tx1"/>
                </a:solidFill>
                <a:latin typeface="メイリオ" panose="020B0604030504040204" pitchFamily="50" charset="-128"/>
                <a:ea typeface="メイリオ" panose="020B0604030504040204" pitchFamily="50" charset="-128"/>
              </a:defRPr>
            </a:lvl3pPr>
            <a:lvl4pPr marL="1371600" indent="0">
              <a:buNone/>
              <a:defRPr sz="1600">
                <a:solidFill>
                  <a:schemeClr val="tx1"/>
                </a:solidFill>
                <a:latin typeface="メイリオ" panose="020B0604030504040204" pitchFamily="50" charset="-128"/>
                <a:ea typeface="メイリオ" panose="020B0604030504040204" pitchFamily="50" charset="-128"/>
              </a:defRPr>
            </a:lvl4pPr>
            <a:lvl5pPr marL="1828800" indent="0">
              <a:buNone/>
              <a:defRPr sz="1600">
                <a:solidFill>
                  <a:schemeClr val="tx1"/>
                </a:solidFill>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タイトル 1">
            <a:extLst>
              <a:ext uri="{FF2B5EF4-FFF2-40B4-BE49-F238E27FC236}">
                <a16:creationId xmlns:a16="http://schemas.microsoft.com/office/drawing/2014/main" id="{9B5C1432-4251-DCED-77E7-6872FE39F20D}"/>
              </a:ext>
            </a:extLst>
          </p:cNvPr>
          <p:cNvSpPr>
            <a:spLocks noGrp="1"/>
          </p:cNvSpPr>
          <p:nvPr>
            <p:ph type="title"/>
          </p:nvPr>
        </p:nvSpPr>
        <p:spPr>
          <a:xfrm>
            <a:off x="653801" y="92360"/>
            <a:ext cx="9231567" cy="467359"/>
          </a:xfrm>
          <a:prstGeom prst="rect">
            <a:avLst/>
          </a:prstGeom>
        </p:spPr>
        <p:txBody>
          <a:bodyPr>
            <a:noAutofit/>
          </a:bodyPr>
          <a:lstStyle>
            <a:lvl1pPr algn="l">
              <a:defRPr sz="2500">
                <a:solidFill>
                  <a:srgbClr val="333333"/>
                </a:solidFill>
                <a:latin typeface="メイリオ" panose="020B0604030504040204" pitchFamily="50" charset="-128"/>
                <a:ea typeface="メイリオ" panose="020B0604030504040204" pitchFamily="50" charset="-128"/>
              </a:defRPr>
            </a:lvl1pPr>
          </a:lstStyle>
          <a:p>
            <a:r>
              <a:rPr kumimoji="1" lang="ja-JP" altLang="en-US"/>
              <a:t>マスター タイトルの書式設定</a:t>
            </a:r>
          </a:p>
        </p:txBody>
      </p:sp>
      <p:sp>
        <p:nvSpPr>
          <p:cNvPr id="10" name="四角形: 上の 2 つの角を丸める 9">
            <a:extLst>
              <a:ext uri="{FF2B5EF4-FFF2-40B4-BE49-F238E27FC236}">
                <a16:creationId xmlns:a16="http://schemas.microsoft.com/office/drawing/2014/main" id="{420D0F8C-DA0F-3283-D973-CBF7D0042B07}"/>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descr="図形&#10;&#10;中程度の精度で自動的に生成された説明">
            <a:extLst>
              <a:ext uri="{FF2B5EF4-FFF2-40B4-BE49-F238E27FC236}">
                <a16:creationId xmlns:a16="http://schemas.microsoft.com/office/drawing/2014/main" id="{2F8B6CF3-EC3E-AC91-E316-11F392871D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85369" y="72791"/>
            <a:ext cx="2251451" cy="506495"/>
          </a:xfrm>
          <a:prstGeom prst="rect">
            <a:avLst/>
          </a:prstGeom>
        </p:spPr>
      </p:pic>
      <p:sp>
        <p:nvSpPr>
          <p:cNvPr id="4" name="スライド番号プレースホルダー 3">
            <a:extLst>
              <a:ext uri="{FF2B5EF4-FFF2-40B4-BE49-F238E27FC236}">
                <a16:creationId xmlns:a16="http://schemas.microsoft.com/office/drawing/2014/main" id="{A1D9517F-5CA5-ABBF-08FD-B38F69BBF3F2}"/>
              </a:ext>
            </a:extLst>
          </p:cNvPr>
          <p:cNvSpPr>
            <a:spLocks noGrp="1"/>
          </p:cNvSpPr>
          <p:nvPr>
            <p:ph type="sldNum" sz="quarter" idx="11"/>
          </p:nvPr>
        </p:nvSpPr>
        <p:spPr/>
        <p:txBody>
          <a:bodyPr/>
          <a:lstStyle/>
          <a:p>
            <a:fld id="{B75FDD43-FCEC-4ECC-8189-A5C6D2E08DC6}" type="slidenum">
              <a:rPr lang="ja-JP" altLang="en-US" smtClean="0"/>
              <a:pPr/>
              <a:t>‹#›</a:t>
            </a:fld>
            <a:endParaRPr lang="ja-JP" altLang="en-US"/>
          </a:p>
        </p:txBody>
      </p:sp>
    </p:spTree>
    <p:extLst>
      <p:ext uri="{BB962C8B-B14F-4D97-AF65-F5344CB8AC3E}">
        <p14:creationId xmlns:p14="http://schemas.microsoft.com/office/powerpoint/2010/main" val="3205902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本文_Creative Studiosロゴ">
    <p:spTree>
      <p:nvGrpSpPr>
        <p:cNvPr id="1" name=""/>
        <p:cNvGrpSpPr/>
        <p:nvPr/>
      </p:nvGrpSpPr>
      <p:grpSpPr>
        <a:xfrm>
          <a:off x="0" y="0"/>
          <a:ext cx="0" cy="0"/>
          <a:chOff x="0" y="0"/>
          <a:chExt cx="0" cy="0"/>
        </a:xfrm>
      </p:grpSpPr>
      <p:sp>
        <p:nvSpPr>
          <p:cNvPr id="14" name="コンテンツ プレースホルダー 2">
            <a:extLst>
              <a:ext uri="{FF2B5EF4-FFF2-40B4-BE49-F238E27FC236}">
                <a16:creationId xmlns:a16="http://schemas.microsoft.com/office/drawing/2014/main" id="{6DD99A85-6EAD-1464-A0BA-2FA8369EB4CE}"/>
              </a:ext>
            </a:extLst>
          </p:cNvPr>
          <p:cNvSpPr>
            <a:spLocks noGrp="1"/>
          </p:cNvSpPr>
          <p:nvPr>
            <p:ph idx="10"/>
          </p:nvPr>
        </p:nvSpPr>
        <p:spPr>
          <a:xfrm>
            <a:off x="653802" y="652081"/>
            <a:ext cx="11086078" cy="5987780"/>
          </a:xfrm>
          <a:prstGeom prst="rect">
            <a:avLst/>
          </a:prstGeom>
        </p:spPr>
        <p:txBody>
          <a:bodyPr>
            <a:normAutofit/>
          </a:bodyPr>
          <a:lstStyle>
            <a:lvl1pPr marL="0" indent="0">
              <a:buNone/>
              <a:defRPr sz="1800">
                <a:solidFill>
                  <a:schemeClr val="tx1"/>
                </a:solidFill>
                <a:latin typeface="メイリオ" panose="020B0604030504040204" pitchFamily="50" charset="-128"/>
                <a:ea typeface="メイリオ" panose="020B0604030504040204" pitchFamily="50" charset="-128"/>
              </a:defRPr>
            </a:lvl1pPr>
            <a:lvl2pPr marL="457200" indent="0">
              <a:buNone/>
              <a:defRPr sz="1600">
                <a:solidFill>
                  <a:schemeClr val="tx1"/>
                </a:solidFill>
                <a:latin typeface="メイリオ" panose="020B0604030504040204" pitchFamily="50" charset="-128"/>
                <a:ea typeface="メイリオ" panose="020B0604030504040204" pitchFamily="50" charset="-128"/>
              </a:defRPr>
            </a:lvl2pPr>
            <a:lvl3pPr marL="914400" indent="0">
              <a:buNone/>
              <a:defRPr sz="1600">
                <a:solidFill>
                  <a:schemeClr val="tx1"/>
                </a:solidFill>
                <a:latin typeface="メイリオ" panose="020B0604030504040204" pitchFamily="50" charset="-128"/>
                <a:ea typeface="メイリオ" panose="020B0604030504040204" pitchFamily="50" charset="-128"/>
              </a:defRPr>
            </a:lvl3pPr>
            <a:lvl4pPr marL="1371600" indent="0">
              <a:buNone/>
              <a:defRPr sz="1600">
                <a:solidFill>
                  <a:schemeClr val="tx1"/>
                </a:solidFill>
                <a:latin typeface="メイリオ" panose="020B0604030504040204" pitchFamily="50" charset="-128"/>
                <a:ea typeface="メイリオ" panose="020B0604030504040204" pitchFamily="50" charset="-128"/>
              </a:defRPr>
            </a:lvl4pPr>
            <a:lvl5pPr marL="1828800" indent="0">
              <a:buNone/>
              <a:defRPr sz="1600">
                <a:solidFill>
                  <a:schemeClr val="tx1"/>
                </a:solidFill>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タイトル 1">
            <a:extLst>
              <a:ext uri="{FF2B5EF4-FFF2-40B4-BE49-F238E27FC236}">
                <a16:creationId xmlns:a16="http://schemas.microsoft.com/office/drawing/2014/main" id="{9B5C1432-4251-DCED-77E7-6872FE39F20D}"/>
              </a:ext>
            </a:extLst>
          </p:cNvPr>
          <p:cNvSpPr>
            <a:spLocks noGrp="1"/>
          </p:cNvSpPr>
          <p:nvPr>
            <p:ph type="title"/>
          </p:nvPr>
        </p:nvSpPr>
        <p:spPr>
          <a:xfrm>
            <a:off x="653801" y="92360"/>
            <a:ext cx="9015461" cy="467359"/>
          </a:xfrm>
          <a:prstGeom prst="rect">
            <a:avLst/>
          </a:prstGeom>
        </p:spPr>
        <p:txBody>
          <a:bodyPr>
            <a:normAutofit/>
          </a:bodyPr>
          <a:lstStyle>
            <a:lvl1pPr algn="l">
              <a:defRPr sz="2500" b="1">
                <a:solidFill>
                  <a:srgbClr val="333333"/>
                </a:solidFill>
                <a:latin typeface="メイリオ" panose="020B0604030504040204" pitchFamily="50" charset="-128"/>
                <a:ea typeface="メイリオ" panose="020B0604030504040204" pitchFamily="50" charset="-128"/>
              </a:defRPr>
            </a:lvl1pPr>
          </a:lstStyle>
          <a:p>
            <a:r>
              <a:rPr kumimoji="1" lang="ja-JP" altLang="en-US"/>
              <a:t>マスター タイトルの書式設定</a:t>
            </a:r>
          </a:p>
        </p:txBody>
      </p:sp>
      <p:sp>
        <p:nvSpPr>
          <p:cNvPr id="10" name="四角形: 上の 2 つの角を丸める 9">
            <a:extLst>
              <a:ext uri="{FF2B5EF4-FFF2-40B4-BE49-F238E27FC236}">
                <a16:creationId xmlns:a16="http://schemas.microsoft.com/office/drawing/2014/main" id="{420D0F8C-DA0F-3283-D973-CBF7D0042B07}"/>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descr="図形&#10;&#10;中程度の精度で自動的に生成された説明">
            <a:extLst>
              <a:ext uri="{FF2B5EF4-FFF2-40B4-BE49-F238E27FC236}">
                <a16:creationId xmlns:a16="http://schemas.microsoft.com/office/drawing/2014/main" id="{AC6AB962-EF45-61B4-4A53-22DE46977BE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14982" y="39563"/>
            <a:ext cx="2416058" cy="572951"/>
          </a:xfrm>
          <a:prstGeom prst="rect">
            <a:avLst/>
          </a:prstGeom>
        </p:spPr>
      </p:pic>
      <p:sp>
        <p:nvSpPr>
          <p:cNvPr id="3" name="スライド番号プレースホルダー 2">
            <a:extLst>
              <a:ext uri="{FF2B5EF4-FFF2-40B4-BE49-F238E27FC236}">
                <a16:creationId xmlns:a16="http://schemas.microsoft.com/office/drawing/2014/main" id="{A7A12576-7EA9-9B9D-0B5C-4C76DBC5C0A6}"/>
              </a:ext>
            </a:extLst>
          </p:cNvPr>
          <p:cNvSpPr>
            <a:spLocks noGrp="1"/>
          </p:cNvSpPr>
          <p:nvPr>
            <p:ph type="sldNum" sz="quarter" idx="11"/>
          </p:nvPr>
        </p:nvSpPr>
        <p:spPr/>
        <p:txBody>
          <a:bodyPr/>
          <a:lstStyle>
            <a:lvl1pPr>
              <a:defRPr>
                <a:latin typeface="メイリオ" panose="020B0604030504040204" pitchFamily="50" charset="-128"/>
                <a:ea typeface="メイリオ" panose="020B0604030504040204" pitchFamily="50" charset="-128"/>
              </a:defRPr>
            </a:lvl1pPr>
          </a:lstStyle>
          <a:p>
            <a:fld id="{B75FDD43-FCEC-4ECC-8189-A5C6D2E08DC6}" type="slidenum">
              <a:rPr lang="ja-JP" altLang="en-US" smtClean="0"/>
              <a:pPr/>
              <a:t>‹#›</a:t>
            </a:fld>
            <a:endParaRPr lang="ja-JP" altLang="en-US"/>
          </a:p>
        </p:txBody>
      </p:sp>
    </p:spTree>
    <p:extLst>
      <p:ext uri="{BB962C8B-B14F-4D97-AF65-F5344CB8AC3E}">
        <p14:creationId xmlns:p14="http://schemas.microsoft.com/office/powerpoint/2010/main" val="2284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無地">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88925C70-19D8-1D8D-69C6-A315CC3BD682}"/>
              </a:ext>
            </a:extLst>
          </p:cNvPr>
          <p:cNvSpPr>
            <a:spLocks noGrp="1"/>
          </p:cNvSpPr>
          <p:nvPr>
            <p:ph type="sldNum" sz="quarter" idx="10"/>
          </p:nvPr>
        </p:nvSpPr>
        <p:spPr/>
        <p:txBody>
          <a:bodyPr/>
          <a:lstStyle>
            <a:lvl1pPr>
              <a:defRPr>
                <a:latin typeface="メイリオ" panose="020B0604030504040204" pitchFamily="50" charset="-128"/>
                <a:ea typeface="メイリオ" panose="020B0604030504040204" pitchFamily="50" charset="-128"/>
              </a:defRPr>
            </a:lvl1pPr>
          </a:lstStyle>
          <a:p>
            <a:fld id="{B75FDD43-FCEC-4ECC-8189-A5C6D2E08DC6}" type="slidenum">
              <a:rPr lang="ja-JP" altLang="en-US" smtClean="0"/>
              <a:pPr/>
              <a:t>‹#›</a:t>
            </a:fld>
            <a:endParaRPr lang="ja-JP" altLang="en-US"/>
          </a:p>
        </p:txBody>
      </p:sp>
    </p:spTree>
    <p:extLst>
      <p:ext uri="{BB962C8B-B14F-4D97-AF65-F5344CB8AC3E}">
        <p14:creationId xmlns:p14="http://schemas.microsoft.com/office/powerpoint/2010/main" val="1080076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無地_C&amp;Rロゴ">
    <p:spTree>
      <p:nvGrpSpPr>
        <p:cNvPr id="1" name=""/>
        <p:cNvGrpSpPr/>
        <p:nvPr/>
      </p:nvGrpSpPr>
      <p:grpSpPr>
        <a:xfrm>
          <a:off x="0" y="0"/>
          <a:ext cx="0" cy="0"/>
          <a:chOff x="0" y="0"/>
          <a:chExt cx="0" cy="0"/>
        </a:xfrm>
      </p:grpSpPr>
      <p:pic>
        <p:nvPicPr>
          <p:cNvPr id="2" name="図 1" descr="図形&#10;&#10;中程度の精度で自動的に生成された説明">
            <a:extLst>
              <a:ext uri="{FF2B5EF4-FFF2-40B4-BE49-F238E27FC236}">
                <a16:creationId xmlns:a16="http://schemas.microsoft.com/office/drawing/2014/main" id="{16E03F52-8248-6731-3BB0-9832CF3A00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85369" y="72791"/>
            <a:ext cx="2251451" cy="506495"/>
          </a:xfrm>
          <a:prstGeom prst="rect">
            <a:avLst/>
          </a:prstGeom>
        </p:spPr>
      </p:pic>
      <p:sp>
        <p:nvSpPr>
          <p:cNvPr id="3" name="スライド番号プレースホルダー 2">
            <a:extLst>
              <a:ext uri="{FF2B5EF4-FFF2-40B4-BE49-F238E27FC236}">
                <a16:creationId xmlns:a16="http://schemas.microsoft.com/office/drawing/2014/main" id="{C7D73175-FF7C-90B6-330C-2819D110E7DC}"/>
              </a:ext>
            </a:extLst>
          </p:cNvPr>
          <p:cNvSpPr>
            <a:spLocks noGrp="1"/>
          </p:cNvSpPr>
          <p:nvPr>
            <p:ph type="sldNum" sz="quarter" idx="10"/>
          </p:nvPr>
        </p:nvSpPr>
        <p:spPr/>
        <p:txBody>
          <a:bodyPr/>
          <a:lstStyle>
            <a:lvl1pPr>
              <a:defRPr>
                <a:latin typeface="メイリオ" panose="020B0604030504040204" pitchFamily="50" charset="-128"/>
                <a:ea typeface="メイリオ" panose="020B0604030504040204" pitchFamily="50" charset="-128"/>
              </a:defRPr>
            </a:lvl1pPr>
          </a:lstStyle>
          <a:p>
            <a:fld id="{B75FDD43-FCEC-4ECC-8189-A5C6D2E08DC6}" type="slidenum">
              <a:rPr lang="ja-JP" altLang="en-US" smtClean="0"/>
              <a:pPr/>
              <a:t>‹#›</a:t>
            </a:fld>
            <a:endParaRPr lang="ja-JP" altLang="en-US"/>
          </a:p>
        </p:txBody>
      </p:sp>
    </p:spTree>
    <p:extLst>
      <p:ext uri="{BB962C8B-B14F-4D97-AF65-F5344CB8AC3E}">
        <p14:creationId xmlns:p14="http://schemas.microsoft.com/office/powerpoint/2010/main" val="3616676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無地_Creative Studiosロゴ">
    <p:spTree>
      <p:nvGrpSpPr>
        <p:cNvPr id="1" name=""/>
        <p:cNvGrpSpPr/>
        <p:nvPr/>
      </p:nvGrpSpPr>
      <p:grpSpPr>
        <a:xfrm>
          <a:off x="0" y="0"/>
          <a:ext cx="0" cy="0"/>
          <a:chOff x="0" y="0"/>
          <a:chExt cx="0" cy="0"/>
        </a:xfrm>
      </p:grpSpPr>
      <p:pic>
        <p:nvPicPr>
          <p:cNvPr id="2" name="図 1" descr="図形&#10;&#10;中程度の精度で自動的に生成された説明">
            <a:extLst>
              <a:ext uri="{FF2B5EF4-FFF2-40B4-BE49-F238E27FC236}">
                <a16:creationId xmlns:a16="http://schemas.microsoft.com/office/drawing/2014/main" id="{4F0C3B28-65EA-167F-945E-DEA6A526E7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14982" y="39563"/>
            <a:ext cx="2416058" cy="572951"/>
          </a:xfrm>
          <a:prstGeom prst="rect">
            <a:avLst/>
          </a:prstGeom>
        </p:spPr>
      </p:pic>
      <p:sp>
        <p:nvSpPr>
          <p:cNvPr id="3" name="スライド番号プレースホルダー 2">
            <a:extLst>
              <a:ext uri="{FF2B5EF4-FFF2-40B4-BE49-F238E27FC236}">
                <a16:creationId xmlns:a16="http://schemas.microsoft.com/office/drawing/2014/main" id="{F40BE5AD-BDA3-C3CA-A73A-1E387F01181F}"/>
              </a:ext>
            </a:extLst>
          </p:cNvPr>
          <p:cNvSpPr>
            <a:spLocks noGrp="1"/>
          </p:cNvSpPr>
          <p:nvPr>
            <p:ph type="sldNum" sz="quarter" idx="10"/>
          </p:nvPr>
        </p:nvSpPr>
        <p:spPr/>
        <p:txBody>
          <a:bodyPr/>
          <a:lstStyle>
            <a:lvl1pPr>
              <a:defRPr>
                <a:latin typeface="メイリオ" panose="020B0604030504040204" pitchFamily="50" charset="-128"/>
                <a:ea typeface="メイリオ" panose="020B0604030504040204" pitchFamily="50" charset="-128"/>
              </a:defRPr>
            </a:lvl1pPr>
          </a:lstStyle>
          <a:p>
            <a:fld id="{B75FDD43-FCEC-4ECC-8189-A5C6D2E08DC6}" type="slidenum">
              <a:rPr lang="ja-JP" altLang="en-US" smtClean="0"/>
              <a:pPr/>
              <a:t>‹#›</a:t>
            </a:fld>
            <a:endParaRPr lang="ja-JP" altLang="en-US"/>
          </a:p>
        </p:txBody>
      </p:sp>
    </p:spTree>
    <p:extLst>
      <p:ext uri="{BB962C8B-B14F-4D97-AF65-F5344CB8AC3E}">
        <p14:creationId xmlns:p14="http://schemas.microsoft.com/office/powerpoint/2010/main" val="3515685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スタジオロゴ利用用">
    <p:spTree>
      <p:nvGrpSpPr>
        <p:cNvPr id="1" name=""/>
        <p:cNvGrpSpPr/>
        <p:nvPr/>
      </p:nvGrpSpPr>
      <p:grpSpPr>
        <a:xfrm>
          <a:off x="0" y="0"/>
          <a:ext cx="0" cy="0"/>
          <a:chOff x="0" y="0"/>
          <a:chExt cx="0" cy="0"/>
        </a:xfrm>
      </p:grpSpPr>
      <p:pic>
        <p:nvPicPr>
          <p:cNvPr id="7" name="図 6" descr="ロゴ&#10;&#10;中程度の精度で自動的に生成された説明">
            <a:extLst>
              <a:ext uri="{FF2B5EF4-FFF2-40B4-BE49-F238E27FC236}">
                <a16:creationId xmlns:a16="http://schemas.microsoft.com/office/drawing/2014/main" id="{25C730D8-6487-2D22-4767-8188F1ED2B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61440" y="46178"/>
            <a:ext cx="823119" cy="559721"/>
          </a:xfrm>
          <a:prstGeom prst="rect">
            <a:avLst/>
          </a:prstGeom>
        </p:spPr>
      </p:pic>
      <p:cxnSp>
        <p:nvCxnSpPr>
          <p:cNvPr id="9" name="直線コネクタ 8">
            <a:extLst>
              <a:ext uri="{FF2B5EF4-FFF2-40B4-BE49-F238E27FC236}">
                <a16:creationId xmlns:a16="http://schemas.microsoft.com/office/drawing/2014/main" id="{635AD6B3-F9A8-B935-1014-C79BA23A4BF3}"/>
              </a:ext>
            </a:extLst>
          </p:cNvPr>
          <p:cNvCxnSpPr>
            <a:cxnSpLocks/>
          </p:cNvCxnSpPr>
          <p:nvPr userDrawn="1"/>
        </p:nvCxnSpPr>
        <p:spPr>
          <a:xfrm>
            <a:off x="11208502" y="92360"/>
            <a:ext cx="0" cy="467359"/>
          </a:xfrm>
          <a:prstGeom prst="line">
            <a:avLst/>
          </a:prstGeom>
        </p:spPr>
        <p:style>
          <a:lnRef idx="1">
            <a:schemeClr val="dk1"/>
          </a:lnRef>
          <a:fillRef idx="0">
            <a:schemeClr val="dk1"/>
          </a:fillRef>
          <a:effectRef idx="0">
            <a:schemeClr val="dk1"/>
          </a:effectRef>
          <a:fontRef idx="minor">
            <a:schemeClr val="tx1"/>
          </a:fontRef>
        </p:style>
      </p:cxnSp>
      <p:sp>
        <p:nvSpPr>
          <p:cNvPr id="5" name="コンテンツ プレースホルダー 2">
            <a:extLst>
              <a:ext uri="{FF2B5EF4-FFF2-40B4-BE49-F238E27FC236}">
                <a16:creationId xmlns:a16="http://schemas.microsoft.com/office/drawing/2014/main" id="{4D83DAD6-1440-3B0E-677F-809D441B0A65}"/>
              </a:ext>
            </a:extLst>
          </p:cNvPr>
          <p:cNvSpPr>
            <a:spLocks noGrp="1"/>
          </p:cNvSpPr>
          <p:nvPr>
            <p:ph idx="10"/>
          </p:nvPr>
        </p:nvSpPr>
        <p:spPr>
          <a:xfrm>
            <a:off x="653802" y="652081"/>
            <a:ext cx="11086078" cy="5987780"/>
          </a:xfrm>
          <a:prstGeom prst="rect">
            <a:avLst/>
          </a:prstGeom>
        </p:spPr>
        <p:txBody>
          <a:bodyPr>
            <a:normAutofit/>
          </a:bodyPr>
          <a:lstStyle>
            <a:lvl1pPr marL="0" indent="0">
              <a:buNone/>
              <a:defRPr sz="1800">
                <a:solidFill>
                  <a:schemeClr val="tx1"/>
                </a:solidFill>
                <a:latin typeface="メイリオ" panose="020B0604030504040204" pitchFamily="50" charset="-128"/>
                <a:ea typeface="メイリオ" panose="020B0604030504040204" pitchFamily="50" charset="-128"/>
              </a:defRPr>
            </a:lvl1pPr>
            <a:lvl2pPr marL="457200" indent="0">
              <a:buNone/>
              <a:defRPr sz="1600">
                <a:solidFill>
                  <a:schemeClr val="tx1"/>
                </a:solidFill>
                <a:latin typeface="メイリオ" panose="020B0604030504040204" pitchFamily="50" charset="-128"/>
                <a:ea typeface="メイリオ" panose="020B0604030504040204" pitchFamily="50" charset="-128"/>
              </a:defRPr>
            </a:lvl2pPr>
            <a:lvl3pPr marL="914400" indent="0">
              <a:buNone/>
              <a:defRPr sz="1600">
                <a:solidFill>
                  <a:schemeClr val="tx1"/>
                </a:solidFill>
                <a:latin typeface="メイリオ" panose="020B0604030504040204" pitchFamily="50" charset="-128"/>
                <a:ea typeface="メイリオ" panose="020B0604030504040204" pitchFamily="50" charset="-128"/>
              </a:defRPr>
            </a:lvl3pPr>
            <a:lvl4pPr marL="1371600" indent="0">
              <a:buNone/>
              <a:defRPr sz="1600">
                <a:solidFill>
                  <a:schemeClr val="tx1"/>
                </a:solidFill>
                <a:latin typeface="メイリオ" panose="020B0604030504040204" pitchFamily="50" charset="-128"/>
                <a:ea typeface="メイリオ" panose="020B0604030504040204" pitchFamily="50" charset="-128"/>
              </a:defRPr>
            </a:lvl4pPr>
            <a:lvl5pPr marL="1828800" indent="0">
              <a:buNone/>
              <a:defRPr sz="1600">
                <a:solidFill>
                  <a:schemeClr val="tx1"/>
                </a:solidFill>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タイトル 1">
            <a:extLst>
              <a:ext uri="{FF2B5EF4-FFF2-40B4-BE49-F238E27FC236}">
                <a16:creationId xmlns:a16="http://schemas.microsoft.com/office/drawing/2014/main" id="{44502ABF-EF6C-A414-05B9-51FBED25FCA4}"/>
              </a:ext>
            </a:extLst>
          </p:cNvPr>
          <p:cNvSpPr>
            <a:spLocks noGrp="1"/>
          </p:cNvSpPr>
          <p:nvPr>
            <p:ph type="title"/>
          </p:nvPr>
        </p:nvSpPr>
        <p:spPr>
          <a:xfrm>
            <a:off x="653801" y="92360"/>
            <a:ext cx="9015461" cy="467359"/>
          </a:xfrm>
          <a:prstGeom prst="rect">
            <a:avLst/>
          </a:prstGeom>
        </p:spPr>
        <p:txBody>
          <a:bodyPr>
            <a:normAutofit/>
          </a:bodyPr>
          <a:lstStyle>
            <a:lvl1pPr algn="l">
              <a:defRPr sz="2500">
                <a:solidFill>
                  <a:srgbClr val="333333"/>
                </a:solidFill>
                <a:latin typeface="メイリオ" panose="020B0604030504040204" pitchFamily="50" charset="-128"/>
                <a:ea typeface="メイリオ" panose="020B0604030504040204" pitchFamily="50" charset="-128"/>
              </a:defRPr>
            </a:lvl1pPr>
          </a:lstStyle>
          <a:p>
            <a:r>
              <a:rPr kumimoji="1" lang="ja-JP" altLang="en-US"/>
              <a:t>マスター タイトルの書式設定</a:t>
            </a:r>
          </a:p>
        </p:txBody>
      </p:sp>
      <p:sp>
        <p:nvSpPr>
          <p:cNvPr id="8" name="四角形: 上の 2 つの角を丸める 7">
            <a:extLst>
              <a:ext uri="{FF2B5EF4-FFF2-40B4-BE49-F238E27FC236}">
                <a16:creationId xmlns:a16="http://schemas.microsoft.com/office/drawing/2014/main" id="{05AE9B83-EE1A-7C02-B547-5DFE7F714D2D}"/>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027EEAD8-80A8-BA6E-314E-39EA0658D8D2}"/>
              </a:ext>
            </a:extLst>
          </p:cNvPr>
          <p:cNvSpPr>
            <a:spLocks noGrp="1"/>
          </p:cNvSpPr>
          <p:nvPr>
            <p:ph type="sldNum" sz="quarter" idx="11"/>
          </p:nvPr>
        </p:nvSpPr>
        <p:spPr/>
        <p:txBody>
          <a:bodyPr/>
          <a:lstStyle>
            <a:lvl1pPr>
              <a:defRPr>
                <a:latin typeface="メイリオ" panose="020B0604030504040204" pitchFamily="50" charset="-128"/>
                <a:ea typeface="メイリオ" panose="020B0604030504040204" pitchFamily="50" charset="-128"/>
              </a:defRPr>
            </a:lvl1pPr>
          </a:lstStyle>
          <a:p>
            <a:fld id="{B75FDD43-FCEC-4ECC-8189-A5C6D2E08DC6}" type="slidenum">
              <a:rPr lang="ja-JP" altLang="en-US" smtClean="0"/>
              <a:pPr/>
              <a:t>‹#›</a:t>
            </a:fld>
            <a:endParaRPr lang="ja-JP" altLang="en-US"/>
          </a:p>
        </p:txBody>
      </p:sp>
    </p:spTree>
    <p:extLst>
      <p:ext uri="{BB962C8B-B14F-4D97-AF65-F5344CB8AC3E}">
        <p14:creationId xmlns:p14="http://schemas.microsoft.com/office/powerpoint/2010/main" val="4829334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スタジオ実績紹介">
    <p:spTree>
      <p:nvGrpSpPr>
        <p:cNvPr id="1" name=""/>
        <p:cNvGrpSpPr/>
        <p:nvPr/>
      </p:nvGrpSpPr>
      <p:grpSpPr>
        <a:xfrm>
          <a:off x="0" y="0"/>
          <a:ext cx="0" cy="0"/>
          <a:chOff x="0" y="0"/>
          <a:chExt cx="0" cy="0"/>
        </a:xfrm>
      </p:grpSpPr>
      <p:sp>
        <p:nvSpPr>
          <p:cNvPr id="3" name="Content Placeholder 2"/>
          <p:cNvSpPr>
            <a:spLocks noGrp="1"/>
          </p:cNvSpPr>
          <p:nvPr>
            <p:ph idx="1"/>
          </p:nvPr>
        </p:nvSpPr>
        <p:spPr>
          <a:xfrm>
            <a:off x="608081" y="1722329"/>
            <a:ext cx="4658592" cy="4829019"/>
          </a:xfrm>
          <a:prstGeom prst="rect">
            <a:avLst/>
          </a:prstGeom>
        </p:spPr>
        <p:txBody>
          <a:bodyPr/>
          <a:lstStyle>
            <a:lvl1pPr marL="0" indent="0">
              <a:buNone/>
              <a:defRPr>
                <a:solidFill>
                  <a:schemeClr val="tx1"/>
                </a:solidFill>
                <a:latin typeface="メイリオ" panose="020B0604030504040204" pitchFamily="50" charset="-128"/>
                <a:ea typeface="メイリオ" panose="020B0604030504040204" pitchFamily="50" charset="-128"/>
              </a:defRPr>
            </a:lvl1pPr>
            <a:lvl2pPr marL="457200" indent="0">
              <a:buNone/>
              <a:defRPr>
                <a:solidFill>
                  <a:schemeClr val="tx1"/>
                </a:solidFill>
                <a:latin typeface="メイリオ" panose="020B0604030504040204" pitchFamily="50" charset="-128"/>
                <a:ea typeface="メイリオ" panose="020B0604030504040204" pitchFamily="50" charset="-128"/>
              </a:defRPr>
            </a:lvl2pPr>
            <a:lvl3pPr marL="914400" indent="0">
              <a:buNone/>
              <a:defRPr>
                <a:solidFill>
                  <a:schemeClr val="tx1"/>
                </a:solidFill>
                <a:latin typeface="メイリオ" panose="020B0604030504040204" pitchFamily="50" charset="-128"/>
                <a:ea typeface="メイリオ" panose="020B0604030504040204" pitchFamily="50" charset="-128"/>
              </a:defRPr>
            </a:lvl3pPr>
            <a:lvl4pPr marL="1371600" indent="0">
              <a:buNone/>
              <a:defRPr>
                <a:solidFill>
                  <a:schemeClr val="tx1"/>
                </a:solidFill>
                <a:latin typeface="メイリオ" panose="020B0604030504040204" pitchFamily="50" charset="-128"/>
                <a:ea typeface="メイリオ" panose="020B0604030504040204" pitchFamily="50" charset="-128"/>
              </a:defRPr>
            </a:lvl4pPr>
            <a:lvl5pPr marL="1828800" indent="0">
              <a:buNone/>
              <a:defRPr>
                <a:solidFill>
                  <a:schemeClr val="tx1"/>
                </a:solidFill>
                <a:latin typeface="メイリオ" panose="020B0604030504040204" pitchFamily="50" charset="-128"/>
                <a:ea typeface="メイリオ" panose="020B0604030504040204" pitchFamily="50"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cxnSp>
        <p:nvCxnSpPr>
          <p:cNvPr id="9" name="直線コネクタ 8">
            <a:extLst>
              <a:ext uri="{FF2B5EF4-FFF2-40B4-BE49-F238E27FC236}">
                <a16:creationId xmlns:a16="http://schemas.microsoft.com/office/drawing/2014/main" id="{EB9C9FBE-B5D3-024B-7AE2-B43A72E78556}"/>
              </a:ext>
            </a:extLst>
          </p:cNvPr>
          <p:cNvCxnSpPr>
            <a:cxnSpLocks/>
          </p:cNvCxnSpPr>
          <p:nvPr userDrawn="1"/>
        </p:nvCxnSpPr>
        <p:spPr>
          <a:xfrm>
            <a:off x="5312398" y="1011447"/>
            <a:ext cx="0" cy="5539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四角形: 上の 2 つの角を丸める 7">
            <a:extLst>
              <a:ext uri="{FF2B5EF4-FFF2-40B4-BE49-F238E27FC236}">
                <a16:creationId xmlns:a16="http://schemas.microsoft.com/office/drawing/2014/main" id="{8D951938-1A01-0EC3-0A73-7F67EC93EE07}"/>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descr="図形&#10;&#10;中程度の精度で自動的に生成された説明">
            <a:extLst>
              <a:ext uri="{FF2B5EF4-FFF2-40B4-BE49-F238E27FC236}">
                <a16:creationId xmlns:a16="http://schemas.microsoft.com/office/drawing/2014/main" id="{D1171653-1A9B-C348-D269-E7B1C4B8ECE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14982" y="39563"/>
            <a:ext cx="2416058" cy="572951"/>
          </a:xfrm>
          <a:prstGeom prst="rect">
            <a:avLst/>
          </a:prstGeom>
        </p:spPr>
      </p:pic>
      <p:sp>
        <p:nvSpPr>
          <p:cNvPr id="12" name="Content Placeholder 2">
            <a:extLst>
              <a:ext uri="{FF2B5EF4-FFF2-40B4-BE49-F238E27FC236}">
                <a16:creationId xmlns:a16="http://schemas.microsoft.com/office/drawing/2014/main" id="{41ECE422-A3F2-E363-B256-A85A7B945100}"/>
              </a:ext>
            </a:extLst>
          </p:cNvPr>
          <p:cNvSpPr>
            <a:spLocks noGrp="1"/>
          </p:cNvSpPr>
          <p:nvPr>
            <p:ph idx="10"/>
          </p:nvPr>
        </p:nvSpPr>
        <p:spPr>
          <a:xfrm>
            <a:off x="5638915" y="1011447"/>
            <a:ext cx="6100958" cy="5539901"/>
          </a:xfrm>
          <a:prstGeom prst="rect">
            <a:avLst/>
          </a:prstGeom>
        </p:spPr>
        <p:txBody>
          <a:bodyPr/>
          <a:lstStyle>
            <a:lvl1pPr marL="0" indent="0">
              <a:buNone/>
              <a:defRPr>
                <a:solidFill>
                  <a:schemeClr val="tx1"/>
                </a:solidFill>
                <a:latin typeface="メイリオ" panose="020B0604030504040204" pitchFamily="50" charset="-128"/>
                <a:ea typeface="メイリオ" panose="020B0604030504040204" pitchFamily="50" charset="-128"/>
              </a:defRPr>
            </a:lvl1pPr>
            <a:lvl2pPr marL="457200" indent="0">
              <a:buNone/>
              <a:defRPr>
                <a:solidFill>
                  <a:schemeClr val="tx1"/>
                </a:solidFill>
                <a:latin typeface="メイリオ" panose="020B0604030504040204" pitchFamily="50" charset="-128"/>
                <a:ea typeface="メイリオ" panose="020B0604030504040204" pitchFamily="50" charset="-128"/>
              </a:defRPr>
            </a:lvl2pPr>
            <a:lvl3pPr marL="914400" indent="0">
              <a:buNone/>
              <a:defRPr>
                <a:solidFill>
                  <a:schemeClr val="tx1"/>
                </a:solidFill>
                <a:latin typeface="メイリオ" panose="020B0604030504040204" pitchFamily="50" charset="-128"/>
                <a:ea typeface="メイリオ" panose="020B0604030504040204" pitchFamily="50" charset="-128"/>
              </a:defRPr>
            </a:lvl3pPr>
            <a:lvl4pPr marL="1371600" indent="0">
              <a:buNone/>
              <a:defRPr>
                <a:solidFill>
                  <a:schemeClr val="tx1"/>
                </a:solidFill>
                <a:latin typeface="メイリオ" panose="020B0604030504040204" pitchFamily="50" charset="-128"/>
                <a:ea typeface="メイリオ" panose="020B0604030504040204" pitchFamily="50" charset="-128"/>
              </a:defRPr>
            </a:lvl4pPr>
            <a:lvl5pPr marL="1828800" indent="0">
              <a:buNone/>
              <a:defRPr>
                <a:solidFill>
                  <a:schemeClr val="tx1"/>
                </a:solidFill>
                <a:latin typeface="メイリオ" panose="020B0604030504040204" pitchFamily="50" charset="-128"/>
                <a:ea typeface="メイリオ" panose="020B0604030504040204" pitchFamily="50"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3" name="タイトル 1">
            <a:extLst>
              <a:ext uri="{FF2B5EF4-FFF2-40B4-BE49-F238E27FC236}">
                <a16:creationId xmlns:a16="http://schemas.microsoft.com/office/drawing/2014/main" id="{D0351201-9368-A150-B4E9-CC74DA7E840B}"/>
              </a:ext>
            </a:extLst>
          </p:cNvPr>
          <p:cNvSpPr>
            <a:spLocks noGrp="1"/>
          </p:cNvSpPr>
          <p:nvPr>
            <p:ph type="title"/>
          </p:nvPr>
        </p:nvSpPr>
        <p:spPr>
          <a:xfrm>
            <a:off x="653801" y="92360"/>
            <a:ext cx="9231567" cy="467359"/>
          </a:xfrm>
          <a:prstGeom prst="rect">
            <a:avLst/>
          </a:prstGeom>
        </p:spPr>
        <p:txBody>
          <a:bodyPr>
            <a:normAutofit/>
          </a:bodyPr>
          <a:lstStyle>
            <a:lvl1pPr algn="l">
              <a:defRPr sz="2500">
                <a:solidFill>
                  <a:schemeClr val="tx1"/>
                </a:solidFill>
                <a:latin typeface="メイリオ" panose="020B0604030504040204" pitchFamily="50" charset="-128"/>
                <a:ea typeface="メイリオ" panose="020B0604030504040204" pitchFamily="50" charset="-128"/>
              </a:defRPr>
            </a:lvl1pPr>
          </a:lstStyle>
          <a:p>
            <a:r>
              <a:rPr kumimoji="1" lang="ja-JP" altLang="en-US"/>
              <a:t>マスター タイトルの書式設定</a:t>
            </a:r>
          </a:p>
        </p:txBody>
      </p:sp>
      <p:sp>
        <p:nvSpPr>
          <p:cNvPr id="2" name="スライド番号プレースホルダー 1">
            <a:extLst>
              <a:ext uri="{FF2B5EF4-FFF2-40B4-BE49-F238E27FC236}">
                <a16:creationId xmlns:a16="http://schemas.microsoft.com/office/drawing/2014/main" id="{DB9D760E-2713-D6C4-4E3B-123AD3B7A73C}"/>
              </a:ext>
            </a:extLst>
          </p:cNvPr>
          <p:cNvSpPr>
            <a:spLocks noGrp="1"/>
          </p:cNvSpPr>
          <p:nvPr>
            <p:ph type="sldNum" sz="quarter" idx="11"/>
          </p:nvPr>
        </p:nvSpPr>
        <p:spPr/>
        <p:txBody>
          <a:bodyPr/>
          <a:lstStyle>
            <a:lvl1pPr>
              <a:defRPr>
                <a:latin typeface="メイリオ" panose="020B0604030504040204" pitchFamily="50" charset="-128"/>
                <a:ea typeface="メイリオ" panose="020B0604030504040204" pitchFamily="50" charset="-128"/>
              </a:defRPr>
            </a:lvl1pPr>
          </a:lstStyle>
          <a:p>
            <a:fld id="{B75FDD43-FCEC-4ECC-8189-A5C6D2E08DC6}" type="slidenum">
              <a:rPr lang="ja-JP" altLang="en-US" smtClean="0"/>
              <a:pPr/>
              <a:t>‹#›</a:t>
            </a:fld>
            <a:endParaRPr lang="ja-JP" altLang="en-US"/>
          </a:p>
        </p:txBody>
      </p:sp>
    </p:spTree>
    <p:extLst>
      <p:ext uri="{BB962C8B-B14F-4D97-AF65-F5344CB8AC3E}">
        <p14:creationId xmlns:p14="http://schemas.microsoft.com/office/powerpoint/2010/main" val="335851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グループ会社実績紹介">
    <p:spTree>
      <p:nvGrpSpPr>
        <p:cNvPr id="1" name=""/>
        <p:cNvGrpSpPr/>
        <p:nvPr/>
      </p:nvGrpSpPr>
      <p:grpSpPr>
        <a:xfrm>
          <a:off x="0" y="0"/>
          <a:ext cx="0" cy="0"/>
          <a:chOff x="0" y="0"/>
          <a:chExt cx="0" cy="0"/>
        </a:xfrm>
      </p:grpSpPr>
      <p:sp>
        <p:nvSpPr>
          <p:cNvPr id="3" name="Content Placeholder 2"/>
          <p:cNvSpPr>
            <a:spLocks noGrp="1"/>
          </p:cNvSpPr>
          <p:nvPr>
            <p:ph idx="1"/>
          </p:nvPr>
        </p:nvSpPr>
        <p:spPr>
          <a:xfrm>
            <a:off x="608081" y="1684750"/>
            <a:ext cx="4609009" cy="4866597"/>
          </a:xfrm>
          <a:prstGeom prst="rect">
            <a:avLst/>
          </a:prstGeom>
        </p:spPr>
        <p:txBody>
          <a:bodyPr/>
          <a:lstStyle>
            <a:lvl1pPr marL="0" indent="0">
              <a:buNone/>
              <a:defRPr>
                <a:solidFill>
                  <a:schemeClr val="tx1"/>
                </a:solidFill>
                <a:latin typeface="メイリオ" panose="020B0604030504040204" pitchFamily="50" charset="-128"/>
                <a:ea typeface="メイリオ" panose="020B0604030504040204" pitchFamily="50" charset="-128"/>
              </a:defRPr>
            </a:lvl1pPr>
            <a:lvl2pPr marL="457200" indent="0">
              <a:buNone/>
              <a:defRPr>
                <a:solidFill>
                  <a:schemeClr val="tx1"/>
                </a:solidFill>
                <a:latin typeface="メイリオ" panose="020B0604030504040204" pitchFamily="50" charset="-128"/>
                <a:ea typeface="メイリオ" panose="020B0604030504040204" pitchFamily="50" charset="-128"/>
              </a:defRPr>
            </a:lvl2pPr>
            <a:lvl3pPr marL="914400" indent="0">
              <a:buNone/>
              <a:defRPr>
                <a:solidFill>
                  <a:schemeClr val="tx1"/>
                </a:solidFill>
                <a:latin typeface="メイリオ" panose="020B0604030504040204" pitchFamily="50" charset="-128"/>
                <a:ea typeface="メイリオ" panose="020B0604030504040204" pitchFamily="50" charset="-128"/>
              </a:defRPr>
            </a:lvl3pPr>
            <a:lvl4pPr marL="1371600" indent="0">
              <a:buNone/>
              <a:defRPr>
                <a:solidFill>
                  <a:schemeClr val="tx1"/>
                </a:solidFill>
                <a:latin typeface="メイリオ" panose="020B0604030504040204" pitchFamily="50" charset="-128"/>
                <a:ea typeface="メイリオ" panose="020B0604030504040204" pitchFamily="50" charset="-128"/>
              </a:defRPr>
            </a:lvl4pPr>
            <a:lvl5pPr marL="1828800" indent="0">
              <a:buNone/>
              <a:defRPr>
                <a:solidFill>
                  <a:schemeClr val="tx1"/>
                </a:solidFill>
                <a:latin typeface="メイリオ" panose="020B0604030504040204" pitchFamily="50" charset="-128"/>
                <a:ea typeface="メイリオ" panose="020B0604030504040204" pitchFamily="50"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cxnSp>
        <p:nvCxnSpPr>
          <p:cNvPr id="9" name="直線コネクタ 8">
            <a:extLst>
              <a:ext uri="{FF2B5EF4-FFF2-40B4-BE49-F238E27FC236}">
                <a16:creationId xmlns:a16="http://schemas.microsoft.com/office/drawing/2014/main" id="{EB9C9FBE-B5D3-024B-7AE2-B43A72E78556}"/>
              </a:ext>
            </a:extLst>
          </p:cNvPr>
          <p:cNvCxnSpPr>
            <a:cxnSpLocks/>
          </p:cNvCxnSpPr>
          <p:nvPr userDrawn="1"/>
        </p:nvCxnSpPr>
        <p:spPr>
          <a:xfrm>
            <a:off x="5312398" y="1011447"/>
            <a:ext cx="0" cy="5539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四角形: 上の 2 つの角を丸める 7">
            <a:extLst>
              <a:ext uri="{FF2B5EF4-FFF2-40B4-BE49-F238E27FC236}">
                <a16:creationId xmlns:a16="http://schemas.microsoft.com/office/drawing/2014/main" id="{8D951938-1A01-0EC3-0A73-7F67EC93EE07}"/>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Content Placeholder 2">
            <a:extLst>
              <a:ext uri="{FF2B5EF4-FFF2-40B4-BE49-F238E27FC236}">
                <a16:creationId xmlns:a16="http://schemas.microsoft.com/office/drawing/2014/main" id="{41ECE422-A3F2-E363-B256-A85A7B945100}"/>
              </a:ext>
            </a:extLst>
          </p:cNvPr>
          <p:cNvSpPr>
            <a:spLocks noGrp="1"/>
          </p:cNvSpPr>
          <p:nvPr>
            <p:ph idx="10"/>
          </p:nvPr>
        </p:nvSpPr>
        <p:spPr>
          <a:xfrm>
            <a:off x="5638915" y="1011447"/>
            <a:ext cx="6100958" cy="5539901"/>
          </a:xfrm>
          <a:prstGeom prst="rect">
            <a:avLst/>
          </a:prstGeom>
        </p:spPr>
        <p:txBody>
          <a:bodyPr/>
          <a:lstStyle>
            <a:lvl1pPr marL="0" indent="0">
              <a:buNone/>
              <a:defRPr>
                <a:solidFill>
                  <a:schemeClr val="tx1"/>
                </a:solidFill>
                <a:latin typeface="メイリオ" panose="020B0604030504040204" pitchFamily="50" charset="-128"/>
                <a:ea typeface="メイリオ" panose="020B0604030504040204" pitchFamily="50" charset="-128"/>
              </a:defRPr>
            </a:lvl1pPr>
            <a:lvl2pPr marL="457200" indent="0">
              <a:buNone/>
              <a:defRPr>
                <a:solidFill>
                  <a:schemeClr val="tx1"/>
                </a:solidFill>
                <a:latin typeface="メイリオ" panose="020B0604030504040204" pitchFamily="50" charset="-128"/>
                <a:ea typeface="メイリオ" panose="020B0604030504040204" pitchFamily="50" charset="-128"/>
              </a:defRPr>
            </a:lvl2pPr>
            <a:lvl3pPr marL="914400" indent="0">
              <a:buNone/>
              <a:defRPr>
                <a:solidFill>
                  <a:schemeClr val="tx1"/>
                </a:solidFill>
                <a:latin typeface="メイリオ" panose="020B0604030504040204" pitchFamily="50" charset="-128"/>
                <a:ea typeface="メイリオ" panose="020B0604030504040204" pitchFamily="50" charset="-128"/>
              </a:defRPr>
            </a:lvl3pPr>
            <a:lvl4pPr marL="1371600" indent="0">
              <a:buNone/>
              <a:defRPr>
                <a:solidFill>
                  <a:schemeClr val="tx1"/>
                </a:solidFill>
                <a:latin typeface="メイリオ" panose="020B0604030504040204" pitchFamily="50" charset="-128"/>
                <a:ea typeface="メイリオ" panose="020B0604030504040204" pitchFamily="50" charset="-128"/>
              </a:defRPr>
            </a:lvl4pPr>
            <a:lvl5pPr marL="1828800" indent="0">
              <a:buNone/>
              <a:defRPr>
                <a:solidFill>
                  <a:schemeClr val="tx1"/>
                </a:solidFill>
                <a:latin typeface="メイリオ" panose="020B0604030504040204" pitchFamily="50" charset="-128"/>
                <a:ea typeface="メイリオ" panose="020B0604030504040204" pitchFamily="50"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13" name="タイトル 1">
            <a:extLst>
              <a:ext uri="{FF2B5EF4-FFF2-40B4-BE49-F238E27FC236}">
                <a16:creationId xmlns:a16="http://schemas.microsoft.com/office/drawing/2014/main" id="{D0351201-9368-A150-B4E9-CC74DA7E840B}"/>
              </a:ext>
            </a:extLst>
          </p:cNvPr>
          <p:cNvSpPr>
            <a:spLocks noGrp="1"/>
          </p:cNvSpPr>
          <p:nvPr>
            <p:ph type="title"/>
          </p:nvPr>
        </p:nvSpPr>
        <p:spPr>
          <a:xfrm>
            <a:off x="653801" y="92360"/>
            <a:ext cx="9231567" cy="467359"/>
          </a:xfrm>
          <a:prstGeom prst="rect">
            <a:avLst/>
          </a:prstGeom>
        </p:spPr>
        <p:txBody>
          <a:bodyPr>
            <a:normAutofit/>
          </a:bodyPr>
          <a:lstStyle>
            <a:lvl1pPr algn="l">
              <a:defRPr sz="2500">
                <a:solidFill>
                  <a:schemeClr val="tx1"/>
                </a:solidFill>
                <a:latin typeface="メイリオ" panose="020B0604030504040204" pitchFamily="50" charset="-128"/>
                <a:ea typeface="メイリオ" panose="020B0604030504040204" pitchFamily="50" charset="-128"/>
              </a:defRPr>
            </a:lvl1pPr>
          </a:lstStyle>
          <a:p>
            <a:r>
              <a:rPr kumimoji="1" lang="ja-JP" altLang="en-US"/>
              <a:t>マスター タイトルの書式設定</a:t>
            </a:r>
          </a:p>
        </p:txBody>
      </p:sp>
      <p:sp>
        <p:nvSpPr>
          <p:cNvPr id="2" name="スライド番号プレースホルダー 1">
            <a:extLst>
              <a:ext uri="{FF2B5EF4-FFF2-40B4-BE49-F238E27FC236}">
                <a16:creationId xmlns:a16="http://schemas.microsoft.com/office/drawing/2014/main" id="{DB9D760E-2713-D6C4-4E3B-123AD3B7A73C}"/>
              </a:ext>
            </a:extLst>
          </p:cNvPr>
          <p:cNvSpPr>
            <a:spLocks noGrp="1"/>
          </p:cNvSpPr>
          <p:nvPr>
            <p:ph type="sldNum" sz="quarter" idx="11"/>
          </p:nvPr>
        </p:nvSpPr>
        <p:spPr/>
        <p:txBody>
          <a:bodyPr/>
          <a:lstStyle>
            <a:lvl1pPr>
              <a:defRPr>
                <a:latin typeface="メイリオ" panose="020B0604030504040204" pitchFamily="50" charset="-128"/>
                <a:ea typeface="メイリオ" panose="020B0604030504040204" pitchFamily="50" charset="-128"/>
              </a:defRPr>
            </a:lvl1pPr>
          </a:lstStyle>
          <a:p>
            <a:fld id="{B75FDD43-FCEC-4ECC-8189-A5C6D2E08DC6}" type="slidenum">
              <a:rPr lang="ja-JP" altLang="en-US" smtClean="0"/>
              <a:pPr/>
              <a:t>‹#›</a:t>
            </a:fld>
            <a:endParaRPr lang="ja-JP" altLang="en-US"/>
          </a:p>
        </p:txBody>
      </p:sp>
      <p:pic>
        <p:nvPicPr>
          <p:cNvPr id="4" name="図 3" descr="図形&#10;&#10;中程度の精度で自動的に生成された説明">
            <a:extLst>
              <a:ext uri="{FF2B5EF4-FFF2-40B4-BE49-F238E27FC236}">
                <a16:creationId xmlns:a16="http://schemas.microsoft.com/office/drawing/2014/main" id="{66011DEC-6C0D-0339-9CDF-3E22B51EAA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85369" y="72791"/>
            <a:ext cx="2251451" cy="506495"/>
          </a:xfrm>
          <a:prstGeom prst="rect">
            <a:avLst/>
          </a:prstGeom>
        </p:spPr>
      </p:pic>
    </p:spTree>
    <p:extLst>
      <p:ext uri="{BB962C8B-B14F-4D97-AF65-F5344CB8AC3E}">
        <p14:creationId xmlns:p14="http://schemas.microsoft.com/office/powerpoint/2010/main" val="3156747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スタジオ紹介">
    <p:bg>
      <p:bgPr>
        <a:solidFill>
          <a:schemeClr val="bg1">
            <a:lumMod val="95000"/>
          </a:schemeClr>
        </a:solidFill>
        <a:effectLst/>
      </p:bgPr>
    </p:bg>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2B1C5A59-073F-DE8E-F4AA-63BC044D9B31}"/>
              </a:ext>
            </a:extLst>
          </p:cNvPr>
          <p:cNvGrpSpPr/>
          <p:nvPr userDrawn="1"/>
        </p:nvGrpSpPr>
        <p:grpSpPr>
          <a:xfrm>
            <a:off x="457212" y="2852825"/>
            <a:ext cx="6861337" cy="1784468"/>
            <a:chOff x="364851" y="4705212"/>
            <a:chExt cx="8631725" cy="1784468"/>
          </a:xfrm>
        </p:grpSpPr>
        <p:sp>
          <p:nvSpPr>
            <p:cNvPr id="5" name="正方形/長方形 4">
              <a:extLst>
                <a:ext uri="{FF2B5EF4-FFF2-40B4-BE49-F238E27FC236}">
                  <a16:creationId xmlns:a16="http://schemas.microsoft.com/office/drawing/2014/main" id="{9339FBCF-6799-F724-9388-3956EF523B64}"/>
                </a:ext>
              </a:extLst>
            </p:cNvPr>
            <p:cNvSpPr/>
            <p:nvPr/>
          </p:nvSpPr>
          <p:spPr bwMode="auto">
            <a:xfrm>
              <a:off x="364851" y="4705212"/>
              <a:ext cx="2822023" cy="178446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D9ECC5CC-F5D9-21BE-64F2-30592658607F}"/>
                </a:ext>
              </a:extLst>
            </p:cNvPr>
            <p:cNvSpPr/>
            <p:nvPr/>
          </p:nvSpPr>
          <p:spPr bwMode="auto">
            <a:xfrm>
              <a:off x="3269702" y="4705212"/>
              <a:ext cx="2822023" cy="178446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A8ABB1BD-028B-6223-6285-07A5BE4A0899}"/>
                </a:ext>
              </a:extLst>
            </p:cNvPr>
            <p:cNvSpPr/>
            <p:nvPr/>
          </p:nvSpPr>
          <p:spPr bwMode="auto">
            <a:xfrm>
              <a:off x="6174553" y="4705212"/>
              <a:ext cx="2822023" cy="178446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grpSp>
        <p:nvGrpSpPr>
          <p:cNvPr id="19" name="グループ化 18">
            <a:extLst>
              <a:ext uri="{FF2B5EF4-FFF2-40B4-BE49-F238E27FC236}">
                <a16:creationId xmlns:a16="http://schemas.microsoft.com/office/drawing/2014/main" id="{C3F36125-3C90-91AC-AE5F-FB71051613A5}"/>
              </a:ext>
            </a:extLst>
          </p:cNvPr>
          <p:cNvGrpSpPr/>
          <p:nvPr userDrawn="1"/>
        </p:nvGrpSpPr>
        <p:grpSpPr>
          <a:xfrm>
            <a:off x="457212" y="4705212"/>
            <a:ext cx="9170397" cy="1784468"/>
            <a:chOff x="364851" y="4705212"/>
            <a:chExt cx="11536577" cy="1784468"/>
          </a:xfrm>
        </p:grpSpPr>
        <p:sp>
          <p:nvSpPr>
            <p:cNvPr id="9" name="正方形/長方形 8">
              <a:extLst>
                <a:ext uri="{FF2B5EF4-FFF2-40B4-BE49-F238E27FC236}">
                  <a16:creationId xmlns:a16="http://schemas.microsoft.com/office/drawing/2014/main" id="{EE3D153D-7ADD-2000-3D00-75D71C66E00C}"/>
                </a:ext>
              </a:extLst>
            </p:cNvPr>
            <p:cNvSpPr/>
            <p:nvPr/>
          </p:nvSpPr>
          <p:spPr bwMode="auto">
            <a:xfrm>
              <a:off x="364851" y="4705212"/>
              <a:ext cx="2822023" cy="178446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5FC62986-1454-4AFF-4709-C7B171DFE4E6}"/>
                </a:ext>
              </a:extLst>
            </p:cNvPr>
            <p:cNvSpPr/>
            <p:nvPr/>
          </p:nvSpPr>
          <p:spPr bwMode="auto">
            <a:xfrm>
              <a:off x="3269702" y="4705212"/>
              <a:ext cx="2822023" cy="178446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3B35E876-F8D0-0E30-E6B7-4A275C0760BD}"/>
                </a:ext>
              </a:extLst>
            </p:cNvPr>
            <p:cNvSpPr/>
            <p:nvPr/>
          </p:nvSpPr>
          <p:spPr bwMode="auto">
            <a:xfrm>
              <a:off x="6174553" y="4705212"/>
              <a:ext cx="2822023" cy="178446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2EE032B5-6D80-F4A9-4C08-3FDA2D9B95F0}"/>
                </a:ext>
              </a:extLst>
            </p:cNvPr>
            <p:cNvSpPr/>
            <p:nvPr/>
          </p:nvSpPr>
          <p:spPr bwMode="auto">
            <a:xfrm>
              <a:off x="9079405" y="4705212"/>
              <a:ext cx="2822023" cy="178446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grpSp>
        <p:nvGrpSpPr>
          <p:cNvPr id="18" name="グループ化 17">
            <a:extLst>
              <a:ext uri="{FF2B5EF4-FFF2-40B4-BE49-F238E27FC236}">
                <a16:creationId xmlns:a16="http://schemas.microsoft.com/office/drawing/2014/main" id="{DFAB6945-D172-D08C-02CB-FA9FF5650DDD}"/>
              </a:ext>
            </a:extLst>
          </p:cNvPr>
          <p:cNvGrpSpPr/>
          <p:nvPr userDrawn="1"/>
        </p:nvGrpSpPr>
        <p:grpSpPr>
          <a:xfrm>
            <a:off x="463838" y="1005467"/>
            <a:ext cx="6864209" cy="1786065"/>
            <a:chOff x="364851" y="2886472"/>
            <a:chExt cx="8635335" cy="1786065"/>
          </a:xfrm>
        </p:grpSpPr>
        <p:sp>
          <p:nvSpPr>
            <p:cNvPr id="13" name="正方形/長方形 12">
              <a:extLst>
                <a:ext uri="{FF2B5EF4-FFF2-40B4-BE49-F238E27FC236}">
                  <a16:creationId xmlns:a16="http://schemas.microsoft.com/office/drawing/2014/main" id="{4FF29C05-B0B4-C2E4-44A9-7D8CC056C9AD}"/>
                </a:ext>
              </a:extLst>
            </p:cNvPr>
            <p:cNvSpPr/>
            <p:nvPr/>
          </p:nvSpPr>
          <p:spPr bwMode="auto">
            <a:xfrm>
              <a:off x="364851" y="2886472"/>
              <a:ext cx="2822023" cy="178446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45C40177-730C-480B-124C-AE8D56801C5E}"/>
                </a:ext>
              </a:extLst>
            </p:cNvPr>
            <p:cNvSpPr/>
            <p:nvPr/>
          </p:nvSpPr>
          <p:spPr bwMode="auto">
            <a:xfrm>
              <a:off x="3269702" y="2886472"/>
              <a:ext cx="2822023" cy="178446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6" name="フローチャート: カード 15">
              <a:extLst>
                <a:ext uri="{FF2B5EF4-FFF2-40B4-BE49-F238E27FC236}">
                  <a16:creationId xmlns:a16="http://schemas.microsoft.com/office/drawing/2014/main" id="{7F173DA8-60F8-6A61-A1FE-7A5972E750B4}"/>
                </a:ext>
              </a:extLst>
            </p:cNvPr>
            <p:cNvSpPr/>
            <p:nvPr/>
          </p:nvSpPr>
          <p:spPr bwMode="auto">
            <a:xfrm flipH="1">
              <a:off x="6170217" y="2886472"/>
              <a:ext cx="2829969" cy="1786065"/>
            </a:xfrm>
            <a:prstGeom prst="flowChartPunchedCard">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sp>
        <p:nvSpPr>
          <p:cNvPr id="28" name="フローチャート: カード 27">
            <a:extLst>
              <a:ext uri="{FF2B5EF4-FFF2-40B4-BE49-F238E27FC236}">
                <a16:creationId xmlns:a16="http://schemas.microsoft.com/office/drawing/2014/main" id="{AB1AA1FA-65E2-0613-3A05-0A35A9A1E5E1}"/>
              </a:ext>
            </a:extLst>
          </p:cNvPr>
          <p:cNvSpPr/>
          <p:nvPr userDrawn="1"/>
        </p:nvSpPr>
        <p:spPr bwMode="auto">
          <a:xfrm flipH="1">
            <a:off x="9693450" y="4703615"/>
            <a:ext cx="2249536" cy="1786065"/>
          </a:xfrm>
          <a:prstGeom prst="flowChartPunchedCard">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9" name="フローチャート: カード 28">
            <a:extLst>
              <a:ext uri="{FF2B5EF4-FFF2-40B4-BE49-F238E27FC236}">
                <a16:creationId xmlns:a16="http://schemas.microsoft.com/office/drawing/2014/main" id="{05FFA9E2-EF0F-B4FD-D7A5-DE4663DEDEA3}"/>
              </a:ext>
            </a:extLst>
          </p:cNvPr>
          <p:cNvSpPr/>
          <p:nvPr userDrawn="1"/>
        </p:nvSpPr>
        <p:spPr bwMode="auto">
          <a:xfrm flipH="1">
            <a:off x="7389238" y="2852825"/>
            <a:ext cx="2249536" cy="1786065"/>
          </a:xfrm>
          <a:prstGeom prst="flowChartPunchedCard">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 name="四角形: 上の 2 つの角を丸める 1">
            <a:extLst>
              <a:ext uri="{FF2B5EF4-FFF2-40B4-BE49-F238E27FC236}">
                <a16:creationId xmlns:a16="http://schemas.microsoft.com/office/drawing/2014/main" id="{9806AFA9-F0C3-CACB-06E9-58BBBECA6331}"/>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descr="図形&#10;&#10;中程度の精度で自動的に生成された説明">
            <a:extLst>
              <a:ext uri="{FF2B5EF4-FFF2-40B4-BE49-F238E27FC236}">
                <a16:creationId xmlns:a16="http://schemas.microsoft.com/office/drawing/2014/main" id="{35ADBA27-243B-6ACF-80A7-475F5FB4578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14982" y="39563"/>
            <a:ext cx="2416058" cy="572951"/>
          </a:xfrm>
          <a:prstGeom prst="rect">
            <a:avLst/>
          </a:prstGeom>
        </p:spPr>
      </p:pic>
      <p:sp>
        <p:nvSpPr>
          <p:cNvPr id="7" name="タイトル 1">
            <a:extLst>
              <a:ext uri="{FF2B5EF4-FFF2-40B4-BE49-F238E27FC236}">
                <a16:creationId xmlns:a16="http://schemas.microsoft.com/office/drawing/2014/main" id="{D76FC06D-42D1-8F9C-5FD7-59C34BABD84F}"/>
              </a:ext>
            </a:extLst>
          </p:cNvPr>
          <p:cNvSpPr>
            <a:spLocks noGrp="1"/>
          </p:cNvSpPr>
          <p:nvPr>
            <p:ph type="title"/>
          </p:nvPr>
        </p:nvSpPr>
        <p:spPr>
          <a:xfrm>
            <a:off x="653801" y="92360"/>
            <a:ext cx="9231567" cy="467359"/>
          </a:xfrm>
          <a:prstGeom prst="rect">
            <a:avLst/>
          </a:prstGeom>
        </p:spPr>
        <p:txBody>
          <a:bodyPr>
            <a:normAutofit/>
          </a:bodyPr>
          <a:lstStyle>
            <a:lvl1pPr algn="l">
              <a:defRPr sz="2500">
                <a:solidFill>
                  <a:schemeClr val="tx1"/>
                </a:solidFill>
                <a:latin typeface="メイリオ" panose="020B0604030504040204" pitchFamily="50" charset="-128"/>
                <a:ea typeface="メイリオ" panose="020B0604030504040204" pitchFamily="50" charset="-128"/>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52E1FE66-881D-35B3-D449-3DE33342A4DB}"/>
              </a:ext>
            </a:extLst>
          </p:cNvPr>
          <p:cNvSpPr>
            <a:spLocks noGrp="1"/>
          </p:cNvSpPr>
          <p:nvPr>
            <p:ph type="sldNum" sz="quarter" idx="10"/>
          </p:nvPr>
        </p:nvSpPr>
        <p:spPr/>
        <p:txBody>
          <a:bodyPr/>
          <a:lstStyle>
            <a:lvl1pPr>
              <a:defRPr>
                <a:latin typeface="メイリオ" panose="020B0604030504040204" pitchFamily="50" charset="-128"/>
                <a:ea typeface="メイリオ" panose="020B0604030504040204" pitchFamily="50" charset="-128"/>
              </a:defRPr>
            </a:lvl1pPr>
          </a:lstStyle>
          <a:p>
            <a:fld id="{B75FDD43-FCEC-4ECC-8189-A5C6D2E08DC6}" type="slidenum">
              <a:rPr lang="ja-JP" altLang="en-US" smtClean="0"/>
              <a:pPr/>
              <a:t>‹#›</a:t>
            </a:fld>
            <a:endParaRPr lang="ja-JP" altLang="en-US"/>
          </a:p>
        </p:txBody>
      </p:sp>
    </p:spTree>
    <p:extLst>
      <p:ext uri="{BB962C8B-B14F-4D97-AF65-F5344CB8AC3E}">
        <p14:creationId xmlns:p14="http://schemas.microsoft.com/office/powerpoint/2010/main" val="80815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本文_スタジオロゴ利用用">
    <p:spTree>
      <p:nvGrpSpPr>
        <p:cNvPr id="1" name=""/>
        <p:cNvGrpSpPr/>
        <p:nvPr/>
      </p:nvGrpSpPr>
      <p:grpSpPr>
        <a:xfrm>
          <a:off x="0" y="0"/>
          <a:ext cx="0" cy="0"/>
          <a:chOff x="0" y="0"/>
          <a:chExt cx="0" cy="0"/>
        </a:xfrm>
      </p:grpSpPr>
      <p:pic>
        <p:nvPicPr>
          <p:cNvPr id="4" name="図 3" descr="グラフィカル ユーザー インターフェイス, アプリケーション&#10;&#10;自動的に生成された説明">
            <a:extLst>
              <a:ext uri="{FF2B5EF4-FFF2-40B4-BE49-F238E27FC236}">
                <a16:creationId xmlns:a16="http://schemas.microsoft.com/office/drawing/2014/main" id="{757B476E-DAF2-55E6-88E2-F2DD8164E09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5860" t="44132" r="25724" b="3863"/>
          <a:stretch/>
        </p:blipFill>
        <p:spPr>
          <a:xfrm>
            <a:off x="11272764" y="29005"/>
            <a:ext cx="795411" cy="611075"/>
          </a:xfrm>
          <a:prstGeom prst="rect">
            <a:avLst/>
          </a:prstGeom>
        </p:spPr>
      </p:pic>
      <p:cxnSp>
        <p:nvCxnSpPr>
          <p:cNvPr id="9" name="直線コネクタ 8">
            <a:extLst>
              <a:ext uri="{FF2B5EF4-FFF2-40B4-BE49-F238E27FC236}">
                <a16:creationId xmlns:a16="http://schemas.microsoft.com/office/drawing/2014/main" id="{635AD6B3-F9A8-B935-1014-C79BA23A4BF3}"/>
              </a:ext>
            </a:extLst>
          </p:cNvPr>
          <p:cNvCxnSpPr>
            <a:cxnSpLocks/>
          </p:cNvCxnSpPr>
          <p:nvPr userDrawn="1"/>
        </p:nvCxnSpPr>
        <p:spPr>
          <a:xfrm>
            <a:off x="11208502" y="92360"/>
            <a:ext cx="0" cy="467359"/>
          </a:xfrm>
          <a:prstGeom prst="line">
            <a:avLst/>
          </a:prstGeom>
          <a:ln>
            <a:solidFill>
              <a:schemeClr val="bg2"/>
            </a:solidFill>
          </a:ln>
        </p:spPr>
        <p:style>
          <a:lnRef idx="1">
            <a:schemeClr val="dk1"/>
          </a:lnRef>
          <a:fillRef idx="0">
            <a:schemeClr val="dk1"/>
          </a:fillRef>
          <a:effectRef idx="0">
            <a:schemeClr val="dk1"/>
          </a:effectRef>
          <a:fontRef idx="minor">
            <a:schemeClr val="tx1"/>
          </a:fontRef>
        </p:style>
      </p:cxnSp>
      <p:sp>
        <p:nvSpPr>
          <p:cNvPr id="5" name="コンテンツ プレースホルダー 2">
            <a:extLst>
              <a:ext uri="{FF2B5EF4-FFF2-40B4-BE49-F238E27FC236}">
                <a16:creationId xmlns:a16="http://schemas.microsoft.com/office/drawing/2014/main" id="{4D83DAD6-1440-3B0E-677F-809D441B0A65}"/>
              </a:ext>
            </a:extLst>
          </p:cNvPr>
          <p:cNvSpPr>
            <a:spLocks noGrp="1"/>
          </p:cNvSpPr>
          <p:nvPr>
            <p:ph idx="10"/>
          </p:nvPr>
        </p:nvSpPr>
        <p:spPr>
          <a:xfrm>
            <a:off x="653802" y="652081"/>
            <a:ext cx="11086078" cy="5987780"/>
          </a:xfrm>
          <a:prstGeom prst="rect">
            <a:avLst/>
          </a:prstGeom>
        </p:spPr>
        <p:txBody>
          <a:bodyPr>
            <a:normAutofit/>
          </a:bodyPr>
          <a:lstStyle>
            <a:lvl1pPr marL="0" indent="0">
              <a:buNone/>
              <a:defRPr sz="1800">
                <a:solidFill>
                  <a:schemeClr val="tx1"/>
                </a:solidFill>
                <a:latin typeface="メイリオ" panose="020B0604030504040204" pitchFamily="50" charset="-128"/>
                <a:ea typeface="メイリオ" panose="020B0604030504040204" pitchFamily="50" charset="-128"/>
              </a:defRPr>
            </a:lvl1pPr>
            <a:lvl2pPr marL="457200" indent="0">
              <a:buNone/>
              <a:defRPr sz="1600">
                <a:solidFill>
                  <a:schemeClr val="tx1"/>
                </a:solidFill>
                <a:latin typeface="メイリオ" panose="020B0604030504040204" pitchFamily="50" charset="-128"/>
                <a:ea typeface="メイリオ" panose="020B0604030504040204" pitchFamily="50" charset="-128"/>
              </a:defRPr>
            </a:lvl2pPr>
            <a:lvl3pPr marL="914400" indent="0">
              <a:buNone/>
              <a:defRPr sz="1600">
                <a:solidFill>
                  <a:schemeClr val="tx1"/>
                </a:solidFill>
                <a:latin typeface="メイリオ" panose="020B0604030504040204" pitchFamily="50" charset="-128"/>
                <a:ea typeface="メイリオ" panose="020B0604030504040204" pitchFamily="50" charset="-128"/>
              </a:defRPr>
            </a:lvl3pPr>
            <a:lvl4pPr marL="1371600" indent="0">
              <a:buNone/>
              <a:defRPr sz="1600">
                <a:solidFill>
                  <a:schemeClr val="tx1"/>
                </a:solidFill>
                <a:latin typeface="メイリオ" panose="020B0604030504040204" pitchFamily="50" charset="-128"/>
                <a:ea typeface="メイリオ" panose="020B0604030504040204" pitchFamily="50" charset="-128"/>
              </a:defRPr>
            </a:lvl4pPr>
            <a:lvl5pPr marL="1828800" indent="0">
              <a:buNone/>
              <a:defRPr sz="1600">
                <a:solidFill>
                  <a:schemeClr val="tx1"/>
                </a:solidFill>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タイトル 1">
            <a:extLst>
              <a:ext uri="{FF2B5EF4-FFF2-40B4-BE49-F238E27FC236}">
                <a16:creationId xmlns:a16="http://schemas.microsoft.com/office/drawing/2014/main" id="{44502ABF-EF6C-A414-05B9-51FBED25FCA4}"/>
              </a:ext>
            </a:extLst>
          </p:cNvPr>
          <p:cNvSpPr>
            <a:spLocks noGrp="1"/>
          </p:cNvSpPr>
          <p:nvPr>
            <p:ph type="title"/>
          </p:nvPr>
        </p:nvSpPr>
        <p:spPr>
          <a:xfrm>
            <a:off x="653801" y="92360"/>
            <a:ext cx="9015461" cy="467359"/>
          </a:xfrm>
          <a:prstGeom prst="rect">
            <a:avLst/>
          </a:prstGeom>
        </p:spPr>
        <p:txBody>
          <a:bodyPr>
            <a:normAutofit/>
          </a:bodyPr>
          <a:lstStyle>
            <a:lvl1pPr algn="l">
              <a:defRPr sz="2500">
                <a:solidFill>
                  <a:schemeClr val="tx1"/>
                </a:solidFill>
                <a:latin typeface="メイリオ" panose="020B0604030504040204" pitchFamily="50" charset="-128"/>
                <a:ea typeface="メイリオ" panose="020B0604030504040204" pitchFamily="50" charset="-128"/>
              </a:defRPr>
            </a:lvl1pPr>
          </a:lstStyle>
          <a:p>
            <a:r>
              <a:rPr kumimoji="1" lang="ja-JP" altLang="en-US"/>
              <a:t>マスター タイトルの書式設定</a:t>
            </a:r>
          </a:p>
        </p:txBody>
      </p:sp>
      <p:sp>
        <p:nvSpPr>
          <p:cNvPr id="8" name="四角形: 上の 2 つの角を丸める 7">
            <a:extLst>
              <a:ext uri="{FF2B5EF4-FFF2-40B4-BE49-F238E27FC236}">
                <a16:creationId xmlns:a16="http://schemas.microsoft.com/office/drawing/2014/main" id="{05AE9B83-EE1A-7C02-B547-5DFE7F714D2D}"/>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 name="スライド番号プレースホルダー 1">
            <a:extLst>
              <a:ext uri="{FF2B5EF4-FFF2-40B4-BE49-F238E27FC236}">
                <a16:creationId xmlns:a16="http://schemas.microsoft.com/office/drawing/2014/main" id="{BF6C0E37-4718-727E-7ED5-3F216E941730}"/>
              </a:ext>
            </a:extLst>
          </p:cNvPr>
          <p:cNvSpPr>
            <a:spLocks noGrp="1"/>
          </p:cNvSpPr>
          <p:nvPr>
            <p:ph type="sldNum" sz="quarter" idx="11"/>
          </p:nvPr>
        </p:nvSpPr>
        <p:spPr/>
        <p:txBody>
          <a:bodyPr/>
          <a:lstStyle>
            <a:lvl1pPr>
              <a:defRPr>
                <a:latin typeface="メイリオ" panose="020B0604030504040204" pitchFamily="50" charset="-128"/>
                <a:ea typeface="メイリオ" panose="020B0604030504040204" pitchFamily="50" charset="-128"/>
              </a:defRPr>
            </a:lvl1pPr>
          </a:lstStyle>
          <a:p>
            <a:fld id="{607188E9-7E5A-42A7-BEAC-569EEE9597AF}" type="slidenum">
              <a:rPr lang="ja-JP" altLang="en-US" smtClean="0"/>
              <a:pPr/>
              <a:t>‹#›</a:t>
            </a:fld>
            <a:endParaRPr lang="ja-JP" altLang="en-US"/>
          </a:p>
        </p:txBody>
      </p:sp>
    </p:spTree>
    <p:extLst>
      <p:ext uri="{BB962C8B-B14F-4D97-AF65-F5344CB8AC3E}">
        <p14:creationId xmlns:p14="http://schemas.microsoft.com/office/powerpoint/2010/main" val="17560092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21" name="楕円 20">
            <a:extLst>
              <a:ext uri="{FF2B5EF4-FFF2-40B4-BE49-F238E27FC236}">
                <a16:creationId xmlns:a16="http://schemas.microsoft.com/office/drawing/2014/main" id="{3B9858AC-F746-B5D8-0558-016A3FE96BF5}"/>
              </a:ext>
            </a:extLst>
          </p:cNvPr>
          <p:cNvSpPr/>
          <p:nvPr userDrawn="1"/>
        </p:nvSpPr>
        <p:spPr>
          <a:xfrm rot="18000000" flipH="1">
            <a:off x="5880659" y="428597"/>
            <a:ext cx="1363629" cy="1363629"/>
          </a:xfrm>
          <a:prstGeom prst="ellipse">
            <a:avLst/>
          </a:prstGeom>
          <a:noFill/>
          <a:ln>
            <a:gradFill>
              <a:gsLst>
                <a:gs pos="0">
                  <a:srgbClr val="E99168"/>
                </a:gs>
                <a:gs pos="38000">
                  <a:srgbClr val="CEC866"/>
                </a:gs>
                <a:gs pos="68000">
                  <a:srgbClr val="94C86B"/>
                </a:gs>
                <a:gs pos="100000">
                  <a:srgbClr val="73BACB"/>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tx1"/>
              </a:solidFill>
            </a:endParaRPr>
          </a:p>
        </p:txBody>
      </p:sp>
      <p:sp>
        <p:nvSpPr>
          <p:cNvPr id="3" name="フリーフォーム: 図形 2">
            <a:extLst>
              <a:ext uri="{FF2B5EF4-FFF2-40B4-BE49-F238E27FC236}">
                <a16:creationId xmlns:a16="http://schemas.microsoft.com/office/drawing/2014/main" id="{6DCCDEA2-D7CB-8229-1C31-F4C1A5BE0E32}"/>
              </a:ext>
            </a:extLst>
          </p:cNvPr>
          <p:cNvSpPr/>
          <p:nvPr userDrawn="1"/>
        </p:nvSpPr>
        <p:spPr>
          <a:xfrm rot="18000000">
            <a:off x="8699151" y="887687"/>
            <a:ext cx="5507479" cy="4427619"/>
          </a:xfrm>
          <a:custGeom>
            <a:avLst/>
            <a:gdLst>
              <a:gd name="connsiteX0" fmla="*/ 5507479 w 5507479"/>
              <a:gd name="connsiteY0" fmla="*/ 1477387 h 4427619"/>
              <a:gd name="connsiteX1" fmla="*/ 4683090 w 5507479"/>
              <a:gd name="connsiteY1" fmla="*/ 1953348 h 4427619"/>
              <a:gd name="connsiteX2" fmla="*/ 4610808 w 5507479"/>
              <a:gd name="connsiteY2" fmla="*/ 1834369 h 4427619"/>
              <a:gd name="connsiteX3" fmla="*/ 2952503 w 5507479"/>
              <a:gd name="connsiteY3" fmla="*/ 952655 h 4427619"/>
              <a:gd name="connsiteX4" fmla="*/ 952655 w 5507479"/>
              <a:gd name="connsiteY4" fmla="*/ 2952503 h 4427619"/>
              <a:gd name="connsiteX5" fmla="*/ 1194026 w 5507479"/>
              <a:gd name="connsiteY5" fmla="*/ 3905749 h 4427619"/>
              <a:gd name="connsiteX6" fmla="*/ 1221916 w 5507479"/>
              <a:gd name="connsiteY6" fmla="*/ 3951658 h 4427619"/>
              <a:gd name="connsiteX7" fmla="*/ 397528 w 5507479"/>
              <a:gd name="connsiteY7" fmla="*/ 4427619 h 4427619"/>
              <a:gd name="connsiteX8" fmla="*/ 356351 w 5507479"/>
              <a:gd name="connsiteY8" fmla="*/ 4359841 h 4427619"/>
              <a:gd name="connsiteX9" fmla="*/ 0 w 5507479"/>
              <a:gd name="connsiteY9" fmla="*/ 2952503 h 4427619"/>
              <a:gd name="connsiteX10" fmla="*/ 2952503 w 5507479"/>
              <a:gd name="connsiteY10" fmla="*/ 0 h 4427619"/>
              <a:gd name="connsiteX11" fmla="*/ 5400765 w 5507479"/>
              <a:gd name="connsiteY11" fmla="*/ 1301731 h 4427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07479" h="4427619">
                <a:moveTo>
                  <a:pt x="5507479" y="1477387"/>
                </a:moveTo>
                <a:lnTo>
                  <a:pt x="4683090" y="1953348"/>
                </a:lnTo>
                <a:lnTo>
                  <a:pt x="4610808" y="1834369"/>
                </a:lnTo>
                <a:cubicBezTo>
                  <a:pt x="4251421" y="1302406"/>
                  <a:pt x="3642807" y="952655"/>
                  <a:pt x="2952503" y="952655"/>
                </a:cubicBezTo>
                <a:cubicBezTo>
                  <a:pt x="1848017" y="952655"/>
                  <a:pt x="952655" y="1848017"/>
                  <a:pt x="952655" y="2952503"/>
                </a:cubicBezTo>
                <a:cubicBezTo>
                  <a:pt x="952655" y="3297655"/>
                  <a:pt x="1040093" y="3622384"/>
                  <a:pt x="1194026" y="3905749"/>
                </a:cubicBezTo>
                <a:lnTo>
                  <a:pt x="1221916" y="3951658"/>
                </a:lnTo>
                <a:lnTo>
                  <a:pt x="397528" y="4427619"/>
                </a:lnTo>
                <a:lnTo>
                  <a:pt x="356351" y="4359841"/>
                </a:lnTo>
                <a:cubicBezTo>
                  <a:pt x="129090" y="3941492"/>
                  <a:pt x="0" y="3462072"/>
                  <a:pt x="0" y="2952503"/>
                </a:cubicBezTo>
                <a:cubicBezTo>
                  <a:pt x="0" y="1321881"/>
                  <a:pt x="1321881" y="0"/>
                  <a:pt x="2952503" y="0"/>
                </a:cubicBezTo>
                <a:cubicBezTo>
                  <a:pt x="3971641" y="-1"/>
                  <a:pt x="4870179" y="516360"/>
                  <a:pt x="5400765" y="1301731"/>
                </a:cubicBezTo>
                <a:close/>
              </a:path>
            </a:pathLst>
          </a:custGeom>
          <a:gradFill>
            <a:gsLst>
              <a:gs pos="0">
                <a:srgbClr val="E99168"/>
              </a:gs>
              <a:gs pos="35000">
                <a:srgbClr val="CEC866"/>
              </a:gs>
              <a:gs pos="63000">
                <a:srgbClr val="65C570"/>
              </a:gs>
              <a:gs pos="93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solidFill>
                <a:schemeClr val="tx1"/>
              </a:solidFill>
            </a:endParaRPr>
          </a:p>
        </p:txBody>
      </p:sp>
      <p:sp>
        <p:nvSpPr>
          <p:cNvPr id="19" name="楕円 18">
            <a:extLst>
              <a:ext uri="{FF2B5EF4-FFF2-40B4-BE49-F238E27FC236}">
                <a16:creationId xmlns:a16="http://schemas.microsoft.com/office/drawing/2014/main" id="{6C45CDDC-A683-86E8-D2EB-F4F92377971B}"/>
              </a:ext>
            </a:extLst>
          </p:cNvPr>
          <p:cNvSpPr/>
          <p:nvPr userDrawn="1"/>
        </p:nvSpPr>
        <p:spPr>
          <a:xfrm rot="18900000">
            <a:off x="6950380" y="538231"/>
            <a:ext cx="398351" cy="398351"/>
          </a:xfrm>
          <a:prstGeom prst="ellipse">
            <a:avLst/>
          </a:prstGeom>
          <a:gradFill>
            <a:gsLst>
              <a:gs pos="0">
                <a:srgbClr val="E99168"/>
              </a:gs>
              <a:gs pos="35000">
                <a:srgbClr val="E8D966"/>
              </a:gs>
              <a:gs pos="69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tx1"/>
              </a:solidFill>
            </a:endParaRPr>
          </a:p>
        </p:txBody>
      </p:sp>
      <p:sp>
        <p:nvSpPr>
          <p:cNvPr id="22" name="楕円 21">
            <a:extLst>
              <a:ext uri="{FF2B5EF4-FFF2-40B4-BE49-F238E27FC236}">
                <a16:creationId xmlns:a16="http://schemas.microsoft.com/office/drawing/2014/main" id="{AC14F533-CF24-65BA-BE80-C907C9929EA2}"/>
              </a:ext>
            </a:extLst>
          </p:cNvPr>
          <p:cNvSpPr/>
          <p:nvPr userDrawn="1"/>
        </p:nvSpPr>
        <p:spPr>
          <a:xfrm>
            <a:off x="8551801" y="5939038"/>
            <a:ext cx="365125" cy="365125"/>
          </a:xfrm>
          <a:prstGeom prst="ellipse">
            <a:avLst/>
          </a:prstGeom>
          <a:gradFill>
            <a:gsLst>
              <a:gs pos="0">
                <a:srgbClr val="E99168"/>
              </a:gs>
              <a:gs pos="35000">
                <a:srgbClr val="E8D966"/>
              </a:gs>
              <a:gs pos="69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tx1"/>
              </a:solidFill>
            </a:endParaRPr>
          </a:p>
        </p:txBody>
      </p:sp>
      <p:sp>
        <p:nvSpPr>
          <p:cNvPr id="8" name="フリーフォーム: 図形 7">
            <a:extLst>
              <a:ext uri="{FF2B5EF4-FFF2-40B4-BE49-F238E27FC236}">
                <a16:creationId xmlns:a16="http://schemas.microsoft.com/office/drawing/2014/main" id="{7EB1F714-B4AF-A4BC-CA33-A91F6DF8934B}"/>
              </a:ext>
            </a:extLst>
          </p:cNvPr>
          <p:cNvSpPr/>
          <p:nvPr userDrawn="1"/>
        </p:nvSpPr>
        <p:spPr>
          <a:xfrm>
            <a:off x="785511" y="1"/>
            <a:ext cx="83496" cy="2149939"/>
          </a:xfrm>
          <a:custGeom>
            <a:avLst/>
            <a:gdLst>
              <a:gd name="connsiteX0" fmla="*/ 0 w 83496"/>
              <a:gd name="connsiteY0" fmla="*/ 0 h 2149939"/>
              <a:gd name="connsiteX1" fmla="*/ 83496 w 83496"/>
              <a:gd name="connsiteY1" fmla="*/ 0 h 2149939"/>
              <a:gd name="connsiteX2" fmla="*/ 83495 w 83496"/>
              <a:gd name="connsiteY2" fmla="*/ 2108191 h 2149939"/>
              <a:gd name="connsiteX3" fmla="*/ 41747 w 83496"/>
              <a:gd name="connsiteY3" fmla="*/ 2149939 h 2149939"/>
              <a:gd name="connsiteX4" fmla="*/ 41748 w 83496"/>
              <a:gd name="connsiteY4" fmla="*/ 2149938 h 2149939"/>
              <a:gd name="connsiteX5" fmla="*/ 0 w 83496"/>
              <a:gd name="connsiteY5" fmla="*/ 2108190 h 214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496" h="2149939">
                <a:moveTo>
                  <a:pt x="0" y="0"/>
                </a:moveTo>
                <a:lnTo>
                  <a:pt x="83496" y="0"/>
                </a:lnTo>
                <a:lnTo>
                  <a:pt x="83495" y="2108191"/>
                </a:lnTo>
                <a:cubicBezTo>
                  <a:pt x="83495" y="2131248"/>
                  <a:pt x="64804" y="2149939"/>
                  <a:pt x="41747" y="2149939"/>
                </a:cubicBezTo>
                <a:lnTo>
                  <a:pt x="41748" y="2149938"/>
                </a:lnTo>
                <a:cubicBezTo>
                  <a:pt x="18691" y="2149938"/>
                  <a:pt x="0" y="2131247"/>
                  <a:pt x="0" y="2108190"/>
                </a:cubicBezTo>
                <a:close/>
              </a:path>
            </a:pathLst>
          </a:cu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solidFill>
                <a:schemeClr val="tx1"/>
              </a:solidFill>
            </a:endParaRPr>
          </a:p>
        </p:txBody>
      </p:sp>
      <p:sp>
        <p:nvSpPr>
          <p:cNvPr id="9" name="フリーフォーム: 図形 8">
            <a:extLst>
              <a:ext uri="{FF2B5EF4-FFF2-40B4-BE49-F238E27FC236}">
                <a16:creationId xmlns:a16="http://schemas.microsoft.com/office/drawing/2014/main" id="{216ED479-DE4A-9441-0DED-785AFE990678}"/>
              </a:ext>
            </a:extLst>
          </p:cNvPr>
          <p:cNvSpPr/>
          <p:nvPr userDrawn="1"/>
        </p:nvSpPr>
        <p:spPr>
          <a:xfrm rot="10800000">
            <a:off x="571371" y="6352"/>
            <a:ext cx="83494" cy="1356207"/>
          </a:xfrm>
          <a:custGeom>
            <a:avLst/>
            <a:gdLst>
              <a:gd name="connsiteX0" fmla="*/ 83493 w 83494"/>
              <a:gd name="connsiteY0" fmla="*/ 1356207 h 1356207"/>
              <a:gd name="connsiteX1" fmla="*/ 0 w 83494"/>
              <a:gd name="connsiteY1" fmla="*/ 1356207 h 1356207"/>
              <a:gd name="connsiteX2" fmla="*/ 0 w 83494"/>
              <a:gd name="connsiteY2" fmla="*/ 41747 h 1356207"/>
              <a:gd name="connsiteX3" fmla="*/ 41747 w 83494"/>
              <a:gd name="connsiteY3" fmla="*/ 0 h 1356207"/>
              <a:gd name="connsiteX4" fmla="*/ 83494 w 83494"/>
              <a:gd name="connsiteY4" fmla="*/ 41747 h 1356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494" h="1356207">
                <a:moveTo>
                  <a:pt x="83493" y="1356207"/>
                </a:moveTo>
                <a:lnTo>
                  <a:pt x="0" y="1356207"/>
                </a:lnTo>
                <a:lnTo>
                  <a:pt x="0" y="41747"/>
                </a:lnTo>
                <a:cubicBezTo>
                  <a:pt x="0" y="18691"/>
                  <a:pt x="18691" y="0"/>
                  <a:pt x="41747" y="0"/>
                </a:cubicBezTo>
                <a:cubicBezTo>
                  <a:pt x="64803" y="0"/>
                  <a:pt x="83494" y="18691"/>
                  <a:pt x="83494" y="41747"/>
                </a:cubicBezTo>
                <a:close/>
              </a:path>
            </a:pathLst>
          </a:cu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solidFill>
                <a:schemeClr val="tx1"/>
              </a:solidFill>
            </a:endParaRPr>
          </a:p>
        </p:txBody>
      </p:sp>
      <p:sp>
        <p:nvSpPr>
          <p:cNvPr id="13" name="タイトル 1">
            <a:extLst>
              <a:ext uri="{FF2B5EF4-FFF2-40B4-BE49-F238E27FC236}">
                <a16:creationId xmlns:a16="http://schemas.microsoft.com/office/drawing/2014/main" id="{6EBBF3E4-D838-C77C-DDB7-436D033A4583}"/>
              </a:ext>
            </a:extLst>
          </p:cNvPr>
          <p:cNvSpPr>
            <a:spLocks noGrp="1"/>
          </p:cNvSpPr>
          <p:nvPr>
            <p:ph type="title"/>
          </p:nvPr>
        </p:nvSpPr>
        <p:spPr>
          <a:xfrm>
            <a:off x="1127760" y="1201739"/>
            <a:ext cx="10219690" cy="2227262"/>
          </a:xfrm>
          <a:prstGeom prst="rect">
            <a:avLst/>
          </a:prstGeom>
        </p:spPr>
        <p:txBody>
          <a:bodyPr anchor="b">
            <a:normAutofit/>
          </a:bodyPr>
          <a:lstStyle>
            <a:lvl1pPr>
              <a:defRPr sz="3600">
                <a:solidFill>
                  <a:schemeClr val="tx1"/>
                </a:solidFill>
                <a:latin typeface="+mj-lt"/>
              </a:defRPr>
            </a:lvl1pPr>
          </a:lstStyle>
          <a:p>
            <a:r>
              <a:rPr kumimoji="1" lang="ja-JP" altLang="en-US"/>
              <a:t>マスター タイトルの書式設定</a:t>
            </a:r>
          </a:p>
        </p:txBody>
      </p:sp>
      <p:sp>
        <p:nvSpPr>
          <p:cNvPr id="14" name="テキスト プレースホルダー 2">
            <a:extLst>
              <a:ext uri="{FF2B5EF4-FFF2-40B4-BE49-F238E27FC236}">
                <a16:creationId xmlns:a16="http://schemas.microsoft.com/office/drawing/2014/main" id="{44611A44-3C18-DBB1-7FE2-003DB83DDD89}"/>
              </a:ext>
            </a:extLst>
          </p:cNvPr>
          <p:cNvSpPr>
            <a:spLocks noGrp="1"/>
          </p:cNvSpPr>
          <p:nvPr>
            <p:ph type="body" idx="1"/>
          </p:nvPr>
        </p:nvSpPr>
        <p:spPr>
          <a:xfrm>
            <a:off x="1127760" y="3429001"/>
            <a:ext cx="10219690" cy="2152650"/>
          </a:xfrm>
          <a:prstGeom prst="rect">
            <a:avLst/>
          </a:prstGeom>
        </p:spPr>
        <p:txBody>
          <a:bodyPr>
            <a:normAutofit/>
          </a:bodyPr>
          <a:lstStyle>
            <a:lvl1pPr marL="0" indent="0">
              <a:buNone/>
              <a:defRPr sz="280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2" name="スライド番号プレースホルダー 1">
            <a:extLst>
              <a:ext uri="{FF2B5EF4-FFF2-40B4-BE49-F238E27FC236}">
                <a16:creationId xmlns:a16="http://schemas.microsoft.com/office/drawing/2014/main" id="{4636F343-52EC-F90D-4C17-269F8130CC4F}"/>
              </a:ext>
            </a:extLst>
          </p:cNvPr>
          <p:cNvSpPr>
            <a:spLocks noGrp="1"/>
          </p:cNvSpPr>
          <p:nvPr>
            <p:ph type="sldNum" sz="quarter" idx="10"/>
          </p:nvPr>
        </p:nvSpPr>
        <p:spPr/>
        <p:txBody>
          <a:bodyPr/>
          <a:lstStyle/>
          <a:p>
            <a:fld id="{607188E9-7E5A-42A7-BEAC-569EEE9597AF}" type="slidenum">
              <a:rPr lang="ja-JP" altLang="en-US" smtClean="0"/>
              <a:pPr/>
              <a:t>‹#›</a:t>
            </a:fld>
            <a:endParaRPr lang="ja-JP" altLang="en-US"/>
          </a:p>
        </p:txBody>
      </p:sp>
    </p:spTree>
    <p:extLst>
      <p:ext uri="{BB962C8B-B14F-4D97-AF65-F5344CB8AC3E}">
        <p14:creationId xmlns:p14="http://schemas.microsoft.com/office/powerpoint/2010/main" val="929859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本文">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5C1432-4251-DCED-77E7-6872FE39F20D}"/>
              </a:ext>
            </a:extLst>
          </p:cNvPr>
          <p:cNvSpPr>
            <a:spLocks noGrp="1"/>
          </p:cNvSpPr>
          <p:nvPr>
            <p:ph type="title"/>
          </p:nvPr>
        </p:nvSpPr>
        <p:spPr>
          <a:xfrm>
            <a:off x="653802" y="92360"/>
            <a:ext cx="11086078" cy="467359"/>
          </a:xfrm>
          <a:prstGeom prst="rect">
            <a:avLst/>
          </a:prstGeom>
        </p:spPr>
        <p:txBody>
          <a:bodyPr>
            <a:normAutofit/>
          </a:bodyPr>
          <a:lstStyle>
            <a:lvl1pPr algn="l">
              <a:defRPr sz="2500">
                <a:solidFill>
                  <a:schemeClr val="tx1"/>
                </a:solidFill>
                <a:latin typeface="+mj-lt"/>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F34A0CD-434F-B746-8094-BAB8AD02D8B2}"/>
              </a:ext>
            </a:extLst>
          </p:cNvPr>
          <p:cNvSpPr>
            <a:spLocks noGrp="1"/>
          </p:cNvSpPr>
          <p:nvPr>
            <p:ph idx="1"/>
          </p:nvPr>
        </p:nvSpPr>
        <p:spPr>
          <a:xfrm>
            <a:off x="653802" y="652081"/>
            <a:ext cx="11086078" cy="5987780"/>
          </a:xfrm>
          <a:prstGeom prst="rect">
            <a:avLst/>
          </a:prstGeom>
        </p:spPr>
        <p:txBody>
          <a:bodyPr>
            <a:normAutofit/>
          </a:bodyPr>
          <a:lstStyle>
            <a:lvl1pPr marL="0" indent="0">
              <a:buNone/>
              <a:defRPr sz="1800">
                <a:solidFill>
                  <a:schemeClr val="tx1"/>
                </a:solidFill>
                <a:latin typeface="+mn-lt"/>
              </a:defRPr>
            </a:lvl1pPr>
            <a:lvl2pPr marL="457200" indent="0">
              <a:buNone/>
              <a:defRPr sz="1600">
                <a:solidFill>
                  <a:schemeClr val="tx1"/>
                </a:solidFill>
                <a:latin typeface="+mn-lt"/>
              </a:defRPr>
            </a:lvl2pPr>
            <a:lvl3pPr marL="914400" indent="0">
              <a:buNone/>
              <a:defRPr sz="1600">
                <a:solidFill>
                  <a:schemeClr val="tx1"/>
                </a:solidFill>
                <a:latin typeface="+mn-lt"/>
              </a:defRPr>
            </a:lvl3pPr>
            <a:lvl4pPr marL="1371600" indent="0">
              <a:buNone/>
              <a:defRPr sz="1600">
                <a:solidFill>
                  <a:schemeClr val="tx1"/>
                </a:solidFill>
                <a:latin typeface="+mn-lt"/>
              </a:defRPr>
            </a:lvl4pPr>
            <a:lvl5pPr marL="1828800" indent="0">
              <a:buNone/>
              <a:defRPr sz="1600">
                <a:solidFill>
                  <a:schemeClr val="tx1"/>
                </a:solidFill>
                <a:latin typeface="+mn-lt"/>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四角形: 上の 2 つの角を丸める 4">
            <a:extLst>
              <a:ext uri="{FF2B5EF4-FFF2-40B4-BE49-F238E27FC236}">
                <a16:creationId xmlns:a16="http://schemas.microsoft.com/office/drawing/2014/main" id="{B78ED571-ACF8-C2DC-3A0B-0E54BBE85DFD}"/>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 name="スライド番号プレースホルダー 3">
            <a:extLst>
              <a:ext uri="{FF2B5EF4-FFF2-40B4-BE49-F238E27FC236}">
                <a16:creationId xmlns:a16="http://schemas.microsoft.com/office/drawing/2014/main" id="{8559D6CF-77BD-8B3C-8454-AEE182FFA02A}"/>
              </a:ext>
            </a:extLst>
          </p:cNvPr>
          <p:cNvSpPr>
            <a:spLocks noGrp="1"/>
          </p:cNvSpPr>
          <p:nvPr>
            <p:ph type="sldNum" sz="quarter" idx="10"/>
          </p:nvPr>
        </p:nvSpPr>
        <p:spPr/>
        <p:txBody>
          <a:bodyPr/>
          <a:lstStyle/>
          <a:p>
            <a:fld id="{607188E9-7E5A-42A7-BEAC-569EEE9597AF}" type="slidenum">
              <a:rPr lang="ja-JP" altLang="en-US" smtClean="0"/>
              <a:pPr/>
              <a:t>‹#›</a:t>
            </a:fld>
            <a:endParaRPr lang="ja-JP" altLang="en-US"/>
          </a:p>
        </p:txBody>
      </p:sp>
    </p:spTree>
    <p:extLst>
      <p:ext uri="{BB962C8B-B14F-4D97-AF65-F5344CB8AC3E}">
        <p14:creationId xmlns:p14="http://schemas.microsoft.com/office/powerpoint/2010/main" val="41259635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本文_C&amp;Rロゴ">
    <p:spTree>
      <p:nvGrpSpPr>
        <p:cNvPr id="1" name=""/>
        <p:cNvGrpSpPr/>
        <p:nvPr/>
      </p:nvGrpSpPr>
      <p:grpSpPr>
        <a:xfrm>
          <a:off x="0" y="0"/>
          <a:ext cx="0" cy="0"/>
          <a:chOff x="0" y="0"/>
          <a:chExt cx="0" cy="0"/>
        </a:xfrm>
      </p:grpSpPr>
      <p:sp>
        <p:nvSpPr>
          <p:cNvPr id="14" name="コンテンツ プレースホルダー 2">
            <a:extLst>
              <a:ext uri="{FF2B5EF4-FFF2-40B4-BE49-F238E27FC236}">
                <a16:creationId xmlns:a16="http://schemas.microsoft.com/office/drawing/2014/main" id="{6DD99A85-6EAD-1464-A0BA-2FA8369EB4CE}"/>
              </a:ext>
            </a:extLst>
          </p:cNvPr>
          <p:cNvSpPr>
            <a:spLocks noGrp="1"/>
          </p:cNvSpPr>
          <p:nvPr>
            <p:ph idx="10"/>
          </p:nvPr>
        </p:nvSpPr>
        <p:spPr>
          <a:xfrm>
            <a:off x="653802" y="652081"/>
            <a:ext cx="11086078" cy="5987780"/>
          </a:xfrm>
          <a:prstGeom prst="rect">
            <a:avLst/>
          </a:prstGeom>
        </p:spPr>
        <p:txBody>
          <a:bodyPr>
            <a:normAutofit/>
          </a:bodyPr>
          <a:lstStyle>
            <a:lvl1pPr marL="0" indent="0">
              <a:buNone/>
              <a:defRPr sz="1800">
                <a:solidFill>
                  <a:schemeClr val="tx1"/>
                </a:solidFill>
                <a:latin typeface="+mn-lt"/>
              </a:defRPr>
            </a:lvl1pPr>
            <a:lvl2pPr marL="457200" indent="0">
              <a:buNone/>
              <a:defRPr sz="1600">
                <a:solidFill>
                  <a:schemeClr val="tx1"/>
                </a:solidFill>
                <a:latin typeface="+mn-lt"/>
              </a:defRPr>
            </a:lvl2pPr>
            <a:lvl3pPr marL="914400" indent="0">
              <a:buNone/>
              <a:defRPr sz="1600">
                <a:solidFill>
                  <a:schemeClr val="tx1"/>
                </a:solidFill>
                <a:latin typeface="+mn-lt"/>
              </a:defRPr>
            </a:lvl3pPr>
            <a:lvl4pPr marL="1371600" indent="0">
              <a:buNone/>
              <a:defRPr sz="1600">
                <a:solidFill>
                  <a:schemeClr val="tx1"/>
                </a:solidFill>
                <a:latin typeface="+mn-lt"/>
              </a:defRPr>
            </a:lvl4pPr>
            <a:lvl5pPr marL="1828800" indent="0">
              <a:buNone/>
              <a:defRPr sz="1600">
                <a:solidFill>
                  <a:schemeClr val="tx1"/>
                </a:solidFill>
                <a:latin typeface="+mn-lt"/>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タイトル 1">
            <a:extLst>
              <a:ext uri="{FF2B5EF4-FFF2-40B4-BE49-F238E27FC236}">
                <a16:creationId xmlns:a16="http://schemas.microsoft.com/office/drawing/2014/main" id="{9B5C1432-4251-DCED-77E7-6872FE39F20D}"/>
              </a:ext>
            </a:extLst>
          </p:cNvPr>
          <p:cNvSpPr>
            <a:spLocks noGrp="1"/>
          </p:cNvSpPr>
          <p:nvPr>
            <p:ph type="title"/>
          </p:nvPr>
        </p:nvSpPr>
        <p:spPr>
          <a:xfrm>
            <a:off x="653801" y="92360"/>
            <a:ext cx="9231567" cy="467359"/>
          </a:xfrm>
          <a:prstGeom prst="rect">
            <a:avLst/>
          </a:prstGeom>
        </p:spPr>
        <p:txBody>
          <a:bodyPr>
            <a:normAutofit/>
          </a:bodyPr>
          <a:lstStyle>
            <a:lvl1pPr algn="l">
              <a:defRPr sz="2500">
                <a:solidFill>
                  <a:schemeClr val="tx1"/>
                </a:solidFill>
              </a:defRPr>
            </a:lvl1pPr>
          </a:lstStyle>
          <a:p>
            <a:r>
              <a:rPr kumimoji="1" lang="ja-JP" altLang="en-US"/>
              <a:t>マスター タイトルの書式設定</a:t>
            </a:r>
          </a:p>
        </p:txBody>
      </p:sp>
      <p:sp>
        <p:nvSpPr>
          <p:cNvPr id="10" name="四角形: 上の 2 つの角を丸める 9">
            <a:extLst>
              <a:ext uri="{FF2B5EF4-FFF2-40B4-BE49-F238E27FC236}">
                <a16:creationId xmlns:a16="http://schemas.microsoft.com/office/drawing/2014/main" id="{420D0F8C-DA0F-3283-D973-CBF7D0042B07}"/>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6" name="図 5" descr="テキスト&#10;&#10;自動的に生成された説明">
            <a:extLst>
              <a:ext uri="{FF2B5EF4-FFF2-40B4-BE49-F238E27FC236}">
                <a16:creationId xmlns:a16="http://schemas.microsoft.com/office/drawing/2014/main" id="{F21AC4EB-F073-42C9-A2FA-3083EFC436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85369" y="72790"/>
            <a:ext cx="2251451" cy="506495"/>
          </a:xfrm>
          <a:prstGeom prst="rect">
            <a:avLst/>
          </a:prstGeom>
        </p:spPr>
      </p:pic>
      <p:sp>
        <p:nvSpPr>
          <p:cNvPr id="3" name="スライド番号プレースホルダー 2">
            <a:extLst>
              <a:ext uri="{FF2B5EF4-FFF2-40B4-BE49-F238E27FC236}">
                <a16:creationId xmlns:a16="http://schemas.microsoft.com/office/drawing/2014/main" id="{D995B9B3-896D-A1C7-14E9-E3FD7F6E4366}"/>
              </a:ext>
            </a:extLst>
          </p:cNvPr>
          <p:cNvSpPr>
            <a:spLocks noGrp="1"/>
          </p:cNvSpPr>
          <p:nvPr>
            <p:ph type="sldNum" sz="quarter" idx="11"/>
          </p:nvPr>
        </p:nvSpPr>
        <p:spPr/>
        <p:txBody>
          <a:bodyPr/>
          <a:lstStyle/>
          <a:p>
            <a:fld id="{607188E9-7E5A-42A7-BEAC-569EEE9597AF}" type="slidenum">
              <a:rPr lang="ja-JP" altLang="en-US" smtClean="0"/>
              <a:pPr/>
              <a:t>‹#›</a:t>
            </a:fld>
            <a:endParaRPr lang="ja-JP" altLang="en-US"/>
          </a:p>
        </p:txBody>
      </p:sp>
    </p:spTree>
    <p:extLst>
      <p:ext uri="{BB962C8B-B14F-4D97-AF65-F5344CB8AC3E}">
        <p14:creationId xmlns:p14="http://schemas.microsoft.com/office/powerpoint/2010/main" val="2149130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本文_Creative Studiosロゴ">
    <p:spTree>
      <p:nvGrpSpPr>
        <p:cNvPr id="1" name=""/>
        <p:cNvGrpSpPr/>
        <p:nvPr/>
      </p:nvGrpSpPr>
      <p:grpSpPr>
        <a:xfrm>
          <a:off x="0" y="0"/>
          <a:ext cx="0" cy="0"/>
          <a:chOff x="0" y="0"/>
          <a:chExt cx="0" cy="0"/>
        </a:xfrm>
      </p:grpSpPr>
      <p:sp>
        <p:nvSpPr>
          <p:cNvPr id="14" name="コンテンツ プレースホルダー 2">
            <a:extLst>
              <a:ext uri="{FF2B5EF4-FFF2-40B4-BE49-F238E27FC236}">
                <a16:creationId xmlns:a16="http://schemas.microsoft.com/office/drawing/2014/main" id="{6DD99A85-6EAD-1464-A0BA-2FA8369EB4CE}"/>
              </a:ext>
            </a:extLst>
          </p:cNvPr>
          <p:cNvSpPr>
            <a:spLocks noGrp="1"/>
          </p:cNvSpPr>
          <p:nvPr>
            <p:ph idx="10"/>
          </p:nvPr>
        </p:nvSpPr>
        <p:spPr>
          <a:xfrm>
            <a:off x="653802" y="652081"/>
            <a:ext cx="11086078" cy="5987780"/>
          </a:xfrm>
          <a:prstGeom prst="rect">
            <a:avLst/>
          </a:prstGeom>
        </p:spPr>
        <p:txBody>
          <a:bodyPr>
            <a:normAutofit/>
          </a:bodyPr>
          <a:lstStyle>
            <a:lvl1pPr marL="0" indent="0">
              <a:buNone/>
              <a:defRPr sz="1800">
                <a:solidFill>
                  <a:schemeClr val="tx1"/>
                </a:solidFill>
                <a:latin typeface="+mn-lt"/>
              </a:defRPr>
            </a:lvl1pPr>
            <a:lvl2pPr marL="457200" indent="0">
              <a:buNone/>
              <a:defRPr sz="1600">
                <a:solidFill>
                  <a:schemeClr val="tx1"/>
                </a:solidFill>
                <a:latin typeface="+mn-lt"/>
              </a:defRPr>
            </a:lvl2pPr>
            <a:lvl3pPr marL="914400" indent="0">
              <a:buNone/>
              <a:defRPr sz="1600">
                <a:solidFill>
                  <a:schemeClr val="tx1"/>
                </a:solidFill>
                <a:latin typeface="+mn-lt"/>
              </a:defRPr>
            </a:lvl3pPr>
            <a:lvl4pPr marL="1371600" indent="0">
              <a:buNone/>
              <a:defRPr sz="1600">
                <a:solidFill>
                  <a:schemeClr val="tx1"/>
                </a:solidFill>
                <a:latin typeface="+mn-lt"/>
              </a:defRPr>
            </a:lvl4pPr>
            <a:lvl5pPr marL="1828800" indent="0">
              <a:buNone/>
              <a:defRPr sz="1600">
                <a:solidFill>
                  <a:schemeClr val="tx1"/>
                </a:solidFill>
                <a:latin typeface="+mn-lt"/>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タイトル 1">
            <a:extLst>
              <a:ext uri="{FF2B5EF4-FFF2-40B4-BE49-F238E27FC236}">
                <a16:creationId xmlns:a16="http://schemas.microsoft.com/office/drawing/2014/main" id="{9B5C1432-4251-DCED-77E7-6872FE39F20D}"/>
              </a:ext>
            </a:extLst>
          </p:cNvPr>
          <p:cNvSpPr>
            <a:spLocks noGrp="1"/>
          </p:cNvSpPr>
          <p:nvPr>
            <p:ph type="title"/>
          </p:nvPr>
        </p:nvSpPr>
        <p:spPr>
          <a:xfrm>
            <a:off x="653801" y="92360"/>
            <a:ext cx="9015461" cy="467359"/>
          </a:xfrm>
          <a:prstGeom prst="rect">
            <a:avLst/>
          </a:prstGeom>
        </p:spPr>
        <p:txBody>
          <a:bodyPr>
            <a:normAutofit/>
          </a:bodyPr>
          <a:lstStyle>
            <a:lvl1pPr algn="l">
              <a:defRPr sz="2500">
                <a:solidFill>
                  <a:schemeClr val="tx1"/>
                </a:solidFill>
                <a:latin typeface="+mj-lt"/>
              </a:defRPr>
            </a:lvl1pPr>
          </a:lstStyle>
          <a:p>
            <a:r>
              <a:rPr kumimoji="1" lang="ja-JP" altLang="en-US"/>
              <a:t>マスター タイトルの書式設定</a:t>
            </a:r>
          </a:p>
        </p:txBody>
      </p:sp>
      <p:sp>
        <p:nvSpPr>
          <p:cNvPr id="10" name="四角形: 上の 2 つの角を丸める 9">
            <a:extLst>
              <a:ext uri="{FF2B5EF4-FFF2-40B4-BE49-F238E27FC236}">
                <a16:creationId xmlns:a16="http://schemas.microsoft.com/office/drawing/2014/main" id="{420D0F8C-DA0F-3283-D973-CBF7D0042B07}"/>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6" name="図 5" descr="アプリケーション が含まれている画像&#10;&#10;自動的に生成された説明">
            <a:extLst>
              <a:ext uri="{FF2B5EF4-FFF2-40B4-BE49-F238E27FC236}">
                <a16:creationId xmlns:a16="http://schemas.microsoft.com/office/drawing/2014/main" id="{D1AE1350-4936-65B4-1526-A611B1FC74C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52331" b="13617"/>
          <a:stretch/>
        </p:blipFill>
        <p:spPr>
          <a:xfrm>
            <a:off x="9467561" y="-79200"/>
            <a:ext cx="2922484" cy="711660"/>
          </a:xfrm>
          <a:prstGeom prst="rect">
            <a:avLst/>
          </a:prstGeom>
        </p:spPr>
      </p:pic>
      <p:sp>
        <p:nvSpPr>
          <p:cNvPr id="3" name="スライド番号プレースホルダー 2">
            <a:extLst>
              <a:ext uri="{FF2B5EF4-FFF2-40B4-BE49-F238E27FC236}">
                <a16:creationId xmlns:a16="http://schemas.microsoft.com/office/drawing/2014/main" id="{8F1DC4CF-46D4-0307-4041-A42B8D90D7E9}"/>
              </a:ext>
            </a:extLst>
          </p:cNvPr>
          <p:cNvSpPr>
            <a:spLocks noGrp="1"/>
          </p:cNvSpPr>
          <p:nvPr>
            <p:ph type="sldNum" sz="quarter" idx="11"/>
          </p:nvPr>
        </p:nvSpPr>
        <p:spPr/>
        <p:txBody>
          <a:bodyPr/>
          <a:lstStyle/>
          <a:p>
            <a:fld id="{607188E9-7E5A-42A7-BEAC-569EEE9597AF}" type="slidenum">
              <a:rPr lang="ja-JP" altLang="en-US" smtClean="0"/>
              <a:pPr/>
              <a:t>‹#›</a:t>
            </a:fld>
            <a:endParaRPr lang="ja-JP" altLang="en-US"/>
          </a:p>
        </p:txBody>
      </p:sp>
    </p:spTree>
    <p:extLst>
      <p:ext uri="{BB962C8B-B14F-4D97-AF65-F5344CB8AC3E}">
        <p14:creationId xmlns:p14="http://schemas.microsoft.com/office/powerpoint/2010/main" val="371030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本文_スタジオロゴ利用用">
    <p:spTree>
      <p:nvGrpSpPr>
        <p:cNvPr id="1" name=""/>
        <p:cNvGrpSpPr/>
        <p:nvPr/>
      </p:nvGrpSpPr>
      <p:grpSpPr>
        <a:xfrm>
          <a:off x="0" y="0"/>
          <a:ext cx="0" cy="0"/>
          <a:chOff x="0" y="0"/>
          <a:chExt cx="0" cy="0"/>
        </a:xfrm>
      </p:grpSpPr>
      <p:pic>
        <p:nvPicPr>
          <p:cNvPr id="4" name="図 3" descr="グラフィカル ユーザー インターフェイス, アプリケーション&#10;&#10;自動的に生成された説明">
            <a:extLst>
              <a:ext uri="{FF2B5EF4-FFF2-40B4-BE49-F238E27FC236}">
                <a16:creationId xmlns:a16="http://schemas.microsoft.com/office/drawing/2014/main" id="{757B476E-DAF2-55E6-88E2-F2DD8164E09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5860" t="44132" r="25724" b="3863"/>
          <a:stretch/>
        </p:blipFill>
        <p:spPr>
          <a:xfrm>
            <a:off x="11272764" y="29005"/>
            <a:ext cx="795411" cy="611075"/>
          </a:xfrm>
          <a:prstGeom prst="rect">
            <a:avLst/>
          </a:prstGeom>
        </p:spPr>
      </p:pic>
      <p:cxnSp>
        <p:nvCxnSpPr>
          <p:cNvPr id="9" name="直線コネクタ 8">
            <a:extLst>
              <a:ext uri="{FF2B5EF4-FFF2-40B4-BE49-F238E27FC236}">
                <a16:creationId xmlns:a16="http://schemas.microsoft.com/office/drawing/2014/main" id="{635AD6B3-F9A8-B935-1014-C79BA23A4BF3}"/>
              </a:ext>
            </a:extLst>
          </p:cNvPr>
          <p:cNvCxnSpPr>
            <a:cxnSpLocks/>
          </p:cNvCxnSpPr>
          <p:nvPr userDrawn="1"/>
        </p:nvCxnSpPr>
        <p:spPr>
          <a:xfrm>
            <a:off x="11208502" y="92360"/>
            <a:ext cx="0" cy="467359"/>
          </a:xfrm>
          <a:prstGeom prst="line">
            <a:avLst/>
          </a:prstGeom>
          <a:ln>
            <a:solidFill>
              <a:schemeClr val="bg2"/>
            </a:solidFill>
          </a:ln>
        </p:spPr>
        <p:style>
          <a:lnRef idx="1">
            <a:schemeClr val="dk1"/>
          </a:lnRef>
          <a:fillRef idx="0">
            <a:schemeClr val="dk1"/>
          </a:fillRef>
          <a:effectRef idx="0">
            <a:schemeClr val="dk1"/>
          </a:effectRef>
          <a:fontRef idx="minor">
            <a:schemeClr val="tx1"/>
          </a:fontRef>
        </p:style>
      </p:cxnSp>
      <p:sp>
        <p:nvSpPr>
          <p:cNvPr id="5" name="コンテンツ プレースホルダー 2">
            <a:extLst>
              <a:ext uri="{FF2B5EF4-FFF2-40B4-BE49-F238E27FC236}">
                <a16:creationId xmlns:a16="http://schemas.microsoft.com/office/drawing/2014/main" id="{4D83DAD6-1440-3B0E-677F-809D441B0A65}"/>
              </a:ext>
            </a:extLst>
          </p:cNvPr>
          <p:cNvSpPr>
            <a:spLocks noGrp="1"/>
          </p:cNvSpPr>
          <p:nvPr>
            <p:ph idx="10"/>
          </p:nvPr>
        </p:nvSpPr>
        <p:spPr>
          <a:xfrm>
            <a:off x="653802" y="652081"/>
            <a:ext cx="11086078" cy="5987780"/>
          </a:xfrm>
          <a:prstGeom prst="rect">
            <a:avLst/>
          </a:prstGeom>
        </p:spPr>
        <p:txBody>
          <a:bodyPr>
            <a:normAutofit/>
          </a:bodyPr>
          <a:lstStyle>
            <a:lvl1pPr marL="0" indent="0">
              <a:buNone/>
              <a:defRPr sz="1800">
                <a:solidFill>
                  <a:schemeClr val="tx1"/>
                </a:solidFill>
                <a:latin typeface="+mn-lt"/>
              </a:defRPr>
            </a:lvl1pPr>
            <a:lvl2pPr marL="457200" indent="0">
              <a:buNone/>
              <a:defRPr sz="1600">
                <a:solidFill>
                  <a:schemeClr val="tx1"/>
                </a:solidFill>
                <a:latin typeface="+mn-lt"/>
              </a:defRPr>
            </a:lvl2pPr>
            <a:lvl3pPr marL="914400" indent="0">
              <a:buNone/>
              <a:defRPr sz="1600">
                <a:solidFill>
                  <a:schemeClr val="tx1"/>
                </a:solidFill>
                <a:latin typeface="+mn-lt"/>
              </a:defRPr>
            </a:lvl3pPr>
            <a:lvl4pPr marL="1371600" indent="0">
              <a:buNone/>
              <a:defRPr sz="1600">
                <a:solidFill>
                  <a:schemeClr val="tx1"/>
                </a:solidFill>
                <a:latin typeface="+mn-lt"/>
              </a:defRPr>
            </a:lvl4pPr>
            <a:lvl5pPr marL="1828800" indent="0">
              <a:buNone/>
              <a:defRPr sz="1600">
                <a:solidFill>
                  <a:schemeClr val="tx1"/>
                </a:solidFill>
                <a:latin typeface="+mn-lt"/>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タイトル 1">
            <a:extLst>
              <a:ext uri="{FF2B5EF4-FFF2-40B4-BE49-F238E27FC236}">
                <a16:creationId xmlns:a16="http://schemas.microsoft.com/office/drawing/2014/main" id="{44502ABF-EF6C-A414-05B9-51FBED25FCA4}"/>
              </a:ext>
            </a:extLst>
          </p:cNvPr>
          <p:cNvSpPr>
            <a:spLocks noGrp="1"/>
          </p:cNvSpPr>
          <p:nvPr>
            <p:ph type="title"/>
          </p:nvPr>
        </p:nvSpPr>
        <p:spPr>
          <a:xfrm>
            <a:off x="653801" y="92360"/>
            <a:ext cx="9015461" cy="467359"/>
          </a:xfrm>
          <a:prstGeom prst="rect">
            <a:avLst/>
          </a:prstGeom>
        </p:spPr>
        <p:txBody>
          <a:bodyPr>
            <a:normAutofit/>
          </a:bodyPr>
          <a:lstStyle>
            <a:lvl1pPr algn="l">
              <a:defRPr sz="2500">
                <a:solidFill>
                  <a:schemeClr val="tx1"/>
                </a:solidFill>
                <a:latin typeface="+mj-lt"/>
              </a:defRPr>
            </a:lvl1pPr>
          </a:lstStyle>
          <a:p>
            <a:r>
              <a:rPr kumimoji="1" lang="ja-JP" altLang="en-US"/>
              <a:t>マスター タイトルの書式設定</a:t>
            </a:r>
          </a:p>
        </p:txBody>
      </p:sp>
      <p:sp>
        <p:nvSpPr>
          <p:cNvPr id="8" name="四角形: 上の 2 つの角を丸める 7">
            <a:extLst>
              <a:ext uri="{FF2B5EF4-FFF2-40B4-BE49-F238E27FC236}">
                <a16:creationId xmlns:a16="http://schemas.microsoft.com/office/drawing/2014/main" id="{05AE9B83-EE1A-7C02-B547-5DFE7F714D2D}"/>
              </a:ext>
            </a:extLst>
          </p:cNvPr>
          <p:cNvSpPr/>
          <p:nvPr userDrawn="1"/>
        </p:nvSpPr>
        <p:spPr>
          <a:xfrm rot="10800000">
            <a:off x="608083" y="-3"/>
            <a:ext cx="45719" cy="559721"/>
          </a:xfrm>
          <a:prstGeom prst="round2SameRect">
            <a:avLst>
              <a:gd name="adj1" fmla="val 50000"/>
              <a:gd name="adj2"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 name="スライド番号プレースホルダー 1">
            <a:extLst>
              <a:ext uri="{FF2B5EF4-FFF2-40B4-BE49-F238E27FC236}">
                <a16:creationId xmlns:a16="http://schemas.microsoft.com/office/drawing/2014/main" id="{BF6C0E37-4718-727E-7ED5-3F216E941730}"/>
              </a:ext>
            </a:extLst>
          </p:cNvPr>
          <p:cNvSpPr>
            <a:spLocks noGrp="1"/>
          </p:cNvSpPr>
          <p:nvPr>
            <p:ph type="sldNum" sz="quarter" idx="11"/>
          </p:nvPr>
        </p:nvSpPr>
        <p:spPr/>
        <p:txBody>
          <a:bodyPr/>
          <a:lstStyle/>
          <a:p>
            <a:fld id="{607188E9-7E5A-42A7-BEAC-569EEE9597AF}" type="slidenum">
              <a:rPr lang="ja-JP" altLang="en-US" smtClean="0"/>
              <a:pPr/>
              <a:t>‹#›</a:t>
            </a:fld>
            <a:endParaRPr lang="ja-JP" altLang="en-US"/>
          </a:p>
        </p:txBody>
      </p:sp>
    </p:spTree>
    <p:extLst>
      <p:ext uri="{BB962C8B-B14F-4D97-AF65-F5344CB8AC3E}">
        <p14:creationId xmlns:p14="http://schemas.microsoft.com/office/powerpoint/2010/main" val="35668004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無地">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CDEC44D-AF77-C2BB-9C3E-63893380A290}"/>
              </a:ext>
            </a:extLst>
          </p:cNvPr>
          <p:cNvSpPr>
            <a:spLocks noGrp="1"/>
          </p:cNvSpPr>
          <p:nvPr>
            <p:ph type="sldNum" sz="quarter" idx="10"/>
          </p:nvPr>
        </p:nvSpPr>
        <p:spPr/>
        <p:txBody>
          <a:bodyPr/>
          <a:lstStyle/>
          <a:p>
            <a:fld id="{607188E9-7E5A-42A7-BEAC-569EEE9597AF}" type="slidenum">
              <a:rPr lang="ja-JP" altLang="en-US" smtClean="0"/>
              <a:pPr/>
              <a:t>‹#›</a:t>
            </a:fld>
            <a:endParaRPr lang="ja-JP" altLang="en-US"/>
          </a:p>
        </p:txBody>
      </p:sp>
    </p:spTree>
    <p:extLst>
      <p:ext uri="{BB962C8B-B14F-4D97-AF65-F5344CB8AC3E}">
        <p14:creationId xmlns:p14="http://schemas.microsoft.com/office/powerpoint/2010/main" val="14795039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無地_C&amp;Rロゴ">
    <p:spTree>
      <p:nvGrpSpPr>
        <p:cNvPr id="1" name=""/>
        <p:cNvGrpSpPr/>
        <p:nvPr/>
      </p:nvGrpSpPr>
      <p:grpSpPr>
        <a:xfrm>
          <a:off x="0" y="0"/>
          <a:ext cx="0" cy="0"/>
          <a:chOff x="0" y="0"/>
          <a:chExt cx="0" cy="0"/>
        </a:xfrm>
      </p:grpSpPr>
      <p:pic>
        <p:nvPicPr>
          <p:cNvPr id="3" name="図 2" descr="テキスト&#10;&#10;自動的に生成された説明">
            <a:extLst>
              <a:ext uri="{FF2B5EF4-FFF2-40B4-BE49-F238E27FC236}">
                <a16:creationId xmlns:a16="http://schemas.microsoft.com/office/drawing/2014/main" id="{00EE1E88-5590-F394-BD17-F58F7254492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85369" y="72790"/>
            <a:ext cx="2251451" cy="506495"/>
          </a:xfrm>
          <a:prstGeom prst="rect">
            <a:avLst/>
          </a:prstGeom>
        </p:spPr>
      </p:pic>
      <p:sp>
        <p:nvSpPr>
          <p:cNvPr id="2" name="スライド番号プレースホルダー 1">
            <a:extLst>
              <a:ext uri="{FF2B5EF4-FFF2-40B4-BE49-F238E27FC236}">
                <a16:creationId xmlns:a16="http://schemas.microsoft.com/office/drawing/2014/main" id="{F8F73510-2DAB-57B8-89A4-D7F5DFCA60D7}"/>
              </a:ext>
            </a:extLst>
          </p:cNvPr>
          <p:cNvSpPr>
            <a:spLocks noGrp="1"/>
          </p:cNvSpPr>
          <p:nvPr>
            <p:ph type="sldNum" sz="quarter" idx="10"/>
          </p:nvPr>
        </p:nvSpPr>
        <p:spPr/>
        <p:txBody>
          <a:bodyPr/>
          <a:lstStyle/>
          <a:p>
            <a:fld id="{607188E9-7E5A-42A7-BEAC-569EEE9597AF}" type="slidenum">
              <a:rPr lang="ja-JP" altLang="en-US" smtClean="0"/>
              <a:pPr/>
              <a:t>‹#›</a:t>
            </a:fld>
            <a:endParaRPr lang="ja-JP" altLang="en-US"/>
          </a:p>
        </p:txBody>
      </p:sp>
    </p:spTree>
    <p:extLst>
      <p:ext uri="{BB962C8B-B14F-4D97-AF65-F5344CB8AC3E}">
        <p14:creationId xmlns:p14="http://schemas.microsoft.com/office/powerpoint/2010/main" val="35405635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無地_Creative Studiosロゴ">
    <p:spTree>
      <p:nvGrpSpPr>
        <p:cNvPr id="1" name=""/>
        <p:cNvGrpSpPr/>
        <p:nvPr/>
      </p:nvGrpSpPr>
      <p:grpSpPr>
        <a:xfrm>
          <a:off x="0" y="0"/>
          <a:ext cx="0" cy="0"/>
          <a:chOff x="0" y="0"/>
          <a:chExt cx="0" cy="0"/>
        </a:xfrm>
      </p:grpSpPr>
      <p:pic>
        <p:nvPicPr>
          <p:cNvPr id="3" name="図 2" descr="アプリケーション が含まれている画像&#10;&#10;自動的に生成された説明">
            <a:extLst>
              <a:ext uri="{FF2B5EF4-FFF2-40B4-BE49-F238E27FC236}">
                <a16:creationId xmlns:a16="http://schemas.microsoft.com/office/drawing/2014/main" id="{3BE690B9-69DA-3E8B-5750-DE76325B285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52331" b="13617"/>
          <a:stretch/>
        </p:blipFill>
        <p:spPr>
          <a:xfrm>
            <a:off x="9467561" y="-79200"/>
            <a:ext cx="2922484" cy="711660"/>
          </a:xfrm>
          <a:prstGeom prst="rect">
            <a:avLst/>
          </a:prstGeom>
        </p:spPr>
      </p:pic>
      <p:sp>
        <p:nvSpPr>
          <p:cNvPr id="2" name="スライド番号プレースホルダー 1">
            <a:extLst>
              <a:ext uri="{FF2B5EF4-FFF2-40B4-BE49-F238E27FC236}">
                <a16:creationId xmlns:a16="http://schemas.microsoft.com/office/drawing/2014/main" id="{5FF1FE04-8B01-357A-C97B-4389E03D3765}"/>
              </a:ext>
            </a:extLst>
          </p:cNvPr>
          <p:cNvSpPr>
            <a:spLocks noGrp="1"/>
          </p:cNvSpPr>
          <p:nvPr>
            <p:ph type="sldNum" sz="quarter" idx="10"/>
          </p:nvPr>
        </p:nvSpPr>
        <p:spPr/>
        <p:txBody>
          <a:bodyPr/>
          <a:lstStyle/>
          <a:p>
            <a:fld id="{607188E9-7E5A-42A7-BEAC-569EEE9597AF}" type="slidenum">
              <a:rPr lang="ja-JP" altLang="en-US" smtClean="0"/>
              <a:pPr/>
              <a:t>‹#›</a:t>
            </a:fld>
            <a:endParaRPr lang="ja-JP" altLang="en-US"/>
          </a:p>
        </p:txBody>
      </p:sp>
    </p:spTree>
    <p:extLst>
      <p:ext uri="{BB962C8B-B14F-4D97-AF65-F5344CB8AC3E}">
        <p14:creationId xmlns:p14="http://schemas.microsoft.com/office/powerpoint/2010/main" val="1444627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2C99F3B-2FE4-DBDA-7AD9-2DCDA053A846}"/>
              </a:ext>
            </a:extLst>
          </p:cNvPr>
          <p:cNvSpPr>
            <a:spLocks noGrp="1"/>
          </p:cNvSpPr>
          <p:nvPr>
            <p:ph type="sldNum" sz="quarter" idx="4"/>
          </p:nvPr>
        </p:nvSpPr>
        <p:spPr>
          <a:xfrm>
            <a:off x="9356440" y="6574682"/>
            <a:ext cx="2743200" cy="258482"/>
          </a:xfrm>
          <a:prstGeom prst="rect">
            <a:avLst/>
          </a:prstGeom>
        </p:spPr>
        <p:txBody>
          <a:bodyPr vert="horz" lIns="91440" tIns="45720" rIns="91440" bIns="45720" rtlCol="0" anchor="ctr"/>
          <a:lstStyle>
            <a:lvl1pPr algn="r">
              <a:defRPr sz="900">
                <a:solidFill>
                  <a:schemeClr val="tx1"/>
                </a:solidFill>
              </a:defRPr>
            </a:lvl1pPr>
          </a:lstStyle>
          <a:p>
            <a:fld id="{B75FDD43-FCEC-4ECC-8189-A5C6D2E08DC6}" type="slidenum">
              <a:rPr lang="ja-JP" altLang="en-US" smtClean="0"/>
              <a:pPr/>
              <a:t>‹#›</a:t>
            </a:fld>
            <a:endParaRPr lang="ja-JP" altLang="en-US"/>
          </a:p>
        </p:txBody>
      </p:sp>
      <p:sp>
        <p:nvSpPr>
          <p:cNvPr id="4" name="四角形: 角を丸くする 3">
            <a:extLst>
              <a:ext uri="{FF2B5EF4-FFF2-40B4-BE49-F238E27FC236}">
                <a16:creationId xmlns:a16="http://schemas.microsoft.com/office/drawing/2014/main" id="{5C725222-5FDE-CFB7-39DB-9F2E7D702055}"/>
              </a:ext>
            </a:extLst>
          </p:cNvPr>
          <p:cNvSpPr/>
          <p:nvPr userDrawn="1"/>
        </p:nvSpPr>
        <p:spPr>
          <a:xfrm rot="10800000">
            <a:off x="-1" y="0"/>
            <a:ext cx="365123" cy="6858000"/>
          </a:xfrm>
          <a:prstGeom prst="roundRect">
            <a:avLst>
              <a:gd name="adj"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16F7502F-4D17-D1AC-84F4-7BD3344EF045}"/>
              </a:ext>
            </a:extLst>
          </p:cNvPr>
          <p:cNvSpPr/>
          <p:nvPr userDrawn="1"/>
        </p:nvSpPr>
        <p:spPr>
          <a:xfrm flipH="1">
            <a:off x="89685" y="716867"/>
            <a:ext cx="158173" cy="158173"/>
          </a:xfrm>
          <a:prstGeom prst="ellipse">
            <a:avLst/>
          </a:prstGeom>
          <a:noFill/>
          <a:ln>
            <a:gradFill>
              <a:gsLst>
                <a:gs pos="0">
                  <a:srgbClr val="E99168"/>
                </a:gs>
                <a:gs pos="38000">
                  <a:srgbClr val="CEC866"/>
                </a:gs>
                <a:gs pos="68000">
                  <a:srgbClr val="94C86B"/>
                </a:gs>
                <a:gs pos="100000">
                  <a:srgbClr val="73BACB"/>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tx1"/>
              </a:solidFill>
            </a:endParaRPr>
          </a:p>
        </p:txBody>
      </p:sp>
      <p:sp>
        <p:nvSpPr>
          <p:cNvPr id="6" name="楕円 5">
            <a:extLst>
              <a:ext uri="{FF2B5EF4-FFF2-40B4-BE49-F238E27FC236}">
                <a16:creationId xmlns:a16="http://schemas.microsoft.com/office/drawing/2014/main" id="{D250E8FC-6657-7481-2AF7-473B78DA4C88}"/>
              </a:ext>
            </a:extLst>
          </p:cNvPr>
          <p:cNvSpPr/>
          <p:nvPr userDrawn="1"/>
        </p:nvSpPr>
        <p:spPr>
          <a:xfrm>
            <a:off x="137767" y="215052"/>
            <a:ext cx="62011" cy="62011"/>
          </a:xfrm>
          <a:prstGeom prst="ellipse">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tx1"/>
              </a:solidFill>
            </a:endParaRPr>
          </a:p>
        </p:txBody>
      </p:sp>
      <p:sp>
        <p:nvSpPr>
          <p:cNvPr id="7" name="楕円 6">
            <a:extLst>
              <a:ext uri="{FF2B5EF4-FFF2-40B4-BE49-F238E27FC236}">
                <a16:creationId xmlns:a16="http://schemas.microsoft.com/office/drawing/2014/main" id="{414262E2-845D-CA7A-6D34-AF89AFC820F2}"/>
              </a:ext>
            </a:extLst>
          </p:cNvPr>
          <p:cNvSpPr/>
          <p:nvPr userDrawn="1"/>
        </p:nvSpPr>
        <p:spPr>
          <a:xfrm>
            <a:off x="121169" y="528448"/>
            <a:ext cx="95207" cy="95207"/>
          </a:xfrm>
          <a:prstGeom prst="ellipse">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tx1"/>
              </a:solidFill>
            </a:endParaRPr>
          </a:p>
        </p:txBody>
      </p:sp>
      <p:sp>
        <p:nvSpPr>
          <p:cNvPr id="9" name="楕円 8">
            <a:extLst>
              <a:ext uri="{FF2B5EF4-FFF2-40B4-BE49-F238E27FC236}">
                <a16:creationId xmlns:a16="http://schemas.microsoft.com/office/drawing/2014/main" id="{5A86A5CF-1BA6-B6E7-DCBD-8BCA0FA0FA49}"/>
              </a:ext>
            </a:extLst>
          </p:cNvPr>
          <p:cNvSpPr/>
          <p:nvPr userDrawn="1"/>
        </p:nvSpPr>
        <p:spPr>
          <a:xfrm>
            <a:off x="137767" y="372502"/>
            <a:ext cx="62011" cy="62011"/>
          </a:xfrm>
          <a:prstGeom prst="ellipse">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tx1"/>
              </a:solidFill>
            </a:endParaRPr>
          </a:p>
        </p:txBody>
      </p:sp>
      <p:sp>
        <p:nvSpPr>
          <p:cNvPr id="10" name="フッター プレースホルダー 4">
            <a:extLst>
              <a:ext uri="{FF2B5EF4-FFF2-40B4-BE49-F238E27FC236}">
                <a16:creationId xmlns:a16="http://schemas.microsoft.com/office/drawing/2014/main" id="{21FDB617-89CF-8133-9C28-ADB1F20A2895}"/>
              </a:ext>
            </a:extLst>
          </p:cNvPr>
          <p:cNvSpPr txBox="1">
            <a:spLocks/>
          </p:cNvSpPr>
          <p:nvPr userDrawn="1"/>
        </p:nvSpPr>
        <p:spPr>
          <a:xfrm rot="16200000">
            <a:off x="-1996230" y="4458711"/>
            <a:ext cx="4433454" cy="365125"/>
          </a:xfrm>
          <a:prstGeom prst="rect">
            <a:avLst/>
          </a:prstGeom>
        </p:spPr>
        <p:txBody>
          <a:bodyPr vert="horz" lIns="91440" tIns="45720" rIns="91440" bIns="45720" rtlCol="0" anchor="ctr"/>
          <a:lstStyle>
            <a:defPPr>
              <a:defRPr lang="ja-JP"/>
            </a:defPPr>
            <a:lvl1pPr marL="0" algn="l" defTabSz="914400" rtl="0" eaLnBrk="1" latinLnBrk="0" hangingPunct="1">
              <a:defRPr kumimoji="1" sz="1200" kern="1200">
                <a:solidFill>
                  <a:schemeClr val="bg1">
                    <a:lumMod val="75000"/>
                  </a:schemeClr>
                </a:solidFill>
                <a:latin typeface="Barlow" panose="00000500000000000000" pitchFamily="2" charset="0"/>
                <a:ea typeface="源ノ角ゴシック JP" panose="020B0500000000000000"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900" b="0">
                <a:solidFill>
                  <a:schemeClr val="bg1">
                    <a:lumMod val="95000"/>
                  </a:schemeClr>
                </a:solidFill>
                <a:latin typeface="+mn-lt"/>
              </a:rPr>
              <a:t>© CREEK &amp; RIVER Co.,</a:t>
            </a:r>
            <a:r>
              <a:rPr lang="ja-JP" altLang="en-US" sz="900" b="0">
                <a:solidFill>
                  <a:schemeClr val="bg1">
                    <a:lumMod val="95000"/>
                  </a:schemeClr>
                </a:solidFill>
                <a:latin typeface="+mn-lt"/>
              </a:rPr>
              <a:t> </a:t>
            </a:r>
            <a:r>
              <a:rPr lang="en-US" altLang="ja-JP" sz="900" b="0">
                <a:solidFill>
                  <a:schemeClr val="bg1">
                    <a:lumMod val="95000"/>
                  </a:schemeClr>
                </a:solidFill>
                <a:latin typeface="+mn-lt"/>
              </a:rPr>
              <a:t>Ltd.</a:t>
            </a:r>
            <a:r>
              <a:rPr lang="ja-JP" altLang="en-US" sz="900" b="0">
                <a:solidFill>
                  <a:schemeClr val="bg1">
                    <a:lumMod val="95000"/>
                  </a:schemeClr>
                </a:solidFill>
                <a:latin typeface="+mn-lt"/>
              </a:rPr>
              <a:t>　</a:t>
            </a:r>
            <a:r>
              <a:rPr lang="en-US" altLang="ja-JP" sz="900" b="0">
                <a:solidFill>
                  <a:schemeClr val="bg1">
                    <a:lumMod val="95000"/>
                  </a:schemeClr>
                </a:solidFill>
                <a:latin typeface="+mn-lt"/>
              </a:rPr>
              <a:t>CONFIDENTIAL</a:t>
            </a:r>
            <a:endParaRPr lang="ja-JP" altLang="en-US" sz="400" b="0">
              <a:solidFill>
                <a:schemeClr val="bg1">
                  <a:lumMod val="95000"/>
                </a:schemeClr>
              </a:solidFill>
              <a:latin typeface="+mn-lt"/>
            </a:endParaRPr>
          </a:p>
        </p:txBody>
      </p:sp>
      <p:sp>
        <p:nvSpPr>
          <p:cNvPr id="12" name="タイトル プレースホルダー 1">
            <a:extLst>
              <a:ext uri="{FF2B5EF4-FFF2-40B4-BE49-F238E27FC236}">
                <a16:creationId xmlns:a16="http://schemas.microsoft.com/office/drawing/2014/main" id="{97F3DBF1-6A73-4C55-8DFA-27100A2FF5DF}"/>
              </a:ext>
            </a:extLst>
          </p:cNvPr>
          <p:cNvSpPr>
            <a:spLocks noGrp="1"/>
          </p:cNvSpPr>
          <p:nvPr>
            <p:ph type="title"/>
          </p:nvPr>
        </p:nvSpPr>
        <p:spPr>
          <a:xfrm>
            <a:off x="620926" y="117031"/>
            <a:ext cx="7063267" cy="572951"/>
          </a:xfrm>
          <a:prstGeom prst="rect">
            <a:avLst/>
          </a:prstGeom>
          <a:ln>
            <a:noFill/>
          </a:ln>
        </p:spPr>
        <p:txBody>
          <a:bodyPr vert="horz" lIns="91440" tIns="45720" rIns="91440" bIns="45720" rtlCol="0" anchor="ctr">
            <a:normAutofit/>
          </a:bodyPr>
          <a:lstStyle/>
          <a:p>
            <a:r>
              <a:rPr kumimoji="1" lang="ja-JP" altLang="en-US"/>
              <a:t>マスター タイトルの書式設定</a:t>
            </a:r>
          </a:p>
        </p:txBody>
      </p:sp>
      <p:sp>
        <p:nvSpPr>
          <p:cNvPr id="15" name="テキスト プレースホルダー 2">
            <a:extLst>
              <a:ext uri="{FF2B5EF4-FFF2-40B4-BE49-F238E27FC236}">
                <a16:creationId xmlns:a16="http://schemas.microsoft.com/office/drawing/2014/main" id="{802A20CF-9666-044A-4DA7-4CC2EAB2CBBB}"/>
              </a:ext>
            </a:extLst>
          </p:cNvPr>
          <p:cNvSpPr>
            <a:spLocks noGrp="1"/>
          </p:cNvSpPr>
          <p:nvPr>
            <p:ph type="body" idx="1"/>
          </p:nvPr>
        </p:nvSpPr>
        <p:spPr>
          <a:xfrm>
            <a:off x="620926" y="1076960"/>
            <a:ext cx="10732874" cy="510000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884628897"/>
      </p:ext>
    </p:extLst>
  </p:cSld>
  <p:clrMap bg1="lt1" tx1="dk1" bg2="lt2" tx2="dk2" accent1="accent1" accent2="accent2" accent3="accent3" accent4="accent4" accent5="accent5" accent6="accent6" hlink="hlink" folHlink="folHlink"/>
  <p:sldLayoutIdLst>
    <p:sldLayoutId id="2147483704" r:id="rId1"/>
    <p:sldLayoutId id="2147483706" r:id="rId2"/>
    <p:sldLayoutId id="2147483707" r:id="rId3"/>
    <p:sldLayoutId id="2147483708" r:id="rId4"/>
    <p:sldLayoutId id="2147483698" r:id="rId5"/>
    <p:sldLayoutId id="2147483711" r:id="rId6"/>
    <p:sldLayoutId id="2147483712" r:id="rId7"/>
    <p:sldLayoutId id="2147483699" r:id="rId8"/>
    <p:sldLayoutId id="2147483701" r:id="rId9"/>
    <p:sldLayoutId id="2147483730" r:id="rId10"/>
    <p:sldLayoutId id="2147483702" r:id="rId11"/>
    <p:sldLayoutId id="2147483729" r:id="rId12"/>
  </p:sldLayoutIdLst>
  <p:hf hdr="0" ftr="0" dt="0"/>
  <p:txStyles>
    <p:titleStyle>
      <a:lvl1pPr algn="l" defTabSz="914400" rtl="0" eaLnBrk="1" latinLnBrk="0" hangingPunct="1">
        <a:lnSpc>
          <a:spcPct val="90000"/>
        </a:lnSpc>
        <a:spcBef>
          <a:spcPct val="0"/>
        </a:spcBef>
        <a:buNone/>
        <a:defRPr kumimoji="1" sz="2800" b="1" kern="1200">
          <a:solidFill>
            <a:schemeClr val="tx1"/>
          </a:solidFill>
          <a:latin typeface="+mj-lt"/>
          <a:ea typeface="Noto Sans JP" panose="020B0200000000000000" pitchFamily="50" charset="-128"/>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kumimoji="1" sz="2800" kern="1200">
          <a:solidFill>
            <a:schemeClr val="tx1"/>
          </a:solidFill>
          <a:latin typeface="+mn-lt"/>
          <a:ea typeface="Noto Sans JP" panose="020B0200000000000000" pitchFamily="50" charset="-128"/>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Noto Sans JP" panose="020B0200000000000000" pitchFamily="50" charset="-128"/>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Noto Sans JP" panose="020B0200000000000000" pitchFamily="50" charset="-128"/>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Noto Sans JP" panose="020B0200000000000000" pitchFamily="50" charset="-128"/>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Noto Sans JP" panose="020B02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911E8951-F571-E0D5-54D8-A71E370645D3}"/>
              </a:ext>
            </a:extLst>
          </p:cNvPr>
          <p:cNvSpPr>
            <a:spLocks noGrp="1"/>
          </p:cNvSpPr>
          <p:nvPr>
            <p:ph type="sldNum" sz="quarter" idx="4"/>
          </p:nvPr>
        </p:nvSpPr>
        <p:spPr>
          <a:xfrm>
            <a:off x="9356440" y="6563941"/>
            <a:ext cx="2743200" cy="294060"/>
          </a:xfrm>
          <a:prstGeom prst="rect">
            <a:avLst/>
          </a:prstGeom>
        </p:spPr>
        <p:txBody>
          <a:bodyPr vert="horz" lIns="91440" tIns="45720" rIns="91440" bIns="45720" rtlCol="0" anchor="ctr"/>
          <a:lstStyle>
            <a:lvl1pPr algn="r">
              <a:defRPr sz="900">
                <a:solidFill>
                  <a:schemeClr val="tx1"/>
                </a:solidFill>
                <a:latin typeface="メイリオ" panose="020B0604030504040204" pitchFamily="50" charset="-128"/>
                <a:ea typeface="メイリオ" panose="020B0604030504040204" pitchFamily="50" charset="-128"/>
              </a:defRPr>
            </a:lvl1pPr>
          </a:lstStyle>
          <a:p>
            <a:fld id="{607188E9-7E5A-42A7-BEAC-569EEE9597AF}" type="slidenum">
              <a:rPr lang="ja-JP" altLang="en-US" smtClean="0"/>
              <a:pPr/>
              <a:t>‹#›</a:t>
            </a:fld>
            <a:endParaRPr lang="ja-JP" altLang="en-US"/>
          </a:p>
        </p:txBody>
      </p:sp>
      <p:sp>
        <p:nvSpPr>
          <p:cNvPr id="4" name="四角形: 角を丸くする 3">
            <a:extLst>
              <a:ext uri="{FF2B5EF4-FFF2-40B4-BE49-F238E27FC236}">
                <a16:creationId xmlns:a16="http://schemas.microsoft.com/office/drawing/2014/main" id="{5C725222-5FDE-CFB7-39DB-9F2E7D702055}"/>
              </a:ext>
            </a:extLst>
          </p:cNvPr>
          <p:cNvSpPr/>
          <p:nvPr userDrawn="1"/>
        </p:nvSpPr>
        <p:spPr>
          <a:xfrm rot="10800000">
            <a:off x="-1" y="0"/>
            <a:ext cx="365123" cy="6858000"/>
          </a:xfrm>
          <a:prstGeom prst="roundRect">
            <a:avLst>
              <a:gd name="adj" fmla="val 0"/>
            </a:avLst>
          </a:prstGeom>
          <a:gradFill>
            <a:gsLst>
              <a:gs pos="0">
                <a:srgbClr val="E99168"/>
              </a:gs>
              <a:gs pos="38000">
                <a:srgbClr val="CEC866"/>
              </a:gs>
              <a:gs pos="68000">
                <a:srgbClr val="94C86B"/>
              </a:gs>
              <a:gs pos="100000">
                <a:srgbClr val="73BAC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16F7502F-4D17-D1AC-84F4-7BD3344EF045}"/>
              </a:ext>
            </a:extLst>
          </p:cNvPr>
          <p:cNvSpPr/>
          <p:nvPr userDrawn="1"/>
        </p:nvSpPr>
        <p:spPr>
          <a:xfrm flipH="1">
            <a:off x="89685" y="716867"/>
            <a:ext cx="158173" cy="158173"/>
          </a:xfrm>
          <a:prstGeom prst="ellipse">
            <a:avLst/>
          </a:prstGeom>
          <a:noFill/>
          <a:ln>
            <a:gradFill>
              <a:gsLst>
                <a:gs pos="0">
                  <a:srgbClr val="E99168"/>
                </a:gs>
                <a:gs pos="38000">
                  <a:srgbClr val="CEC866"/>
                </a:gs>
                <a:gs pos="68000">
                  <a:srgbClr val="94C86B"/>
                </a:gs>
                <a:gs pos="100000">
                  <a:srgbClr val="73BACB"/>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tx1"/>
              </a:solidFill>
            </a:endParaRPr>
          </a:p>
        </p:txBody>
      </p:sp>
      <p:sp>
        <p:nvSpPr>
          <p:cNvPr id="6" name="楕円 5">
            <a:extLst>
              <a:ext uri="{FF2B5EF4-FFF2-40B4-BE49-F238E27FC236}">
                <a16:creationId xmlns:a16="http://schemas.microsoft.com/office/drawing/2014/main" id="{D250E8FC-6657-7481-2AF7-473B78DA4C88}"/>
              </a:ext>
            </a:extLst>
          </p:cNvPr>
          <p:cNvSpPr/>
          <p:nvPr userDrawn="1"/>
        </p:nvSpPr>
        <p:spPr>
          <a:xfrm>
            <a:off x="137767" y="215052"/>
            <a:ext cx="62011" cy="62011"/>
          </a:xfrm>
          <a:prstGeom prst="ellipse">
            <a:avLst/>
          </a:prstGeom>
          <a:solidFill>
            <a:schemeClr val="bg2">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accent4"/>
              </a:solidFill>
            </a:endParaRPr>
          </a:p>
        </p:txBody>
      </p:sp>
      <p:sp>
        <p:nvSpPr>
          <p:cNvPr id="7" name="楕円 6">
            <a:extLst>
              <a:ext uri="{FF2B5EF4-FFF2-40B4-BE49-F238E27FC236}">
                <a16:creationId xmlns:a16="http://schemas.microsoft.com/office/drawing/2014/main" id="{414262E2-845D-CA7A-6D34-AF89AFC820F2}"/>
              </a:ext>
            </a:extLst>
          </p:cNvPr>
          <p:cNvSpPr/>
          <p:nvPr userDrawn="1"/>
        </p:nvSpPr>
        <p:spPr>
          <a:xfrm>
            <a:off x="121169" y="528448"/>
            <a:ext cx="95207" cy="95207"/>
          </a:xfrm>
          <a:prstGeom prst="ellipse">
            <a:avLst/>
          </a:prstGeom>
          <a:solidFill>
            <a:schemeClr val="bg2">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accent4"/>
              </a:solidFill>
            </a:endParaRPr>
          </a:p>
        </p:txBody>
      </p:sp>
      <p:sp>
        <p:nvSpPr>
          <p:cNvPr id="9" name="楕円 8">
            <a:extLst>
              <a:ext uri="{FF2B5EF4-FFF2-40B4-BE49-F238E27FC236}">
                <a16:creationId xmlns:a16="http://schemas.microsoft.com/office/drawing/2014/main" id="{5A86A5CF-1BA6-B6E7-DCBD-8BCA0FA0FA49}"/>
              </a:ext>
            </a:extLst>
          </p:cNvPr>
          <p:cNvSpPr/>
          <p:nvPr userDrawn="1"/>
        </p:nvSpPr>
        <p:spPr>
          <a:xfrm>
            <a:off x="137767" y="372502"/>
            <a:ext cx="62011" cy="62011"/>
          </a:xfrm>
          <a:prstGeom prst="ellipse">
            <a:avLst/>
          </a:prstGeom>
          <a:solidFill>
            <a:schemeClr val="bg2">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solidFill>
                <a:schemeClr val="accent4"/>
              </a:solidFill>
            </a:endParaRPr>
          </a:p>
        </p:txBody>
      </p:sp>
      <p:sp>
        <p:nvSpPr>
          <p:cNvPr id="10" name="フッター プレースホルダー 4">
            <a:extLst>
              <a:ext uri="{FF2B5EF4-FFF2-40B4-BE49-F238E27FC236}">
                <a16:creationId xmlns:a16="http://schemas.microsoft.com/office/drawing/2014/main" id="{21FDB617-89CF-8133-9C28-ADB1F20A2895}"/>
              </a:ext>
            </a:extLst>
          </p:cNvPr>
          <p:cNvSpPr txBox="1">
            <a:spLocks/>
          </p:cNvSpPr>
          <p:nvPr userDrawn="1"/>
        </p:nvSpPr>
        <p:spPr>
          <a:xfrm rot="16200000">
            <a:off x="-2007805" y="4458711"/>
            <a:ext cx="4433454" cy="365125"/>
          </a:xfrm>
          <a:prstGeom prst="rect">
            <a:avLst/>
          </a:prstGeom>
        </p:spPr>
        <p:txBody>
          <a:bodyPr vert="horz" lIns="91440" tIns="45720" rIns="91440" bIns="45720" rtlCol="0" anchor="ctr"/>
          <a:lstStyle>
            <a:defPPr>
              <a:defRPr lang="ja-JP"/>
            </a:defPPr>
            <a:lvl1pPr marL="0" algn="l" defTabSz="914400" rtl="0" eaLnBrk="1" latinLnBrk="0" hangingPunct="1">
              <a:defRPr kumimoji="1" sz="1200" kern="1200">
                <a:solidFill>
                  <a:schemeClr val="bg1">
                    <a:lumMod val="75000"/>
                  </a:schemeClr>
                </a:solidFill>
                <a:latin typeface="Barlow" panose="00000500000000000000" pitchFamily="2" charset="0"/>
                <a:ea typeface="源ノ角ゴシック JP" panose="020B0500000000000000"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900" b="0">
                <a:solidFill>
                  <a:schemeClr val="bg2"/>
                </a:solidFill>
                <a:latin typeface="+mn-lt"/>
              </a:rPr>
              <a:t>© CREEK &amp; RIVER Co.,Ltd.2024. All rights reserved.</a:t>
            </a:r>
          </a:p>
          <a:p>
            <a:endParaRPr lang="ja-JP" altLang="en-US" sz="400" b="0">
              <a:solidFill>
                <a:schemeClr val="bg2"/>
              </a:solidFill>
              <a:latin typeface="+mn-lt"/>
            </a:endParaRPr>
          </a:p>
        </p:txBody>
      </p:sp>
      <p:sp>
        <p:nvSpPr>
          <p:cNvPr id="12" name="タイトル プレースホルダー 1">
            <a:extLst>
              <a:ext uri="{FF2B5EF4-FFF2-40B4-BE49-F238E27FC236}">
                <a16:creationId xmlns:a16="http://schemas.microsoft.com/office/drawing/2014/main" id="{97F3DBF1-6A73-4C55-8DFA-27100A2FF5DF}"/>
              </a:ext>
            </a:extLst>
          </p:cNvPr>
          <p:cNvSpPr>
            <a:spLocks noGrp="1"/>
          </p:cNvSpPr>
          <p:nvPr>
            <p:ph type="title"/>
          </p:nvPr>
        </p:nvSpPr>
        <p:spPr>
          <a:xfrm>
            <a:off x="620926" y="117031"/>
            <a:ext cx="7063267" cy="572951"/>
          </a:xfrm>
          <a:prstGeom prst="rect">
            <a:avLst/>
          </a:prstGeom>
          <a:ln>
            <a:noFill/>
          </a:ln>
        </p:spPr>
        <p:txBody>
          <a:bodyPr vert="horz" lIns="91440" tIns="45720" rIns="91440" bIns="45720" rtlCol="0" anchor="ctr">
            <a:normAutofit/>
          </a:bodyPr>
          <a:lstStyle/>
          <a:p>
            <a:r>
              <a:rPr kumimoji="1" lang="ja-JP" altLang="en-US"/>
              <a:t>マスター タイトルの書式設定</a:t>
            </a:r>
          </a:p>
        </p:txBody>
      </p:sp>
      <p:sp>
        <p:nvSpPr>
          <p:cNvPr id="15" name="テキスト プレースホルダー 2">
            <a:extLst>
              <a:ext uri="{FF2B5EF4-FFF2-40B4-BE49-F238E27FC236}">
                <a16:creationId xmlns:a16="http://schemas.microsoft.com/office/drawing/2014/main" id="{802A20CF-9666-044A-4DA7-4CC2EAB2CBBB}"/>
              </a:ext>
            </a:extLst>
          </p:cNvPr>
          <p:cNvSpPr>
            <a:spLocks noGrp="1"/>
          </p:cNvSpPr>
          <p:nvPr>
            <p:ph type="body" idx="1"/>
          </p:nvPr>
        </p:nvSpPr>
        <p:spPr>
          <a:xfrm>
            <a:off x="620926" y="1076960"/>
            <a:ext cx="10732874" cy="510000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87868419"/>
      </p:ext>
    </p:extLst>
  </p:cSld>
  <p:clrMap bg1="lt1" tx1="dk1" bg2="lt2" tx2="dk2" accent1="accent1" accent2="accent2" accent3="accent3" accent4="accent4" accent5="accent5" accent6="accent6" hlink="hlink" folHlink="folHlink"/>
  <p:sldLayoutIdLst>
    <p:sldLayoutId id="2147483716" r:id="rId1"/>
    <p:sldLayoutId id="2147483720" r:id="rId2"/>
    <p:sldLayoutId id="2147483721" r:id="rId3"/>
    <p:sldLayoutId id="2147483722" r:id="rId4"/>
    <p:sldLayoutId id="2147483728" r:id="rId5"/>
    <p:sldLayoutId id="2147483724" r:id="rId6"/>
    <p:sldLayoutId id="2147483725" r:id="rId7"/>
    <p:sldLayoutId id="2147483726" r:id="rId8"/>
  </p:sldLayoutIdLst>
  <p:hf hdr="0" ftr="0" dt="0"/>
  <p:txStyles>
    <p:titleStyle>
      <a:lvl1pPr algn="l" defTabSz="914400" rtl="0" eaLnBrk="1" latinLnBrk="0" hangingPunct="1">
        <a:lnSpc>
          <a:spcPct val="90000"/>
        </a:lnSpc>
        <a:spcBef>
          <a:spcPct val="0"/>
        </a:spcBef>
        <a:buNone/>
        <a:defRPr kumimoji="1" sz="2800" b="1" kern="1200">
          <a:solidFill>
            <a:schemeClr val="tx1"/>
          </a:solidFill>
          <a:latin typeface="メイリオ" panose="020B0604030504040204" pitchFamily="50" charset="-128"/>
          <a:ea typeface="メイリオ" panose="020B0604030504040204" pitchFamily="50" charset="-128"/>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kumimoji="1" sz="2800" kern="1200">
          <a:solidFill>
            <a:schemeClr val="tx1"/>
          </a:solidFill>
          <a:latin typeface="メイリオ" panose="020B0604030504040204" pitchFamily="50" charset="-128"/>
          <a:ea typeface="メイリオ" panose="020B0604030504040204" pitchFamily="50" charset="-128"/>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hyperlink" Target="https://www.cri.co.jp/" TargetMode="External"/><Relationship Id="rId7"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hyperlink" Target="https://crdg.jp/" TargetMode="External"/><Relationship Id="rId4" Type="http://schemas.openxmlformats.org/officeDocument/2006/relationships/hyperlink" Target="https://www.creativevillage.ne.jp/"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6.jpeg"/><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crdg.jp/achievements/"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hyperlink" Target="https://crdg.jp/achievements/" TargetMode="External"/><Relationship Id="rId7" Type="http://schemas.openxmlformats.org/officeDocument/2006/relationships/image" Target="../media/image32.jpe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crdg.jp/achievements/"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hyperlink" Target="https://crdg.jp/achievements/"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hyperlink" Target="https://crdg.jp/achievements/"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hyperlink" Target="https://crdg.jp/achievements/"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43.jpg"/></Relationships>
</file>

<file path=ppt/slides/_rels/slide25.xml.rels><?xml version="1.0" encoding="UTF-8" standalone="yes"?>
<Relationships xmlns="http://schemas.openxmlformats.org/package/2006/relationships"><Relationship Id="rId3" Type="http://schemas.openxmlformats.org/officeDocument/2006/relationships/hyperlink" Target="https://crdg.jp/achievements/" TargetMode="External"/><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68.svg"/><Relationship Id="rId3" Type="http://schemas.openxmlformats.org/officeDocument/2006/relationships/image" Target="../media/image55.svg"/><Relationship Id="rId7" Type="http://schemas.openxmlformats.org/officeDocument/2006/relationships/image" Target="../media/image62.svg"/><Relationship Id="rId12" Type="http://schemas.openxmlformats.org/officeDocument/2006/relationships/image" Target="../media/image67.sv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61.svg"/><Relationship Id="rId11" Type="http://schemas.openxmlformats.org/officeDocument/2006/relationships/image" Target="../media/image66.svg"/><Relationship Id="rId5" Type="http://schemas.openxmlformats.org/officeDocument/2006/relationships/image" Target="../media/image60.svg"/><Relationship Id="rId10" Type="http://schemas.openxmlformats.org/officeDocument/2006/relationships/image" Target="../media/image65.svg"/><Relationship Id="rId4" Type="http://schemas.openxmlformats.org/officeDocument/2006/relationships/image" Target="../media/image59.svg"/><Relationship Id="rId9" Type="http://schemas.openxmlformats.org/officeDocument/2006/relationships/image" Target="../media/image64.svg"/></Relationships>
</file>

<file path=ppt/slides/_rels/slide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8" Type="http://schemas.openxmlformats.org/officeDocument/2006/relationships/hyperlink" Target="https://2d-studio.crdg.jp/blog/" TargetMode="External"/><Relationship Id="rId13" Type="http://schemas.openxmlformats.org/officeDocument/2006/relationships/image" Target="../media/image74.png"/><Relationship Id="rId3" Type="http://schemas.openxmlformats.org/officeDocument/2006/relationships/hyperlink" Target="https://area.autodesk.jp/column/tutorial/cut-scene-data-management/" TargetMode="External"/><Relationship Id="rId7" Type="http://schemas.openxmlformats.org/officeDocument/2006/relationships/image" Target="../media/image71.png"/><Relationship Id="rId12" Type="http://schemas.openxmlformats.org/officeDocument/2006/relationships/hyperlink" Target="https://synapse.crdg.jp/category/blog/" TargetMode="External"/><Relationship Id="rId17" Type="http://schemas.openxmlformats.org/officeDocument/2006/relationships/image" Target="../media/image77.png"/><Relationship Id="rId2" Type="http://schemas.openxmlformats.org/officeDocument/2006/relationships/notesSlide" Target="../notesSlides/notesSlide26.xml"/><Relationship Id="rId16" Type="http://schemas.openxmlformats.org/officeDocument/2006/relationships/image" Target="../media/image76.png"/><Relationship Id="rId1" Type="http://schemas.openxmlformats.org/officeDocument/2006/relationships/slideLayout" Target="../slideLayouts/slideLayout9.xml"/><Relationship Id="rId6" Type="http://schemas.openxmlformats.org/officeDocument/2006/relationships/hyperlink" Target="https://3d.crdg.jp/env/" TargetMode="External"/><Relationship Id="rId11" Type="http://schemas.openxmlformats.org/officeDocument/2006/relationships/image" Target="../media/image73.png"/><Relationship Id="rId5" Type="http://schemas.openxmlformats.org/officeDocument/2006/relationships/image" Target="../media/image70.png"/><Relationship Id="rId15" Type="http://schemas.openxmlformats.org/officeDocument/2006/relationships/image" Target="../media/image75.png"/><Relationship Id="rId10" Type="http://schemas.openxmlformats.org/officeDocument/2006/relationships/hyperlink" Target="https://vfx.crdg.jp/tech/" TargetMode="External"/><Relationship Id="rId4" Type="http://schemas.openxmlformats.org/officeDocument/2006/relationships/hyperlink" Target="https://3d.crdg.jp/tech/" TargetMode="External"/><Relationship Id="rId9" Type="http://schemas.openxmlformats.org/officeDocument/2006/relationships/image" Target="../media/image72.png"/><Relationship Id="rId14" Type="http://schemas.openxmlformats.org/officeDocument/2006/relationships/hyperlink" Target="https://ox.crdg.jp/tech/"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8.png"/><Relationship Id="rId7" Type="http://schemas.openxmlformats.org/officeDocument/2006/relationships/image" Target="../media/image80.png"/><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79.png"/><Relationship Id="rId5" Type="http://schemas.openxmlformats.org/officeDocument/2006/relationships/hyperlink" Target="https://3d.crdg.jp/memed/" TargetMode="External"/><Relationship Id="rId10" Type="http://schemas.openxmlformats.org/officeDocument/2006/relationships/image" Target="../media/image83.png"/><Relationship Id="rId4" Type="http://schemas.openxmlformats.org/officeDocument/2006/relationships/hyperlink" Target="https://www.youtube.com/watch?v=vZhKhgEtokA" TargetMode="External"/><Relationship Id="rId9" Type="http://schemas.openxmlformats.org/officeDocument/2006/relationships/image" Target="../media/image82.png"/></Relationships>
</file>

<file path=ppt/slides/_rels/slide3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8.xml"/><Relationship Id="rId1" Type="http://schemas.openxmlformats.org/officeDocument/2006/relationships/slideLayout" Target="../slideLayouts/slideLayout9.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39.xml.rels><?xml version="1.0" encoding="UTF-8" standalone="yes"?>
<Relationships xmlns="http://schemas.openxmlformats.org/package/2006/relationships"><Relationship Id="rId8" Type="http://schemas.openxmlformats.org/officeDocument/2006/relationships/image" Target="../media/image91.svg"/><Relationship Id="rId13" Type="http://schemas.openxmlformats.org/officeDocument/2006/relationships/hyperlink" Target="https://amzn.asia/d/0b80txt2" TargetMode="External"/><Relationship Id="rId3" Type="http://schemas.openxmlformats.org/officeDocument/2006/relationships/image" Target="../media/image88.jpeg"/><Relationship Id="rId7" Type="http://schemas.openxmlformats.org/officeDocument/2006/relationships/image" Target="../media/image90.svg"/><Relationship Id="rId12" Type="http://schemas.openxmlformats.org/officeDocument/2006/relationships/hyperlink" Target="https://www.cr-ca.com/instructor/5/?utm_source=dg&amp;utm_medium=salessheet&amp;utm_campaign=registration" TargetMode="External"/><Relationship Id="rId2" Type="http://schemas.openxmlformats.org/officeDocument/2006/relationships/notesSlide" Target="../notesSlides/notesSlide29.xml"/><Relationship Id="rId16" Type="http://schemas.openxmlformats.org/officeDocument/2006/relationships/hyperlink" Target="https://cafegroup.net/ja/modelingcafe/" TargetMode="External"/><Relationship Id="rId1" Type="http://schemas.openxmlformats.org/officeDocument/2006/relationships/slideLayout" Target="../slideLayouts/slideLayout4.xml"/><Relationship Id="rId6" Type="http://schemas.openxmlformats.org/officeDocument/2006/relationships/hyperlink" Target="https://cgworld.jp/regular/20241.html" TargetMode="External"/><Relationship Id="rId11" Type="http://schemas.openxmlformats.org/officeDocument/2006/relationships/image" Target="../media/image94.jpeg"/><Relationship Id="rId5" Type="http://schemas.openxmlformats.org/officeDocument/2006/relationships/chart" Target="../charts/chart4.xml"/><Relationship Id="rId15" Type="http://schemas.openxmlformats.org/officeDocument/2006/relationships/hyperlink" Target="https://www.cr-ca.com/instructor/14/?utm_source=dg&amp;utm_medium=salessheet&amp;utm_campaign=registration" TargetMode="External"/><Relationship Id="rId10" Type="http://schemas.openxmlformats.org/officeDocument/2006/relationships/image" Target="../media/image93.png"/><Relationship Id="rId4" Type="http://schemas.openxmlformats.org/officeDocument/2006/relationships/image" Target="../media/image89.png"/><Relationship Id="rId9" Type="http://schemas.openxmlformats.org/officeDocument/2006/relationships/image" Target="../media/image92.svg"/><Relationship Id="rId14" Type="http://schemas.openxmlformats.org/officeDocument/2006/relationships/image" Target="../media/image95.png"/></Relationships>
</file>

<file path=ppt/slides/_rels/slide40.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jpeg"/><Relationship Id="rId7" Type="http://schemas.openxmlformats.org/officeDocument/2006/relationships/image" Target="../media/image101.png"/><Relationship Id="rId2" Type="http://schemas.openxmlformats.org/officeDocument/2006/relationships/image" Target="../media/image96.png"/><Relationship Id="rId1" Type="http://schemas.openxmlformats.org/officeDocument/2006/relationships/slideLayout" Target="../slideLayouts/slideLayout3.xml"/><Relationship Id="rId6" Type="http://schemas.openxmlformats.org/officeDocument/2006/relationships/image" Target="../media/image100.png"/><Relationship Id="rId5" Type="http://schemas.openxmlformats.org/officeDocument/2006/relationships/image" Target="../media/image99.png"/><Relationship Id="rId10" Type="http://schemas.openxmlformats.org/officeDocument/2006/relationships/image" Target="../media/image104.png"/><Relationship Id="rId4" Type="http://schemas.openxmlformats.org/officeDocument/2006/relationships/image" Target="../media/image98.png"/><Relationship Id="rId9" Type="http://schemas.openxmlformats.org/officeDocument/2006/relationships/image" Target="../media/image103.png"/></Relationships>
</file>

<file path=ppt/slides/_rels/slide41.xml.rels><?xml version="1.0" encoding="UTF-8" standalone="yes"?>
<Relationships xmlns="http://schemas.openxmlformats.org/package/2006/relationships"><Relationship Id="rId8" Type="http://schemas.openxmlformats.org/officeDocument/2006/relationships/image" Target="../media/image109.svg"/><Relationship Id="rId13" Type="http://schemas.openxmlformats.org/officeDocument/2006/relationships/image" Target="../media/image114.svg"/><Relationship Id="rId18" Type="http://schemas.openxmlformats.org/officeDocument/2006/relationships/image" Target="../media/image119.jpeg"/><Relationship Id="rId3" Type="http://schemas.openxmlformats.org/officeDocument/2006/relationships/image" Target="../media/image9.png"/><Relationship Id="rId7" Type="http://schemas.openxmlformats.org/officeDocument/2006/relationships/image" Target="../media/image108.svg"/><Relationship Id="rId12" Type="http://schemas.openxmlformats.org/officeDocument/2006/relationships/image" Target="../media/image113.svg"/><Relationship Id="rId17" Type="http://schemas.openxmlformats.org/officeDocument/2006/relationships/image" Target="../media/image118.svg"/><Relationship Id="rId2" Type="http://schemas.openxmlformats.org/officeDocument/2006/relationships/notesSlide" Target="../notesSlides/notesSlide30.xml"/><Relationship Id="rId16" Type="http://schemas.openxmlformats.org/officeDocument/2006/relationships/image" Target="../media/image117.svg"/><Relationship Id="rId20" Type="http://schemas.openxmlformats.org/officeDocument/2006/relationships/image" Target="../media/image121.jpeg"/><Relationship Id="rId1" Type="http://schemas.openxmlformats.org/officeDocument/2006/relationships/slideLayout" Target="../slideLayouts/slideLayout4.xml"/><Relationship Id="rId6" Type="http://schemas.openxmlformats.org/officeDocument/2006/relationships/image" Target="../media/image107.svg"/><Relationship Id="rId11" Type="http://schemas.openxmlformats.org/officeDocument/2006/relationships/image" Target="../media/image112.svg"/><Relationship Id="rId5" Type="http://schemas.openxmlformats.org/officeDocument/2006/relationships/image" Target="../media/image106.png"/><Relationship Id="rId15" Type="http://schemas.openxmlformats.org/officeDocument/2006/relationships/image" Target="../media/image116.svg"/><Relationship Id="rId10" Type="http://schemas.openxmlformats.org/officeDocument/2006/relationships/image" Target="../media/image111.svg"/><Relationship Id="rId19" Type="http://schemas.openxmlformats.org/officeDocument/2006/relationships/image" Target="../media/image120.jpeg"/><Relationship Id="rId4" Type="http://schemas.openxmlformats.org/officeDocument/2006/relationships/image" Target="../media/image105.png"/><Relationship Id="rId9" Type="http://schemas.openxmlformats.org/officeDocument/2006/relationships/image" Target="../media/image110.svg"/><Relationship Id="rId14" Type="http://schemas.openxmlformats.org/officeDocument/2006/relationships/image" Target="../media/image115.sv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2.xml"/><Relationship Id="rId1" Type="http://schemas.openxmlformats.org/officeDocument/2006/relationships/slideLayout" Target="../slideLayouts/slideLayout9.xml"/><Relationship Id="rId4" Type="http://schemas.openxmlformats.org/officeDocument/2006/relationships/image" Target="../media/image123.png"/></Relationships>
</file>

<file path=ppt/slides/_rels/slide44.xml.rels><?xml version="1.0" encoding="UTF-8" standalone="yes"?>
<Relationships xmlns="http://schemas.openxmlformats.org/package/2006/relationships"><Relationship Id="rId8" Type="http://schemas.openxmlformats.org/officeDocument/2006/relationships/hyperlink" Target="https://eizoshigoto.com/?utm_source=dgsales&amp;utm_medium=dgsales&amp;utm_campaign=dgsales" TargetMode="External"/><Relationship Id="rId13" Type="http://schemas.openxmlformats.org/officeDocument/2006/relationships/image" Target="../media/image129.png"/><Relationship Id="rId3" Type="http://schemas.openxmlformats.org/officeDocument/2006/relationships/image" Target="../media/image124.png"/><Relationship Id="rId7" Type="http://schemas.openxmlformats.org/officeDocument/2006/relationships/image" Target="../media/image126.png"/><Relationship Id="rId12" Type="http://schemas.openxmlformats.org/officeDocument/2006/relationships/hyperlink" Target="https://symbiorise.com/?utm_source=dgsales&amp;utm_medium=dgsales&amp;utm_campaign=dgsales"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hyperlink" Target="https://www.arc-agency.jp/for_company/?utm_source=dgsales&amp;utm_medium=dgsales&amp;utm_campaign=dgsales" TargetMode="External"/><Relationship Id="rId11" Type="http://schemas.openxmlformats.org/officeDocument/2006/relationships/image" Target="../media/image128.png"/><Relationship Id="rId5" Type="http://schemas.openxmlformats.org/officeDocument/2006/relationships/image" Target="../media/image125.png"/><Relationship Id="rId15" Type="http://schemas.openxmlformats.org/officeDocument/2006/relationships/image" Target="../media/image131.png"/><Relationship Id="rId10" Type="http://schemas.openxmlformats.org/officeDocument/2006/relationships/hyperlink" Target="https://www.creativevillage.ne.jp/?utm_source=dgsales&amp;utm_medium=dgsales&amp;utm_campaign=dgsales" TargetMode="External"/><Relationship Id="rId4" Type="http://schemas.openxmlformats.org/officeDocument/2006/relationships/hyperlink" Target="https://high-five.careers/?utm_source=dgsales&amp;utm_medium=dgsales&amp;utm_campaign=dgsales" TargetMode="External"/><Relationship Id="rId9" Type="http://schemas.openxmlformats.org/officeDocument/2006/relationships/image" Target="../media/image127.png"/><Relationship Id="rId14" Type="http://schemas.openxmlformats.org/officeDocument/2006/relationships/image" Target="../media/image130.png"/></Relationships>
</file>

<file path=ppt/slides/_rels/slide4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34.png"/><Relationship Id="rId7" Type="http://schemas.openxmlformats.org/officeDocument/2006/relationships/image" Target="../media/image138.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4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36.xml"/><Relationship Id="rId1" Type="http://schemas.openxmlformats.org/officeDocument/2006/relationships/slideLayout" Target="../slideLayouts/slideLayout9.xml"/><Relationship Id="rId5" Type="http://schemas.openxmlformats.org/officeDocument/2006/relationships/image" Target="../media/image144.jpeg"/><Relationship Id="rId4" Type="http://schemas.openxmlformats.org/officeDocument/2006/relationships/image" Target="../media/image143.jpeg"/></Relationships>
</file>

<file path=ppt/slides/_rels/slide50.xml.rels><?xml version="1.0" encoding="UTF-8" standalone="yes"?>
<Relationships xmlns="http://schemas.openxmlformats.org/package/2006/relationships"><Relationship Id="rId3" Type="http://schemas.openxmlformats.org/officeDocument/2006/relationships/hyperlink" Target="https://piccoma.com/web/product/178193" TargetMode="External"/><Relationship Id="rId7" Type="http://schemas.openxmlformats.org/officeDocument/2006/relationships/hyperlink" Target="https://piccoma.com/web/product/185266?etype=episode" TargetMode="External"/><Relationship Id="rId2" Type="http://schemas.openxmlformats.org/officeDocument/2006/relationships/notesSlide" Target="../notesSlides/notesSlide37.xml"/><Relationship Id="rId1" Type="http://schemas.openxmlformats.org/officeDocument/2006/relationships/slideLayout" Target="../slideLayouts/slideLayout9.xml"/><Relationship Id="rId6" Type="http://schemas.openxmlformats.org/officeDocument/2006/relationships/hyperlink" Target="https://manga.crdg.jp/" TargetMode="External"/><Relationship Id="rId5" Type="http://schemas.openxmlformats.org/officeDocument/2006/relationships/image" Target="../media/image146.jpeg"/><Relationship Id="rId4" Type="http://schemas.openxmlformats.org/officeDocument/2006/relationships/image" Target="../media/image145.jpeg"/></Relationships>
</file>

<file path=ppt/slides/_rels/slide51.xml.rels><?xml version="1.0" encoding="UTF-8" standalone="yes"?>
<Relationships xmlns="http://schemas.openxmlformats.org/package/2006/relationships"><Relationship Id="rId8" Type="http://schemas.openxmlformats.org/officeDocument/2006/relationships/image" Target="../media/image152.jpeg"/><Relationship Id="rId3" Type="http://schemas.openxmlformats.org/officeDocument/2006/relationships/image" Target="../media/image147.jpeg"/><Relationship Id="rId7" Type="http://schemas.openxmlformats.org/officeDocument/2006/relationships/image" Target="../media/image151.jpeg"/><Relationship Id="rId2" Type="http://schemas.openxmlformats.org/officeDocument/2006/relationships/notesSlide" Target="../notesSlides/notesSlide38.xml"/><Relationship Id="rId1" Type="http://schemas.openxmlformats.org/officeDocument/2006/relationships/slideLayout" Target="../slideLayouts/slideLayout9.xml"/><Relationship Id="rId6" Type="http://schemas.openxmlformats.org/officeDocument/2006/relationships/image" Target="../media/image150.jpeg"/><Relationship Id="rId5" Type="http://schemas.openxmlformats.org/officeDocument/2006/relationships/image" Target="../media/image149.jpeg"/><Relationship Id="rId4" Type="http://schemas.openxmlformats.org/officeDocument/2006/relationships/image" Target="../media/image148.jpeg"/><Relationship Id="rId9" Type="http://schemas.openxmlformats.org/officeDocument/2006/relationships/hyperlink" Target="https://manga.crdg.jp/" TargetMode="External"/></Relationships>
</file>

<file path=ppt/slides/_rels/slide52.xml.rels><?xml version="1.0" encoding="UTF-8" standalone="yes"?>
<Relationships xmlns="http://schemas.openxmlformats.org/package/2006/relationships"><Relationship Id="rId8" Type="http://schemas.openxmlformats.org/officeDocument/2006/relationships/image" Target="../media/image158.jpeg"/><Relationship Id="rId3" Type="http://schemas.openxmlformats.org/officeDocument/2006/relationships/image" Target="../media/image153.jpeg"/><Relationship Id="rId7" Type="http://schemas.openxmlformats.org/officeDocument/2006/relationships/image" Target="../media/image157.jpeg"/><Relationship Id="rId2" Type="http://schemas.openxmlformats.org/officeDocument/2006/relationships/notesSlide" Target="../notesSlides/notesSlide39.xml"/><Relationship Id="rId1" Type="http://schemas.openxmlformats.org/officeDocument/2006/relationships/slideLayout" Target="../slideLayouts/slideLayout9.xml"/><Relationship Id="rId6" Type="http://schemas.openxmlformats.org/officeDocument/2006/relationships/image" Target="../media/image156.jpeg"/><Relationship Id="rId11" Type="http://schemas.openxmlformats.org/officeDocument/2006/relationships/image" Target="../media/image161.png"/><Relationship Id="rId5" Type="http://schemas.openxmlformats.org/officeDocument/2006/relationships/image" Target="../media/image155.jpeg"/><Relationship Id="rId10" Type="http://schemas.openxmlformats.org/officeDocument/2006/relationships/image" Target="../media/image160.jpeg"/><Relationship Id="rId4" Type="http://schemas.openxmlformats.org/officeDocument/2006/relationships/image" Target="../media/image154.jpeg"/><Relationship Id="rId9" Type="http://schemas.openxmlformats.org/officeDocument/2006/relationships/image" Target="../media/image159.jpeg"/></Relationships>
</file>

<file path=ppt/slides/_rels/slide53.xml.rels><?xml version="1.0" encoding="UTF-8" standalone="yes"?>
<Relationships xmlns="http://schemas.openxmlformats.org/package/2006/relationships"><Relationship Id="rId8" Type="http://schemas.openxmlformats.org/officeDocument/2006/relationships/image" Target="../media/image167.jpeg"/><Relationship Id="rId3" Type="http://schemas.openxmlformats.org/officeDocument/2006/relationships/image" Target="../media/image162.png"/><Relationship Id="rId7" Type="http://schemas.openxmlformats.org/officeDocument/2006/relationships/image" Target="../media/image166.png"/><Relationship Id="rId2" Type="http://schemas.openxmlformats.org/officeDocument/2006/relationships/hyperlink" Target="https://ip.crdg.jp/izon/" TargetMode="External"/><Relationship Id="rId1" Type="http://schemas.openxmlformats.org/officeDocument/2006/relationships/slideLayout" Target="../slideLayouts/slideLayout9.xml"/><Relationship Id="rId6" Type="http://schemas.openxmlformats.org/officeDocument/2006/relationships/image" Target="../media/image165.jpeg"/><Relationship Id="rId5" Type="http://schemas.openxmlformats.org/officeDocument/2006/relationships/image" Target="../media/image164.jpeg"/><Relationship Id="rId4" Type="http://schemas.openxmlformats.org/officeDocument/2006/relationships/image" Target="../media/image163.jpeg"/></Relationships>
</file>

<file path=ppt/slides/_rels/slide54.xml.rels><?xml version="1.0" encoding="UTF-8" standalone="yes"?>
<Relationships xmlns="http://schemas.openxmlformats.org/package/2006/relationships"><Relationship Id="rId3" Type="http://schemas.openxmlformats.org/officeDocument/2006/relationships/hyperlink" Target="https://tatebayashi-tsutsuji.cri-meta.com/" TargetMode="External"/><Relationship Id="rId2" Type="http://schemas.openxmlformats.org/officeDocument/2006/relationships/notesSlide" Target="../notesSlides/notesSlide40.xml"/><Relationship Id="rId1" Type="http://schemas.openxmlformats.org/officeDocument/2006/relationships/slideLayout" Target="../slideLayouts/slideLayout9.xml"/><Relationship Id="rId5" Type="http://schemas.openxmlformats.org/officeDocument/2006/relationships/image" Target="../media/image169.png"/><Relationship Id="rId4" Type="http://schemas.openxmlformats.org/officeDocument/2006/relationships/image" Target="../media/image168.png"/></Relationships>
</file>

<file path=ppt/slides/_rels/slide55.xml.rels><?xml version="1.0" encoding="UTF-8" standalone="yes"?>
<Relationships xmlns="http://schemas.openxmlformats.org/package/2006/relationships"><Relationship Id="rId3" Type="http://schemas.openxmlformats.org/officeDocument/2006/relationships/hyperlink" Target="https://atfes.com/" TargetMode="External"/><Relationship Id="rId2" Type="http://schemas.openxmlformats.org/officeDocument/2006/relationships/notesSlide" Target="../notesSlides/notesSlide41.xml"/><Relationship Id="rId1" Type="http://schemas.openxmlformats.org/officeDocument/2006/relationships/slideLayout" Target="../slideLayouts/slideLayout9.xml"/><Relationship Id="rId6" Type="http://schemas.openxmlformats.org/officeDocument/2006/relationships/image" Target="../media/image172.jpeg"/><Relationship Id="rId5" Type="http://schemas.openxmlformats.org/officeDocument/2006/relationships/image" Target="../media/image171.jpeg"/><Relationship Id="rId4" Type="http://schemas.openxmlformats.org/officeDocument/2006/relationships/image" Target="../media/image170.jpeg"/></Relationships>
</file>

<file path=ppt/slides/_rels/slide56.xml.rels><?xml version="1.0" encoding="UTF-8" standalone="yes"?>
<Relationships xmlns="http://schemas.openxmlformats.org/package/2006/relationships"><Relationship Id="rId8" Type="http://schemas.openxmlformats.org/officeDocument/2006/relationships/image" Target="../media/image179.png"/><Relationship Id="rId13" Type="http://schemas.openxmlformats.org/officeDocument/2006/relationships/image" Target="../media/image184.png"/><Relationship Id="rId18" Type="http://schemas.openxmlformats.org/officeDocument/2006/relationships/image" Target="../media/image189.png"/><Relationship Id="rId3" Type="http://schemas.openxmlformats.org/officeDocument/2006/relationships/image" Target="../media/image174.png"/><Relationship Id="rId7" Type="http://schemas.openxmlformats.org/officeDocument/2006/relationships/image" Target="../media/image178.png"/><Relationship Id="rId12" Type="http://schemas.openxmlformats.org/officeDocument/2006/relationships/image" Target="../media/image183.jpeg"/><Relationship Id="rId17" Type="http://schemas.openxmlformats.org/officeDocument/2006/relationships/image" Target="../media/image188.jpeg"/><Relationship Id="rId2" Type="http://schemas.openxmlformats.org/officeDocument/2006/relationships/image" Target="../media/image173.png"/><Relationship Id="rId16" Type="http://schemas.openxmlformats.org/officeDocument/2006/relationships/image" Target="../media/image187.png"/><Relationship Id="rId1" Type="http://schemas.openxmlformats.org/officeDocument/2006/relationships/slideLayout" Target="../slideLayouts/slideLayout4.xml"/><Relationship Id="rId6" Type="http://schemas.openxmlformats.org/officeDocument/2006/relationships/image" Target="../media/image177.png"/><Relationship Id="rId11" Type="http://schemas.openxmlformats.org/officeDocument/2006/relationships/image" Target="../media/image182.png"/><Relationship Id="rId5" Type="http://schemas.openxmlformats.org/officeDocument/2006/relationships/image" Target="../media/image176.png"/><Relationship Id="rId15" Type="http://schemas.openxmlformats.org/officeDocument/2006/relationships/image" Target="../media/image186.png"/><Relationship Id="rId10" Type="http://schemas.openxmlformats.org/officeDocument/2006/relationships/image" Target="../media/image181.jpeg"/><Relationship Id="rId19" Type="http://schemas.openxmlformats.org/officeDocument/2006/relationships/image" Target="../media/image190.png"/><Relationship Id="rId4" Type="http://schemas.openxmlformats.org/officeDocument/2006/relationships/image" Target="../media/image175.png"/><Relationship Id="rId9" Type="http://schemas.openxmlformats.org/officeDocument/2006/relationships/image" Target="../media/image180.jpeg"/><Relationship Id="rId14" Type="http://schemas.openxmlformats.org/officeDocument/2006/relationships/image" Target="../media/image185.png"/></Relationships>
</file>

<file path=ppt/slides/_rels/slide57.xml.rels><?xml version="1.0" encoding="UTF-8" standalone="yes"?>
<Relationships xmlns="http://schemas.openxmlformats.org/package/2006/relationships"><Relationship Id="rId8" Type="http://schemas.openxmlformats.org/officeDocument/2006/relationships/image" Target="../media/image197.png"/><Relationship Id="rId13" Type="http://schemas.openxmlformats.org/officeDocument/2006/relationships/image" Target="../media/image202.png"/><Relationship Id="rId3" Type="http://schemas.openxmlformats.org/officeDocument/2006/relationships/image" Target="../media/image192.png"/><Relationship Id="rId7" Type="http://schemas.openxmlformats.org/officeDocument/2006/relationships/image" Target="../media/image196.jpeg"/><Relationship Id="rId12" Type="http://schemas.openxmlformats.org/officeDocument/2006/relationships/image" Target="../media/image201.png"/><Relationship Id="rId2" Type="http://schemas.openxmlformats.org/officeDocument/2006/relationships/image" Target="../media/image191.png"/><Relationship Id="rId1" Type="http://schemas.openxmlformats.org/officeDocument/2006/relationships/slideLayout" Target="../slideLayouts/slideLayout4.xml"/><Relationship Id="rId6" Type="http://schemas.openxmlformats.org/officeDocument/2006/relationships/image" Target="../media/image195.png"/><Relationship Id="rId11" Type="http://schemas.openxmlformats.org/officeDocument/2006/relationships/image" Target="../media/image200.png"/><Relationship Id="rId5" Type="http://schemas.openxmlformats.org/officeDocument/2006/relationships/image" Target="../media/image194.png"/><Relationship Id="rId15" Type="http://schemas.openxmlformats.org/officeDocument/2006/relationships/image" Target="../media/image204.png"/><Relationship Id="rId10" Type="http://schemas.openxmlformats.org/officeDocument/2006/relationships/image" Target="../media/image199.png"/><Relationship Id="rId4" Type="http://schemas.openxmlformats.org/officeDocument/2006/relationships/image" Target="../media/image193.png"/><Relationship Id="rId9" Type="http://schemas.openxmlformats.org/officeDocument/2006/relationships/image" Target="../media/image198.jpeg"/><Relationship Id="rId14" Type="http://schemas.openxmlformats.org/officeDocument/2006/relationships/image" Target="../media/image203.png"/></Relationships>
</file>

<file path=ppt/slides/_rels/slide58.xml.rels><?xml version="1.0" encoding="UTF-8" standalone="yes"?>
<Relationships xmlns="http://schemas.openxmlformats.org/package/2006/relationships"><Relationship Id="rId3" Type="http://schemas.openxmlformats.org/officeDocument/2006/relationships/hyperlink" Target="https://web.crdg.jp/" TargetMode="External"/><Relationship Id="rId2" Type="http://schemas.openxmlformats.org/officeDocument/2006/relationships/notesSlide" Target="../notesSlides/notesSlide42.xml"/><Relationship Id="rId1" Type="http://schemas.openxmlformats.org/officeDocument/2006/relationships/slideLayout" Target="../slideLayouts/slideLayout9.xml"/><Relationship Id="rId4" Type="http://schemas.openxmlformats.org/officeDocument/2006/relationships/image" Target="../media/image205.png"/></Relationships>
</file>

<file path=ppt/slides/_rels/slide59.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image" Target="../media/image206.png"/><Relationship Id="rId7" Type="http://schemas.openxmlformats.org/officeDocument/2006/relationships/image" Target="../media/image210.png"/><Relationship Id="rId2" Type="http://schemas.openxmlformats.org/officeDocument/2006/relationships/notesSlide" Target="../notesSlides/notesSlide43.xml"/><Relationship Id="rId1" Type="http://schemas.openxmlformats.org/officeDocument/2006/relationships/slideLayout" Target="../slideLayouts/slideLayout9.xml"/><Relationship Id="rId6" Type="http://schemas.openxmlformats.org/officeDocument/2006/relationships/image" Target="../media/image209.jpeg"/><Relationship Id="rId5" Type="http://schemas.openxmlformats.org/officeDocument/2006/relationships/image" Target="../media/image208.png"/><Relationship Id="rId4" Type="http://schemas.openxmlformats.org/officeDocument/2006/relationships/image" Target="../media/image207.jpeg"/></Relationships>
</file>

<file path=ppt/slides/_rels/slide60.xml.rels><?xml version="1.0" encoding="UTF-8" standalone="yes"?>
<Relationships xmlns="http://schemas.openxmlformats.org/package/2006/relationships"><Relationship Id="rId8" Type="http://schemas.openxmlformats.org/officeDocument/2006/relationships/image" Target="../media/image217.jpeg"/><Relationship Id="rId3" Type="http://schemas.openxmlformats.org/officeDocument/2006/relationships/image" Target="../media/image212.png"/><Relationship Id="rId7" Type="http://schemas.openxmlformats.org/officeDocument/2006/relationships/image" Target="../media/image216.jpeg"/><Relationship Id="rId2" Type="http://schemas.openxmlformats.org/officeDocument/2006/relationships/notesSlide" Target="../notesSlides/notesSlide44.xml"/><Relationship Id="rId1" Type="http://schemas.openxmlformats.org/officeDocument/2006/relationships/slideLayout" Target="../slideLayouts/slideLayout9.xml"/><Relationship Id="rId6" Type="http://schemas.openxmlformats.org/officeDocument/2006/relationships/image" Target="../media/image215.png"/><Relationship Id="rId5" Type="http://schemas.openxmlformats.org/officeDocument/2006/relationships/image" Target="../media/image214.jpeg"/><Relationship Id="rId4" Type="http://schemas.openxmlformats.org/officeDocument/2006/relationships/image" Target="../media/image213.jpeg"/><Relationship Id="rId9" Type="http://schemas.openxmlformats.org/officeDocument/2006/relationships/hyperlink" Target="https://www.youtube.com/watch?v=nKo8JjROCng&amp;list=TLGGpMsgaahgqmcxOTA2MjAyNA" TargetMode="External"/></Relationships>
</file>

<file path=ppt/slides/_rels/slide61.xml.rels><?xml version="1.0" encoding="UTF-8" standalone="yes"?>
<Relationships xmlns="http://schemas.openxmlformats.org/package/2006/relationships"><Relationship Id="rId8" Type="http://schemas.openxmlformats.org/officeDocument/2006/relationships/image" Target="../media/image222.jpeg"/><Relationship Id="rId3" Type="http://schemas.openxmlformats.org/officeDocument/2006/relationships/hyperlink" Target="https://ip.crdg.jp/izon/" TargetMode="External"/><Relationship Id="rId7" Type="http://schemas.openxmlformats.org/officeDocument/2006/relationships/image" Target="../media/image221.jpeg"/><Relationship Id="rId2" Type="http://schemas.openxmlformats.org/officeDocument/2006/relationships/hyperlink" Target="https://camp-fire.jp/projects/view/756026" TargetMode="External"/><Relationship Id="rId1" Type="http://schemas.openxmlformats.org/officeDocument/2006/relationships/slideLayout" Target="../slideLayouts/slideLayout9.xml"/><Relationship Id="rId6" Type="http://schemas.openxmlformats.org/officeDocument/2006/relationships/image" Target="../media/image220.jpeg"/><Relationship Id="rId5" Type="http://schemas.openxmlformats.org/officeDocument/2006/relationships/image" Target="../media/image219.jpeg"/><Relationship Id="rId4" Type="http://schemas.openxmlformats.org/officeDocument/2006/relationships/image" Target="../media/image218.jpeg"/></Relationships>
</file>

<file path=ppt/slides/_rels/slide62.xml.rels><?xml version="1.0" encoding="UTF-8" standalone="yes"?>
<Relationships xmlns="http://schemas.openxmlformats.org/package/2006/relationships"><Relationship Id="rId3" Type="http://schemas.openxmlformats.org/officeDocument/2006/relationships/image" Target="../media/image223.jpeg"/><Relationship Id="rId7" Type="http://schemas.openxmlformats.org/officeDocument/2006/relationships/image" Target="../media/image227.jpeg"/><Relationship Id="rId2" Type="http://schemas.openxmlformats.org/officeDocument/2006/relationships/notesSlide" Target="../notesSlides/notesSlide45.xml"/><Relationship Id="rId1" Type="http://schemas.openxmlformats.org/officeDocument/2006/relationships/slideLayout" Target="../slideLayouts/slideLayout9.xml"/><Relationship Id="rId6" Type="http://schemas.openxmlformats.org/officeDocument/2006/relationships/image" Target="../media/image226.jpeg"/><Relationship Id="rId5" Type="http://schemas.openxmlformats.org/officeDocument/2006/relationships/image" Target="../media/image225.jpeg"/><Relationship Id="rId4" Type="http://schemas.openxmlformats.org/officeDocument/2006/relationships/image" Target="../media/image224.jpeg"/></Relationships>
</file>

<file path=ppt/slides/_rels/slide63.xml.rels><?xml version="1.0" encoding="UTF-8" standalone="yes"?>
<Relationships xmlns="http://schemas.openxmlformats.org/package/2006/relationships"><Relationship Id="rId8" Type="http://schemas.openxmlformats.org/officeDocument/2006/relationships/image" Target="../media/image232.jpeg"/><Relationship Id="rId3" Type="http://schemas.openxmlformats.org/officeDocument/2006/relationships/hyperlink" Target="https://www.nyp.edu.sg/industry" TargetMode="External"/><Relationship Id="rId7" Type="http://schemas.openxmlformats.org/officeDocument/2006/relationships/image" Target="../media/image231.jpeg"/><Relationship Id="rId2" Type="http://schemas.openxmlformats.org/officeDocument/2006/relationships/notesSlide" Target="../notesSlides/notesSlide46.xml"/><Relationship Id="rId1" Type="http://schemas.openxmlformats.org/officeDocument/2006/relationships/slideLayout" Target="../slideLayouts/slideLayout9.xml"/><Relationship Id="rId6" Type="http://schemas.openxmlformats.org/officeDocument/2006/relationships/image" Target="../media/image230.jpeg"/><Relationship Id="rId5" Type="http://schemas.openxmlformats.org/officeDocument/2006/relationships/image" Target="../media/image229.jpeg"/><Relationship Id="rId4" Type="http://schemas.openxmlformats.org/officeDocument/2006/relationships/image" Target="../media/image228.jpeg"/><Relationship Id="rId9" Type="http://schemas.openxmlformats.org/officeDocument/2006/relationships/image" Target="../media/image233.jpeg"/></Relationships>
</file>

<file path=ppt/slides/_rels/slide64.xml.rels><?xml version="1.0" encoding="UTF-8" standalone="yes"?>
<Relationships xmlns="http://schemas.openxmlformats.org/package/2006/relationships"><Relationship Id="rId8" Type="http://schemas.openxmlformats.org/officeDocument/2006/relationships/image" Target="../media/image237.jpeg"/><Relationship Id="rId3" Type="http://schemas.openxmlformats.org/officeDocument/2006/relationships/hyperlink" Target="https://cgworld.jp/special-feature/creek-river-creativestudios.html" TargetMode="External"/><Relationship Id="rId7" Type="http://schemas.openxmlformats.org/officeDocument/2006/relationships/hyperlink" Target="https://3d.crdg.jp/work/" TargetMode="External"/><Relationship Id="rId2" Type="http://schemas.openxmlformats.org/officeDocument/2006/relationships/notesSlide" Target="../notesSlides/notesSlide47.xml"/><Relationship Id="rId1" Type="http://schemas.openxmlformats.org/officeDocument/2006/relationships/slideLayout" Target="../slideLayouts/slideLayout9.xml"/><Relationship Id="rId6" Type="http://schemas.openxmlformats.org/officeDocument/2006/relationships/image" Target="../media/image236.jpeg"/><Relationship Id="rId5" Type="http://schemas.openxmlformats.org/officeDocument/2006/relationships/image" Target="../media/image235.png"/><Relationship Id="rId4" Type="http://schemas.openxmlformats.org/officeDocument/2006/relationships/image" Target="../media/image234.png"/></Relationships>
</file>

<file path=ppt/slides/_rels/slide65.xml.rels><?xml version="1.0" encoding="UTF-8" standalone="yes"?>
<Relationships xmlns="http://schemas.openxmlformats.org/package/2006/relationships"><Relationship Id="rId3" Type="http://schemas.openxmlformats.org/officeDocument/2006/relationships/image" Target="../media/image238.jpeg"/><Relationship Id="rId2" Type="http://schemas.openxmlformats.org/officeDocument/2006/relationships/notesSlide" Target="../notesSlides/notesSlide48.xml"/><Relationship Id="rId1" Type="http://schemas.openxmlformats.org/officeDocument/2006/relationships/slideLayout" Target="../slideLayouts/slideLayout9.xml"/><Relationship Id="rId6" Type="http://schemas.openxmlformats.org/officeDocument/2006/relationships/image" Target="../media/image240.png"/><Relationship Id="rId5" Type="http://schemas.openxmlformats.org/officeDocument/2006/relationships/hyperlink" Target="https://www.cri-meta.com/" TargetMode="External"/><Relationship Id="rId4" Type="http://schemas.openxmlformats.org/officeDocument/2006/relationships/image" Target="../media/image239.jpeg"/></Relationships>
</file>

<file path=ppt/slides/_rels/slide66.xml.rels><?xml version="1.0" encoding="UTF-8" standalone="yes"?>
<Relationships xmlns="http://schemas.openxmlformats.org/package/2006/relationships"><Relationship Id="rId8" Type="http://schemas.openxmlformats.org/officeDocument/2006/relationships/image" Target="../media/image245.png"/><Relationship Id="rId3" Type="http://schemas.microsoft.com/office/2018/10/relationships/comments" Target="../comments/modernComment_52D_E127EF4.xml"/><Relationship Id="rId7" Type="http://schemas.openxmlformats.org/officeDocument/2006/relationships/image" Target="../media/image244.png"/><Relationship Id="rId2" Type="http://schemas.openxmlformats.org/officeDocument/2006/relationships/notesSlide" Target="../notesSlides/notesSlide49.xml"/><Relationship Id="rId1" Type="http://schemas.openxmlformats.org/officeDocument/2006/relationships/slideLayout" Target="../slideLayouts/slideLayout10.xml"/><Relationship Id="rId6" Type="http://schemas.openxmlformats.org/officeDocument/2006/relationships/image" Target="../media/image243.png"/><Relationship Id="rId5" Type="http://schemas.openxmlformats.org/officeDocument/2006/relationships/image" Target="../media/image242.png"/><Relationship Id="rId4" Type="http://schemas.openxmlformats.org/officeDocument/2006/relationships/image" Target="../media/image241.png"/></Relationships>
</file>

<file path=ppt/slides/_rels/slide67.xml.rels><?xml version="1.0" encoding="UTF-8" standalone="yes"?>
<Relationships xmlns="http://schemas.openxmlformats.org/package/2006/relationships"><Relationship Id="rId3" Type="http://schemas.openxmlformats.org/officeDocument/2006/relationships/hyperlink" Target="https://chefz.jp/shop/cassolo/" TargetMode="External"/><Relationship Id="rId2" Type="http://schemas.openxmlformats.org/officeDocument/2006/relationships/notesSlide" Target="../notesSlides/notesSlide50.xml"/><Relationship Id="rId1" Type="http://schemas.openxmlformats.org/officeDocument/2006/relationships/slideLayout" Target="../slideLayouts/slideLayout10.xml"/><Relationship Id="rId5" Type="http://schemas.openxmlformats.org/officeDocument/2006/relationships/image" Target="../media/image247.png"/><Relationship Id="rId4" Type="http://schemas.openxmlformats.org/officeDocument/2006/relationships/image" Target="../media/image246.png"/></Relationships>
</file>

<file path=ppt/slides/_rels/slide68.xml.rels><?xml version="1.0" encoding="UTF-8" standalone="yes"?>
<Relationships xmlns="http://schemas.openxmlformats.org/package/2006/relationships"><Relationship Id="rId3" Type="http://schemas.openxmlformats.org/officeDocument/2006/relationships/image" Target="../media/image248.png"/><Relationship Id="rId2" Type="http://schemas.microsoft.com/office/2018/10/relationships/comments" Target="../comments/modernComment_531_A9A72C00.xml"/><Relationship Id="rId1" Type="http://schemas.openxmlformats.org/officeDocument/2006/relationships/slideLayout" Target="../slideLayouts/slideLayout10.xml"/><Relationship Id="rId4" Type="http://schemas.openxmlformats.org/officeDocument/2006/relationships/image" Target="../media/image249.gif"/></Relationships>
</file>

<file path=ppt/slides/_rels/slide69.xml.rels><?xml version="1.0" encoding="UTF-8" standalone="yes"?>
<Relationships xmlns="http://schemas.openxmlformats.org/package/2006/relationships"><Relationship Id="rId8" Type="http://schemas.openxmlformats.org/officeDocument/2006/relationships/image" Target="../media/image254.jpeg"/><Relationship Id="rId3" Type="http://schemas.openxmlformats.org/officeDocument/2006/relationships/image" Target="../media/image250.jpeg"/><Relationship Id="rId7" Type="http://schemas.openxmlformats.org/officeDocument/2006/relationships/image" Target="../media/image253.jpeg"/><Relationship Id="rId2" Type="http://schemas.microsoft.com/office/2018/10/relationships/comments" Target="../comments/modernComment_4E3_682DBA9.xml"/><Relationship Id="rId1" Type="http://schemas.openxmlformats.org/officeDocument/2006/relationships/slideLayout" Target="../slideLayouts/slideLayout6.xml"/><Relationship Id="rId6" Type="http://schemas.openxmlformats.org/officeDocument/2006/relationships/image" Target="../media/image252.jpeg"/><Relationship Id="rId5" Type="http://schemas.openxmlformats.org/officeDocument/2006/relationships/image" Target="../media/image246.png"/><Relationship Id="rId10" Type="http://schemas.openxmlformats.org/officeDocument/2006/relationships/image" Target="../media/image255.jpeg"/><Relationship Id="rId4" Type="http://schemas.openxmlformats.org/officeDocument/2006/relationships/image" Target="../media/image251.png"/><Relationship Id="rId9" Type="http://schemas.openxmlformats.org/officeDocument/2006/relationships/image" Target="../media/image1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129D83-010D-197C-1729-6852510BDDB5}"/>
              </a:ext>
            </a:extLst>
          </p:cNvPr>
          <p:cNvSpPr>
            <a:spLocks noGrp="1"/>
          </p:cNvSpPr>
          <p:nvPr>
            <p:ph type="title"/>
          </p:nvPr>
        </p:nvSpPr>
        <p:spPr/>
        <p:txBody>
          <a:bodyPr anchor="b">
            <a:normAutofit/>
          </a:bodyPr>
          <a:lstStyle/>
          <a:p>
            <a:pPr algn="l">
              <a:lnSpc>
                <a:spcPct val="100000"/>
              </a:lnSpc>
            </a:pPr>
            <a:r>
              <a:rPr lang="ja-JP" altLang="en-US" sz="3600" b="1">
                <a:solidFill>
                  <a:schemeClr val="tx1"/>
                </a:solidFill>
                <a:cs typeface="Calibri"/>
              </a:rPr>
              <a:t>C&amp;Rグループ</a:t>
            </a:r>
            <a:br>
              <a:rPr lang="ja-JP" altLang="en-US" sz="3600" b="1">
                <a:solidFill>
                  <a:schemeClr val="tx1"/>
                </a:solidFill>
              </a:rPr>
            </a:br>
            <a:r>
              <a:rPr kumimoji="1" lang="ja-JP" altLang="en-US" sz="3600" b="1">
                <a:solidFill>
                  <a:schemeClr val="tx1"/>
                </a:solidFill>
              </a:rPr>
              <a:t>株式会社クリーク･アンド･リバー社</a:t>
            </a:r>
            <a:endParaRPr lang="ja-JP" altLang="en-US">
              <a:solidFill>
                <a:schemeClr val="tx1"/>
              </a:solidFill>
            </a:endParaRPr>
          </a:p>
        </p:txBody>
      </p:sp>
      <p:sp>
        <p:nvSpPr>
          <p:cNvPr id="5" name="テキスト プレースホルダー 4">
            <a:extLst>
              <a:ext uri="{FF2B5EF4-FFF2-40B4-BE49-F238E27FC236}">
                <a16:creationId xmlns:a16="http://schemas.microsoft.com/office/drawing/2014/main" id="{686B6E38-192C-B792-6EC1-C3BAE1E82692}"/>
              </a:ext>
            </a:extLst>
          </p:cNvPr>
          <p:cNvSpPr>
            <a:spLocks noGrp="1"/>
          </p:cNvSpPr>
          <p:nvPr>
            <p:ph type="body" idx="1"/>
          </p:nvPr>
        </p:nvSpPr>
        <p:spPr>
          <a:xfrm>
            <a:off x="3279781" y="4382301"/>
            <a:ext cx="5430558" cy="545687"/>
          </a:xfrm>
        </p:spPr>
        <p:txBody>
          <a:bodyPr/>
          <a:lstStyle/>
          <a:p>
            <a:r>
              <a:rPr lang="ja-JP" altLang="en-US" b="1"/>
              <a:t>会社紹介</a:t>
            </a:r>
          </a:p>
        </p:txBody>
      </p:sp>
      <p:sp>
        <p:nvSpPr>
          <p:cNvPr id="11" name="テキスト ボックス 10">
            <a:extLst>
              <a:ext uri="{FF2B5EF4-FFF2-40B4-BE49-F238E27FC236}">
                <a16:creationId xmlns:a16="http://schemas.microsoft.com/office/drawing/2014/main" id="{053B9DEB-565F-9478-063C-BE98BAD326DF}"/>
              </a:ext>
            </a:extLst>
          </p:cNvPr>
          <p:cNvSpPr txBox="1"/>
          <p:nvPr/>
        </p:nvSpPr>
        <p:spPr>
          <a:xfrm>
            <a:off x="3279781" y="4895731"/>
            <a:ext cx="2846120" cy="343427"/>
          </a:xfrm>
          <a:prstGeom prst="rect">
            <a:avLst/>
          </a:prstGeom>
          <a:noFill/>
        </p:spPr>
        <p:txBody>
          <a:bodyPr wrap="square" lIns="91440" tIns="45720" rIns="91440" bIns="45720" rtlCol="0" anchor="t">
            <a:spAutoFit/>
          </a:bodyPr>
          <a:lstStyle/>
          <a:p>
            <a:pPr>
              <a:lnSpc>
                <a:spcPct val="150000"/>
              </a:lnSpc>
            </a:pP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version</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37</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期　</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2026</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年</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03</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月</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01</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日</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47C543B-4DD6-2268-3B8E-78DC4766DCDD}"/>
              </a:ext>
            </a:extLst>
          </p:cNvPr>
          <p:cNvSpPr/>
          <p:nvPr/>
        </p:nvSpPr>
        <p:spPr>
          <a:xfrm>
            <a:off x="3279781" y="5693123"/>
            <a:ext cx="4981575" cy="707886"/>
          </a:xfrm>
          <a:prstGeom prst="rect">
            <a:avLst/>
          </a:prstGeom>
        </p:spPr>
        <p:txBody>
          <a:bodyPr wrap="square">
            <a:spAutoFit/>
          </a:bodyPr>
          <a:lstStyle/>
          <a:p>
            <a:pPr fontAlgn="base"/>
            <a:r>
              <a:rPr lang="ja-JP" altLang="en-US" sz="1000" b="1">
                <a:solidFill>
                  <a:srgbClr val="000000"/>
                </a:solidFill>
                <a:latin typeface="メイリオ" panose="020B0604030504040204" pitchFamily="50" charset="-128"/>
                <a:ea typeface="メイリオ" panose="020B0604030504040204" pitchFamily="50" charset="-128"/>
              </a:rPr>
              <a:t>▼詳細はこちら</a:t>
            </a:r>
            <a:endParaRPr lang="en-US" altLang="zh-TW" sz="1000" b="1">
              <a:solidFill>
                <a:srgbClr val="000000"/>
              </a:solidFill>
              <a:latin typeface="メイリオ" panose="020B0604030504040204" pitchFamily="50" charset="-128"/>
              <a:ea typeface="メイリオ" panose="020B0604030504040204" pitchFamily="50" charset="-128"/>
            </a:endParaRPr>
          </a:p>
          <a:p>
            <a:pPr fontAlgn="base"/>
            <a:r>
              <a:rPr lang="ja-JP" altLang="en-US" sz="1000">
                <a:solidFill>
                  <a:srgbClr val="000000"/>
                </a:solidFill>
                <a:latin typeface="メイリオ" panose="020B0604030504040204" pitchFamily="50" charset="-128"/>
                <a:ea typeface="メイリオ" panose="020B0604030504040204" pitchFamily="50" charset="-128"/>
              </a:rPr>
              <a:t>　</a:t>
            </a:r>
            <a:r>
              <a:rPr lang="zh-TW" altLang="en-US" sz="1000">
                <a:solidFill>
                  <a:srgbClr val="000000"/>
                </a:solidFill>
                <a:latin typeface="メイリオ" panose="020B0604030504040204" pitchFamily="50" charset="-128"/>
                <a:ea typeface="メイリオ" panose="020B0604030504040204" pitchFamily="50" charset="-128"/>
              </a:rPr>
              <a:t>◆コーポレートサイト　</a:t>
            </a:r>
            <a:r>
              <a:rPr lang="en-US" altLang="zh-TW" sz="1000">
                <a:solidFill>
                  <a:schemeClr val="accent4">
                    <a:lumMod val="50000"/>
                  </a:schemeClr>
                </a:solidFill>
                <a:latin typeface="メイリオ" panose="020B0604030504040204" pitchFamily="50" charset="-128"/>
                <a:ea typeface="メイリオ" panose="020B0604030504040204" pitchFamily="50" charset="-128"/>
                <a:hlinkClick r:id="rId3">
                  <a:extLst>
                    <a:ext uri="{A12FA001-AC4F-418D-AE19-62706E023703}">
                      <ahyp:hlinkClr xmlns:ahyp="http://schemas.microsoft.com/office/drawing/2018/hyperlinkcolor" val="tx"/>
                    </a:ext>
                  </a:extLst>
                </a:hlinkClick>
              </a:rPr>
              <a:t>https://www.cri.co.jp/</a:t>
            </a:r>
            <a:endParaRPr lang="en-US" altLang="zh-TW" sz="1000">
              <a:solidFill>
                <a:schemeClr val="accent4">
                  <a:lumMod val="50000"/>
                </a:schemeClr>
              </a:solidFill>
              <a:latin typeface="メイリオ" panose="020B0604030504040204" pitchFamily="50" charset="-128"/>
              <a:ea typeface="メイリオ" panose="020B0604030504040204" pitchFamily="50" charset="-128"/>
            </a:endParaRPr>
          </a:p>
          <a:p>
            <a:pPr fontAlgn="base"/>
            <a:r>
              <a:rPr lang="ja-JP" altLang="en-US" sz="1000">
                <a:solidFill>
                  <a:srgbClr val="000000"/>
                </a:solidFill>
                <a:latin typeface="メイリオ" panose="020B0604030504040204" pitchFamily="50" charset="-128"/>
                <a:ea typeface="メイリオ" panose="020B0604030504040204" pitchFamily="50" charset="-128"/>
              </a:rPr>
              <a:t>　◆クリエイター向け情報サイト　　</a:t>
            </a:r>
            <a:r>
              <a:rPr lang="en-US" altLang="ja-JP" sz="1000">
                <a:solidFill>
                  <a:schemeClr val="accent4">
                    <a:lumMod val="50000"/>
                  </a:schemeClr>
                </a:solidFill>
                <a:latin typeface="メイリオ" panose="020B0604030504040204" pitchFamily="50" charset="-128"/>
                <a:ea typeface="メイリオ" panose="020B0604030504040204" pitchFamily="50" charset="-128"/>
                <a:hlinkClick r:id="rId4">
                  <a:extLst>
                    <a:ext uri="{A12FA001-AC4F-418D-AE19-62706E023703}">
                      <ahyp:hlinkClr xmlns:ahyp="http://schemas.microsoft.com/office/drawing/2018/hyperlinkcolor" val="tx"/>
                    </a:ext>
                  </a:extLst>
                </a:hlinkClick>
              </a:rPr>
              <a:t>https://www.creativevillage.ne.jp/</a:t>
            </a:r>
            <a:endParaRPr lang="en-US" altLang="ja-JP" sz="1000">
              <a:solidFill>
                <a:schemeClr val="accent4">
                  <a:lumMod val="50000"/>
                </a:schemeClr>
              </a:solidFill>
              <a:latin typeface="メイリオ" panose="020B0604030504040204" pitchFamily="50" charset="-128"/>
              <a:ea typeface="メイリオ" panose="020B0604030504040204" pitchFamily="50" charset="-128"/>
            </a:endParaRPr>
          </a:p>
          <a:p>
            <a:pPr fontAlgn="base"/>
            <a:r>
              <a:rPr lang="ja-JP" altLang="en-US" sz="1000">
                <a:solidFill>
                  <a:srgbClr val="000000"/>
                </a:solidFill>
                <a:latin typeface="メイリオ" panose="020B0604030504040204" pitchFamily="50" charset="-128"/>
                <a:ea typeface="メイリオ" panose="020B0604030504040204" pitchFamily="50" charset="-128"/>
              </a:rPr>
              <a:t>　◆デジタルコンテンツ</a:t>
            </a:r>
            <a:r>
              <a:rPr kumimoji="1" lang="ja-JP" altLang="en-US" sz="1000" b="1">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000">
                <a:solidFill>
                  <a:srgbClr val="000000"/>
                </a:solidFill>
                <a:latin typeface="メイリオ" panose="020B0604030504040204" pitchFamily="50" charset="-128"/>
                <a:ea typeface="メイリオ" panose="020B0604030504040204" pitchFamily="50" charset="-128"/>
              </a:rPr>
              <a:t>グループ　開発スタジオサイト　</a:t>
            </a:r>
            <a:r>
              <a:rPr lang="en-US" altLang="ja-JP" sz="1000">
                <a:solidFill>
                  <a:schemeClr val="accent4">
                    <a:lumMod val="50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https://crdg.jp/</a:t>
            </a:r>
            <a:r>
              <a:rPr lang="ja-JP" altLang="en-US" sz="1000">
                <a:solidFill>
                  <a:schemeClr val="accent4">
                    <a:lumMod val="50000"/>
                  </a:schemeClr>
                </a:solidFill>
                <a:latin typeface="メイリオ" panose="020B0604030504040204" pitchFamily="50" charset="-128"/>
                <a:ea typeface="メイリオ" panose="020B0604030504040204" pitchFamily="50" charset="-128"/>
              </a:rPr>
              <a:t>　</a:t>
            </a:r>
            <a:endParaRPr lang="zh-TW" altLang="en-US" sz="1000" b="0" i="0">
              <a:solidFill>
                <a:schemeClr val="accent4">
                  <a:lumMod val="50000"/>
                </a:schemeClr>
              </a:solidFill>
              <a:effectLst/>
              <a:latin typeface="メイリオ" panose="020B0604030504040204" pitchFamily="50" charset="-128"/>
              <a:ea typeface="メイリオ" panose="020B0604030504040204" pitchFamily="50" charset="-128"/>
            </a:endParaRPr>
          </a:p>
        </p:txBody>
      </p:sp>
      <p:pic>
        <p:nvPicPr>
          <p:cNvPr id="7" name="図 6" descr="記号 が含まれている画像&#10;&#10;自動的に生成された説明">
            <a:extLst>
              <a:ext uri="{FF2B5EF4-FFF2-40B4-BE49-F238E27FC236}">
                <a16:creationId xmlns:a16="http://schemas.microsoft.com/office/drawing/2014/main" id="{7D98E65B-F950-2D8A-B064-728702F8AB8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6320" y="560543"/>
            <a:ext cx="1874828" cy="1431613"/>
          </a:xfrm>
          <a:prstGeom prst="rect">
            <a:avLst/>
          </a:prstGeom>
        </p:spPr>
      </p:pic>
      <p:pic>
        <p:nvPicPr>
          <p:cNvPr id="20" name="Picture 2" descr="U:\経営企画G\経営企画部\★C&amp;Rイベント\201810928新虎通りCORE（竣工後）\新虎通りCORE_0928.jpg">
            <a:extLst>
              <a:ext uri="{FF2B5EF4-FFF2-40B4-BE49-F238E27FC236}">
                <a16:creationId xmlns:a16="http://schemas.microsoft.com/office/drawing/2014/main" id="{B3B3FA62-9B5D-2F81-5001-D2B681E47C70}"/>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rightnessContrast bright="20000"/>
                    </a14:imgEffect>
                  </a14:imgLayer>
                </a14:imgProps>
              </a:ext>
              <a:ext uri="{28A0092B-C50C-407E-A947-70E740481C1C}">
                <a14:useLocalDpi xmlns:a14="http://schemas.microsoft.com/office/drawing/2010/main"/>
              </a:ext>
            </a:extLst>
          </a:blip>
          <a:srcRect l="4449" r="4574" b="9860"/>
          <a:stretch/>
        </p:blipFill>
        <p:spPr bwMode="auto">
          <a:xfrm>
            <a:off x="1127760" y="3851459"/>
            <a:ext cx="1920366" cy="2647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4917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グループ化 19">
            <a:extLst>
              <a:ext uri="{FF2B5EF4-FFF2-40B4-BE49-F238E27FC236}">
                <a16:creationId xmlns:a16="http://schemas.microsoft.com/office/drawing/2014/main" id="{F627C266-0063-E144-423A-3DA8C8711DB8}"/>
              </a:ext>
            </a:extLst>
          </p:cNvPr>
          <p:cNvGrpSpPr/>
          <p:nvPr/>
        </p:nvGrpSpPr>
        <p:grpSpPr>
          <a:xfrm>
            <a:off x="6861179" y="1562989"/>
            <a:ext cx="5501368" cy="5330826"/>
            <a:chOff x="1045407" y="763586"/>
            <a:chExt cx="5501368" cy="5330826"/>
          </a:xfrm>
        </p:grpSpPr>
        <p:pic>
          <p:nvPicPr>
            <p:cNvPr id="31" name="図 30" descr="マップ&#10;&#10;自動的に生成された説明">
              <a:extLst>
                <a:ext uri="{FF2B5EF4-FFF2-40B4-BE49-F238E27FC236}">
                  <a16:creationId xmlns:a16="http://schemas.microsoft.com/office/drawing/2014/main" id="{17ED6257-B3D8-73F1-8243-DA6E772527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407" y="763586"/>
              <a:ext cx="5501368" cy="5330826"/>
            </a:xfrm>
            <a:prstGeom prst="rect">
              <a:avLst/>
            </a:prstGeom>
          </p:spPr>
        </p:pic>
        <p:grpSp>
          <p:nvGrpSpPr>
            <p:cNvPr id="35" name="グループ化 34">
              <a:extLst>
                <a:ext uri="{FF2B5EF4-FFF2-40B4-BE49-F238E27FC236}">
                  <a16:creationId xmlns:a16="http://schemas.microsoft.com/office/drawing/2014/main" id="{C62309B2-E850-9991-8CFF-B84C20C6B3EA}"/>
                </a:ext>
              </a:extLst>
            </p:cNvPr>
            <p:cNvGrpSpPr/>
            <p:nvPr/>
          </p:nvGrpSpPr>
          <p:grpSpPr>
            <a:xfrm>
              <a:off x="4813211" y="1475966"/>
              <a:ext cx="441146" cy="361796"/>
              <a:chOff x="6276886" y="3521824"/>
              <a:chExt cx="441146" cy="361796"/>
            </a:xfrm>
          </p:grpSpPr>
          <p:sp>
            <p:nvSpPr>
              <p:cNvPr id="169" name="楕円 168">
                <a:extLst>
                  <a:ext uri="{FF2B5EF4-FFF2-40B4-BE49-F238E27FC236}">
                    <a16:creationId xmlns:a16="http://schemas.microsoft.com/office/drawing/2014/main" id="{554C5685-8570-1701-A751-DD6E512D1D39}"/>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70" name="直線コネクタ 169">
                <a:extLst>
                  <a:ext uri="{FF2B5EF4-FFF2-40B4-BE49-F238E27FC236}">
                    <a16:creationId xmlns:a16="http://schemas.microsoft.com/office/drawing/2014/main" id="{04351103-BEB8-C5CD-D842-122EE8A18742}"/>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71" name="テキスト ボックス 170">
                <a:extLst>
                  <a:ext uri="{FF2B5EF4-FFF2-40B4-BE49-F238E27FC236}">
                    <a16:creationId xmlns:a16="http://schemas.microsoft.com/office/drawing/2014/main" id="{7BC84911-E413-EB62-D2CC-0EC8B4656207}"/>
                  </a:ext>
                </a:extLst>
              </p:cNvPr>
              <p:cNvSpPr txBox="1"/>
              <p:nvPr/>
            </p:nvSpPr>
            <p:spPr>
              <a:xfrm>
                <a:off x="6276886" y="3521824"/>
                <a:ext cx="441146" cy="246221"/>
              </a:xfrm>
              <a:prstGeom prst="rect">
                <a:avLst/>
              </a:prstGeom>
              <a:noFill/>
            </p:spPr>
            <p:txBody>
              <a:bodyPr wrap="none" rtlCol="0">
                <a:spAutoFit/>
              </a:bodyPr>
              <a:lstStyle/>
              <a:p>
                <a:pPr algn="ctr"/>
                <a:r>
                  <a:rPr kumimoji="1" lang="ja-JP" altLang="en-US" sz="1000" b="1">
                    <a:latin typeface="メイリオ" panose="020B0604030504040204" pitchFamily="50" charset="-128"/>
                    <a:ea typeface="メイリオ" panose="020B0604030504040204" pitchFamily="50" charset="-128"/>
                  </a:rPr>
                  <a:t>札幌</a:t>
                </a:r>
              </a:p>
            </p:txBody>
          </p:sp>
        </p:grpSp>
        <p:grpSp>
          <p:nvGrpSpPr>
            <p:cNvPr id="40" name="グループ化 39">
              <a:extLst>
                <a:ext uri="{FF2B5EF4-FFF2-40B4-BE49-F238E27FC236}">
                  <a16:creationId xmlns:a16="http://schemas.microsoft.com/office/drawing/2014/main" id="{0F1C511E-4559-625F-A1A6-6CC84FDB1D3B}"/>
                </a:ext>
              </a:extLst>
            </p:cNvPr>
            <p:cNvGrpSpPr/>
            <p:nvPr/>
          </p:nvGrpSpPr>
          <p:grpSpPr>
            <a:xfrm>
              <a:off x="4679431" y="3128707"/>
              <a:ext cx="441146" cy="361796"/>
              <a:chOff x="6276887" y="3521824"/>
              <a:chExt cx="441146" cy="361796"/>
            </a:xfrm>
          </p:grpSpPr>
          <p:sp>
            <p:nvSpPr>
              <p:cNvPr id="166" name="楕円 165">
                <a:extLst>
                  <a:ext uri="{FF2B5EF4-FFF2-40B4-BE49-F238E27FC236}">
                    <a16:creationId xmlns:a16="http://schemas.microsoft.com/office/drawing/2014/main" id="{E8C77531-380D-06C9-3533-F0B3D1994247}"/>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67" name="直線コネクタ 166">
                <a:extLst>
                  <a:ext uri="{FF2B5EF4-FFF2-40B4-BE49-F238E27FC236}">
                    <a16:creationId xmlns:a16="http://schemas.microsoft.com/office/drawing/2014/main" id="{07EA9AE4-9C55-4685-CF1A-7B90380A8C3A}"/>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68" name="テキスト ボックス 167">
                <a:extLst>
                  <a:ext uri="{FF2B5EF4-FFF2-40B4-BE49-F238E27FC236}">
                    <a16:creationId xmlns:a16="http://schemas.microsoft.com/office/drawing/2014/main" id="{B90AE82E-4700-5720-E5B0-9C5E715A14B2}"/>
                  </a:ext>
                </a:extLst>
              </p:cNvPr>
              <p:cNvSpPr txBox="1"/>
              <p:nvPr/>
            </p:nvSpPr>
            <p:spPr>
              <a:xfrm>
                <a:off x="6276887" y="3521824"/>
                <a:ext cx="441146" cy="246221"/>
              </a:xfrm>
              <a:prstGeom prst="rect">
                <a:avLst/>
              </a:prstGeom>
              <a:noFill/>
            </p:spPr>
            <p:txBody>
              <a:bodyPr wrap="none" rtlCol="0">
                <a:spAutoFit/>
              </a:bodyPr>
              <a:lstStyle/>
              <a:p>
                <a:pPr algn="ctr"/>
                <a:r>
                  <a:rPr kumimoji="1" lang="ja-JP" altLang="en-US" sz="1000" b="1">
                    <a:latin typeface="メイリオ" panose="020B0604030504040204" pitchFamily="50" charset="-128"/>
                    <a:ea typeface="メイリオ" panose="020B0604030504040204" pitchFamily="50" charset="-128"/>
                  </a:rPr>
                  <a:t>仙台</a:t>
                </a:r>
              </a:p>
            </p:txBody>
          </p:sp>
        </p:grpSp>
        <p:grpSp>
          <p:nvGrpSpPr>
            <p:cNvPr id="56" name="グループ化 55">
              <a:extLst>
                <a:ext uri="{FF2B5EF4-FFF2-40B4-BE49-F238E27FC236}">
                  <a16:creationId xmlns:a16="http://schemas.microsoft.com/office/drawing/2014/main" id="{04D617B4-4670-290E-628F-6921B3B3CF69}"/>
                </a:ext>
              </a:extLst>
            </p:cNvPr>
            <p:cNvGrpSpPr/>
            <p:nvPr/>
          </p:nvGrpSpPr>
          <p:grpSpPr>
            <a:xfrm>
              <a:off x="3664300" y="3942785"/>
              <a:ext cx="490463" cy="246221"/>
              <a:chOff x="6448140" y="3673545"/>
              <a:chExt cx="490463" cy="246221"/>
            </a:xfrm>
          </p:grpSpPr>
          <p:sp>
            <p:nvSpPr>
              <p:cNvPr id="163" name="楕円 162">
                <a:extLst>
                  <a:ext uri="{FF2B5EF4-FFF2-40B4-BE49-F238E27FC236}">
                    <a16:creationId xmlns:a16="http://schemas.microsoft.com/office/drawing/2014/main" id="{443AB401-4BA1-8C40-15B3-5EA06EE9D3A1}"/>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64" name="直線コネクタ 163">
                <a:extLst>
                  <a:ext uri="{FF2B5EF4-FFF2-40B4-BE49-F238E27FC236}">
                    <a16:creationId xmlns:a16="http://schemas.microsoft.com/office/drawing/2014/main" id="{C4A805A3-EC1B-3887-3665-3879AE9DCBE6}"/>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65" name="テキスト ボックス 164">
                <a:extLst>
                  <a:ext uri="{FF2B5EF4-FFF2-40B4-BE49-F238E27FC236}">
                    <a16:creationId xmlns:a16="http://schemas.microsoft.com/office/drawing/2014/main" id="{08764B77-8D48-4469-7124-68B586BD5070}"/>
                  </a:ext>
                </a:extLst>
              </p:cNvPr>
              <p:cNvSpPr txBox="1"/>
              <p:nvPr/>
            </p:nvSpPr>
            <p:spPr>
              <a:xfrm>
                <a:off x="6497457" y="3673545"/>
                <a:ext cx="441146" cy="246221"/>
              </a:xfrm>
              <a:prstGeom prst="rect">
                <a:avLst/>
              </a:prstGeom>
              <a:noFill/>
            </p:spPr>
            <p:txBody>
              <a:bodyPr wrap="none" rtlCol="0">
                <a:spAutoFit/>
              </a:bodyPr>
              <a:lstStyle/>
              <a:p>
                <a:pPr algn="ctr"/>
                <a:r>
                  <a:rPr kumimoji="1" lang="ja-JP" altLang="en-US" sz="1000" b="1">
                    <a:latin typeface="メイリオ" panose="020B0604030504040204" pitchFamily="50" charset="-128"/>
                    <a:ea typeface="メイリオ" panose="020B0604030504040204" pitchFamily="50" charset="-128"/>
                  </a:rPr>
                  <a:t>金沢</a:t>
                </a:r>
              </a:p>
            </p:txBody>
          </p:sp>
        </p:grpSp>
        <p:grpSp>
          <p:nvGrpSpPr>
            <p:cNvPr id="66" name="グループ化 65">
              <a:extLst>
                <a:ext uri="{FF2B5EF4-FFF2-40B4-BE49-F238E27FC236}">
                  <a16:creationId xmlns:a16="http://schemas.microsoft.com/office/drawing/2014/main" id="{0DFD8315-6992-8096-158B-B9556CF18656}"/>
                </a:ext>
              </a:extLst>
            </p:cNvPr>
            <p:cNvGrpSpPr/>
            <p:nvPr/>
          </p:nvGrpSpPr>
          <p:grpSpPr>
            <a:xfrm>
              <a:off x="5050840" y="5162898"/>
              <a:ext cx="441147" cy="361796"/>
              <a:chOff x="6276887" y="3521824"/>
              <a:chExt cx="441147" cy="361796"/>
            </a:xfrm>
          </p:grpSpPr>
          <p:sp>
            <p:nvSpPr>
              <p:cNvPr id="160" name="楕円 159">
                <a:extLst>
                  <a:ext uri="{FF2B5EF4-FFF2-40B4-BE49-F238E27FC236}">
                    <a16:creationId xmlns:a16="http://schemas.microsoft.com/office/drawing/2014/main" id="{56834D50-7BD4-A1EC-14E8-930A1C9E2A81}"/>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61" name="直線コネクタ 160">
                <a:extLst>
                  <a:ext uri="{FF2B5EF4-FFF2-40B4-BE49-F238E27FC236}">
                    <a16:creationId xmlns:a16="http://schemas.microsoft.com/office/drawing/2014/main" id="{B9B6F520-7D4B-FF49-C5FC-F1FDCEE72CF3}"/>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62" name="テキスト ボックス 161">
                <a:extLst>
                  <a:ext uri="{FF2B5EF4-FFF2-40B4-BE49-F238E27FC236}">
                    <a16:creationId xmlns:a16="http://schemas.microsoft.com/office/drawing/2014/main" id="{A4A5666F-4694-B0C6-7D2C-EE0F69EE5609}"/>
                  </a:ext>
                </a:extLst>
              </p:cNvPr>
              <p:cNvSpPr txBox="1"/>
              <p:nvPr/>
            </p:nvSpPr>
            <p:spPr>
              <a:xfrm>
                <a:off x="6276887" y="3521824"/>
                <a:ext cx="441147" cy="246221"/>
              </a:xfrm>
              <a:prstGeom prst="rect">
                <a:avLst/>
              </a:prstGeom>
              <a:noFill/>
            </p:spPr>
            <p:txBody>
              <a:bodyPr wrap="none" rtlCol="0">
                <a:spAutoFit/>
              </a:bodyPr>
              <a:lstStyle/>
              <a:p>
                <a:pPr algn="ctr"/>
                <a:r>
                  <a:rPr lang="ja-JP" altLang="en-US" sz="1000" b="1">
                    <a:latin typeface="メイリオ" panose="020B0604030504040204" pitchFamily="50" charset="-128"/>
                    <a:ea typeface="メイリオ" panose="020B0604030504040204" pitchFamily="50" charset="-128"/>
                  </a:rPr>
                  <a:t>那覇</a:t>
                </a:r>
                <a:endParaRPr kumimoji="1" lang="ja-JP" altLang="en-US" sz="1000" b="1">
                  <a:latin typeface="メイリオ" panose="020B0604030504040204" pitchFamily="50" charset="-128"/>
                  <a:ea typeface="メイリオ" panose="020B0604030504040204" pitchFamily="50" charset="-128"/>
                </a:endParaRPr>
              </a:p>
            </p:txBody>
          </p:sp>
        </p:grpSp>
        <p:grpSp>
          <p:nvGrpSpPr>
            <p:cNvPr id="67" name="グループ化 66">
              <a:extLst>
                <a:ext uri="{FF2B5EF4-FFF2-40B4-BE49-F238E27FC236}">
                  <a16:creationId xmlns:a16="http://schemas.microsoft.com/office/drawing/2014/main" id="{DEC6479C-0AB9-8DBB-7BEB-75823DD55D89}"/>
                </a:ext>
              </a:extLst>
            </p:cNvPr>
            <p:cNvGrpSpPr/>
            <p:nvPr/>
          </p:nvGrpSpPr>
          <p:grpSpPr>
            <a:xfrm>
              <a:off x="1943597" y="4660887"/>
              <a:ext cx="441146" cy="361796"/>
              <a:chOff x="6276888" y="3521824"/>
              <a:chExt cx="441146" cy="361796"/>
            </a:xfrm>
          </p:grpSpPr>
          <p:sp>
            <p:nvSpPr>
              <p:cNvPr id="157" name="楕円 156">
                <a:extLst>
                  <a:ext uri="{FF2B5EF4-FFF2-40B4-BE49-F238E27FC236}">
                    <a16:creationId xmlns:a16="http://schemas.microsoft.com/office/drawing/2014/main" id="{402C5D87-4A4E-FDB7-16B8-A39916252861}"/>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58" name="直線コネクタ 157">
                <a:extLst>
                  <a:ext uri="{FF2B5EF4-FFF2-40B4-BE49-F238E27FC236}">
                    <a16:creationId xmlns:a16="http://schemas.microsoft.com/office/drawing/2014/main" id="{7AC68849-153B-7028-C51A-AF702FCF393C}"/>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59" name="テキスト ボックス 158">
                <a:extLst>
                  <a:ext uri="{FF2B5EF4-FFF2-40B4-BE49-F238E27FC236}">
                    <a16:creationId xmlns:a16="http://schemas.microsoft.com/office/drawing/2014/main" id="{E974A7EC-10CB-191B-B9C3-8F162E4284DB}"/>
                  </a:ext>
                </a:extLst>
              </p:cNvPr>
              <p:cNvSpPr txBox="1"/>
              <p:nvPr/>
            </p:nvSpPr>
            <p:spPr>
              <a:xfrm>
                <a:off x="6276888" y="3521824"/>
                <a:ext cx="441146" cy="246221"/>
              </a:xfrm>
              <a:prstGeom prst="rect">
                <a:avLst/>
              </a:prstGeom>
              <a:noFill/>
            </p:spPr>
            <p:txBody>
              <a:bodyPr wrap="none" rtlCol="0">
                <a:spAutoFit/>
              </a:bodyPr>
              <a:lstStyle/>
              <a:p>
                <a:pPr algn="ctr"/>
                <a:r>
                  <a:rPr lang="ja-JP" altLang="en-US" sz="1000" b="1">
                    <a:latin typeface="メイリオ" panose="020B0604030504040204" pitchFamily="50" charset="-128"/>
                    <a:ea typeface="メイリオ" panose="020B0604030504040204" pitchFamily="50" charset="-128"/>
                  </a:rPr>
                  <a:t>福岡</a:t>
                </a:r>
                <a:endParaRPr kumimoji="1" lang="ja-JP" altLang="en-US" sz="1000" b="1">
                  <a:latin typeface="メイリオ" panose="020B0604030504040204" pitchFamily="50" charset="-128"/>
                  <a:ea typeface="メイリオ" panose="020B0604030504040204" pitchFamily="50" charset="-128"/>
                </a:endParaRPr>
              </a:p>
            </p:txBody>
          </p:sp>
        </p:grpSp>
        <p:grpSp>
          <p:nvGrpSpPr>
            <p:cNvPr id="68" name="グループ化 67">
              <a:extLst>
                <a:ext uri="{FF2B5EF4-FFF2-40B4-BE49-F238E27FC236}">
                  <a16:creationId xmlns:a16="http://schemas.microsoft.com/office/drawing/2014/main" id="{255650D7-8FC8-245F-92E7-A8A9F53E53B2}"/>
                </a:ext>
              </a:extLst>
            </p:cNvPr>
            <p:cNvGrpSpPr/>
            <p:nvPr/>
          </p:nvGrpSpPr>
          <p:grpSpPr>
            <a:xfrm>
              <a:off x="2175330" y="5120919"/>
              <a:ext cx="473085" cy="284821"/>
              <a:chOff x="6448140" y="3731889"/>
              <a:chExt cx="473085" cy="284821"/>
            </a:xfrm>
          </p:grpSpPr>
          <p:sp>
            <p:nvSpPr>
              <p:cNvPr id="154" name="楕円 153">
                <a:extLst>
                  <a:ext uri="{FF2B5EF4-FFF2-40B4-BE49-F238E27FC236}">
                    <a16:creationId xmlns:a16="http://schemas.microsoft.com/office/drawing/2014/main" id="{A806468B-667A-EF3A-A3B5-77671207FFBD}"/>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55" name="直線コネクタ 154">
                <a:extLst>
                  <a:ext uri="{FF2B5EF4-FFF2-40B4-BE49-F238E27FC236}">
                    <a16:creationId xmlns:a16="http://schemas.microsoft.com/office/drawing/2014/main" id="{EC6C659E-D819-48A1-85B4-0A7DEA8BD6B0}"/>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56" name="テキスト ボックス 155">
                <a:extLst>
                  <a:ext uri="{FF2B5EF4-FFF2-40B4-BE49-F238E27FC236}">
                    <a16:creationId xmlns:a16="http://schemas.microsoft.com/office/drawing/2014/main" id="{5DA7A3DA-9EE3-502E-B5C2-9230E9A2B0B0}"/>
                  </a:ext>
                </a:extLst>
              </p:cNvPr>
              <p:cNvSpPr txBox="1"/>
              <p:nvPr/>
            </p:nvSpPr>
            <p:spPr>
              <a:xfrm>
                <a:off x="6480079" y="3770489"/>
                <a:ext cx="441146" cy="246221"/>
              </a:xfrm>
              <a:prstGeom prst="rect">
                <a:avLst/>
              </a:prstGeom>
              <a:noFill/>
            </p:spPr>
            <p:txBody>
              <a:bodyPr wrap="none" rtlCol="0">
                <a:spAutoFit/>
              </a:bodyPr>
              <a:lstStyle/>
              <a:p>
                <a:pPr algn="ctr"/>
                <a:r>
                  <a:rPr lang="ja-JP" altLang="en-US" sz="1000" b="1">
                    <a:latin typeface="メイリオ" panose="020B0604030504040204" pitchFamily="50" charset="-128"/>
                    <a:ea typeface="メイリオ" panose="020B0604030504040204" pitchFamily="50" charset="-128"/>
                  </a:rPr>
                  <a:t>熊本</a:t>
                </a:r>
                <a:endParaRPr kumimoji="1" lang="ja-JP" altLang="en-US" sz="1000" b="1">
                  <a:latin typeface="メイリオ" panose="020B0604030504040204" pitchFamily="50" charset="-128"/>
                  <a:ea typeface="メイリオ" panose="020B0604030504040204" pitchFamily="50" charset="-128"/>
                </a:endParaRPr>
              </a:p>
            </p:txBody>
          </p:sp>
        </p:grpSp>
        <p:grpSp>
          <p:nvGrpSpPr>
            <p:cNvPr id="81" name="グループ化 80">
              <a:extLst>
                <a:ext uri="{FF2B5EF4-FFF2-40B4-BE49-F238E27FC236}">
                  <a16:creationId xmlns:a16="http://schemas.microsoft.com/office/drawing/2014/main" id="{3F45BB69-7517-A075-C432-2C4BFF8B9AB3}"/>
                </a:ext>
              </a:extLst>
            </p:cNvPr>
            <p:cNvGrpSpPr/>
            <p:nvPr/>
          </p:nvGrpSpPr>
          <p:grpSpPr>
            <a:xfrm>
              <a:off x="2458723" y="4404236"/>
              <a:ext cx="441146" cy="361796"/>
              <a:chOff x="6276889" y="3521824"/>
              <a:chExt cx="441146" cy="361796"/>
            </a:xfrm>
          </p:grpSpPr>
          <p:sp>
            <p:nvSpPr>
              <p:cNvPr id="151" name="楕円 150">
                <a:extLst>
                  <a:ext uri="{FF2B5EF4-FFF2-40B4-BE49-F238E27FC236}">
                    <a16:creationId xmlns:a16="http://schemas.microsoft.com/office/drawing/2014/main" id="{92B826F3-2392-45EA-3BDA-61DF2F24CC4A}"/>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52" name="直線コネクタ 151">
                <a:extLst>
                  <a:ext uri="{FF2B5EF4-FFF2-40B4-BE49-F238E27FC236}">
                    <a16:creationId xmlns:a16="http://schemas.microsoft.com/office/drawing/2014/main" id="{DC51FE7B-B32E-61B9-8EFE-AE943B7DB0B1}"/>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53" name="テキスト ボックス 152">
                <a:extLst>
                  <a:ext uri="{FF2B5EF4-FFF2-40B4-BE49-F238E27FC236}">
                    <a16:creationId xmlns:a16="http://schemas.microsoft.com/office/drawing/2014/main" id="{087B367A-B5C4-43B3-4CCE-FA810BA17F41}"/>
                  </a:ext>
                </a:extLst>
              </p:cNvPr>
              <p:cNvSpPr txBox="1"/>
              <p:nvPr/>
            </p:nvSpPr>
            <p:spPr>
              <a:xfrm>
                <a:off x="6276889" y="3521824"/>
                <a:ext cx="441146" cy="246221"/>
              </a:xfrm>
              <a:prstGeom prst="rect">
                <a:avLst/>
              </a:prstGeom>
              <a:noFill/>
            </p:spPr>
            <p:txBody>
              <a:bodyPr wrap="none" rtlCol="0">
                <a:spAutoFit/>
              </a:bodyPr>
              <a:lstStyle/>
              <a:p>
                <a:pPr algn="ctr"/>
                <a:r>
                  <a:rPr lang="ja-JP" altLang="en-US" sz="1000" b="1">
                    <a:latin typeface="メイリオ" panose="020B0604030504040204" pitchFamily="50" charset="-128"/>
                    <a:ea typeface="メイリオ" panose="020B0604030504040204" pitchFamily="50" charset="-128"/>
                  </a:rPr>
                  <a:t>広島</a:t>
                </a:r>
                <a:endParaRPr kumimoji="1" lang="ja-JP" altLang="en-US" sz="1000" b="1">
                  <a:latin typeface="メイリオ" panose="020B0604030504040204" pitchFamily="50" charset="-128"/>
                  <a:ea typeface="メイリオ" panose="020B0604030504040204" pitchFamily="50" charset="-128"/>
                </a:endParaRPr>
              </a:p>
            </p:txBody>
          </p:sp>
        </p:grpSp>
        <p:grpSp>
          <p:nvGrpSpPr>
            <p:cNvPr id="83" name="グループ化 82">
              <a:extLst>
                <a:ext uri="{FF2B5EF4-FFF2-40B4-BE49-F238E27FC236}">
                  <a16:creationId xmlns:a16="http://schemas.microsoft.com/office/drawing/2014/main" id="{AA19D660-22BE-9300-A02E-EAFA7C79C9BE}"/>
                </a:ext>
              </a:extLst>
            </p:cNvPr>
            <p:cNvGrpSpPr/>
            <p:nvPr/>
          </p:nvGrpSpPr>
          <p:grpSpPr>
            <a:xfrm>
              <a:off x="2880800" y="4646552"/>
              <a:ext cx="441146" cy="386180"/>
              <a:chOff x="6276884" y="3731889"/>
              <a:chExt cx="441146" cy="386180"/>
            </a:xfrm>
          </p:grpSpPr>
          <p:sp>
            <p:nvSpPr>
              <p:cNvPr id="148" name="楕円 147">
                <a:extLst>
                  <a:ext uri="{FF2B5EF4-FFF2-40B4-BE49-F238E27FC236}">
                    <a16:creationId xmlns:a16="http://schemas.microsoft.com/office/drawing/2014/main" id="{99A5C6A9-298A-6FAA-06A7-2DDCED66E2C2}"/>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49" name="直線コネクタ 148">
                <a:extLst>
                  <a:ext uri="{FF2B5EF4-FFF2-40B4-BE49-F238E27FC236}">
                    <a16:creationId xmlns:a16="http://schemas.microsoft.com/office/drawing/2014/main" id="{D7ED042E-64E0-58BD-8526-E8202B1AE84A}"/>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50" name="テキスト ボックス 149">
                <a:extLst>
                  <a:ext uri="{FF2B5EF4-FFF2-40B4-BE49-F238E27FC236}">
                    <a16:creationId xmlns:a16="http://schemas.microsoft.com/office/drawing/2014/main" id="{65573D89-B812-6E5E-8F79-51C5D2FEE048}"/>
                  </a:ext>
                </a:extLst>
              </p:cNvPr>
              <p:cNvSpPr txBox="1"/>
              <p:nvPr/>
            </p:nvSpPr>
            <p:spPr>
              <a:xfrm>
                <a:off x="6276884" y="3871848"/>
                <a:ext cx="441146" cy="246221"/>
              </a:xfrm>
              <a:prstGeom prst="rect">
                <a:avLst/>
              </a:prstGeom>
              <a:noFill/>
            </p:spPr>
            <p:txBody>
              <a:bodyPr wrap="none" rtlCol="0">
                <a:spAutoFit/>
              </a:bodyPr>
              <a:lstStyle/>
              <a:p>
                <a:pPr algn="ctr"/>
                <a:r>
                  <a:rPr lang="ja-JP" altLang="en-US" sz="1000" b="1">
                    <a:latin typeface="メイリオ" panose="020B0604030504040204" pitchFamily="50" charset="-128"/>
                    <a:ea typeface="メイリオ" panose="020B0604030504040204" pitchFamily="50" charset="-128"/>
                  </a:rPr>
                  <a:t>高松</a:t>
                </a:r>
                <a:endParaRPr kumimoji="1" lang="ja-JP" altLang="en-US" sz="1000" b="1">
                  <a:latin typeface="メイリオ" panose="020B0604030504040204" pitchFamily="50" charset="-128"/>
                  <a:ea typeface="メイリオ" panose="020B0604030504040204" pitchFamily="50" charset="-128"/>
                </a:endParaRPr>
              </a:p>
            </p:txBody>
          </p:sp>
        </p:grpSp>
        <p:grpSp>
          <p:nvGrpSpPr>
            <p:cNvPr id="106" name="グループ化 105">
              <a:extLst>
                <a:ext uri="{FF2B5EF4-FFF2-40B4-BE49-F238E27FC236}">
                  <a16:creationId xmlns:a16="http://schemas.microsoft.com/office/drawing/2014/main" id="{68252B7D-AADE-DEA8-576B-D06D884DF190}"/>
                </a:ext>
              </a:extLst>
            </p:cNvPr>
            <p:cNvGrpSpPr/>
            <p:nvPr/>
          </p:nvGrpSpPr>
          <p:grpSpPr>
            <a:xfrm>
              <a:off x="2972384" y="4384098"/>
              <a:ext cx="471639" cy="285671"/>
              <a:chOff x="6075135" y="3597949"/>
              <a:chExt cx="471639" cy="285671"/>
            </a:xfrm>
          </p:grpSpPr>
          <p:sp>
            <p:nvSpPr>
              <p:cNvPr id="145" name="楕円 144">
                <a:extLst>
                  <a:ext uri="{FF2B5EF4-FFF2-40B4-BE49-F238E27FC236}">
                    <a16:creationId xmlns:a16="http://schemas.microsoft.com/office/drawing/2014/main" id="{31EF12D6-8E59-E532-3028-3D59C401D98F}"/>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46" name="直線コネクタ 145">
                <a:extLst>
                  <a:ext uri="{FF2B5EF4-FFF2-40B4-BE49-F238E27FC236}">
                    <a16:creationId xmlns:a16="http://schemas.microsoft.com/office/drawing/2014/main" id="{226D27CA-4346-2A74-B7F5-113BB59D08CA}"/>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47" name="テキスト ボックス 146">
                <a:extLst>
                  <a:ext uri="{FF2B5EF4-FFF2-40B4-BE49-F238E27FC236}">
                    <a16:creationId xmlns:a16="http://schemas.microsoft.com/office/drawing/2014/main" id="{BB005312-5084-7130-D04D-DFBA8ACBE30C}"/>
                  </a:ext>
                </a:extLst>
              </p:cNvPr>
              <p:cNvSpPr txBox="1"/>
              <p:nvPr/>
            </p:nvSpPr>
            <p:spPr>
              <a:xfrm>
                <a:off x="6075135" y="3597949"/>
                <a:ext cx="441146" cy="246221"/>
              </a:xfrm>
              <a:prstGeom prst="rect">
                <a:avLst/>
              </a:prstGeom>
              <a:noFill/>
            </p:spPr>
            <p:txBody>
              <a:bodyPr wrap="none" rtlCol="0">
                <a:spAutoFit/>
              </a:bodyPr>
              <a:lstStyle/>
              <a:p>
                <a:pPr algn="ctr"/>
                <a:r>
                  <a:rPr lang="ja-JP" altLang="en-US" sz="1000" b="1">
                    <a:latin typeface="メイリオ" panose="020B0604030504040204" pitchFamily="50" charset="-128"/>
                    <a:ea typeface="メイリオ" panose="020B0604030504040204" pitchFamily="50" charset="-128"/>
                  </a:rPr>
                  <a:t>神戸</a:t>
                </a:r>
                <a:endParaRPr kumimoji="1" lang="ja-JP" altLang="en-US" sz="1000" b="1">
                  <a:latin typeface="メイリオ" panose="020B0604030504040204" pitchFamily="50" charset="-128"/>
                  <a:ea typeface="メイリオ" panose="020B0604030504040204" pitchFamily="50" charset="-128"/>
                </a:endParaRPr>
              </a:p>
            </p:txBody>
          </p:sp>
        </p:grpSp>
        <p:grpSp>
          <p:nvGrpSpPr>
            <p:cNvPr id="110" name="グループ化 109">
              <a:extLst>
                <a:ext uri="{FF2B5EF4-FFF2-40B4-BE49-F238E27FC236}">
                  <a16:creationId xmlns:a16="http://schemas.microsoft.com/office/drawing/2014/main" id="{33D7ABA0-F078-5DB2-46D3-8113F590E9DC}"/>
                </a:ext>
              </a:extLst>
            </p:cNvPr>
            <p:cNvGrpSpPr/>
            <p:nvPr/>
          </p:nvGrpSpPr>
          <p:grpSpPr>
            <a:xfrm>
              <a:off x="3319336" y="4537088"/>
              <a:ext cx="441146" cy="386180"/>
              <a:chOff x="6326202" y="3731889"/>
              <a:chExt cx="441146" cy="386180"/>
            </a:xfrm>
          </p:grpSpPr>
          <p:sp>
            <p:nvSpPr>
              <p:cNvPr id="142" name="楕円 141">
                <a:extLst>
                  <a:ext uri="{FF2B5EF4-FFF2-40B4-BE49-F238E27FC236}">
                    <a16:creationId xmlns:a16="http://schemas.microsoft.com/office/drawing/2014/main" id="{88FD3065-AA7F-838C-B1C1-423DFD0EACCC}"/>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43" name="直線コネクタ 142">
                <a:extLst>
                  <a:ext uri="{FF2B5EF4-FFF2-40B4-BE49-F238E27FC236}">
                    <a16:creationId xmlns:a16="http://schemas.microsoft.com/office/drawing/2014/main" id="{92E80239-8566-1A20-B8F6-3EF876ADE9F2}"/>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44" name="テキスト ボックス 143">
                <a:extLst>
                  <a:ext uri="{FF2B5EF4-FFF2-40B4-BE49-F238E27FC236}">
                    <a16:creationId xmlns:a16="http://schemas.microsoft.com/office/drawing/2014/main" id="{305A2B5C-95B5-2FC5-4FB5-D82CA45FC108}"/>
                  </a:ext>
                </a:extLst>
              </p:cNvPr>
              <p:cNvSpPr txBox="1"/>
              <p:nvPr/>
            </p:nvSpPr>
            <p:spPr>
              <a:xfrm>
                <a:off x="6326202" y="3871848"/>
                <a:ext cx="441146" cy="246221"/>
              </a:xfrm>
              <a:prstGeom prst="rect">
                <a:avLst/>
              </a:prstGeom>
              <a:noFill/>
            </p:spPr>
            <p:txBody>
              <a:bodyPr wrap="none" rtlCol="0">
                <a:spAutoFit/>
              </a:bodyPr>
              <a:lstStyle/>
              <a:p>
                <a:pPr algn="ctr"/>
                <a:r>
                  <a:rPr lang="ja-JP" altLang="en-US" sz="1000" b="1">
                    <a:latin typeface="メイリオ" panose="020B0604030504040204" pitchFamily="50" charset="-128"/>
                    <a:ea typeface="メイリオ" panose="020B0604030504040204" pitchFamily="50" charset="-128"/>
                  </a:rPr>
                  <a:t>大阪</a:t>
                </a:r>
                <a:endParaRPr kumimoji="1" lang="ja-JP" altLang="en-US" sz="1000" b="1">
                  <a:latin typeface="メイリオ" panose="020B0604030504040204" pitchFamily="50" charset="-128"/>
                  <a:ea typeface="メイリオ" panose="020B0604030504040204" pitchFamily="50" charset="-128"/>
                </a:endParaRPr>
              </a:p>
            </p:txBody>
          </p:sp>
        </p:grpSp>
        <p:grpSp>
          <p:nvGrpSpPr>
            <p:cNvPr id="111" name="グループ化 110">
              <a:extLst>
                <a:ext uri="{FF2B5EF4-FFF2-40B4-BE49-F238E27FC236}">
                  <a16:creationId xmlns:a16="http://schemas.microsoft.com/office/drawing/2014/main" id="{CCA14F02-1AEE-927D-9BF7-A2CB4339DB78}"/>
                </a:ext>
              </a:extLst>
            </p:cNvPr>
            <p:cNvGrpSpPr/>
            <p:nvPr/>
          </p:nvGrpSpPr>
          <p:grpSpPr>
            <a:xfrm>
              <a:off x="3371516" y="4124239"/>
              <a:ext cx="441146" cy="379487"/>
              <a:chOff x="6353363" y="3504133"/>
              <a:chExt cx="441146" cy="379487"/>
            </a:xfrm>
          </p:grpSpPr>
          <p:sp>
            <p:nvSpPr>
              <p:cNvPr id="139" name="楕円 138">
                <a:extLst>
                  <a:ext uri="{FF2B5EF4-FFF2-40B4-BE49-F238E27FC236}">
                    <a16:creationId xmlns:a16="http://schemas.microsoft.com/office/drawing/2014/main" id="{138C17F5-B5E3-87B4-64A8-D84624B626D6}"/>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40" name="直線コネクタ 139">
                <a:extLst>
                  <a:ext uri="{FF2B5EF4-FFF2-40B4-BE49-F238E27FC236}">
                    <a16:creationId xmlns:a16="http://schemas.microsoft.com/office/drawing/2014/main" id="{F3142AD0-8157-2DCF-79C7-C7951AA34430}"/>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41" name="テキスト ボックス 140">
                <a:extLst>
                  <a:ext uri="{FF2B5EF4-FFF2-40B4-BE49-F238E27FC236}">
                    <a16:creationId xmlns:a16="http://schemas.microsoft.com/office/drawing/2014/main" id="{7BAE98A3-0C7A-BC80-A653-D04862BE01A8}"/>
                  </a:ext>
                </a:extLst>
              </p:cNvPr>
              <p:cNvSpPr txBox="1"/>
              <p:nvPr/>
            </p:nvSpPr>
            <p:spPr>
              <a:xfrm>
                <a:off x="6353363" y="3504133"/>
                <a:ext cx="441146" cy="246221"/>
              </a:xfrm>
              <a:prstGeom prst="rect">
                <a:avLst/>
              </a:prstGeom>
              <a:noFill/>
            </p:spPr>
            <p:txBody>
              <a:bodyPr wrap="none" rtlCol="0">
                <a:spAutoFit/>
              </a:bodyPr>
              <a:lstStyle/>
              <a:p>
                <a:pPr algn="ctr"/>
                <a:r>
                  <a:rPr kumimoji="1" lang="ja-JP" altLang="en-US" sz="1000" b="1">
                    <a:latin typeface="メイリオ" panose="020B0604030504040204" pitchFamily="50" charset="-128"/>
                    <a:ea typeface="メイリオ" panose="020B0604030504040204" pitchFamily="50" charset="-128"/>
                  </a:rPr>
                  <a:t>京都</a:t>
                </a:r>
              </a:p>
            </p:txBody>
          </p:sp>
        </p:grpSp>
        <p:grpSp>
          <p:nvGrpSpPr>
            <p:cNvPr id="114" name="グループ化 113">
              <a:extLst>
                <a:ext uri="{FF2B5EF4-FFF2-40B4-BE49-F238E27FC236}">
                  <a16:creationId xmlns:a16="http://schemas.microsoft.com/office/drawing/2014/main" id="{389294A3-1AAD-BE01-2024-99A7BACAF207}"/>
                </a:ext>
              </a:extLst>
            </p:cNvPr>
            <p:cNvGrpSpPr/>
            <p:nvPr/>
          </p:nvGrpSpPr>
          <p:grpSpPr>
            <a:xfrm>
              <a:off x="3568910" y="4385700"/>
              <a:ext cx="569388" cy="378149"/>
              <a:chOff x="6219335" y="3731889"/>
              <a:chExt cx="569388" cy="378149"/>
            </a:xfrm>
          </p:grpSpPr>
          <p:sp>
            <p:nvSpPr>
              <p:cNvPr id="136" name="楕円 135">
                <a:extLst>
                  <a:ext uri="{FF2B5EF4-FFF2-40B4-BE49-F238E27FC236}">
                    <a16:creationId xmlns:a16="http://schemas.microsoft.com/office/drawing/2014/main" id="{26108F50-2761-993D-7346-8FFD715F5728}"/>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37" name="直線コネクタ 136">
                <a:extLst>
                  <a:ext uri="{FF2B5EF4-FFF2-40B4-BE49-F238E27FC236}">
                    <a16:creationId xmlns:a16="http://schemas.microsoft.com/office/drawing/2014/main" id="{DFA520A8-30E4-A320-BDE4-243D82286AEC}"/>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38" name="テキスト ボックス 137">
                <a:extLst>
                  <a:ext uri="{FF2B5EF4-FFF2-40B4-BE49-F238E27FC236}">
                    <a16:creationId xmlns:a16="http://schemas.microsoft.com/office/drawing/2014/main" id="{3254831F-C27B-2FC7-97F0-666AD858464B}"/>
                  </a:ext>
                </a:extLst>
              </p:cNvPr>
              <p:cNvSpPr txBox="1"/>
              <p:nvPr/>
            </p:nvSpPr>
            <p:spPr>
              <a:xfrm>
                <a:off x="6219335" y="3863817"/>
                <a:ext cx="569388" cy="246221"/>
              </a:xfrm>
              <a:prstGeom prst="rect">
                <a:avLst/>
              </a:prstGeom>
              <a:noFill/>
            </p:spPr>
            <p:txBody>
              <a:bodyPr wrap="none" rtlCol="0">
                <a:spAutoFit/>
              </a:bodyPr>
              <a:lstStyle/>
              <a:p>
                <a:pPr algn="ctr"/>
                <a:r>
                  <a:rPr lang="ja-JP" altLang="en-US" sz="1000" b="1">
                    <a:latin typeface="メイリオ" panose="020B0604030504040204" pitchFamily="50" charset="-128"/>
                    <a:ea typeface="メイリオ" panose="020B0604030504040204" pitchFamily="50" charset="-128"/>
                  </a:rPr>
                  <a:t>名古屋</a:t>
                </a:r>
                <a:endParaRPr kumimoji="1" lang="ja-JP" altLang="en-US" sz="1000" b="1">
                  <a:latin typeface="メイリオ" panose="020B0604030504040204" pitchFamily="50" charset="-128"/>
                  <a:ea typeface="メイリオ" panose="020B0604030504040204" pitchFamily="50" charset="-128"/>
                </a:endParaRPr>
              </a:p>
            </p:txBody>
          </p:sp>
        </p:grpSp>
        <p:grpSp>
          <p:nvGrpSpPr>
            <p:cNvPr id="115" name="グループ化 114">
              <a:extLst>
                <a:ext uri="{FF2B5EF4-FFF2-40B4-BE49-F238E27FC236}">
                  <a16:creationId xmlns:a16="http://schemas.microsoft.com/office/drawing/2014/main" id="{9E79EA8C-68C0-D1EE-8830-E1A3B15B6DB7}"/>
                </a:ext>
              </a:extLst>
            </p:cNvPr>
            <p:cNvGrpSpPr/>
            <p:nvPr/>
          </p:nvGrpSpPr>
          <p:grpSpPr>
            <a:xfrm>
              <a:off x="4111373" y="4316282"/>
              <a:ext cx="470619" cy="246221"/>
              <a:chOff x="6076155" y="3666565"/>
              <a:chExt cx="470619" cy="246221"/>
            </a:xfrm>
          </p:grpSpPr>
          <p:sp>
            <p:nvSpPr>
              <p:cNvPr id="134" name="楕円 133">
                <a:extLst>
                  <a:ext uri="{FF2B5EF4-FFF2-40B4-BE49-F238E27FC236}">
                    <a16:creationId xmlns:a16="http://schemas.microsoft.com/office/drawing/2014/main" id="{FDFF6F66-E2F9-1B95-538E-C03EB05A8010}"/>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sp>
            <p:nvSpPr>
              <p:cNvPr id="135" name="テキスト ボックス 134">
                <a:extLst>
                  <a:ext uri="{FF2B5EF4-FFF2-40B4-BE49-F238E27FC236}">
                    <a16:creationId xmlns:a16="http://schemas.microsoft.com/office/drawing/2014/main" id="{83782E2C-8EF0-E8C9-D811-C6C3BB876CF7}"/>
                  </a:ext>
                </a:extLst>
              </p:cNvPr>
              <p:cNvSpPr txBox="1"/>
              <p:nvPr/>
            </p:nvSpPr>
            <p:spPr>
              <a:xfrm>
                <a:off x="6076155" y="3666565"/>
                <a:ext cx="441146" cy="246221"/>
              </a:xfrm>
              <a:prstGeom prst="rect">
                <a:avLst/>
              </a:prstGeom>
              <a:noFill/>
            </p:spPr>
            <p:txBody>
              <a:bodyPr wrap="none" rtlCol="0">
                <a:spAutoFit/>
              </a:bodyPr>
              <a:lstStyle/>
              <a:p>
                <a:pPr algn="ctr"/>
                <a:r>
                  <a:rPr lang="ja-JP" altLang="en-US" sz="1000" b="1">
                    <a:latin typeface="メイリオ" panose="020B0604030504040204" pitchFamily="50" charset="-128"/>
                    <a:ea typeface="メイリオ" panose="020B0604030504040204" pitchFamily="50" charset="-128"/>
                  </a:rPr>
                  <a:t>横浜</a:t>
                </a:r>
                <a:endParaRPr kumimoji="1" lang="ja-JP" altLang="en-US" sz="1000" b="1">
                  <a:latin typeface="メイリオ" panose="020B0604030504040204" pitchFamily="50" charset="-128"/>
                  <a:ea typeface="メイリオ" panose="020B0604030504040204" pitchFamily="50" charset="-128"/>
                </a:endParaRPr>
              </a:p>
            </p:txBody>
          </p:sp>
        </p:grpSp>
        <p:grpSp>
          <p:nvGrpSpPr>
            <p:cNvPr id="116" name="グループ化 115">
              <a:extLst>
                <a:ext uri="{FF2B5EF4-FFF2-40B4-BE49-F238E27FC236}">
                  <a16:creationId xmlns:a16="http://schemas.microsoft.com/office/drawing/2014/main" id="{4B8B6E5B-2013-027D-C429-FD40926A662B}"/>
                </a:ext>
              </a:extLst>
            </p:cNvPr>
            <p:cNvGrpSpPr/>
            <p:nvPr/>
          </p:nvGrpSpPr>
          <p:grpSpPr>
            <a:xfrm>
              <a:off x="4105795" y="4160131"/>
              <a:ext cx="473331" cy="251654"/>
              <a:chOff x="6073443" y="3578869"/>
              <a:chExt cx="473331" cy="251654"/>
            </a:xfrm>
          </p:grpSpPr>
          <p:sp>
            <p:nvSpPr>
              <p:cNvPr id="132" name="楕円 131">
                <a:extLst>
                  <a:ext uri="{FF2B5EF4-FFF2-40B4-BE49-F238E27FC236}">
                    <a16:creationId xmlns:a16="http://schemas.microsoft.com/office/drawing/2014/main" id="{FAF2AD3E-2051-8194-F23A-6E5FED482DF9}"/>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sp>
            <p:nvSpPr>
              <p:cNvPr id="133" name="テキスト ボックス 132">
                <a:extLst>
                  <a:ext uri="{FF2B5EF4-FFF2-40B4-BE49-F238E27FC236}">
                    <a16:creationId xmlns:a16="http://schemas.microsoft.com/office/drawing/2014/main" id="{23ABCF27-FD0A-2B68-0202-2AB55F048C80}"/>
                  </a:ext>
                </a:extLst>
              </p:cNvPr>
              <p:cNvSpPr txBox="1"/>
              <p:nvPr/>
            </p:nvSpPr>
            <p:spPr>
              <a:xfrm>
                <a:off x="6073443" y="3578869"/>
                <a:ext cx="441146" cy="246221"/>
              </a:xfrm>
              <a:prstGeom prst="rect">
                <a:avLst/>
              </a:prstGeom>
              <a:noFill/>
            </p:spPr>
            <p:txBody>
              <a:bodyPr wrap="none" rtlCol="0">
                <a:spAutoFit/>
              </a:bodyPr>
              <a:lstStyle/>
              <a:p>
                <a:pPr algn="ctr"/>
                <a:r>
                  <a:rPr kumimoji="1" lang="ja-JP" altLang="en-US" sz="1000" b="1">
                    <a:latin typeface="メイリオ" panose="020B0604030504040204" pitchFamily="50" charset="-128"/>
                    <a:ea typeface="メイリオ" panose="020B0604030504040204" pitchFamily="50" charset="-128"/>
                  </a:rPr>
                  <a:t>川崎</a:t>
                </a:r>
              </a:p>
            </p:txBody>
          </p:sp>
        </p:grpSp>
        <p:sp>
          <p:nvSpPr>
            <p:cNvPr id="117" name="楕円 116">
              <a:extLst>
                <a:ext uri="{FF2B5EF4-FFF2-40B4-BE49-F238E27FC236}">
                  <a16:creationId xmlns:a16="http://schemas.microsoft.com/office/drawing/2014/main" id="{A98E5DDF-ABB5-8B9E-46E1-2A80D461C5FD}"/>
                </a:ext>
              </a:extLst>
            </p:cNvPr>
            <p:cNvSpPr/>
            <p:nvPr/>
          </p:nvSpPr>
          <p:spPr bwMode="auto">
            <a:xfrm>
              <a:off x="4529809" y="42392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sp>
          <p:nvSpPr>
            <p:cNvPr id="118" name="テキスト ボックス 117">
              <a:extLst>
                <a:ext uri="{FF2B5EF4-FFF2-40B4-BE49-F238E27FC236}">
                  <a16:creationId xmlns:a16="http://schemas.microsoft.com/office/drawing/2014/main" id="{C35D8E69-8FE3-14FE-38E7-98DAD4D4559B}"/>
                </a:ext>
              </a:extLst>
            </p:cNvPr>
            <p:cNvSpPr txBox="1"/>
            <p:nvPr/>
          </p:nvSpPr>
          <p:spPr>
            <a:xfrm>
              <a:off x="4547299" y="4480834"/>
              <a:ext cx="441146" cy="246221"/>
            </a:xfrm>
            <a:prstGeom prst="rect">
              <a:avLst/>
            </a:prstGeom>
            <a:noFill/>
          </p:spPr>
          <p:txBody>
            <a:bodyPr wrap="none" rtlCol="0">
              <a:spAutoFit/>
            </a:bodyPr>
            <a:lstStyle/>
            <a:p>
              <a:pPr algn="ctr"/>
              <a:r>
                <a:rPr lang="ja-JP" altLang="en-US" sz="1000" b="1">
                  <a:latin typeface="メイリオ" panose="020B0604030504040204" pitchFamily="50" charset="-128"/>
                  <a:ea typeface="メイリオ" panose="020B0604030504040204" pitchFamily="50" charset="-128"/>
                </a:rPr>
                <a:t>東京</a:t>
              </a:r>
              <a:endParaRPr kumimoji="1" lang="ja-JP" altLang="en-US" sz="1000" b="1">
                <a:latin typeface="メイリオ" panose="020B0604030504040204" pitchFamily="50" charset="-128"/>
                <a:ea typeface="メイリオ" panose="020B0604030504040204" pitchFamily="50" charset="-128"/>
              </a:endParaRPr>
            </a:p>
          </p:txBody>
        </p:sp>
        <p:grpSp>
          <p:nvGrpSpPr>
            <p:cNvPr id="120" name="グループ化 119">
              <a:extLst>
                <a:ext uri="{FF2B5EF4-FFF2-40B4-BE49-F238E27FC236}">
                  <a16:creationId xmlns:a16="http://schemas.microsoft.com/office/drawing/2014/main" id="{44FC5A7A-BA35-F04F-686C-7CEE903371E1}"/>
                </a:ext>
              </a:extLst>
            </p:cNvPr>
            <p:cNvGrpSpPr/>
            <p:nvPr/>
          </p:nvGrpSpPr>
          <p:grpSpPr>
            <a:xfrm>
              <a:off x="4585561" y="4287359"/>
              <a:ext cx="181117" cy="223523"/>
              <a:chOff x="4597373" y="4227106"/>
              <a:chExt cx="181117" cy="223523"/>
            </a:xfrm>
          </p:grpSpPr>
          <p:cxnSp>
            <p:nvCxnSpPr>
              <p:cNvPr id="127" name="直線コネクタ 126">
                <a:extLst>
                  <a:ext uri="{FF2B5EF4-FFF2-40B4-BE49-F238E27FC236}">
                    <a16:creationId xmlns:a16="http://schemas.microsoft.com/office/drawing/2014/main" id="{DB38D37C-D78E-39B3-FA68-2CEBFC2FABF7}"/>
                  </a:ext>
                </a:extLst>
              </p:cNvPr>
              <p:cNvCxnSpPr>
                <a:cxnSpLocks/>
              </p:cNvCxnSpPr>
              <p:nvPr/>
            </p:nvCxnSpPr>
            <p:spPr>
              <a:xfrm>
                <a:off x="4597373" y="4227106"/>
                <a:ext cx="181117" cy="158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直線コネクタ 127">
                <a:extLst>
                  <a:ext uri="{FF2B5EF4-FFF2-40B4-BE49-F238E27FC236}">
                    <a16:creationId xmlns:a16="http://schemas.microsoft.com/office/drawing/2014/main" id="{1AD8F513-6220-7BF1-FBE2-CC9F59675119}"/>
                  </a:ext>
                </a:extLst>
              </p:cNvPr>
              <p:cNvCxnSpPr>
                <a:cxnSpLocks/>
              </p:cNvCxnSpPr>
              <p:nvPr/>
            </p:nvCxnSpPr>
            <p:spPr>
              <a:xfrm>
                <a:off x="4773211" y="4377748"/>
                <a:ext cx="0" cy="7288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1" name="楕円 120">
              <a:extLst>
                <a:ext uri="{FF2B5EF4-FFF2-40B4-BE49-F238E27FC236}">
                  <a16:creationId xmlns:a16="http://schemas.microsoft.com/office/drawing/2014/main" id="{1034B491-4919-5F00-8A7C-8E8F917A0394}"/>
                </a:ext>
              </a:extLst>
            </p:cNvPr>
            <p:cNvSpPr/>
            <p:nvPr/>
          </p:nvSpPr>
          <p:spPr bwMode="auto">
            <a:xfrm>
              <a:off x="4473259" y="4131248"/>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sp>
          <p:nvSpPr>
            <p:cNvPr id="122" name="テキスト ボックス 121">
              <a:extLst>
                <a:ext uri="{FF2B5EF4-FFF2-40B4-BE49-F238E27FC236}">
                  <a16:creationId xmlns:a16="http://schemas.microsoft.com/office/drawing/2014/main" id="{DEFFF978-E330-8974-15CB-E0F49E98DCC0}"/>
                </a:ext>
              </a:extLst>
            </p:cNvPr>
            <p:cNvSpPr txBox="1"/>
            <p:nvPr/>
          </p:nvSpPr>
          <p:spPr>
            <a:xfrm>
              <a:off x="4433504" y="3923144"/>
              <a:ext cx="697627" cy="246221"/>
            </a:xfrm>
            <a:prstGeom prst="rect">
              <a:avLst/>
            </a:prstGeom>
            <a:noFill/>
          </p:spPr>
          <p:txBody>
            <a:bodyPr wrap="none" rtlCol="0">
              <a:spAutoFit/>
            </a:bodyPr>
            <a:lstStyle/>
            <a:p>
              <a:pPr algn="ctr"/>
              <a:r>
                <a:rPr kumimoji="1" lang="ja-JP" altLang="en-US" sz="1000" b="1">
                  <a:latin typeface="メイリオ" panose="020B0604030504040204" pitchFamily="50" charset="-128"/>
                  <a:ea typeface="メイリオ" panose="020B0604030504040204" pitchFamily="50" charset="-128"/>
                </a:rPr>
                <a:t>さいたま</a:t>
              </a:r>
            </a:p>
          </p:txBody>
        </p:sp>
        <p:grpSp>
          <p:nvGrpSpPr>
            <p:cNvPr id="123" name="グループ化 122">
              <a:extLst>
                <a:ext uri="{FF2B5EF4-FFF2-40B4-BE49-F238E27FC236}">
                  <a16:creationId xmlns:a16="http://schemas.microsoft.com/office/drawing/2014/main" id="{04A0D4AE-E6A8-3372-1A71-0E9CAA5B5113}"/>
                </a:ext>
              </a:extLst>
            </p:cNvPr>
            <p:cNvGrpSpPr/>
            <p:nvPr/>
          </p:nvGrpSpPr>
          <p:grpSpPr>
            <a:xfrm>
              <a:off x="4204081" y="3742648"/>
              <a:ext cx="441146" cy="361796"/>
              <a:chOff x="6276889" y="3521824"/>
              <a:chExt cx="441146" cy="361796"/>
            </a:xfrm>
          </p:grpSpPr>
          <p:sp>
            <p:nvSpPr>
              <p:cNvPr id="124" name="楕円 123">
                <a:extLst>
                  <a:ext uri="{FF2B5EF4-FFF2-40B4-BE49-F238E27FC236}">
                    <a16:creationId xmlns:a16="http://schemas.microsoft.com/office/drawing/2014/main" id="{28D7141A-0FDC-336B-2C4F-6465939E20DB}"/>
                  </a:ext>
                </a:extLst>
              </p:cNvPr>
              <p:cNvSpPr/>
              <p:nvPr/>
            </p:nvSpPr>
            <p:spPr bwMode="auto">
              <a:xfrm>
                <a:off x="6448140" y="3731889"/>
                <a:ext cx="98634" cy="986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125" name="直線コネクタ 124">
                <a:extLst>
                  <a:ext uri="{FF2B5EF4-FFF2-40B4-BE49-F238E27FC236}">
                    <a16:creationId xmlns:a16="http://schemas.microsoft.com/office/drawing/2014/main" id="{EBB26EC0-A036-282A-0CDC-F24EB18AD57A}"/>
                  </a:ext>
                </a:extLst>
              </p:cNvPr>
              <p:cNvCxnSpPr>
                <a:cxnSpLocks/>
              </p:cNvCxnSpPr>
              <p:nvPr/>
            </p:nvCxnSpPr>
            <p:spPr>
              <a:xfrm>
                <a:off x="6497457" y="3830523"/>
                <a:ext cx="0" cy="53097"/>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sp>
            <p:nvSpPr>
              <p:cNvPr id="126" name="テキスト ボックス 125">
                <a:extLst>
                  <a:ext uri="{FF2B5EF4-FFF2-40B4-BE49-F238E27FC236}">
                    <a16:creationId xmlns:a16="http://schemas.microsoft.com/office/drawing/2014/main" id="{DB61DF1E-77E7-2742-3A24-469F27305F42}"/>
                  </a:ext>
                </a:extLst>
              </p:cNvPr>
              <p:cNvSpPr txBox="1"/>
              <p:nvPr/>
            </p:nvSpPr>
            <p:spPr>
              <a:xfrm>
                <a:off x="6276889" y="3521824"/>
                <a:ext cx="441146" cy="246221"/>
              </a:xfrm>
              <a:prstGeom prst="rect">
                <a:avLst/>
              </a:prstGeom>
              <a:noFill/>
            </p:spPr>
            <p:txBody>
              <a:bodyPr wrap="none" rtlCol="0">
                <a:spAutoFit/>
              </a:bodyPr>
              <a:lstStyle/>
              <a:p>
                <a:pPr algn="ctr"/>
                <a:r>
                  <a:rPr kumimoji="1" lang="ja-JP" altLang="en-US" sz="1000" b="1">
                    <a:latin typeface="メイリオ" panose="020B0604030504040204" pitchFamily="50" charset="-128"/>
                    <a:ea typeface="メイリオ" panose="020B0604030504040204" pitchFamily="50" charset="-128"/>
                  </a:rPr>
                  <a:t>高崎</a:t>
                </a:r>
              </a:p>
            </p:txBody>
          </p:sp>
        </p:grpSp>
      </p:grpSp>
      <p:sp>
        <p:nvSpPr>
          <p:cNvPr id="5" name="テキスト ボックス 4">
            <a:extLst>
              <a:ext uri="{FF2B5EF4-FFF2-40B4-BE49-F238E27FC236}">
                <a16:creationId xmlns:a16="http://schemas.microsoft.com/office/drawing/2014/main" id="{A98B0B14-F5C2-3D96-FC45-B2BBFB5D63B0}"/>
              </a:ext>
            </a:extLst>
          </p:cNvPr>
          <p:cNvSpPr txBox="1"/>
          <p:nvPr/>
        </p:nvSpPr>
        <p:spPr>
          <a:xfrm>
            <a:off x="2146554" y="819422"/>
            <a:ext cx="3467616" cy="584775"/>
          </a:xfrm>
          <a:prstGeom prst="rect">
            <a:avLst/>
          </a:prstGeom>
          <a:noFill/>
        </p:spPr>
        <p:txBody>
          <a:bodyPr wrap="none" lIns="91440" tIns="45720" rIns="91440" bIns="45720" rtlCol="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ja-JP" altLang="en-US" sz="1600" b="1" i="0">
                <a:solidFill>
                  <a:srgbClr val="222427"/>
                </a:solidFill>
                <a:effectLst/>
                <a:latin typeface="メイリオ" panose="020B0604030504040204" pitchFamily="50" charset="-128"/>
                <a:ea typeface="メイリオ" panose="020B0604030504040204" pitchFamily="50" charset="-128"/>
              </a:rPr>
              <a:t>株式会社クリーク･アンド･リバー社</a:t>
            </a:r>
            <a:br>
              <a:rPr lang="ja-JP" altLang="en-US" sz="1600" b="1">
                <a:latin typeface="メイリオ" panose="020B0604030504040204" pitchFamily="50" charset="-128"/>
                <a:ea typeface="メイリオ" panose="020B0604030504040204" pitchFamily="50" charset="-128"/>
              </a:rPr>
            </a:br>
            <a:r>
              <a:rPr lang="en-US" altLang="ja-JP" sz="1600" b="1" i="0">
                <a:solidFill>
                  <a:srgbClr val="222427"/>
                </a:solidFill>
                <a:effectLst/>
                <a:latin typeface="メイリオ" panose="020B0604030504040204" pitchFamily="50" charset="-128"/>
                <a:ea typeface="メイリオ" panose="020B0604030504040204" pitchFamily="50" charset="-128"/>
              </a:rPr>
              <a:t>CREEK &amp; RIVER Co., Ltd.</a:t>
            </a:r>
            <a:endParaRPr kumimoji="1" lang="ja-JP" altLang="en-US" sz="1600" b="1"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71B7295-F568-3D2E-077D-F2FD49AEE25F}"/>
              </a:ext>
            </a:extLst>
          </p:cNvPr>
          <p:cNvSpPr/>
          <p:nvPr/>
        </p:nvSpPr>
        <p:spPr>
          <a:xfrm>
            <a:off x="659653" y="801614"/>
            <a:ext cx="1366455" cy="523220"/>
          </a:xfrm>
          <a:prstGeom prst="rect">
            <a:avLst/>
          </a:prstGeom>
          <a:solidFill>
            <a:schemeClr val="bg2"/>
          </a:solidFill>
          <a:ln w="26425" cap="flat" cmpd="sng" algn="ctr">
            <a:noFill/>
            <a:prstDash val="solid"/>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0" cap="none" spc="0" normalizeH="0" baseline="0" noProof="0">
                <a:ln>
                  <a:noFill/>
                </a:ln>
                <a:effectLst/>
                <a:uLnTx/>
                <a:uFillTx/>
                <a:latin typeface="メイリオ" panose="020B0604030504040204" pitchFamily="50" charset="-128"/>
                <a:ea typeface="メイリオ" panose="020B0604030504040204" pitchFamily="50" charset="-128"/>
              </a:rPr>
              <a:t>社名</a:t>
            </a:r>
          </a:p>
        </p:txBody>
      </p:sp>
      <p:sp>
        <p:nvSpPr>
          <p:cNvPr id="10" name="テキスト ボックス 9">
            <a:extLst>
              <a:ext uri="{FF2B5EF4-FFF2-40B4-BE49-F238E27FC236}">
                <a16:creationId xmlns:a16="http://schemas.microsoft.com/office/drawing/2014/main" id="{4B2A0188-41E7-157D-FACB-85767D2C794D}"/>
              </a:ext>
            </a:extLst>
          </p:cNvPr>
          <p:cNvSpPr txBox="1"/>
          <p:nvPr/>
        </p:nvSpPr>
        <p:spPr>
          <a:xfrm>
            <a:off x="2146553" y="1397961"/>
            <a:ext cx="7335522" cy="276999"/>
          </a:xfrm>
          <a:prstGeom prst="rect">
            <a:avLst/>
          </a:prstGeom>
          <a:noFill/>
        </p:spPr>
        <p:txBody>
          <a:bodyPr wrap="square" lIns="91440" tIns="45720" rIns="91440" bIns="45720" rtlCol="0" anchor="t">
            <a:spAutoFit/>
          </a:bodyPr>
          <a:lstStyle/>
          <a:p>
            <a:pPr eaLnBrk="0" fontAlgn="base" hangingPunct="0">
              <a:spcBef>
                <a:spcPct val="0"/>
              </a:spcBef>
              <a:spcAft>
                <a:spcPct val="0"/>
              </a:spcAft>
              <a:defRPr/>
            </a:pP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a:t>
            </a:r>
            <a:r>
              <a:rPr kumimoji="1" lang="en-US" altLang="ja-JP"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105-0004</a:t>
            </a:r>
            <a:r>
              <a:rPr lang="en-US" altLang="ja-JP" sz="1200">
                <a:solidFill>
                  <a:srgbClr val="000000"/>
                </a:solidFill>
                <a:latin typeface="メイリオ" panose="020B0604030504040204" pitchFamily="50" charset="-128"/>
                <a:ea typeface="メイリオ" panose="020B0604030504040204" pitchFamily="50" charset="-128"/>
              </a:rPr>
              <a:t> </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 東京都港区新橋四丁目</a:t>
            </a:r>
            <a:r>
              <a:rPr lang="en-US" altLang="ja-JP" sz="1200">
                <a:solidFill>
                  <a:srgbClr val="000000"/>
                </a:solidFill>
                <a:latin typeface="メイリオ" panose="020B0604030504040204" pitchFamily="50" charset="-128"/>
                <a:ea typeface="メイリオ" panose="020B0604030504040204" pitchFamily="50" charset="-128"/>
              </a:rPr>
              <a:t>１</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番</a:t>
            </a:r>
            <a:r>
              <a:rPr lang="en-US" sz="1200">
                <a:solidFill>
                  <a:srgbClr val="000000"/>
                </a:solidFill>
                <a:latin typeface="メイリオ" panose="020B0604030504040204" pitchFamily="50" charset="-128"/>
                <a:ea typeface="メイリオ" panose="020B0604030504040204" pitchFamily="50" charset="-128"/>
              </a:rPr>
              <a:t>１</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号　新虎通り</a:t>
            </a:r>
            <a:r>
              <a:rPr kumimoji="1" lang="en-US" altLang="ja-JP"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CORE</a:t>
            </a:r>
            <a:r>
              <a:rPr lang="ja-JP" altLang="en-US" sz="1200">
                <a:solidFill>
                  <a:srgbClr val="000000"/>
                </a:solidFill>
                <a:latin typeface="メイリオ" panose="020B0604030504040204" pitchFamily="50" charset="-128"/>
                <a:ea typeface="メイリオ" panose="020B0604030504040204" pitchFamily="50" charset="-128"/>
              </a:rPr>
              <a:t>４</a:t>
            </a:r>
            <a:r>
              <a:rPr lang="en-US" altLang="ja-JP" sz="1200">
                <a:solidFill>
                  <a:srgbClr val="000000"/>
                </a:solidFill>
                <a:latin typeface="メイリオ" panose="020B0604030504040204" pitchFamily="50" charset="-128"/>
                <a:ea typeface="メイリオ" panose="020B0604030504040204" pitchFamily="50" charset="-128"/>
              </a:rPr>
              <a:t>-14F</a:t>
            </a:r>
            <a:endParaRPr kumimoji="1" lang="en-US" altLang="ja-JP"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DEC7D3D9-D864-7F5F-E144-97A3C342F303}"/>
              </a:ext>
            </a:extLst>
          </p:cNvPr>
          <p:cNvSpPr txBox="1"/>
          <p:nvPr/>
        </p:nvSpPr>
        <p:spPr>
          <a:xfrm>
            <a:off x="2146553" y="2786737"/>
            <a:ext cx="1377300" cy="276999"/>
          </a:xfrm>
          <a:prstGeom prst="rect">
            <a:avLst/>
          </a:prstGeom>
          <a:noFill/>
        </p:spPr>
        <p:txBody>
          <a:bodyPr wrap="none" lIns="91440" tIns="45720" rIns="91440" bIns="45720" rtlCol="0" anchor="t">
            <a:spAutoFit/>
          </a:bodyPr>
          <a:lstStyle/>
          <a:p>
            <a:pPr eaLnBrk="0" fontAlgn="base" hangingPunct="0">
              <a:spcBef>
                <a:spcPct val="0"/>
              </a:spcBef>
              <a:spcAft>
                <a:spcPct val="0"/>
              </a:spcAft>
              <a:defRPr/>
            </a:pPr>
            <a:r>
              <a:rPr kumimoji="1" lang="en-US" altLang="ja-JP"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1990</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年</a:t>
            </a:r>
            <a:r>
              <a:rPr lang="ja-JP" altLang="en-US" sz="1200">
                <a:solidFill>
                  <a:srgbClr val="000000"/>
                </a:solidFill>
                <a:latin typeface="メイリオ" panose="020B0604030504040204" pitchFamily="50" charset="-128"/>
                <a:ea typeface="メイリオ" panose="020B0604030504040204" pitchFamily="50" charset="-128"/>
              </a:rPr>
              <a:t>３</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月</a:t>
            </a:r>
            <a:r>
              <a:rPr kumimoji="1" lang="en-US" altLang="ja-JP"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20</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日</a:t>
            </a:r>
            <a:endParaRPr lang="ja-JP" altLang="en-US" sz="14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3ED717B5-81D7-B92C-96C6-F77B89EB5E95}"/>
              </a:ext>
            </a:extLst>
          </p:cNvPr>
          <p:cNvSpPr txBox="1"/>
          <p:nvPr/>
        </p:nvSpPr>
        <p:spPr>
          <a:xfrm>
            <a:off x="2146554" y="4594896"/>
            <a:ext cx="1197764" cy="276999"/>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11</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億</a:t>
            </a:r>
            <a:r>
              <a:rPr kumimoji="1" lang="en-US" altLang="ja-JP"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7719</a:t>
            </a:r>
            <a:r>
              <a:rPr kumimoji="1" lang="ja-JP" altLang="en-US" sz="11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万円</a:t>
            </a:r>
            <a:endPar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D12AAF92-7A1C-B024-A40B-52ECE5AFCA7C}"/>
              </a:ext>
            </a:extLst>
          </p:cNvPr>
          <p:cNvSpPr txBox="1"/>
          <p:nvPr/>
        </p:nvSpPr>
        <p:spPr>
          <a:xfrm>
            <a:off x="2146554" y="3248248"/>
            <a:ext cx="4867421" cy="461665"/>
          </a:xfrm>
          <a:prstGeom prst="rect">
            <a:avLst/>
          </a:prstGeom>
          <a:noFill/>
        </p:spPr>
        <p:txBody>
          <a:bodyPr wrap="square" lIns="91440" tIns="45720" rIns="91440" bIns="45720" rtlCol="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ja-JP" altLang="en-US" sz="1200" b="0" i="0">
                <a:solidFill>
                  <a:srgbClr val="222427"/>
                </a:solidFill>
                <a:effectLst/>
                <a:latin typeface="メイリオ" panose="020B0604030504040204" pitchFamily="50" charset="-128"/>
                <a:ea typeface="メイリオ" panose="020B0604030504040204" pitchFamily="50" charset="-128"/>
              </a:rPr>
              <a:t>東京証券取引所 プライム市場</a:t>
            </a:r>
            <a:br>
              <a:rPr lang="ja-JP" altLang="en-US" sz="1200">
                <a:latin typeface="メイリオ" panose="020B0604030504040204" pitchFamily="50" charset="-128"/>
                <a:ea typeface="メイリオ" panose="020B0604030504040204" pitchFamily="50" charset="-128"/>
              </a:rPr>
            </a:br>
            <a:r>
              <a:rPr lang="ja-JP" altLang="en-US" sz="1200" b="0" i="0">
                <a:solidFill>
                  <a:srgbClr val="222427"/>
                </a:solidFill>
                <a:effectLst/>
                <a:latin typeface="メイリオ" panose="020B0604030504040204" pitchFamily="50" charset="-128"/>
                <a:ea typeface="メイリオ" panose="020B0604030504040204" pitchFamily="50" charset="-128"/>
              </a:rPr>
              <a:t>証券コード：</a:t>
            </a:r>
            <a:r>
              <a:rPr lang="en-US" altLang="ja-JP" sz="1200" b="0" i="0">
                <a:solidFill>
                  <a:srgbClr val="222427"/>
                </a:solidFill>
                <a:effectLst/>
                <a:latin typeface="メイリオ" panose="020B0604030504040204" pitchFamily="50" charset="-128"/>
                <a:ea typeface="メイリオ" panose="020B0604030504040204" pitchFamily="50" charset="-128"/>
              </a:rPr>
              <a:t>4763</a:t>
            </a:r>
            <a:endParaRPr kumimoji="1" lang="ja-JP" altLang="en-US" sz="1200" b="0" i="0" u="none" strike="noStrike" kern="1200" cap="none" spc="0" normalizeH="0" baseline="0" noProof="0">
              <a:ln>
                <a:noFill/>
              </a:ln>
              <a:solidFill>
                <a:prstClr val="black">
                  <a:lumMod val="75000"/>
                  <a:lumOff val="25000"/>
                </a:prstClr>
              </a:solidFill>
              <a:effectLst/>
              <a:uLnTx/>
              <a:uFillTx/>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F5D3DE22-58E8-5D58-9F62-0906C304BE2C}"/>
              </a:ext>
            </a:extLst>
          </p:cNvPr>
          <p:cNvSpPr txBox="1"/>
          <p:nvPr/>
        </p:nvSpPr>
        <p:spPr>
          <a:xfrm>
            <a:off x="2146554" y="3823427"/>
            <a:ext cx="1907895" cy="623248"/>
          </a:xfrm>
          <a:prstGeom prst="rect">
            <a:avLst/>
          </a:prstGeom>
          <a:noFill/>
        </p:spPr>
        <p:txBody>
          <a:bodyPr wrap="non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代表取締役会長（</a:t>
            </a:r>
            <a:r>
              <a:rPr lang="en-US" altLang="zh-TW" sz="1200" b="0" i="0">
                <a:solidFill>
                  <a:srgbClr val="222427"/>
                </a:solidFill>
                <a:effectLst/>
                <a:latin typeface="メイリオ" panose="020B0604030504040204" pitchFamily="50" charset="-128"/>
                <a:ea typeface="メイリオ" panose="020B0604030504040204" pitchFamily="50" charset="-128"/>
              </a:rPr>
              <a:t>CEO</a:t>
            </a:r>
            <a:r>
              <a:rPr lang="zh-TW" altLang="en-US" sz="1200" b="0" i="0">
                <a:solidFill>
                  <a:srgbClr val="222427"/>
                </a:solidFill>
                <a:effectLst/>
                <a:latin typeface="メイリオ" panose="020B0604030504040204" pitchFamily="50" charset="-128"/>
                <a:ea typeface="メイリオ" panose="020B0604030504040204" pitchFamily="50" charset="-128"/>
              </a:rPr>
              <a:t>）</a:t>
            </a:r>
            <a:endParaRPr lang="en-US" altLang="zh-TW" sz="1200" b="0" i="0">
              <a:solidFill>
                <a:srgbClr val="222427"/>
              </a:solidFill>
              <a:effectLst/>
              <a:latin typeface="メイリオ" panose="020B0604030504040204" pitchFamily="50" charset="-128"/>
              <a:ea typeface="メイリオ" panose="020B0604030504040204" pitchFamily="50" charset="-128"/>
            </a:endParaRPr>
          </a:p>
          <a:p>
            <a:pPr marL="0" marR="0" lvl="0" indent="0" algn="l" defTabSz="914400" rtl="0" eaLnBrk="0" fontAlgn="base" latinLnBrk="0" hangingPunct="0">
              <a:lnSpc>
                <a:spcPct val="150000"/>
              </a:lnSpc>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代表取締役社長（</a:t>
            </a:r>
            <a:r>
              <a:rPr lang="en-US" altLang="zh-TW" sz="1200" b="0" i="0">
                <a:solidFill>
                  <a:srgbClr val="222427"/>
                </a:solidFill>
                <a:effectLst/>
                <a:latin typeface="メイリオ" panose="020B0604030504040204" pitchFamily="50" charset="-128"/>
                <a:ea typeface="メイリオ" panose="020B0604030504040204" pitchFamily="50" charset="-128"/>
              </a:rPr>
              <a:t>COO</a:t>
            </a:r>
            <a:r>
              <a:rPr lang="zh-TW" altLang="en-US" sz="1200" b="0" i="0">
                <a:solidFill>
                  <a:srgbClr val="222427"/>
                </a:solidFill>
                <a:effectLst/>
                <a:latin typeface="メイリオ" panose="020B0604030504040204" pitchFamily="50" charset="-128"/>
                <a:ea typeface="メイリオ" panose="020B0604030504040204" pitchFamily="50" charset="-128"/>
              </a:rPr>
              <a:t>）</a:t>
            </a:r>
            <a:endPar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70E05198-A37F-906A-69FD-6381DBFBD7D4}"/>
              </a:ext>
            </a:extLst>
          </p:cNvPr>
          <p:cNvSpPr/>
          <p:nvPr/>
        </p:nvSpPr>
        <p:spPr>
          <a:xfrm>
            <a:off x="675208" y="1419424"/>
            <a:ext cx="1366455" cy="230032"/>
          </a:xfrm>
          <a:prstGeom prst="rect">
            <a:avLst/>
          </a:prstGeom>
          <a:solidFill>
            <a:schemeClr val="bg2"/>
          </a:solidFill>
          <a:ln w="26425" cap="flat" cmpd="sng" algn="ctr">
            <a:noFill/>
            <a:prstDash val="solid"/>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0" cap="none" spc="0" normalizeH="0" baseline="0" noProof="0">
                <a:ln>
                  <a:noFill/>
                </a:ln>
                <a:effectLst/>
                <a:uLnTx/>
                <a:uFillTx/>
                <a:latin typeface="メイリオ" panose="020B0604030504040204" pitchFamily="50" charset="-128"/>
                <a:ea typeface="メイリオ" panose="020B0604030504040204" pitchFamily="50" charset="-128"/>
              </a:rPr>
              <a:t>本社所在地</a:t>
            </a:r>
          </a:p>
        </p:txBody>
      </p:sp>
      <p:sp>
        <p:nvSpPr>
          <p:cNvPr id="3" name="正方形/長方形 2">
            <a:extLst>
              <a:ext uri="{FF2B5EF4-FFF2-40B4-BE49-F238E27FC236}">
                <a16:creationId xmlns:a16="http://schemas.microsoft.com/office/drawing/2014/main" id="{E8A5FF37-EA0C-C993-6A0E-BBA09D5C8168}"/>
              </a:ext>
            </a:extLst>
          </p:cNvPr>
          <p:cNvSpPr/>
          <p:nvPr/>
        </p:nvSpPr>
        <p:spPr>
          <a:xfrm>
            <a:off x="675208" y="2764222"/>
            <a:ext cx="1366455" cy="375518"/>
          </a:xfrm>
          <a:prstGeom prst="rect">
            <a:avLst/>
          </a:prstGeom>
          <a:solidFill>
            <a:schemeClr val="bg2"/>
          </a:solidFill>
          <a:ln w="26425" cap="flat" cmpd="sng" algn="ctr">
            <a:noFill/>
            <a:prstDash val="solid"/>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0" cap="none" spc="0" normalizeH="0" baseline="0" noProof="0">
                <a:ln>
                  <a:noFill/>
                </a:ln>
                <a:effectLst/>
                <a:uLnTx/>
                <a:uFillTx/>
                <a:latin typeface="メイリオ" panose="020B0604030504040204" pitchFamily="50" charset="-128"/>
                <a:ea typeface="メイリオ" panose="020B0604030504040204" pitchFamily="50" charset="-128"/>
              </a:rPr>
              <a:t>設立年月日</a:t>
            </a:r>
          </a:p>
        </p:txBody>
      </p:sp>
      <p:sp>
        <p:nvSpPr>
          <p:cNvPr id="4" name="正方形/長方形 3">
            <a:extLst>
              <a:ext uri="{FF2B5EF4-FFF2-40B4-BE49-F238E27FC236}">
                <a16:creationId xmlns:a16="http://schemas.microsoft.com/office/drawing/2014/main" id="{4EB36E65-2641-A446-782F-E3BE328FD841}"/>
              </a:ext>
            </a:extLst>
          </p:cNvPr>
          <p:cNvSpPr/>
          <p:nvPr/>
        </p:nvSpPr>
        <p:spPr>
          <a:xfrm>
            <a:off x="675207" y="3234330"/>
            <a:ext cx="1366455" cy="523220"/>
          </a:xfrm>
          <a:prstGeom prst="rect">
            <a:avLst/>
          </a:prstGeom>
          <a:solidFill>
            <a:schemeClr val="bg2"/>
          </a:solidFill>
          <a:ln w="26425" cap="flat" cmpd="sng" algn="ctr">
            <a:noFill/>
            <a:prstDash val="solid"/>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0" cap="none" spc="0" normalizeH="0" baseline="0" noProof="0">
                <a:ln>
                  <a:noFill/>
                </a:ln>
                <a:effectLst/>
                <a:uLnTx/>
                <a:uFillTx/>
                <a:latin typeface="メイリオ" panose="020B0604030504040204" pitchFamily="50" charset="-128"/>
                <a:ea typeface="メイリオ" panose="020B0604030504040204" pitchFamily="50" charset="-128"/>
              </a:rPr>
              <a:t>株式公開市場</a:t>
            </a:r>
          </a:p>
        </p:txBody>
      </p:sp>
      <p:sp>
        <p:nvSpPr>
          <p:cNvPr id="27" name="正方形/長方形 26">
            <a:extLst>
              <a:ext uri="{FF2B5EF4-FFF2-40B4-BE49-F238E27FC236}">
                <a16:creationId xmlns:a16="http://schemas.microsoft.com/office/drawing/2014/main" id="{F9E32616-C876-CEFF-5DDE-3D5334A5F945}"/>
              </a:ext>
            </a:extLst>
          </p:cNvPr>
          <p:cNvSpPr/>
          <p:nvPr/>
        </p:nvSpPr>
        <p:spPr>
          <a:xfrm>
            <a:off x="675207" y="3852140"/>
            <a:ext cx="1366455" cy="523220"/>
          </a:xfrm>
          <a:prstGeom prst="rect">
            <a:avLst/>
          </a:prstGeom>
          <a:solidFill>
            <a:schemeClr val="bg2"/>
          </a:solidFill>
          <a:ln w="26425" cap="flat" cmpd="sng" algn="ctr">
            <a:noFill/>
            <a:prstDash val="solid"/>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0" cap="none" spc="0" normalizeH="0" baseline="0" noProof="0">
                <a:ln>
                  <a:noFill/>
                </a:ln>
                <a:effectLst/>
                <a:uLnTx/>
                <a:uFillTx/>
                <a:latin typeface="メイリオ" panose="020B0604030504040204" pitchFamily="50" charset="-128"/>
                <a:ea typeface="メイリオ" panose="020B0604030504040204" pitchFamily="50" charset="-128"/>
              </a:rPr>
              <a:t>代表者</a:t>
            </a:r>
          </a:p>
        </p:txBody>
      </p:sp>
      <p:sp>
        <p:nvSpPr>
          <p:cNvPr id="29" name="正方形/長方形 28">
            <a:extLst>
              <a:ext uri="{FF2B5EF4-FFF2-40B4-BE49-F238E27FC236}">
                <a16:creationId xmlns:a16="http://schemas.microsoft.com/office/drawing/2014/main" id="{E9620C0B-57F2-6EB8-ECFE-3540E3C444DC}"/>
              </a:ext>
            </a:extLst>
          </p:cNvPr>
          <p:cNvSpPr/>
          <p:nvPr/>
        </p:nvSpPr>
        <p:spPr>
          <a:xfrm>
            <a:off x="659653" y="4469950"/>
            <a:ext cx="1366455" cy="523220"/>
          </a:xfrm>
          <a:prstGeom prst="rect">
            <a:avLst/>
          </a:prstGeom>
          <a:solidFill>
            <a:schemeClr val="bg2"/>
          </a:solidFill>
          <a:ln w="26425" cap="flat" cmpd="sng" algn="ctr">
            <a:noFill/>
            <a:prstDash val="solid"/>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ja-JP" altLang="en-US" sz="1200" kern="0">
                <a:latin typeface="メイリオ" panose="020B0604030504040204" pitchFamily="50" charset="-128"/>
                <a:ea typeface="メイリオ" panose="020B0604030504040204" pitchFamily="50" charset="-128"/>
              </a:rPr>
              <a:t>資本金</a:t>
            </a:r>
            <a:endParaRPr kumimoji="0" lang="ja-JP" altLang="en-US" sz="1200" i="0" u="none" strike="noStrike" kern="0" cap="none" spc="0" normalizeH="0" baseline="0" noProof="0">
              <a:ln>
                <a:noFill/>
              </a:ln>
              <a:effectLst/>
              <a:uLnTx/>
              <a:uFillTx/>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6298A7D-DDCF-9A26-6844-1796348E6810}"/>
              </a:ext>
            </a:extLst>
          </p:cNvPr>
          <p:cNvSpPr/>
          <p:nvPr/>
        </p:nvSpPr>
        <p:spPr>
          <a:xfrm>
            <a:off x="653801" y="5087762"/>
            <a:ext cx="1366455" cy="1461387"/>
          </a:xfrm>
          <a:prstGeom prst="rect">
            <a:avLst/>
          </a:prstGeom>
          <a:solidFill>
            <a:schemeClr val="bg2"/>
          </a:solidFill>
          <a:ln w="26425" cap="flat" cmpd="sng" algn="ctr">
            <a:noFill/>
            <a:prstDash val="solid"/>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ja-JP" altLang="en-US" sz="1200" kern="0">
                <a:latin typeface="メイリオ" panose="020B0604030504040204" pitchFamily="50" charset="-128"/>
                <a:ea typeface="メイリオ" panose="020B0604030504040204" pitchFamily="50" charset="-128"/>
              </a:rPr>
              <a:t>役員一覧</a:t>
            </a:r>
            <a:endParaRPr kumimoji="0" lang="ja-JP" altLang="en-US" sz="1200" i="0" u="none" strike="noStrike" kern="0" cap="none" spc="0" normalizeH="0" baseline="0" noProof="0">
              <a:ln>
                <a:noFill/>
              </a:ln>
              <a:effectLst/>
              <a:uLnTx/>
              <a:uFillTx/>
              <a:latin typeface="メイリオ" panose="020B0604030504040204" pitchFamily="50" charset="-128"/>
              <a:ea typeface="メイリオ" panose="020B0604030504040204" pitchFamily="50" charset="-128"/>
            </a:endParaRPr>
          </a:p>
        </p:txBody>
      </p:sp>
      <p:sp>
        <p:nvSpPr>
          <p:cNvPr id="34" name="タイトル 33">
            <a:extLst>
              <a:ext uri="{FF2B5EF4-FFF2-40B4-BE49-F238E27FC236}">
                <a16:creationId xmlns:a16="http://schemas.microsoft.com/office/drawing/2014/main" id="{A6614804-CB60-29AB-0700-498AF2290D10}"/>
              </a:ext>
            </a:extLst>
          </p:cNvPr>
          <p:cNvSpPr>
            <a:spLocks noGrp="1"/>
          </p:cNvSpPr>
          <p:nvPr>
            <p:ph type="title"/>
          </p:nvPr>
        </p:nvSpPr>
        <p:spPr/>
        <p:txBody>
          <a:bodyPr/>
          <a:lstStyle/>
          <a:p>
            <a:r>
              <a:rPr lang="ja-JP" altLang="en-US">
                <a:latin typeface="+mn-lt"/>
              </a:rPr>
              <a:t>会社概要</a:t>
            </a:r>
          </a:p>
        </p:txBody>
      </p:sp>
      <p:sp>
        <p:nvSpPr>
          <p:cNvPr id="41" name="スライド番号プレースホルダー 40">
            <a:extLst>
              <a:ext uri="{FF2B5EF4-FFF2-40B4-BE49-F238E27FC236}">
                <a16:creationId xmlns:a16="http://schemas.microsoft.com/office/drawing/2014/main" id="{343D6A98-B419-80C4-187D-89028442F141}"/>
              </a:ext>
            </a:extLst>
          </p:cNvPr>
          <p:cNvSpPr>
            <a:spLocks noGrp="1"/>
          </p:cNvSpPr>
          <p:nvPr>
            <p:ph type="sldNum" sz="quarter" idx="11"/>
          </p:nvPr>
        </p:nvSpPr>
        <p:spPr/>
        <p:txBody>
          <a:bodyPr/>
          <a:lstStyle/>
          <a:p>
            <a:fld id="{B75FDD43-FCEC-4ECC-8189-A5C6D2E08DC6}" type="slidenum">
              <a:rPr lang="ja-JP" altLang="en-US" smtClean="0"/>
              <a:pPr/>
              <a:t>1</a:t>
            </a:fld>
            <a:endParaRPr lang="ja-JP" altLang="en-US"/>
          </a:p>
        </p:txBody>
      </p:sp>
      <p:grpSp>
        <p:nvGrpSpPr>
          <p:cNvPr id="183" name="グループ化 182">
            <a:extLst>
              <a:ext uri="{FF2B5EF4-FFF2-40B4-BE49-F238E27FC236}">
                <a16:creationId xmlns:a16="http://schemas.microsoft.com/office/drawing/2014/main" id="{71491F9F-E3F3-13BC-ABA0-33D71E317451}"/>
              </a:ext>
            </a:extLst>
          </p:cNvPr>
          <p:cNvGrpSpPr/>
          <p:nvPr/>
        </p:nvGrpSpPr>
        <p:grpSpPr>
          <a:xfrm>
            <a:off x="4967774" y="2796125"/>
            <a:ext cx="2054604" cy="2054604"/>
            <a:chOff x="4967774" y="2796125"/>
            <a:chExt cx="2054604" cy="2054604"/>
          </a:xfrm>
        </p:grpSpPr>
        <p:pic>
          <p:nvPicPr>
            <p:cNvPr id="180" name="図 179" descr="抽象 が含まれている画像&#10;&#10;自動的に生成された説明">
              <a:extLst>
                <a:ext uri="{FF2B5EF4-FFF2-40B4-BE49-F238E27FC236}">
                  <a16:creationId xmlns:a16="http://schemas.microsoft.com/office/drawing/2014/main" id="{201D1090-A56B-977C-9A0F-78077B9AF33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67774" y="2796125"/>
              <a:ext cx="2054604" cy="2054604"/>
            </a:xfrm>
            <a:prstGeom prst="rect">
              <a:avLst/>
            </a:prstGeom>
            <a:ln>
              <a:solidFill>
                <a:schemeClr val="bg2"/>
              </a:solidFill>
            </a:ln>
          </p:spPr>
        </p:pic>
        <p:sp>
          <p:nvSpPr>
            <p:cNvPr id="21" name="テキスト ボックス 20">
              <a:extLst>
                <a:ext uri="{FF2B5EF4-FFF2-40B4-BE49-F238E27FC236}">
                  <a16:creationId xmlns:a16="http://schemas.microsoft.com/office/drawing/2014/main" id="{5D888B6D-F76C-DE37-63BB-ACEB4DA243E7}"/>
                </a:ext>
              </a:extLst>
            </p:cNvPr>
            <p:cNvSpPr txBox="1"/>
            <p:nvPr/>
          </p:nvSpPr>
          <p:spPr>
            <a:xfrm>
              <a:off x="4999902" y="2837607"/>
              <a:ext cx="1366455" cy="276999"/>
            </a:xfrm>
            <a:prstGeom prst="rect">
              <a:avLst/>
            </a:prstGeom>
            <a:noFill/>
          </p:spPr>
          <p:txBody>
            <a:bodyPr wrap="square" rtlCol="0">
              <a:spAutoFit/>
            </a:bodyPr>
            <a:lstStyle/>
            <a:p>
              <a:r>
                <a:rPr kumimoji="1" lang="ja-JP" altLang="en-US" sz="1200" b="1">
                  <a:latin typeface="メイリオ" panose="020B0604030504040204" pitchFamily="50" charset="-128"/>
                  <a:ea typeface="メイリオ" panose="020B0604030504040204" pitchFamily="50" charset="-128"/>
                </a:rPr>
                <a:t>アジア</a:t>
              </a:r>
            </a:p>
          </p:txBody>
        </p:sp>
        <p:grpSp>
          <p:nvGrpSpPr>
            <p:cNvPr id="178" name="グループ化 177">
              <a:extLst>
                <a:ext uri="{FF2B5EF4-FFF2-40B4-BE49-F238E27FC236}">
                  <a16:creationId xmlns:a16="http://schemas.microsoft.com/office/drawing/2014/main" id="{99169764-9449-6069-9E78-AB09F1A99822}"/>
                </a:ext>
              </a:extLst>
            </p:cNvPr>
            <p:cNvGrpSpPr/>
            <p:nvPr/>
          </p:nvGrpSpPr>
          <p:grpSpPr>
            <a:xfrm>
              <a:off x="5714457" y="4138175"/>
              <a:ext cx="441146" cy="356276"/>
              <a:chOff x="5766742" y="3974540"/>
              <a:chExt cx="441146" cy="356276"/>
            </a:xfrm>
          </p:grpSpPr>
          <p:grpSp>
            <p:nvGrpSpPr>
              <p:cNvPr id="43" name="グループ化 42">
                <a:extLst>
                  <a:ext uri="{FF2B5EF4-FFF2-40B4-BE49-F238E27FC236}">
                    <a16:creationId xmlns:a16="http://schemas.microsoft.com/office/drawing/2014/main" id="{65291E33-6344-62C0-09CA-217A25BA1476}"/>
                  </a:ext>
                </a:extLst>
              </p:cNvPr>
              <p:cNvGrpSpPr/>
              <p:nvPr/>
            </p:nvGrpSpPr>
            <p:grpSpPr>
              <a:xfrm>
                <a:off x="5931004" y="4179085"/>
                <a:ext cx="98634" cy="151731"/>
                <a:chOff x="-1321903" y="2223165"/>
                <a:chExt cx="183134" cy="281718"/>
              </a:xfrm>
            </p:grpSpPr>
            <p:sp>
              <p:nvSpPr>
                <p:cNvPr id="44" name="楕円 43">
                  <a:extLst>
                    <a:ext uri="{FF2B5EF4-FFF2-40B4-BE49-F238E27FC236}">
                      <a16:creationId xmlns:a16="http://schemas.microsoft.com/office/drawing/2014/main" id="{61CF6A81-1E04-FAD8-FD4D-3A0230035721}"/>
                    </a:ext>
                  </a:extLst>
                </p:cNvPr>
                <p:cNvSpPr/>
                <p:nvPr/>
              </p:nvSpPr>
              <p:spPr bwMode="auto">
                <a:xfrm>
                  <a:off x="-1321903" y="2223165"/>
                  <a:ext cx="183134" cy="1831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45" name="直線コネクタ 44">
                  <a:extLst>
                    <a:ext uri="{FF2B5EF4-FFF2-40B4-BE49-F238E27FC236}">
                      <a16:creationId xmlns:a16="http://schemas.microsoft.com/office/drawing/2014/main" id="{BE22C5FF-33E9-E59F-CBCB-7E400C24B713}"/>
                    </a:ext>
                  </a:extLst>
                </p:cNvPr>
                <p:cNvCxnSpPr>
                  <a:cxnSpLocks/>
                </p:cNvCxnSpPr>
                <p:nvPr/>
              </p:nvCxnSpPr>
              <p:spPr>
                <a:xfrm>
                  <a:off x="-1230336" y="2406298"/>
                  <a:ext cx="0" cy="98585"/>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grpSp>
          <p:sp>
            <p:nvSpPr>
              <p:cNvPr id="46" name="テキスト ボックス 45">
                <a:extLst>
                  <a:ext uri="{FF2B5EF4-FFF2-40B4-BE49-F238E27FC236}">
                    <a16:creationId xmlns:a16="http://schemas.microsoft.com/office/drawing/2014/main" id="{5DDE87B8-0E78-3499-909D-521A5243B68B}"/>
                  </a:ext>
                </a:extLst>
              </p:cNvPr>
              <p:cNvSpPr txBox="1"/>
              <p:nvPr/>
            </p:nvSpPr>
            <p:spPr>
              <a:xfrm>
                <a:off x="5766742" y="3974540"/>
                <a:ext cx="441146" cy="246221"/>
              </a:xfrm>
              <a:prstGeom prst="rect">
                <a:avLst/>
              </a:prstGeom>
              <a:noFill/>
            </p:spPr>
            <p:txBody>
              <a:bodyPr wrap="none" rtlCol="0">
                <a:spAutoFit/>
              </a:bodyPr>
              <a:lstStyle/>
              <a:p>
                <a:r>
                  <a:rPr kumimoji="1" lang="ja-JP" altLang="en-US" sz="1000" b="1">
                    <a:latin typeface="メイリオ" panose="020B0604030504040204" pitchFamily="50" charset="-128"/>
                    <a:ea typeface="メイリオ" panose="020B0604030504040204" pitchFamily="50" charset="-128"/>
                  </a:rPr>
                  <a:t>上海</a:t>
                </a:r>
              </a:p>
            </p:txBody>
          </p:sp>
        </p:grpSp>
        <p:grpSp>
          <p:nvGrpSpPr>
            <p:cNvPr id="177" name="グループ化 176">
              <a:extLst>
                <a:ext uri="{FF2B5EF4-FFF2-40B4-BE49-F238E27FC236}">
                  <a16:creationId xmlns:a16="http://schemas.microsoft.com/office/drawing/2014/main" id="{AF798C18-7D19-01FD-F26F-889AEA92D39C}"/>
                </a:ext>
              </a:extLst>
            </p:cNvPr>
            <p:cNvGrpSpPr/>
            <p:nvPr/>
          </p:nvGrpSpPr>
          <p:grpSpPr>
            <a:xfrm>
              <a:off x="5034843" y="3224050"/>
              <a:ext cx="591958" cy="363676"/>
              <a:chOff x="5438302" y="3242236"/>
              <a:chExt cx="591958" cy="363676"/>
            </a:xfrm>
          </p:grpSpPr>
          <p:sp>
            <p:nvSpPr>
              <p:cNvPr id="47" name="テキスト ボックス 46">
                <a:extLst>
                  <a:ext uri="{FF2B5EF4-FFF2-40B4-BE49-F238E27FC236}">
                    <a16:creationId xmlns:a16="http://schemas.microsoft.com/office/drawing/2014/main" id="{88EA574C-8067-64C2-E56A-9437C8AC246F}"/>
                  </a:ext>
                </a:extLst>
              </p:cNvPr>
              <p:cNvSpPr txBox="1"/>
              <p:nvPr/>
            </p:nvSpPr>
            <p:spPr>
              <a:xfrm>
                <a:off x="5438302" y="3242236"/>
                <a:ext cx="591958" cy="246221"/>
              </a:xfrm>
              <a:prstGeom prst="rect">
                <a:avLst/>
              </a:prstGeom>
              <a:noFill/>
            </p:spPr>
            <p:txBody>
              <a:bodyPr wrap="square" rtlCol="0">
                <a:spAutoFit/>
              </a:bodyPr>
              <a:lstStyle/>
              <a:p>
                <a:pPr algn="ctr"/>
                <a:r>
                  <a:rPr kumimoji="1" lang="ja-JP" altLang="en-US" sz="1000" b="1">
                    <a:latin typeface="メイリオ" panose="020B0604030504040204" pitchFamily="50" charset="-128"/>
                    <a:ea typeface="メイリオ" panose="020B0604030504040204" pitchFamily="50" charset="-128"/>
                  </a:rPr>
                  <a:t>北京</a:t>
                </a:r>
              </a:p>
            </p:txBody>
          </p:sp>
          <p:grpSp>
            <p:nvGrpSpPr>
              <p:cNvPr id="48" name="グループ化 47">
                <a:extLst>
                  <a:ext uri="{FF2B5EF4-FFF2-40B4-BE49-F238E27FC236}">
                    <a16:creationId xmlns:a16="http://schemas.microsoft.com/office/drawing/2014/main" id="{DD9B7122-05C8-3B48-888D-A91A07E29149}"/>
                  </a:ext>
                </a:extLst>
              </p:cNvPr>
              <p:cNvGrpSpPr/>
              <p:nvPr/>
            </p:nvGrpSpPr>
            <p:grpSpPr>
              <a:xfrm>
                <a:off x="5684964" y="3454181"/>
                <a:ext cx="98634" cy="151731"/>
                <a:chOff x="-1321903" y="2223165"/>
                <a:chExt cx="183134" cy="281718"/>
              </a:xfrm>
            </p:grpSpPr>
            <p:sp>
              <p:nvSpPr>
                <p:cNvPr id="49" name="楕円 48">
                  <a:extLst>
                    <a:ext uri="{FF2B5EF4-FFF2-40B4-BE49-F238E27FC236}">
                      <a16:creationId xmlns:a16="http://schemas.microsoft.com/office/drawing/2014/main" id="{797779B7-1947-ED28-6D72-FCB0132C71C3}"/>
                    </a:ext>
                  </a:extLst>
                </p:cNvPr>
                <p:cNvSpPr/>
                <p:nvPr/>
              </p:nvSpPr>
              <p:spPr bwMode="auto">
                <a:xfrm>
                  <a:off x="-1321903" y="2223165"/>
                  <a:ext cx="183134" cy="1831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50" name="直線コネクタ 49">
                  <a:extLst>
                    <a:ext uri="{FF2B5EF4-FFF2-40B4-BE49-F238E27FC236}">
                      <a16:creationId xmlns:a16="http://schemas.microsoft.com/office/drawing/2014/main" id="{8C80A2D8-BA05-760F-5790-3820A236E495}"/>
                    </a:ext>
                  </a:extLst>
                </p:cNvPr>
                <p:cNvCxnSpPr>
                  <a:cxnSpLocks/>
                </p:cNvCxnSpPr>
                <p:nvPr/>
              </p:nvCxnSpPr>
              <p:spPr>
                <a:xfrm>
                  <a:off x="-1230336" y="2406298"/>
                  <a:ext cx="0" cy="98585"/>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grpSp>
        </p:grpSp>
        <p:grpSp>
          <p:nvGrpSpPr>
            <p:cNvPr id="176" name="グループ化 175">
              <a:extLst>
                <a:ext uri="{FF2B5EF4-FFF2-40B4-BE49-F238E27FC236}">
                  <a16:creationId xmlns:a16="http://schemas.microsoft.com/office/drawing/2014/main" id="{8DA4BA14-42D5-2291-5AC8-C2CF33D66DF4}"/>
                </a:ext>
              </a:extLst>
            </p:cNvPr>
            <p:cNvGrpSpPr/>
            <p:nvPr/>
          </p:nvGrpSpPr>
          <p:grpSpPr>
            <a:xfrm>
              <a:off x="6195576" y="3440285"/>
              <a:ext cx="569387" cy="361796"/>
              <a:chOff x="6212764" y="3521824"/>
              <a:chExt cx="569387" cy="361796"/>
            </a:xfrm>
          </p:grpSpPr>
          <p:grpSp>
            <p:nvGrpSpPr>
              <p:cNvPr id="51" name="グループ化 50">
                <a:extLst>
                  <a:ext uri="{FF2B5EF4-FFF2-40B4-BE49-F238E27FC236}">
                    <a16:creationId xmlns:a16="http://schemas.microsoft.com/office/drawing/2014/main" id="{AAA27F4E-3EAA-009A-6DBA-7DB765EDC8F6}"/>
                  </a:ext>
                </a:extLst>
              </p:cNvPr>
              <p:cNvGrpSpPr/>
              <p:nvPr/>
            </p:nvGrpSpPr>
            <p:grpSpPr>
              <a:xfrm>
                <a:off x="6448141" y="3731889"/>
                <a:ext cx="98634" cy="151731"/>
                <a:chOff x="-1321903" y="2223165"/>
                <a:chExt cx="183134" cy="281718"/>
              </a:xfrm>
            </p:grpSpPr>
            <p:sp>
              <p:nvSpPr>
                <p:cNvPr id="52" name="楕円 51">
                  <a:extLst>
                    <a:ext uri="{FF2B5EF4-FFF2-40B4-BE49-F238E27FC236}">
                      <a16:creationId xmlns:a16="http://schemas.microsoft.com/office/drawing/2014/main" id="{8AA29FCD-7E5A-365A-752D-480C5C537B25}"/>
                    </a:ext>
                  </a:extLst>
                </p:cNvPr>
                <p:cNvSpPr/>
                <p:nvPr/>
              </p:nvSpPr>
              <p:spPr bwMode="auto">
                <a:xfrm>
                  <a:off x="-1321903" y="2223165"/>
                  <a:ext cx="183134" cy="1831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53" name="直線コネクタ 52">
                  <a:extLst>
                    <a:ext uri="{FF2B5EF4-FFF2-40B4-BE49-F238E27FC236}">
                      <a16:creationId xmlns:a16="http://schemas.microsoft.com/office/drawing/2014/main" id="{19B0FF61-6A9E-F6C2-8CDB-9572938B968F}"/>
                    </a:ext>
                  </a:extLst>
                </p:cNvPr>
                <p:cNvCxnSpPr>
                  <a:cxnSpLocks/>
                </p:cNvCxnSpPr>
                <p:nvPr/>
              </p:nvCxnSpPr>
              <p:spPr>
                <a:xfrm>
                  <a:off x="-1230336" y="2406298"/>
                  <a:ext cx="0" cy="98585"/>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grpSp>
          <p:sp>
            <p:nvSpPr>
              <p:cNvPr id="54" name="テキスト ボックス 53">
                <a:extLst>
                  <a:ext uri="{FF2B5EF4-FFF2-40B4-BE49-F238E27FC236}">
                    <a16:creationId xmlns:a16="http://schemas.microsoft.com/office/drawing/2014/main" id="{0DD56375-CDCD-022C-BE31-A9CD63BD460A}"/>
                  </a:ext>
                </a:extLst>
              </p:cNvPr>
              <p:cNvSpPr txBox="1"/>
              <p:nvPr/>
            </p:nvSpPr>
            <p:spPr>
              <a:xfrm>
                <a:off x="6212764" y="3521824"/>
                <a:ext cx="569387" cy="246221"/>
              </a:xfrm>
              <a:prstGeom prst="rect">
                <a:avLst/>
              </a:prstGeom>
              <a:noFill/>
            </p:spPr>
            <p:txBody>
              <a:bodyPr wrap="none" rtlCol="0">
                <a:spAutoFit/>
              </a:bodyPr>
              <a:lstStyle/>
              <a:p>
                <a:pPr algn="ctr"/>
                <a:r>
                  <a:rPr kumimoji="1" lang="ja-JP" altLang="en-US" sz="1000" b="1">
                    <a:latin typeface="メイリオ" panose="020B0604030504040204" pitchFamily="50" charset="-128"/>
                    <a:ea typeface="メイリオ" panose="020B0604030504040204" pitchFamily="50" charset="-128"/>
                  </a:rPr>
                  <a:t>ソウル</a:t>
                </a:r>
              </a:p>
            </p:txBody>
          </p:sp>
        </p:grpSp>
        <p:sp>
          <p:nvSpPr>
            <p:cNvPr id="57" name="テキスト ボックス 56">
              <a:extLst>
                <a:ext uri="{FF2B5EF4-FFF2-40B4-BE49-F238E27FC236}">
                  <a16:creationId xmlns:a16="http://schemas.microsoft.com/office/drawing/2014/main" id="{0F15F7A4-D547-9ABD-09C2-C1A94427C687}"/>
                </a:ext>
              </a:extLst>
            </p:cNvPr>
            <p:cNvSpPr txBox="1"/>
            <p:nvPr/>
          </p:nvSpPr>
          <p:spPr>
            <a:xfrm>
              <a:off x="5515724" y="2879130"/>
              <a:ext cx="1313180" cy="215444"/>
            </a:xfrm>
            <a:prstGeom prst="rect">
              <a:avLst/>
            </a:prstGeom>
            <a:noFill/>
          </p:spPr>
          <p:txBody>
            <a:bodyPr wrap="none" rtlCol="0">
              <a:spAutoFit/>
            </a:bodyPr>
            <a:lstStyle/>
            <a:p>
              <a:r>
                <a:rPr lang="en-US" altLang="ja-JP" sz="800" b="1">
                  <a:latin typeface="メイリオ" panose="020B0604030504040204" pitchFamily="50" charset="-128"/>
                  <a:ea typeface="メイリオ" panose="020B0604030504040204" pitchFamily="50" charset="-128"/>
                </a:rPr>
                <a:t>※</a:t>
              </a:r>
              <a:r>
                <a:rPr kumimoji="1" lang="ja-JP" altLang="en-US" sz="800" b="1">
                  <a:latin typeface="メイリオ" panose="020B0604030504040204" pitchFamily="50" charset="-128"/>
                  <a:ea typeface="メイリオ" panose="020B0604030504040204" pitchFamily="50" charset="-128"/>
                </a:rPr>
                <a:t>グループ拠点含みます</a:t>
              </a:r>
            </a:p>
          </p:txBody>
        </p:sp>
      </p:grpSp>
      <p:sp>
        <p:nvSpPr>
          <p:cNvPr id="7" name="テキスト ボックス 6">
            <a:extLst>
              <a:ext uri="{FF2B5EF4-FFF2-40B4-BE49-F238E27FC236}">
                <a16:creationId xmlns:a16="http://schemas.microsoft.com/office/drawing/2014/main" id="{07EE2E5A-1ECF-76FC-3E89-7CEB362C07F7}"/>
              </a:ext>
            </a:extLst>
          </p:cNvPr>
          <p:cNvSpPr txBox="1"/>
          <p:nvPr/>
        </p:nvSpPr>
        <p:spPr>
          <a:xfrm>
            <a:off x="624911" y="5969639"/>
            <a:ext cx="1160203" cy="215444"/>
          </a:xfrm>
          <a:prstGeom prst="rect">
            <a:avLst/>
          </a:prstGeom>
          <a:noFill/>
        </p:spPr>
        <p:txBody>
          <a:bodyPr wrap="square" lIns="91440" tIns="45720" rIns="91440" bIns="45720" rtlCol="0" anchor="t">
            <a:spAutoFit/>
          </a:bodyPr>
          <a:lstStyle/>
          <a:p>
            <a:pPr marL="0" marR="0" lvl="0" indent="0" algn="l" defTabSz="914400" rtl="0" eaLnBrk="0" fontAlgn="base" latinLnBrk="0" hangingPunct="0">
              <a:spcBef>
                <a:spcPct val="0"/>
              </a:spcBef>
              <a:spcAft>
                <a:spcPct val="0"/>
              </a:spcAft>
              <a:buClrTx/>
              <a:buSzTx/>
              <a:buFontTx/>
              <a:buNone/>
              <a:tabLst/>
              <a:defRPr/>
            </a:pPr>
            <a:r>
              <a:rPr lang="zh-TW" altLang="en-US" sz="800" b="0" i="0">
                <a:solidFill>
                  <a:srgbClr val="222427"/>
                </a:solidFill>
                <a:effectLst/>
                <a:latin typeface="メイリオ" panose="020B0604030504040204" pitchFamily="50" charset="-128"/>
                <a:ea typeface="メイリオ" panose="020B0604030504040204" pitchFamily="50" charset="-128"/>
              </a:rPr>
              <a:t>＊社外役員</a:t>
            </a:r>
            <a:endParaRPr kumimoji="1" lang="zh-TW"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8B93E31E-AD23-E769-0CEF-D7E8E22BDC7A}"/>
              </a:ext>
            </a:extLst>
          </p:cNvPr>
          <p:cNvSpPr txBox="1"/>
          <p:nvPr/>
        </p:nvSpPr>
        <p:spPr>
          <a:xfrm>
            <a:off x="3897596" y="3812971"/>
            <a:ext cx="853119" cy="623248"/>
          </a:xfrm>
          <a:prstGeom prst="rect">
            <a:avLst/>
          </a:prstGeom>
          <a:noFill/>
        </p:spPr>
        <p:txBody>
          <a:bodyPr wrap="non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井川 幸広</a:t>
            </a:r>
            <a:endParaRPr lang="en-US" altLang="zh-TW" sz="1200" b="0" i="0">
              <a:solidFill>
                <a:srgbClr val="222427"/>
              </a:solidFill>
              <a:effectLst/>
              <a:latin typeface="メイリオ" panose="020B0604030504040204" pitchFamily="50" charset="-128"/>
              <a:ea typeface="メイリオ" panose="020B0604030504040204" pitchFamily="50" charset="-128"/>
            </a:endParaRPr>
          </a:p>
          <a:p>
            <a:pPr marL="0" marR="0" lvl="0" indent="0" algn="l" defTabSz="914400" rtl="0" eaLnBrk="0" fontAlgn="base" latinLnBrk="0" hangingPunct="0">
              <a:lnSpc>
                <a:spcPct val="150000"/>
              </a:lnSpc>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黒崎 淳</a:t>
            </a:r>
            <a:endPar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79CC39A-984B-B132-ECCB-3D49CF94590F}"/>
              </a:ext>
            </a:extLst>
          </p:cNvPr>
          <p:cNvSpPr/>
          <p:nvPr/>
        </p:nvSpPr>
        <p:spPr>
          <a:xfrm>
            <a:off x="675207" y="2254134"/>
            <a:ext cx="1366455" cy="415498"/>
          </a:xfrm>
          <a:prstGeom prst="rect">
            <a:avLst/>
          </a:prstGeom>
          <a:solidFill>
            <a:schemeClr val="bg2"/>
          </a:solidFill>
          <a:ln w="26425" cap="flat" cmpd="sng" algn="ctr">
            <a:noFill/>
            <a:prstDash val="solid"/>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0" cap="none" spc="0" normalizeH="0" baseline="0" noProof="0">
                <a:ln>
                  <a:noFill/>
                </a:ln>
                <a:effectLst/>
                <a:uLnTx/>
                <a:uFillTx/>
                <a:latin typeface="メイリオ" panose="020B0604030504040204" pitchFamily="50" charset="-128"/>
                <a:ea typeface="メイリオ" panose="020B0604030504040204" pitchFamily="50" charset="-128"/>
              </a:rPr>
              <a:t>グループ拠点</a:t>
            </a:r>
          </a:p>
        </p:txBody>
      </p:sp>
      <p:sp>
        <p:nvSpPr>
          <p:cNvPr id="18" name="テキスト ボックス 17">
            <a:extLst>
              <a:ext uri="{FF2B5EF4-FFF2-40B4-BE49-F238E27FC236}">
                <a16:creationId xmlns:a16="http://schemas.microsoft.com/office/drawing/2014/main" id="{F94CF7F4-3350-207D-EA6E-289299406FF6}"/>
              </a:ext>
            </a:extLst>
          </p:cNvPr>
          <p:cNvSpPr txBox="1"/>
          <p:nvPr/>
        </p:nvSpPr>
        <p:spPr>
          <a:xfrm>
            <a:off x="9862135" y="1358430"/>
            <a:ext cx="800219" cy="276999"/>
          </a:xfrm>
          <a:prstGeom prst="rect">
            <a:avLst/>
          </a:prstGeom>
          <a:noFill/>
        </p:spPr>
        <p:txBody>
          <a:bodyPr wrap="none" rtlCol="0">
            <a:spAutoFit/>
          </a:bodyPr>
          <a:lstStyle/>
          <a:p>
            <a:r>
              <a:rPr kumimoji="1" lang="ja-JP" altLang="en-US" sz="1200" b="1">
                <a:latin typeface="メイリオ" panose="020B0604030504040204" pitchFamily="50" charset="-128"/>
                <a:ea typeface="メイリオ" panose="020B0604030504040204" pitchFamily="50" charset="-128"/>
              </a:rPr>
              <a:t>日本国内</a:t>
            </a:r>
          </a:p>
        </p:txBody>
      </p:sp>
      <p:sp>
        <p:nvSpPr>
          <p:cNvPr id="26" name="テキスト ボックス 25">
            <a:extLst>
              <a:ext uri="{FF2B5EF4-FFF2-40B4-BE49-F238E27FC236}">
                <a16:creationId xmlns:a16="http://schemas.microsoft.com/office/drawing/2014/main" id="{E50C8288-9B3E-B144-1653-BCD57374ABB8}"/>
              </a:ext>
            </a:extLst>
          </p:cNvPr>
          <p:cNvSpPr txBox="1"/>
          <p:nvPr/>
        </p:nvSpPr>
        <p:spPr>
          <a:xfrm>
            <a:off x="2146553" y="2249277"/>
            <a:ext cx="7229933"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ja-JP" altLang="en-US" sz="1200">
                <a:latin typeface="メイリオ" panose="020B0604030504040204" pitchFamily="50" charset="-128"/>
                <a:ea typeface="メイリオ" panose="020B0604030504040204" pitchFamily="50" charset="-128"/>
              </a:rPr>
              <a:t>東京（本社）・大阪・札幌・仙台・さいたま・横浜・川崎・高崎・金沢・名古屋・京都・神戸・高松・広島・福岡・熊本・那覇　／　ソウル・上海・北京・ロサンゼルス・モントリオール</a:t>
            </a:r>
            <a:endParaRPr lang="en-US" altLang="ja-JP" sz="1200">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4A5C831D-8B56-5B43-5F5A-6795EEDE69F5}"/>
              </a:ext>
            </a:extLst>
          </p:cNvPr>
          <p:cNvSpPr txBox="1"/>
          <p:nvPr/>
        </p:nvSpPr>
        <p:spPr>
          <a:xfrm>
            <a:off x="10577171" y="1408979"/>
            <a:ext cx="1313180" cy="215444"/>
          </a:xfrm>
          <a:prstGeom prst="rect">
            <a:avLst/>
          </a:prstGeom>
          <a:noFill/>
        </p:spPr>
        <p:txBody>
          <a:bodyPr wrap="none" rtlCol="0">
            <a:spAutoFit/>
          </a:bodyPr>
          <a:lstStyle/>
          <a:p>
            <a:r>
              <a:rPr lang="en-US" altLang="ja-JP" sz="800" b="1">
                <a:latin typeface="メイリオ" panose="020B0604030504040204" pitchFamily="50" charset="-128"/>
                <a:ea typeface="メイリオ" panose="020B0604030504040204" pitchFamily="50" charset="-128"/>
              </a:rPr>
              <a:t>※</a:t>
            </a:r>
            <a:r>
              <a:rPr kumimoji="1" lang="ja-JP" altLang="en-US" sz="800" b="1">
                <a:latin typeface="メイリオ" panose="020B0604030504040204" pitchFamily="50" charset="-128"/>
                <a:ea typeface="メイリオ" panose="020B0604030504040204" pitchFamily="50" charset="-128"/>
              </a:rPr>
              <a:t>グループ拠点含みます</a:t>
            </a:r>
          </a:p>
        </p:txBody>
      </p:sp>
      <p:grpSp>
        <p:nvGrpSpPr>
          <p:cNvPr id="184" name="グループ化 183">
            <a:extLst>
              <a:ext uri="{FF2B5EF4-FFF2-40B4-BE49-F238E27FC236}">
                <a16:creationId xmlns:a16="http://schemas.microsoft.com/office/drawing/2014/main" id="{B1065AA1-D798-7A23-8164-619F93C6F9CA}"/>
              </a:ext>
            </a:extLst>
          </p:cNvPr>
          <p:cNvGrpSpPr/>
          <p:nvPr/>
        </p:nvGrpSpPr>
        <p:grpSpPr>
          <a:xfrm>
            <a:off x="7100275" y="2802651"/>
            <a:ext cx="2058182" cy="2045166"/>
            <a:chOff x="7100275" y="2802651"/>
            <a:chExt cx="2058182" cy="2045166"/>
          </a:xfrm>
        </p:grpSpPr>
        <p:pic>
          <p:nvPicPr>
            <p:cNvPr id="182" name="図 181">
              <a:extLst>
                <a:ext uri="{FF2B5EF4-FFF2-40B4-BE49-F238E27FC236}">
                  <a16:creationId xmlns:a16="http://schemas.microsoft.com/office/drawing/2014/main" id="{CC63EDE6-8AAF-30AB-4EB2-CFE82A450F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13291" y="2802651"/>
              <a:ext cx="2045166" cy="2045166"/>
            </a:xfrm>
            <a:prstGeom prst="rect">
              <a:avLst/>
            </a:prstGeom>
            <a:ln>
              <a:solidFill>
                <a:schemeClr val="bg2"/>
              </a:solidFill>
            </a:ln>
          </p:spPr>
        </p:pic>
        <p:sp>
          <p:nvSpPr>
            <p:cNvPr id="32" name="テキスト ボックス 31">
              <a:extLst>
                <a:ext uri="{FF2B5EF4-FFF2-40B4-BE49-F238E27FC236}">
                  <a16:creationId xmlns:a16="http://schemas.microsoft.com/office/drawing/2014/main" id="{D906E17A-0DF3-EE6F-42CF-3EBEF2321E9F}"/>
                </a:ext>
              </a:extLst>
            </p:cNvPr>
            <p:cNvSpPr txBox="1"/>
            <p:nvPr/>
          </p:nvSpPr>
          <p:spPr>
            <a:xfrm>
              <a:off x="7468980" y="2874873"/>
              <a:ext cx="1313180" cy="215444"/>
            </a:xfrm>
            <a:prstGeom prst="rect">
              <a:avLst/>
            </a:prstGeom>
            <a:noFill/>
          </p:spPr>
          <p:txBody>
            <a:bodyPr wrap="none" rtlCol="0">
              <a:spAutoFit/>
            </a:bodyPr>
            <a:lstStyle/>
            <a:p>
              <a:r>
                <a:rPr lang="en-US" altLang="ja-JP" sz="800" b="1">
                  <a:latin typeface="メイリオ" panose="020B0604030504040204" pitchFamily="50" charset="-128"/>
                  <a:ea typeface="メイリオ" panose="020B0604030504040204" pitchFamily="50" charset="-128"/>
                </a:rPr>
                <a:t>※</a:t>
              </a:r>
              <a:r>
                <a:rPr kumimoji="1" lang="ja-JP" altLang="en-US" sz="800" b="1">
                  <a:latin typeface="メイリオ" panose="020B0604030504040204" pitchFamily="50" charset="-128"/>
                  <a:ea typeface="メイリオ" panose="020B0604030504040204" pitchFamily="50" charset="-128"/>
                </a:rPr>
                <a:t>グループ拠点含みます</a:t>
              </a:r>
            </a:p>
          </p:txBody>
        </p:sp>
        <p:sp>
          <p:nvSpPr>
            <p:cNvPr id="22" name="テキスト ボックス 21">
              <a:extLst>
                <a:ext uri="{FF2B5EF4-FFF2-40B4-BE49-F238E27FC236}">
                  <a16:creationId xmlns:a16="http://schemas.microsoft.com/office/drawing/2014/main" id="{4D1CCB65-3A40-E2CF-C742-893BDCF48D5F}"/>
                </a:ext>
              </a:extLst>
            </p:cNvPr>
            <p:cNvSpPr txBox="1"/>
            <p:nvPr/>
          </p:nvSpPr>
          <p:spPr>
            <a:xfrm>
              <a:off x="7100275" y="2837606"/>
              <a:ext cx="492443" cy="276999"/>
            </a:xfrm>
            <a:prstGeom prst="rect">
              <a:avLst/>
            </a:prstGeom>
            <a:noFill/>
          </p:spPr>
          <p:txBody>
            <a:bodyPr wrap="none" rtlCol="0">
              <a:spAutoFit/>
            </a:bodyPr>
            <a:lstStyle/>
            <a:p>
              <a:r>
                <a:rPr kumimoji="1" lang="ja-JP" altLang="en-US" sz="1200" b="1">
                  <a:latin typeface="メイリオ" panose="020B0604030504040204" pitchFamily="50" charset="-128"/>
                  <a:ea typeface="メイリオ" panose="020B0604030504040204" pitchFamily="50" charset="-128"/>
                </a:rPr>
                <a:t>北米</a:t>
              </a:r>
            </a:p>
          </p:txBody>
        </p:sp>
        <p:grpSp>
          <p:nvGrpSpPr>
            <p:cNvPr id="113" name="グループ化 112">
              <a:extLst>
                <a:ext uri="{FF2B5EF4-FFF2-40B4-BE49-F238E27FC236}">
                  <a16:creationId xmlns:a16="http://schemas.microsoft.com/office/drawing/2014/main" id="{8BBD59E2-AB56-A675-AA1E-371AC2391B5D}"/>
                </a:ext>
              </a:extLst>
            </p:cNvPr>
            <p:cNvGrpSpPr/>
            <p:nvPr/>
          </p:nvGrpSpPr>
          <p:grpSpPr>
            <a:xfrm>
              <a:off x="7187616" y="3666734"/>
              <a:ext cx="954107" cy="435733"/>
              <a:chOff x="7414964" y="3782727"/>
              <a:chExt cx="954107" cy="435733"/>
            </a:xfrm>
          </p:grpSpPr>
          <p:sp>
            <p:nvSpPr>
              <p:cNvPr id="23" name="テキスト ボックス 22">
                <a:extLst>
                  <a:ext uri="{FF2B5EF4-FFF2-40B4-BE49-F238E27FC236}">
                    <a16:creationId xmlns:a16="http://schemas.microsoft.com/office/drawing/2014/main" id="{847DC7BE-8B49-CD3C-4FB4-D6847F692C02}"/>
                  </a:ext>
                </a:extLst>
              </p:cNvPr>
              <p:cNvSpPr txBox="1"/>
              <p:nvPr/>
            </p:nvSpPr>
            <p:spPr>
              <a:xfrm>
                <a:off x="7414964" y="3782727"/>
                <a:ext cx="954107" cy="246221"/>
              </a:xfrm>
              <a:prstGeom prst="rect">
                <a:avLst/>
              </a:prstGeom>
              <a:noFill/>
            </p:spPr>
            <p:txBody>
              <a:bodyPr wrap="none" rtlCol="0">
                <a:spAutoFit/>
              </a:bodyPr>
              <a:lstStyle/>
              <a:p>
                <a:pPr algn="ctr"/>
                <a:r>
                  <a:rPr kumimoji="1" lang="ja-JP" altLang="en-US" sz="1000" b="1">
                    <a:latin typeface="メイリオ" panose="020B0604030504040204" pitchFamily="50" charset="-128"/>
                    <a:ea typeface="メイリオ" panose="020B0604030504040204" pitchFamily="50" charset="-128"/>
                  </a:rPr>
                  <a:t>ロサンゼルス</a:t>
                </a:r>
              </a:p>
            </p:txBody>
          </p:sp>
          <p:grpSp>
            <p:nvGrpSpPr>
              <p:cNvPr id="37" name="グループ化 36">
                <a:extLst>
                  <a:ext uri="{FF2B5EF4-FFF2-40B4-BE49-F238E27FC236}">
                    <a16:creationId xmlns:a16="http://schemas.microsoft.com/office/drawing/2014/main" id="{B8B8B68A-662E-0645-74B7-7585993142DC}"/>
                  </a:ext>
                </a:extLst>
              </p:cNvPr>
              <p:cNvGrpSpPr/>
              <p:nvPr/>
            </p:nvGrpSpPr>
            <p:grpSpPr>
              <a:xfrm>
                <a:off x="7608615" y="4066729"/>
                <a:ext cx="98634" cy="151731"/>
                <a:chOff x="-1321903" y="2223165"/>
                <a:chExt cx="183134" cy="281718"/>
              </a:xfrm>
            </p:grpSpPr>
            <p:sp>
              <p:nvSpPr>
                <p:cNvPr id="38" name="楕円 37">
                  <a:extLst>
                    <a:ext uri="{FF2B5EF4-FFF2-40B4-BE49-F238E27FC236}">
                      <a16:creationId xmlns:a16="http://schemas.microsoft.com/office/drawing/2014/main" id="{B029C3D2-048A-9E2A-6000-3EA311D6168C}"/>
                    </a:ext>
                  </a:extLst>
                </p:cNvPr>
                <p:cNvSpPr/>
                <p:nvPr/>
              </p:nvSpPr>
              <p:spPr bwMode="auto">
                <a:xfrm>
                  <a:off x="-1321903" y="2223165"/>
                  <a:ext cx="183134" cy="1831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39" name="直線コネクタ 38">
                  <a:extLst>
                    <a:ext uri="{FF2B5EF4-FFF2-40B4-BE49-F238E27FC236}">
                      <a16:creationId xmlns:a16="http://schemas.microsoft.com/office/drawing/2014/main" id="{985757D5-A001-885F-7581-D61BCF6184B4}"/>
                    </a:ext>
                  </a:extLst>
                </p:cNvPr>
                <p:cNvCxnSpPr>
                  <a:cxnSpLocks/>
                </p:cNvCxnSpPr>
                <p:nvPr/>
              </p:nvCxnSpPr>
              <p:spPr>
                <a:xfrm>
                  <a:off x="-1230336" y="2406298"/>
                  <a:ext cx="0" cy="98585"/>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grpSp>
        </p:grpSp>
        <p:grpSp>
          <p:nvGrpSpPr>
            <p:cNvPr id="112" name="グループ化 111">
              <a:extLst>
                <a:ext uri="{FF2B5EF4-FFF2-40B4-BE49-F238E27FC236}">
                  <a16:creationId xmlns:a16="http://schemas.microsoft.com/office/drawing/2014/main" id="{B0266DF8-71F0-2074-B0C0-B44452DA0AD2}"/>
                </a:ext>
              </a:extLst>
            </p:cNvPr>
            <p:cNvGrpSpPr/>
            <p:nvPr/>
          </p:nvGrpSpPr>
          <p:grpSpPr>
            <a:xfrm>
              <a:off x="7858599" y="3150009"/>
              <a:ext cx="1082348" cy="407932"/>
              <a:chOff x="7996958" y="3424192"/>
              <a:chExt cx="1082348" cy="407932"/>
            </a:xfrm>
          </p:grpSpPr>
          <p:sp>
            <p:nvSpPr>
              <p:cNvPr id="12" name="テキスト ボックス 11">
                <a:extLst>
                  <a:ext uri="{FF2B5EF4-FFF2-40B4-BE49-F238E27FC236}">
                    <a16:creationId xmlns:a16="http://schemas.microsoft.com/office/drawing/2014/main" id="{4E3A0930-17EE-8A36-F49D-D5A57190A8BC}"/>
                  </a:ext>
                </a:extLst>
              </p:cNvPr>
              <p:cNvSpPr txBox="1"/>
              <p:nvPr/>
            </p:nvSpPr>
            <p:spPr>
              <a:xfrm>
                <a:off x="7996958" y="3424192"/>
                <a:ext cx="1082348" cy="246221"/>
              </a:xfrm>
              <a:prstGeom prst="rect">
                <a:avLst/>
              </a:prstGeom>
              <a:noFill/>
            </p:spPr>
            <p:txBody>
              <a:bodyPr wrap="none" rtlCol="0">
                <a:spAutoFit/>
              </a:bodyPr>
              <a:lstStyle/>
              <a:p>
                <a:r>
                  <a:rPr kumimoji="1" lang="ja-JP" altLang="en-US" sz="1000" b="1">
                    <a:latin typeface="メイリオ" panose="020B0604030504040204" pitchFamily="50" charset="-128"/>
                    <a:ea typeface="メイリオ" panose="020B0604030504040204" pitchFamily="50" charset="-128"/>
                  </a:rPr>
                  <a:t>モントリオール</a:t>
                </a:r>
              </a:p>
            </p:txBody>
          </p:sp>
          <p:grpSp>
            <p:nvGrpSpPr>
              <p:cNvPr id="24" name="グループ化 23">
                <a:extLst>
                  <a:ext uri="{FF2B5EF4-FFF2-40B4-BE49-F238E27FC236}">
                    <a16:creationId xmlns:a16="http://schemas.microsoft.com/office/drawing/2014/main" id="{7EA413B7-266E-57B0-D4C1-C6922C45B91E}"/>
                  </a:ext>
                </a:extLst>
              </p:cNvPr>
              <p:cNvGrpSpPr/>
              <p:nvPr/>
            </p:nvGrpSpPr>
            <p:grpSpPr>
              <a:xfrm>
                <a:off x="8774427" y="3680393"/>
                <a:ext cx="98634" cy="151731"/>
                <a:chOff x="-1321903" y="2223165"/>
                <a:chExt cx="183134" cy="281718"/>
              </a:xfrm>
            </p:grpSpPr>
            <p:sp>
              <p:nvSpPr>
                <p:cNvPr id="25" name="楕円 24">
                  <a:extLst>
                    <a:ext uri="{FF2B5EF4-FFF2-40B4-BE49-F238E27FC236}">
                      <a16:creationId xmlns:a16="http://schemas.microsoft.com/office/drawing/2014/main" id="{9BFA03C8-9C3A-AE83-2FC7-7C1576C756FC}"/>
                    </a:ext>
                  </a:extLst>
                </p:cNvPr>
                <p:cNvSpPr/>
                <p:nvPr/>
              </p:nvSpPr>
              <p:spPr bwMode="auto">
                <a:xfrm>
                  <a:off x="-1321903" y="2223165"/>
                  <a:ext cx="183134" cy="183134"/>
                </a:xfrm>
                <a:prstGeom prst="ellipse">
                  <a:avLst/>
                </a:prstGeom>
                <a:solidFill>
                  <a:schemeClr val="accent6">
                    <a:lumMod val="7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cxnSp>
              <p:nvCxnSpPr>
                <p:cNvPr id="33" name="直線コネクタ 32">
                  <a:extLst>
                    <a:ext uri="{FF2B5EF4-FFF2-40B4-BE49-F238E27FC236}">
                      <a16:creationId xmlns:a16="http://schemas.microsoft.com/office/drawing/2014/main" id="{6D6A1328-2EE4-9EEE-0D4A-82EC6787FE60}"/>
                    </a:ext>
                  </a:extLst>
                </p:cNvPr>
                <p:cNvCxnSpPr>
                  <a:cxnSpLocks/>
                </p:cNvCxnSpPr>
                <p:nvPr/>
              </p:nvCxnSpPr>
              <p:spPr>
                <a:xfrm>
                  <a:off x="-1230418" y="2406298"/>
                  <a:ext cx="0" cy="98585"/>
                </a:xfrm>
                <a:prstGeom prst="line">
                  <a:avLst/>
                </a:prstGeom>
                <a:ln w="12700">
                  <a:solidFill>
                    <a:schemeClr val="tx2">
                      <a:lumMod val="50000"/>
                      <a:lumOff val="50000"/>
                    </a:schemeClr>
                  </a:solidFill>
                </a:ln>
              </p:spPr>
              <p:style>
                <a:lnRef idx="1">
                  <a:schemeClr val="dk1"/>
                </a:lnRef>
                <a:fillRef idx="0">
                  <a:schemeClr val="dk1"/>
                </a:fillRef>
                <a:effectRef idx="0">
                  <a:schemeClr val="dk1"/>
                </a:effectRef>
                <a:fontRef idx="minor">
                  <a:schemeClr val="tx1"/>
                </a:fontRef>
              </p:style>
            </p:cxnSp>
          </p:grpSp>
        </p:grpSp>
      </p:grpSp>
      <p:sp>
        <p:nvSpPr>
          <p:cNvPr id="59" name="正方形/長方形 58">
            <a:extLst>
              <a:ext uri="{FF2B5EF4-FFF2-40B4-BE49-F238E27FC236}">
                <a16:creationId xmlns:a16="http://schemas.microsoft.com/office/drawing/2014/main" id="{E7AE4544-D2DC-A334-F097-23D0A5D0C5E4}"/>
              </a:ext>
            </a:extLst>
          </p:cNvPr>
          <p:cNvSpPr/>
          <p:nvPr/>
        </p:nvSpPr>
        <p:spPr>
          <a:xfrm>
            <a:off x="675207" y="1744046"/>
            <a:ext cx="1366455" cy="415498"/>
          </a:xfrm>
          <a:prstGeom prst="rect">
            <a:avLst/>
          </a:prstGeom>
          <a:solidFill>
            <a:schemeClr val="bg2"/>
          </a:solidFill>
          <a:ln w="26425" cap="flat" cmpd="sng" algn="ctr">
            <a:noFill/>
            <a:prstDash val="solid"/>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ja-JP" altLang="en-US" sz="1200" i="0" u="none" strike="noStrike" kern="0" cap="none" spc="0" normalizeH="0" baseline="0" noProof="0">
                <a:ln>
                  <a:noFill/>
                </a:ln>
                <a:effectLst/>
                <a:uLnTx/>
                <a:uFillTx/>
                <a:latin typeface="メイリオ" panose="020B0604030504040204" pitchFamily="50" charset="-128"/>
                <a:ea typeface="メイリオ" panose="020B0604030504040204" pitchFamily="50" charset="-128"/>
              </a:rPr>
              <a:t>支社所在地</a:t>
            </a:r>
          </a:p>
        </p:txBody>
      </p:sp>
      <p:sp>
        <p:nvSpPr>
          <p:cNvPr id="60" name="テキスト ボックス 59">
            <a:extLst>
              <a:ext uri="{FF2B5EF4-FFF2-40B4-BE49-F238E27FC236}">
                <a16:creationId xmlns:a16="http://schemas.microsoft.com/office/drawing/2014/main" id="{DBB1FF3F-CB9C-85B2-A6A1-DFB58DDE3FAC}"/>
              </a:ext>
            </a:extLst>
          </p:cNvPr>
          <p:cNvSpPr txBox="1"/>
          <p:nvPr/>
        </p:nvSpPr>
        <p:spPr>
          <a:xfrm>
            <a:off x="2143283" y="1721818"/>
            <a:ext cx="7335522" cy="461665"/>
          </a:xfrm>
          <a:prstGeom prst="rect">
            <a:avLst/>
          </a:prstGeom>
          <a:noFill/>
        </p:spPr>
        <p:txBody>
          <a:bodyPr wrap="square" lIns="91440" tIns="45720" rIns="91440" bIns="45720" rtlCol="0" anchor="t">
            <a:spAutoFit/>
          </a:bodyPr>
          <a:lstStyle/>
          <a:p>
            <a:pPr eaLnBrk="0" fontAlgn="base" hangingPunct="0">
              <a:spcBef>
                <a:spcPct val="0"/>
              </a:spcBef>
              <a:spcAft>
                <a:spcPct val="0"/>
              </a:spcAft>
              <a:defRPr/>
            </a:pPr>
            <a:r>
              <a:rPr kumimoji="1" lang="en-US" altLang="ja-JP"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大阪</a:t>
            </a:r>
            <a:r>
              <a:rPr kumimoji="1" lang="en-US" altLang="ja-JP"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　〒</a:t>
            </a:r>
            <a:r>
              <a:rPr kumimoji="1" lang="en-US" altLang="ja-JP"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102-0083</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　大阪市中央区南船場</a:t>
            </a:r>
            <a:r>
              <a:rPr lang="en-US" altLang="ja-JP" sz="1200">
                <a:solidFill>
                  <a:srgbClr val="000000"/>
                </a:solidFill>
                <a:latin typeface="メイリオ" panose="020B0604030504040204" pitchFamily="50" charset="-128"/>
                <a:ea typeface="メイリオ" panose="020B0604030504040204" pitchFamily="50" charset="-128"/>
              </a:rPr>
              <a:t>３</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丁目</a:t>
            </a:r>
            <a:r>
              <a:rPr lang="en-US" altLang="ja-JP" sz="1200">
                <a:solidFill>
                  <a:srgbClr val="000000"/>
                </a:solidFill>
                <a:latin typeface="メイリオ" panose="020B0604030504040204" pitchFamily="50" charset="-128"/>
                <a:ea typeface="メイリオ" panose="020B0604030504040204" pitchFamily="50" charset="-128"/>
              </a:rPr>
              <a:t>５</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番</a:t>
            </a:r>
            <a:r>
              <a:rPr lang="ja-JP" altLang="en-US" sz="1200">
                <a:solidFill>
                  <a:srgbClr val="000000"/>
                </a:solidFill>
                <a:latin typeface="メイリオ" panose="020B0604030504040204" pitchFamily="50" charset="-128"/>
                <a:ea typeface="メイリオ" panose="020B0604030504040204" pitchFamily="50" charset="-128"/>
              </a:rPr>
              <a:t>８</a:t>
            </a:r>
            <a:r>
              <a:rPr kumimoji="1" lang="ja-JP" altLang="en-US"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号　オーク心斎橋ビル８</a:t>
            </a:r>
            <a:r>
              <a:rPr lang="en-US" altLang="ja-JP" sz="1200">
                <a:solidFill>
                  <a:srgbClr val="000000"/>
                </a:solidFill>
                <a:latin typeface="メイリオ" panose="020B0604030504040204" pitchFamily="50" charset="-128"/>
                <a:ea typeface="メイリオ" panose="020B0604030504040204" pitchFamily="50" charset="-128"/>
              </a:rPr>
              <a:t>F</a:t>
            </a:r>
            <a:endParaRPr lang="en-US">
              <a:latin typeface="メイリオ" panose="020B0604030504040204" pitchFamily="50" charset="-128"/>
              <a:ea typeface="メイリオ" panose="020B060403050404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ja-JP" sz="1200">
                <a:solidFill>
                  <a:srgbClr val="000000"/>
                </a:solidFill>
                <a:latin typeface="メイリオ" panose="020B0604030504040204" pitchFamily="50" charset="-128"/>
                <a:ea typeface="メイリオ" panose="020B0604030504040204" pitchFamily="50" charset="-128"/>
              </a:rPr>
              <a:t>[</a:t>
            </a:r>
            <a:r>
              <a:rPr lang="ja-JP" altLang="en-US" sz="1200">
                <a:solidFill>
                  <a:srgbClr val="000000"/>
                </a:solidFill>
                <a:latin typeface="メイリオ" panose="020B0604030504040204" pitchFamily="50" charset="-128"/>
                <a:ea typeface="メイリオ" panose="020B0604030504040204" pitchFamily="50" charset="-128"/>
              </a:rPr>
              <a:t>モントリオール</a:t>
            </a:r>
            <a:r>
              <a:rPr lang="en-US" altLang="ja-JP" sz="1200">
                <a:solidFill>
                  <a:srgbClr val="000000"/>
                </a:solidFill>
                <a:latin typeface="メイリオ" panose="020B0604030504040204" pitchFamily="50" charset="-128"/>
                <a:ea typeface="メイリオ" panose="020B0604030504040204" pitchFamily="50" charset="-128"/>
              </a:rPr>
              <a:t>]</a:t>
            </a:r>
            <a:r>
              <a:rPr lang="ja-JP" altLang="en-US" sz="1200">
                <a:solidFill>
                  <a:srgbClr val="000000"/>
                </a:solidFill>
                <a:latin typeface="メイリオ" panose="020B0604030504040204" pitchFamily="50" charset="-128"/>
                <a:ea typeface="メイリオ" panose="020B0604030504040204" pitchFamily="50" charset="-128"/>
              </a:rPr>
              <a:t>　</a:t>
            </a:r>
            <a:r>
              <a:rPr lang="pt-BR" altLang="ja-JP" sz="1200">
                <a:solidFill>
                  <a:srgbClr val="000000"/>
                </a:solidFill>
                <a:latin typeface="メイリオ" panose="020B0604030504040204" pitchFamily="50" charset="-128"/>
                <a:ea typeface="メイリオ" panose="020B0604030504040204" pitchFamily="50" charset="-128"/>
              </a:rPr>
              <a:t>2001 </a:t>
            </a:r>
            <a:r>
              <a:rPr lang="pt-BR" altLang="ja-JP" sz="1200" err="1">
                <a:solidFill>
                  <a:srgbClr val="000000"/>
                </a:solidFill>
                <a:latin typeface="メイリオ" panose="020B0604030504040204" pitchFamily="50" charset="-128"/>
                <a:ea typeface="メイリオ" panose="020B0604030504040204" pitchFamily="50" charset="-128"/>
              </a:rPr>
              <a:t>Blvd</a:t>
            </a:r>
            <a:r>
              <a:rPr lang="pt-BR" altLang="ja-JP" sz="1200">
                <a:solidFill>
                  <a:srgbClr val="000000"/>
                </a:solidFill>
                <a:latin typeface="メイリオ" panose="020B0604030504040204" pitchFamily="50" charset="-128"/>
                <a:ea typeface="メイリオ" panose="020B0604030504040204" pitchFamily="50" charset="-128"/>
              </a:rPr>
              <a:t> Robert-</a:t>
            </a:r>
            <a:r>
              <a:rPr lang="pt-BR" altLang="ja-JP" sz="1200" err="1">
                <a:solidFill>
                  <a:srgbClr val="000000"/>
                </a:solidFill>
                <a:latin typeface="メイリオ" panose="020B0604030504040204" pitchFamily="50" charset="-128"/>
                <a:ea typeface="メイリオ" panose="020B0604030504040204" pitchFamily="50" charset="-128"/>
              </a:rPr>
              <a:t>Bourassa</a:t>
            </a:r>
            <a:r>
              <a:rPr lang="pt-BR" altLang="ja-JP" sz="1200">
                <a:solidFill>
                  <a:srgbClr val="000000"/>
                </a:solidFill>
                <a:latin typeface="メイリオ" panose="020B0604030504040204" pitchFamily="50" charset="-128"/>
                <a:ea typeface="メイリオ" panose="020B0604030504040204" pitchFamily="50" charset="-128"/>
              </a:rPr>
              <a:t> #1700, Montreal, Quebec H3A 2A6, CANADA</a:t>
            </a:r>
            <a:endParaRPr kumimoji="1" lang="en-US" altLang="ja-JP" sz="1200" b="0" i="0" u="none" strike="noStrike" kern="120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grpSp>
        <p:nvGrpSpPr>
          <p:cNvPr id="109" name="グループ化 108">
            <a:extLst>
              <a:ext uri="{FF2B5EF4-FFF2-40B4-BE49-F238E27FC236}">
                <a16:creationId xmlns:a16="http://schemas.microsoft.com/office/drawing/2014/main" id="{C7CBCA3E-64C4-49E0-8FCB-B6B0630F3C65}"/>
              </a:ext>
            </a:extLst>
          </p:cNvPr>
          <p:cNvGrpSpPr/>
          <p:nvPr/>
        </p:nvGrpSpPr>
        <p:grpSpPr>
          <a:xfrm>
            <a:off x="2154578" y="5073383"/>
            <a:ext cx="2442668" cy="1731936"/>
            <a:chOff x="2154578" y="5073383"/>
            <a:chExt cx="2442668" cy="1731936"/>
          </a:xfrm>
        </p:grpSpPr>
        <p:grpSp>
          <p:nvGrpSpPr>
            <p:cNvPr id="62" name="グループ化 61">
              <a:extLst>
                <a:ext uri="{FF2B5EF4-FFF2-40B4-BE49-F238E27FC236}">
                  <a16:creationId xmlns:a16="http://schemas.microsoft.com/office/drawing/2014/main" id="{406BC339-3F97-13B9-2092-46DDED3B3712}"/>
                </a:ext>
              </a:extLst>
            </p:cNvPr>
            <p:cNvGrpSpPr/>
            <p:nvPr/>
          </p:nvGrpSpPr>
          <p:grpSpPr>
            <a:xfrm>
              <a:off x="2154578" y="5073383"/>
              <a:ext cx="2442668" cy="276999"/>
              <a:chOff x="-1861370" y="3817112"/>
              <a:chExt cx="2442668" cy="276999"/>
            </a:xfrm>
          </p:grpSpPr>
          <p:sp>
            <p:nvSpPr>
              <p:cNvPr id="58" name="テキスト ボックス 57">
                <a:extLst>
                  <a:ext uri="{FF2B5EF4-FFF2-40B4-BE49-F238E27FC236}">
                    <a16:creationId xmlns:a16="http://schemas.microsoft.com/office/drawing/2014/main" id="{3139D603-7358-A363-C560-3BE7F922963B}"/>
                  </a:ext>
                </a:extLst>
              </p:cNvPr>
              <p:cNvSpPr txBox="1"/>
              <p:nvPr/>
            </p:nvSpPr>
            <p:spPr>
              <a:xfrm>
                <a:off x="-1861370" y="3817112"/>
                <a:ext cx="1594507" cy="276999"/>
              </a:xfrm>
              <a:prstGeom prst="rect">
                <a:avLst/>
              </a:prstGeom>
              <a:noFill/>
            </p:spPr>
            <p:txBody>
              <a:bodyPr wrap="square" lIns="91440" tIns="45720" rIns="91440" bIns="45720" rtlCol="0" anchor="t">
                <a:spAutoFit/>
              </a:bodyPr>
              <a:lstStyle/>
              <a:p>
                <a:pPr marL="0" marR="0" lvl="0" indent="0" algn="l" defTabSz="914400" rtl="0" eaLnBrk="0" fontAlgn="base" latinLnBrk="0" hangingPunct="0">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取締役（</a:t>
                </a:r>
                <a:r>
                  <a:rPr lang="en-US" altLang="zh-TW" sz="1200">
                    <a:solidFill>
                      <a:srgbClr val="222427"/>
                    </a:solidFill>
                    <a:latin typeface="メイリオ" panose="020B0604030504040204" pitchFamily="50" charset="-128"/>
                    <a:ea typeface="メイリオ" panose="020B0604030504040204" pitchFamily="50" charset="-128"/>
                  </a:rPr>
                  <a:t>CMO</a:t>
                </a:r>
                <a:r>
                  <a:rPr lang="zh-TW" altLang="en-US" sz="1200" b="0" i="0">
                    <a:solidFill>
                      <a:srgbClr val="222427"/>
                    </a:solidFill>
                    <a:effectLst/>
                    <a:latin typeface="メイリオ" panose="020B0604030504040204" pitchFamily="50" charset="-128"/>
                    <a:ea typeface="メイリオ" panose="020B0604030504040204" pitchFamily="50" charset="-128"/>
                  </a:rPr>
                  <a:t>）</a:t>
                </a:r>
                <a:endParaRPr lang="zh-TW"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p:txBody>
          </p:sp>
          <p:sp>
            <p:nvSpPr>
              <p:cNvPr id="61" name="テキスト ボックス 60">
                <a:extLst>
                  <a:ext uri="{FF2B5EF4-FFF2-40B4-BE49-F238E27FC236}">
                    <a16:creationId xmlns:a16="http://schemas.microsoft.com/office/drawing/2014/main" id="{3A048EF1-8471-2799-3A66-4D1A5641B309}"/>
                  </a:ext>
                </a:extLst>
              </p:cNvPr>
              <p:cNvSpPr txBox="1"/>
              <p:nvPr/>
            </p:nvSpPr>
            <p:spPr>
              <a:xfrm>
                <a:off x="-578905" y="3817112"/>
                <a:ext cx="1160203" cy="276999"/>
              </a:xfrm>
              <a:prstGeom prst="rect">
                <a:avLst/>
              </a:prstGeom>
              <a:noFill/>
            </p:spPr>
            <p:txBody>
              <a:bodyPr wrap="square" lIns="91440" tIns="45720" rIns="91440" bIns="45720" rtlCol="0" anchor="t">
                <a:spAutoFit/>
              </a:bodyPr>
              <a:lstStyle/>
              <a:p>
                <a:pPr marL="0" marR="0" lvl="0" indent="0" algn="l" defTabSz="914400" rtl="0" eaLnBrk="0" fontAlgn="base" latinLnBrk="0" hangingPunct="0">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青木 克仁</a:t>
                </a:r>
                <a:endParaRPr lang="zh-TW" altLang="en-US" sz="1200" b="0" i="0" u="none" strike="noStrike" kern="1200" cap="none" spc="0" normalizeH="0" baseline="0" noProof="0">
                  <a:ln>
                    <a:noFill/>
                  </a:ln>
                  <a:solidFill>
                    <a:srgbClr val="222427"/>
                  </a:solidFill>
                  <a:effectLst/>
                  <a:uLnTx/>
                  <a:uFillTx/>
                  <a:latin typeface="メイリオ" panose="020B0604030504040204" pitchFamily="50" charset="-128"/>
                  <a:ea typeface="メイリオ" panose="020B0604030504040204" pitchFamily="50" charset="-128"/>
                </a:endParaRPr>
              </a:p>
            </p:txBody>
          </p:sp>
        </p:grpSp>
        <p:grpSp>
          <p:nvGrpSpPr>
            <p:cNvPr id="63" name="グループ化 62">
              <a:extLst>
                <a:ext uri="{FF2B5EF4-FFF2-40B4-BE49-F238E27FC236}">
                  <a16:creationId xmlns:a16="http://schemas.microsoft.com/office/drawing/2014/main" id="{568B5B31-C307-E988-C53B-56BDD8A43061}"/>
                </a:ext>
              </a:extLst>
            </p:cNvPr>
            <p:cNvGrpSpPr/>
            <p:nvPr/>
          </p:nvGrpSpPr>
          <p:grpSpPr>
            <a:xfrm>
              <a:off x="2154578" y="5281231"/>
              <a:ext cx="2442668" cy="276999"/>
              <a:chOff x="-1861370" y="3817112"/>
              <a:chExt cx="2442668" cy="276999"/>
            </a:xfrm>
          </p:grpSpPr>
          <p:sp>
            <p:nvSpPr>
              <p:cNvPr id="64" name="テキスト ボックス 63">
                <a:extLst>
                  <a:ext uri="{FF2B5EF4-FFF2-40B4-BE49-F238E27FC236}">
                    <a16:creationId xmlns:a16="http://schemas.microsoft.com/office/drawing/2014/main" id="{7114CBBD-9FFD-7EE8-E26A-7A5E1B46FDD3}"/>
                  </a:ext>
                </a:extLst>
              </p:cNvPr>
              <p:cNvSpPr txBox="1"/>
              <p:nvPr/>
            </p:nvSpPr>
            <p:spPr>
              <a:xfrm>
                <a:off x="-1861370" y="3817112"/>
                <a:ext cx="1594507" cy="276999"/>
              </a:xfrm>
              <a:prstGeom prst="rect">
                <a:avLst/>
              </a:prstGeom>
              <a:noFill/>
            </p:spPr>
            <p:txBody>
              <a:bodyPr wrap="square" lIns="91440" tIns="45720" rIns="91440" bIns="45720" rtlCol="0" anchor="t">
                <a:spAutoFit/>
              </a:bodyPr>
              <a:lstStyle/>
              <a:p>
                <a:pPr marL="0" marR="0" lvl="0" indent="0" algn="l" defTabSz="914400" rtl="0" eaLnBrk="0" fontAlgn="base" latinLnBrk="0" hangingPunct="0">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取締役</a:t>
                </a:r>
                <a:endParaRPr lang="zh-TW" altLang="en-US" sz="1200" b="0" i="0" u="none" strike="noStrike" kern="1200" cap="none" spc="0" normalizeH="0" baseline="0" noProof="0">
                  <a:ln>
                    <a:noFill/>
                  </a:ln>
                  <a:solidFill>
                    <a:srgbClr val="222427"/>
                  </a:solidFill>
                  <a:effectLst/>
                  <a:uLnTx/>
                  <a:uFillTx/>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0BF90544-2175-5AA8-8356-4DA212D244F4}"/>
                  </a:ext>
                </a:extLst>
              </p:cNvPr>
              <p:cNvSpPr txBox="1"/>
              <p:nvPr/>
            </p:nvSpPr>
            <p:spPr>
              <a:xfrm>
                <a:off x="-578905" y="3817112"/>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zh-TW" sz="1200">
                    <a:solidFill>
                      <a:srgbClr val="222427"/>
                    </a:solidFill>
                    <a:latin typeface="メイリオ" panose="020B0604030504040204" pitchFamily="50" charset="-128"/>
                    <a:ea typeface="メイリオ" panose="020B0604030504040204" pitchFamily="50" charset="-128"/>
                  </a:rPr>
                  <a:t>後藤 野人</a:t>
                </a:r>
                <a:endParaRPr lang="zh-TW"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p:txBody>
          </p:sp>
        </p:grpSp>
        <p:grpSp>
          <p:nvGrpSpPr>
            <p:cNvPr id="69" name="グループ化 68">
              <a:extLst>
                <a:ext uri="{FF2B5EF4-FFF2-40B4-BE49-F238E27FC236}">
                  <a16:creationId xmlns:a16="http://schemas.microsoft.com/office/drawing/2014/main" id="{1B0418BD-8042-1C7B-7ECF-17EB4AA7A232}"/>
                </a:ext>
              </a:extLst>
            </p:cNvPr>
            <p:cNvGrpSpPr/>
            <p:nvPr/>
          </p:nvGrpSpPr>
          <p:grpSpPr>
            <a:xfrm>
              <a:off x="2154578" y="5489079"/>
              <a:ext cx="2442668" cy="276999"/>
              <a:chOff x="-1861370" y="3817112"/>
              <a:chExt cx="2442668" cy="276999"/>
            </a:xfrm>
          </p:grpSpPr>
          <p:sp>
            <p:nvSpPr>
              <p:cNvPr id="70" name="テキスト ボックス 69">
                <a:extLst>
                  <a:ext uri="{FF2B5EF4-FFF2-40B4-BE49-F238E27FC236}">
                    <a16:creationId xmlns:a16="http://schemas.microsoft.com/office/drawing/2014/main" id="{F620740D-1DA3-6D3D-A19F-3E79E8FFE8B1}"/>
                  </a:ext>
                </a:extLst>
              </p:cNvPr>
              <p:cNvSpPr txBox="1"/>
              <p:nvPr/>
            </p:nvSpPr>
            <p:spPr>
              <a:xfrm>
                <a:off x="-1861370" y="3817112"/>
                <a:ext cx="1594507" cy="276999"/>
              </a:xfrm>
              <a:prstGeom prst="rect">
                <a:avLst/>
              </a:prstGeom>
              <a:noFill/>
            </p:spPr>
            <p:txBody>
              <a:bodyPr wrap="square" lIns="91440" tIns="45720" rIns="91440" bIns="45720" rtlCol="0" anchor="t">
                <a:spAutoFit/>
              </a:bodyPr>
              <a:lstStyle/>
              <a:p>
                <a:pPr marL="0" marR="0" lvl="0" indent="0" algn="l" defTabSz="914400" rtl="0" eaLnBrk="0" fontAlgn="base" latinLnBrk="0" hangingPunct="0">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取締役</a:t>
                </a:r>
                <a:endParaRPr lang="zh-TW" altLang="en-US" sz="1200" b="0" i="0" u="none" strike="noStrike" kern="1200" cap="none" spc="0" normalizeH="0" baseline="0" noProof="0">
                  <a:ln>
                    <a:noFill/>
                  </a:ln>
                  <a:solidFill>
                    <a:srgbClr val="222427"/>
                  </a:solidFill>
                  <a:effectLst/>
                  <a:uLnTx/>
                  <a:uFillTx/>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35D1347C-AB5F-FDC7-A996-818CC6D778BF}"/>
                  </a:ext>
                </a:extLst>
              </p:cNvPr>
              <p:cNvSpPr txBox="1"/>
              <p:nvPr/>
            </p:nvSpPr>
            <p:spPr>
              <a:xfrm>
                <a:off x="-578905" y="3817112"/>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zh-TW" altLang="en-US" sz="1200">
                    <a:solidFill>
                      <a:srgbClr val="222427"/>
                    </a:solidFill>
                    <a:latin typeface="メイリオ" panose="020B0604030504040204" pitchFamily="50" charset="-128"/>
                    <a:ea typeface="メイリオ" panose="020B0604030504040204" pitchFamily="50" charset="-128"/>
                  </a:rPr>
                  <a:t>松本 研二</a:t>
                </a:r>
                <a:endParaRPr lang="ja-JP" altLang="en-US">
                  <a:latin typeface="メイリオ" panose="020B0604030504040204" pitchFamily="50" charset="-128"/>
                  <a:ea typeface="メイリオ" panose="020B0604030504040204" pitchFamily="50" charset="-128"/>
                </a:endParaRPr>
              </a:p>
            </p:txBody>
          </p:sp>
        </p:grpSp>
        <p:grpSp>
          <p:nvGrpSpPr>
            <p:cNvPr id="72" name="グループ化 71">
              <a:extLst>
                <a:ext uri="{FF2B5EF4-FFF2-40B4-BE49-F238E27FC236}">
                  <a16:creationId xmlns:a16="http://schemas.microsoft.com/office/drawing/2014/main" id="{A12BF083-6B79-42CD-BBFA-D74A2C5AC2FB}"/>
                </a:ext>
              </a:extLst>
            </p:cNvPr>
            <p:cNvGrpSpPr/>
            <p:nvPr/>
          </p:nvGrpSpPr>
          <p:grpSpPr>
            <a:xfrm>
              <a:off x="2154578" y="5904775"/>
              <a:ext cx="2442668" cy="276999"/>
              <a:chOff x="-1861370" y="4045714"/>
              <a:chExt cx="2442668" cy="276999"/>
            </a:xfrm>
          </p:grpSpPr>
          <p:sp>
            <p:nvSpPr>
              <p:cNvPr id="73" name="テキスト ボックス 72">
                <a:extLst>
                  <a:ext uri="{FF2B5EF4-FFF2-40B4-BE49-F238E27FC236}">
                    <a16:creationId xmlns:a16="http://schemas.microsoft.com/office/drawing/2014/main" id="{D006D845-AFFE-7160-773B-53C6DD27A514}"/>
                  </a:ext>
                </a:extLst>
              </p:cNvPr>
              <p:cNvSpPr txBox="1"/>
              <p:nvPr/>
            </p:nvSpPr>
            <p:spPr>
              <a:xfrm>
                <a:off x="-1861370" y="4045714"/>
                <a:ext cx="1594507" cy="276999"/>
              </a:xfrm>
              <a:prstGeom prst="rect">
                <a:avLst/>
              </a:prstGeom>
              <a:noFill/>
            </p:spPr>
            <p:txBody>
              <a:bodyPr wrap="square" lIns="91440" tIns="45720" rIns="91440" bIns="45720" rtlCol="0" anchor="t">
                <a:spAutoFit/>
              </a:bodyPr>
              <a:lstStyle/>
              <a:p>
                <a:pPr marL="0" marR="0" lvl="0" indent="0" algn="l" defTabSz="914400" rtl="0" eaLnBrk="0" fontAlgn="base" latinLnBrk="0" hangingPunct="0">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取締役</a:t>
                </a:r>
                <a:endParaRPr lang="zh-TW" altLang="en-US" sz="1200" b="0" i="0" u="none" strike="noStrike" kern="1200" cap="none" spc="0" normalizeH="0" baseline="0" noProof="0">
                  <a:ln>
                    <a:noFill/>
                  </a:ln>
                  <a:solidFill>
                    <a:srgbClr val="222427"/>
                  </a:solidFill>
                  <a:effectLst/>
                  <a:uLnTx/>
                  <a:uFillTx/>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E1324E10-0E79-6AEE-55A3-18B07E3D8025}"/>
                  </a:ext>
                </a:extLst>
              </p:cNvPr>
              <p:cNvSpPr txBox="1"/>
              <p:nvPr/>
            </p:nvSpPr>
            <p:spPr>
              <a:xfrm>
                <a:off x="-578905" y="4045714"/>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zh-TW" sz="1200">
                    <a:solidFill>
                      <a:srgbClr val="222427"/>
                    </a:solidFill>
                    <a:latin typeface="メイリオ" panose="020B0604030504040204" pitchFamily="50" charset="-128"/>
                    <a:ea typeface="メイリオ" panose="020B0604030504040204" pitchFamily="50" charset="-128"/>
                  </a:rPr>
                  <a:t>澤田 秀雄＊</a:t>
                </a:r>
                <a:endParaRPr lang="zh-TW" sz="1200">
                  <a:latin typeface="メイリオ" panose="020B0604030504040204" pitchFamily="50" charset="-128"/>
                  <a:ea typeface="メイリオ" panose="020B0604030504040204" pitchFamily="50" charset="-128"/>
                </a:endParaRPr>
              </a:p>
            </p:txBody>
          </p:sp>
        </p:grpSp>
        <p:grpSp>
          <p:nvGrpSpPr>
            <p:cNvPr id="75" name="グループ化 74">
              <a:extLst>
                <a:ext uri="{FF2B5EF4-FFF2-40B4-BE49-F238E27FC236}">
                  <a16:creationId xmlns:a16="http://schemas.microsoft.com/office/drawing/2014/main" id="{F2984145-EF8A-C20A-924B-918138E4F48F}"/>
                </a:ext>
              </a:extLst>
            </p:cNvPr>
            <p:cNvGrpSpPr/>
            <p:nvPr/>
          </p:nvGrpSpPr>
          <p:grpSpPr>
            <a:xfrm>
              <a:off x="2154578" y="6112623"/>
              <a:ext cx="2442668" cy="276999"/>
              <a:chOff x="-1861370" y="4045714"/>
              <a:chExt cx="2442668" cy="276999"/>
            </a:xfrm>
          </p:grpSpPr>
          <p:sp>
            <p:nvSpPr>
              <p:cNvPr id="76" name="テキスト ボックス 75">
                <a:extLst>
                  <a:ext uri="{FF2B5EF4-FFF2-40B4-BE49-F238E27FC236}">
                    <a16:creationId xmlns:a16="http://schemas.microsoft.com/office/drawing/2014/main" id="{56948A1E-2808-E920-D34D-F1CDF12B0B18}"/>
                  </a:ext>
                </a:extLst>
              </p:cNvPr>
              <p:cNvSpPr txBox="1"/>
              <p:nvPr/>
            </p:nvSpPr>
            <p:spPr>
              <a:xfrm>
                <a:off x="-1861370" y="4045714"/>
                <a:ext cx="1594507" cy="276999"/>
              </a:xfrm>
              <a:prstGeom prst="rect">
                <a:avLst/>
              </a:prstGeom>
              <a:noFill/>
            </p:spPr>
            <p:txBody>
              <a:bodyPr wrap="square" lIns="91440" tIns="45720" rIns="91440" bIns="45720" rtlCol="0" anchor="t">
                <a:spAutoFit/>
              </a:bodyPr>
              <a:lstStyle/>
              <a:p>
                <a:pPr marL="0" marR="0" lvl="0" indent="0" algn="l" defTabSz="914400" rtl="0" eaLnBrk="0" fontAlgn="base" latinLnBrk="0" hangingPunct="0">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取締役</a:t>
                </a:r>
                <a:endParaRPr lang="zh-TW" altLang="en-US" sz="1200" b="0" i="0" u="none" strike="noStrike" kern="1200" cap="none" spc="0" normalizeH="0" baseline="0" noProof="0">
                  <a:ln>
                    <a:noFill/>
                  </a:ln>
                  <a:solidFill>
                    <a:srgbClr val="222427"/>
                  </a:solidFill>
                  <a:effectLst/>
                  <a:uLnTx/>
                  <a:uFillTx/>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B2D38C77-66B2-CB2C-28A3-71F8095CF933}"/>
                  </a:ext>
                </a:extLst>
              </p:cNvPr>
              <p:cNvSpPr txBox="1"/>
              <p:nvPr/>
            </p:nvSpPr>
            <p:spPr>
              <a:xfrm>
                <a:off x="-578905" y="4045714"/>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zh-TW" altLang="en-US" sz="1200">
                    <a:solidFill>
                      <a:srgbClr val="222427"/>
                    </a:solidFill>
                    <a:latin typeface="メイリオ" panose="020B0604030504040204" pitchFamily="50" charset="-128"/>
                    <a:ea typeface="メイリオ" panose="020B0604030504040204" pitchFamily="50" charset="-128"/>
                  </a:rPr>
                  <a:t>藤延 直道</a:t>
                </a:r>
                <a:r>
                  <a:rPr lang="zh-TW" sz="1200">
                    <a:solidFill>
                      <a:srgbClr val="222427"/>
                    </a:solidFill>
                    <a:latin typeface="メイリオ" panose="020B0604030504040204" pitchFamily="50" charset="-128"/>
                    <a:ea typeface="メイリオ" panose="020B0604030504040204" pitchFamily="50" charset="-128"/>
                  </a:rPr>
                  <a:t>＊</a:t>
                </a:r>
                <a:endParaRPr lang="zh-TW" altLang="en-US" sz="1200">
                  <a:latin typeface="メイリオ" panose="020B0604030504040204" pitchFamily="50" charset="-128"/>
                  <a:ea typeface="メイリオ" panose="020B0604030504040204" pitchFamily="50" charset="-128"/>
                </a:endParaRPr>
              </a:p>
            </p:txBody>
          </p:sp>
        </p:grpSp>
        <p:grpSp>
          <p:nvGrpSpPr>
            <p:cNvPr id="78" name="グループ化 77">
              <a:extLst>
                <a:ext uri="{FF2B5EF4-FFF2-40B4-BE49-F238E27FC236}">
                  <a16:creationId xmlns:a16="http://schemas.microsoft.com/office/drawing/2014/main" id="{3D01515D-848D-488E-F00F-3DAFC2BED2E8}"/>
                </a:ext>
              </a:extLst>
            </p:cNvPr>
            <p:cNvGrpSpPr/>
            <p:nvPr/>
          </p:nvGrpSpPr>
          <p:grpSpPr>
            <a:xfrm>
              <a:off x="2154578" y="6320471"/>
              <a:ext cx="2442668" cy="276999"/>
              <a:chOff x="-1861370" y="4045714"/>
              <a:chExt cx="2442668" cy="276999"/>
            </a:xfrm>
          </p:grpSpPr>
          <p:sp>
            <p:nvSpPr>
              <p:cNvPr id="79" name="テキスト ボックス 78">
                <a:extLst>
                  <a:ext uri="{FF2B5EF4-FFF2-40B4-BE49-F238E27FC236}">
                    <a16:creationId xmlns:a16="http://schemas.microsoft.com/office/drawing/2014/main" id="{FAE5406E-08E3-7DCC-A4DF-BB557824D920}"/>
                  </a:ext>
                </a:extLst>
              </p:cNvPr>
              <p:cNvSpPr txBox="1"/>
              <p:nvPr/>
            </p:nvSpPr>
            <p:spPr>
              <a:xfrm>
                <a:off x="-1861370" y="4045714"/>
                <a:ext cx="1594507" cy="276999"/>
              </a:xfrm>
              <a:prstGeom prst="rect">
                <a:avLst/>
              </a:prstGeom>
              <a:noFill/>
            </p:spPr>
            <p:txBody>
              <a:bodyPr wrap="square" lIns="91440" tIns="45720" rIns="91440" bIns="45720" rtlCol="0" anchor="t">
                <a:spAutoFit/>
              </a:bodyPr>
              <a:lstStyle/>
              <a:p>
                <a:pPr marL="0" marR="0" lvl="0" indent="0" algn="l" defTabSz="914400" rtl="0" eaLnBrk="0" fontAlgn="base" latinLnBrk="0" hangingPunct="0">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取締役</a:t>
                </a:r>
                <a:endParaRPr lang="zh-TW" altLang="en-US" sz="1200" b="0" i="0" u="none" strike="noStrike" kern="1200" cap="none" spc="0" normalizeH="0" baseline="0" noProof="0">
                  <a:ln>
                    <a:noFill/>
                  </a:ln>
                  <a:solidFill>
                    <a:srgbClr val="222427"/>
                  </a:solidFill>
                  <a:effectLst/>
                  <a:uLnTx/>
                  <a:uFillTx/>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838B003-BDC6-1D5F-A6CA-FD3E094945FA}"/>
                  </a:ext>
                </a:extLst>
              </p:cNvPr>
              <p:cNvSpPr txBox="1"/>
              <p:nvPr/>
            </p:nvSpPr>
            <p:spPr>
              <a:xfrm>
                <a:off x="-578905" y="4045714"/>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ja-JP" altLang="en-US" sz="1200" b="0" i="0">
                    <a:solidFill>
                      <a:srgbClr val="242424"/>
                    </a:solidFill>
                    <a:effectLst/>
                    <a:latin typeface="メイリオ" panose="020B0604030504040204" pitchFamily="50" charset="-128"/>
                    <a:ea typeface="メイリオ" panose="020B0604030504040204" pitchFamily="50" charset="-128"/>
                  </a:rPr>
                  <a:t>渡辺 尚</a:t>
                </a:r>
                <a:r>
                  <a:rPr lang="zh-TW" sz="1200">
                    <a:solidFill>
                      <a:srgbClr val="222427"/>
                    </a:solidFill>
                    <a:latin typeface="メイリオ" panose="020B0604030504040204" pitchFamily="50" charset="-128"/>
                    <a:ea typeface="メイリオ" panose="020B0604030504040204" pitchFamily="50" charset="-128"/>
                  </a:rPr>
                  <a:t>＊</a:t>
                </a:r>
                <a:endParaRPr lang="ja-JP" altLang="en-US">
                  <a:latin typeface="メイリオ" panose="020B0604030504040204" pitchFamily="50" charset="-128"/>
                  <a:ea typeface="メイリオ" panose="020B0604030504040204" pitchFamily="50" charset="-128"/>
                </a:endParaRPr>
              </a:p>
            </p:txBody>
          </p:sp>
        </p:grpSp>
        <p:grpSp>
          <p:nvGrpSpPr>
            <p:cNvPr id="55" name="グループ化 54">
              <a:extLst>
                <a:ext uri="{FF2B5EF4-FFF2-40B4-BE49-F238E27FC236}">
                  <a16:creationId xmlns:a16="http://schemas.microsoft.com/office/drawing/2014/main" id="{092F6D1C-BE94-4DB6-EC63-1029B003291D}"/>
                </a:ext>
              </a:extLst>
            </p:cNvPr>
            <p:cNvGrpSpPr/>
            <p:nvPr/>
          </p:nvGrpSpPr>
          <p:grpSpPr>
            <a:xfrm>
              <a:off x="2154578" y="5696927"/>
              <a:ext cx="2442668" cy="276999"/>
              <a:chOff x="2156144" y="5673790"/>
              <a:chExt cx="2442668" cy="276999"/>
            </a:xfrm>
          </p:grpSpPr>
          <p:sp>
            <p:nvSpPr>
              <p:cNvPr id="8" name="テキスト ボックス 7">
                <a:extLst>
                  <a:ext uri="{FF2B5EF4-FFF2-40B4-BE49-F238E27FC236}">
                    <a16:creationId xmlns:a16="http://schemas.microsoft.com/office/drawing/2014/main" id="{0BC74798-15C3-9B70-2ADD-AE2C20657C1E}"/>
                  </a:ext>
                </a:extLst>
              </p:cNvPr>
              <p:cNvSpPr txBox="1"/>
              <p:nvPr/>
            </p:nvSpPr>
            <p:spPr>
              <a:xfrm>
                <a:off x="2156144" y="5673790"/>
                <a:ext cx="1594507" cy="276999"/>
              </a:xfrm>
              <a:prstGeom prst="rect">
                <a:avLst/>
              </a:prstGeom>
              <a:noFill/>
            </p:spPr>
            <p:txBody>
              <a:bodyPr wrap="square" lIns="91440" tIns="45720" rIns="91440" bIns="45720" rtlCol="0" anchor="t">
                <a:spAutoFit/>
              </a:bodyPr>
              <a:lstStyle/>
              <a:p>
                <a:pPr marL="0" marR="0" lvl="0" indent="0" algn="l" defTabSz="914400" rtl="0" eaLnBrk="0" fontAlgn="base" latinLnBrk="0" hangingPunct="0">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取締役</a:t>
                </a:r>
                <a:endParaRPr lang="zh-TW" altLang="en-US" sz="1200" b="0" i="0" u="none" strike="noStrike" kern="1200" cap="none" spc="0" normalizeH="0" baseline="0" noProof="0">
                  <a:ln>
                    <a:noFill/>
                  </a:ln>
                  <a:solidFill>
                    <a:srgbClr val="222427"/>
                  </a:solidFill>
                  <a:effectLst/>
                  <a:uLnTx/>
                  <a:uFillTx/>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E89DCE61-0EC9-EB47-544D-682E83BBE8C1}"/>
                  </a:ext>
                </a:extLst>
              </p:cNvPr>
              <p:cNvSpPr txBox="1"/>
              <p:nvPr/>
            </p:nvSpPr>
            <p:spPr>
              <a:xfrm>
                <a:off x="3438609" y="5673790"/>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ja-JP" altLang="en-US" sz="1200" b="0" i="0">
                    <a:solidFill>
                      <a:srgbClr val="242424"/>
                    </a:solidFill>
                    <a:effectLst/>
                    <a:latin typeface="メイリオ" panose="020B0604030504040204" pitchFamily="50" charset="-128"/>
                    <a:ea typeface="メイリオ" panose="020B0604030504040204" pitchFamily="50" charset="-128"/>
                  </a:rPr>
                  <a:t>下 義生</a:t>
                </a:r>
                <a:endParaRPr lang="ja-JP" altLang="en-US">
                  <a:latin typeface="メイリオ" panose="020B0604030504040204" pitchFamily="50" charset="-128"/>
                  <a:ea typeface="メイリオ" panose="020B0604030504040204" pitchFamily="50" charset="-128"/>
                </a:endParaRPr>
              </a:p>
            </p:txBody>
          </p:sp>
        </p:grpSp>
        <p:grpSp>
          <p:nvGrpSpPr>
            <p:cNvPr id="19" name="グループ化 18">
              <a:extLst>
                <a:ext uri="{FF2B5EF4-FFF2-40B4-BE49-F238E27FC236}">
                  <a16:creationId xmlns:a16="http://schemas.microsoft.com/office/drawing/2014/main" id="{3C3892F1-FC28-D1FE-E32B-D7958F4849AA}"/>
                </a:ext>
              </a:extLst>
            </p:cNvPr>
            <p:cNvGrpSpPr/>
            <p:nvPr/>
          </p:nvGrpSpPr>
          <p:grpSpPr>
            <a:xfrm>
              <a:off x="2154578" y="6528320"/>
              <a:ext cx="2442668" cy="276999"/>
              <a:chOff x="-1861370" y="4045714"/>
              <a:chExt cx="2442668" cy="276999"/>
            </a:xfrm>
          </p:grpSpPr>
          <p:sp>
            <p:nvSpPr>
              <p:cNvPr id="36" name="テキスト ボックス 35">
                <a:extLst>
                  <a:ext uri="{FF2B5EF4-FFF2-40B4-BE49-F238E27FC236}">
                    <a16:creationId xmlns:a16="http://schemas.microsoft.com/office/drawing/2014/main" id="{B0FED39C-4B00-471E-0BC8-821D6F55D582}"/>
                  </a:ext>
                </a:extLst>
              </p:cNvPr>
              <p:cNvSpPr txBox="1"/>
              <p:nvPr/>
            </p:nvSpPr>
            <p:spPr>
              <a:xfrm>
                <a:off x="-1861370" y="4045714"/>
                <a:ext cx="1594507" cy="276999"/>
              </a:xfrm>
              <a:prstGeom prst="rect">
                <a:avLst/>
              </a:prstGeom>
              <a:noFill/>
            </p:spPr>
            <p:txBody>
              <a:bodyPr wrap="square" lIns="91440" tIns="45720" rIns="91440" bIns="45720" rtlCol="0" anchor="t">
                <a:spAutoFit/>
              </a:bodyPr>
              <a:lstStyle/>
              <a:p>
                <a:pPr marL="0" marR="0" lvl="0" indent="0" algn="l" defTabSz="914400" rtl="0" eaLnBrk="0" fontAlgn="base" latinLnBrk="0" hangingPunct="0">
                  <a:spcBef>
                    <a:spcPct val="0"/>
                  </a:spcBef>
                  <a:spcAft>
                    <a:spcPct val="0"/>
                  </a:spcAft>
                  <a:buClrTx/>
                  <a:buSzTx/>
                  <a:buFontTx/>
                  <a:buNone/>
                  <a:tabLst/>
                  <a:defRPr/>
                </a:pPr>
                <a:r>
                  <a:rPr lang="zh-TW" altLang="en-US" sz="1200" b="0" i="0">
                    <a:solidFill>
                      <a:srgbClr val="222427"/>
                    </a:solidFill>
                    <a:effectLst/>
                    <a:latin typeface="メイリオ" panose="020B0604030504040204" pitchFamily="50" charset="-128"/>
                    <a:ea typeface="メイリオ" panose="020B0604030504040204" pitchFamily="50" charset="-128"/>
                  </a:rPr>
                  <a:t>取締役</a:t>
                </a:r>
                <a:endParaRPr lang="zh-TW" altLang="en-US" sz="1200" b="0" i="0" u="none" strike="noStrike" kern="1200" cap="none" spc="0" normalizeH="0" baseline="0" noProof="0">
                  <a:ln>
                    <a:noFill/>
                  </a:ln>
                  <a:solidFill>
                    <a:srgbClr val="222427"/>
                  </a:solidFill>
                  <a:effectLst/>
                  <a:uLnTx/>
                  <a:uFillTx/>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F19F201B-B871-E83D-9F62-21FDFEDF895D}"/>
                  </a:ext>
                </a:extLst>
              </p:cNvPr>
              <p:cNvSpPr txBox="1"/>
              <p:nvPr/>
            </p:nvSpPr>
            <p:spPr>
              <a:xfrm>
                <a:off x="-578905" y="4045714"/>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ja-JP" altLang="en-US" sz="1200" b="0" i="0">
                    <a:solidFill>
                      <a:srgbClr val="242424"/>
                    </a:solidFill>
                    <a:effectLst/>
                    <a:latin typeface="メイリオ" panose="020B0604030504040204" pitchFamily="50" charset="-128"/>
                    <a:ea typeface="メイリオ" panose="020B0604030504040204" pitchFamily="50" charset="-128"/>
                  </a:rPr>
                  <a:t>田子 みどり＊</a:t>
                </a:r>
                <a:endParaRPr lang="ja-JP" altLang="en-US">
                  <a:latin typeface="メイリオ" panose="020B0604030504040204" pitchFamily="50" charset="-128"/>
                  <a:ea typeface="メイリオ" panose="020B0604030504040204" pitchFamily="50" charset="-128"/>
                </a:endParaRPr>
              </a:p>
            </p:txBody>
          </p:sp>
        </p:grpSp>
      </p:grpSp>
      <p:grpSp>
        <p:nvGrpSpPr>
          <p:cNvPr id="84" name="グループ化 83">
            <a:extLst>
              <a:ext uri="{FF2B5EF4-FFF2-40B4-BE49-F238E27FC236}">
                <a16:creationId xmlns:a16="http://schemas.microsoft.com/office/drawing/2014/main" id="{84E6B141-B7A8-B93E-8694-DB8AAB239E73}"/>
              </a:ext>
            </a:extLst>
          </p:cNvPr>
          <p:cNvGrpSpPr/>
          <p:nvPr/>
        </p:nvGrpSpPr>
        <p:grpSpPr>
          <a:xfrm>
            <a:off x="4793181" y="5277366"/>
            <a:ext cx="2442668" cy="276999"/>
            <a:chOff x="-1861370" y="3817112"/>
            <a:chExt cx="2442668" cy="276999"/>
          </a:xfrm>
        </p:grpSpPr>
        <p:sp>
          <p:nvSpPr>
            <p:cNvPr id="100" name="テキスト ボックス 99">
              <a:extLst>
                <a:ext uri="{FF2B5EF4-FFF2-40B4-BE49-F238E27FC236}">
                  <a16:creationId xmlns:a16="http://schemas.microsoft.com/office/drawing/2014/main" id="{3FFA9CC2-19D3-E002-4D57-7DE7E229DDAA}"/>
                </a:ext>
              </a:extLst>
            </p:cNvPr>
            <p:cNvSpPr txBox="1"/>
            <p:nvPr/>
          </p:nvSpPr>
          <p:spPr>
            <a:xfrm>
              <a:off x="-1861370" y="3817112"/>
              <a:ext cx="1594507" cy="276999"/>
            </a:xfrm>
            <a:prstGeom prst="rect">
              <a:avLst/>
            </a:prstGeom>
            <a:noFill/>
          </p:spPr>
          <p:txBody>
            <a:bodyPr wrap="square" lIns="91440" tIns="45720" rIns="91440" bIns="45720" rtlCol="0" anchor="t">
              <a:spAutoFit/>
            </a:bodyPr>
            <a:lstStyle/>
            <a:p>
              <a:pPr marL="0" marR="0" lvl="0" indent="0" algn="l" defTabSz="914400">
                <a:spcBef>
                  <a:spcPct val="0"/>
                </a:spcBef>
                <a:spcAft>
                  <a:spcPct val="0"/>
                </a:spcAft>
                <a:buNone/>
                <a:tabLst/>
                <a:defRPr/>
              </a:pPr>
              <a:r>
                <a:rPr lang="zh-TW" altLang="en-US" sz="1200">
                  <a:solidFill>
                    <a:srgbClr val="222427"/>
                  </a:solidFill>
                  <a:latin typeface="メイリオ" panose="020B0604030504040204" pitchFamily="50" charset="-128"/>
                  <a:ea typeface="メイリオ" panose="020B0604030504040204" pitchFamily="50" charset="-128"/>
                </a:rPr>
                <a:t>監査</a:t>
              </a:r>
              <a:r>
                <a:rPr lang="zh-TW" sz="1200" b="0" i="0">
                  <a:solidFill>
                    <a:srgbClr val="222427"/>
                  </a:solidFill>
                  <a:effectLst/>
                  <a:latin typeface="メイリオ" panose="020B0604030504040204" pitchFamily="50" charset="-128"/>
                  <a:ea typeface="メイリオ" panose="020B0604030504040204" pitchFamily="50" charset="-128"/>
                </a:rPr>
                <a:t>役</a:t>
              </a:r>
              <a:endParaRPr lang="ja-JP">
                <a:latin typeface="メイリオ" panose="020B0604030504040204" pitchFamily="50" charset="-128"/>
                <a:ea typeface="メイリオ" panose="020B0604030504040204" pitchFamily="50" charset="-128"/>
              </a:endParaRPr>
            </a:p>
          </p:txBody>
        </p:sp>
        <p:sp>
          <p:nvSpPr>
            <p:cNvPr id="101" name="テキスト ボックス 100">
              <a:extLst>
                <a:ext uri="{FF2B5EF4-FFF2-40B4-BE49-F238E27FC236}">
                  <a16:creationId xmlns:a16="http://schemas.microsoft.com/office/drawing/2014/main" id="{6B260DAF-3A8F-5ACF-539C-907D7AD2D111}"/>
                </a:ext>
              </a:extLst>
            </p:cNvPr>
            <p:cNvSpPr txBox="1"/>
            <p:nvPr/>
          </p:nvSpPr>
          <p:spPr>
            <a:xfrm>
              <a:off x="-578905" y="3817112"/>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zh-TW" sz="1200">
                  <a:solidFill>
                    <a:srgbClr val="222427"/>
                  </a:solidFill>
                  <a:latin typeface="メイリオ" panose="020B0604030504040204" pitchFamily="50" charset="-128"/>
                  <a:ea typeface="メイリオ" panose="020B0604030504040204" pitchFamily="50" charset="-128"/>
                </a:rPr>
                <a:t>喜多村 裕</a:t>
              </a:r>
              <a:endParaRPr lang="zh-TW"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p:txBody>
        </p:sp>
      </p:grpSp>
      <p:grpSp>
        <p:nvGrpSpPr>
          <p:cNvPr id="85" name="グループ化 84">
            <a:extLst>
              <a:ext uri="{FF2B5EF4-FFF2-40B4-BE49-F238E27FC236}">
                <a16:creationId xmlns:a16="http://schemas.microsoft.com/office/drawing/2014/main" id="{E469D626-EFC6-8290-797A-1AFA8DC19A6E}"/>
              </a:ext>
            </a:extLst>
          </p:cNvPr>
          <p:cNvGrpSpPr/>
          <p:nvPr/>
        </p:nvGrpSpPr>
        <p:grpSpPr>
          <a:xfrm>
            <a:off x="4793181" y="5482552"/>
            <a:ext cx="2442668" cy="276999"/>
            <a:chOff x="-1861370" y="3817112"/>
            <a:chExt cx="2442668" cy="276999"/>
          </a:xfrm>
        </p:grpSpPr>
        <p:sp>
          <p:nvSpPr>
            <p:cNvPr id="98" name="テキスト ボックス 97">
              <a:extLst>
                <a:ext uri="{FF2B5EF4-FFF2-40B4-BE49-F238E27FC236}">
                  <a16:creationId xmlns:a16="http://schemas.microsoft.com/office/drawing/2014/main" id="{BCA22727-AED7-D2CD-3AEF-A9BEBA6341D4}"/>
                </a:ext>
              </a:extLst>
            </p:cNvPr>
            <p:cNvSpPr txBox="1"/>
            <p:nvPr/>
          </p:nvSpPr>
          <p:spPr>
            <a:xfrm>
              <a:off x="-1861370" y="3817112"/>
              <a:ext cx="1594507" cy="276999"/>
            </a:xfrm>
            <a:prstGeom prst="rect">
              <a:avLst/>
            </a:prstGeom>
            <a:noFill/>
          </p:spPr>
          <p:txBody>
            <a:bodyPr wrap="square" lIns="91440" tIns="45720" rIns="91440" bIns="45720" rtlCol="0" anchor="t">
              <a:spAutoFit/>
            </a:bodyPr>
            <a:lstStyle/>
            <a:p>
              <a:pPr marL="0" marR="0" lvl="0" indent="0" algn="l" defTabSz="914400">
                <a:spcBef>
                  <a:spcPct val="0"/>
                </a:spcBef>
                <a:spcAft>
                  <a:spcPct val="0"/>
                </a:spcAft>
                <a:buNone/>
                <a:tabLst/>
                <a:defRPr/>
              </a:pPr>
              <a:r>
                <a:rPr lang="zh-TW" sz="1200">
                  <a:solidFill>
                    <a:srgbClr val="222427"/>
                  </a:solidFill>
                  <a:latin typeface="メイリオ" panose="020B0604030504040204" pitchFamily="50" charset="-128"/>
                  <a:ea typeface="メイリオ" panose="020B0604030504040204" pitchFamily="50" charset="-128"/>
                </a:rPr>
                <a:t>監査</a:t>
              </a:r>
              <a:r>
                <a:rPr lang="zh-TW" sz="1200" b="0" i="0">
                  <a:solidFill>
                    <a:srgbClr val="222427"/>
                  </a:solidFill>
                  <a:effectLst/>
                  <a:latin typeface="メイリオ" panose="020B0604030504040204" pitchFamily="50" charset="-128"/>
                  <a:ea typeface="メイリオ" panose="020B0604030504040204" pitchFamily="50" charset="-128"/>
                </a:rPr>
                <a:t>役</a:t>
              </a:r>
              <a:endParaRPr lang="ja-JP">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593A178B-350D-6008-EB53-71ADCB6F91AF}"/>
                </a:ext>
              </a:extLst>
            </p:cNvPr>
            <p:cNvSpPr txBox="1"/>
            <p:nvPr/>
          </p:nvSpPr>
          <p:spPr>
            <a:xfrm>
              <a:off x="-578905" y="3817112"/>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zh-TW" altLang="en-US" sz="1200">
                  <a:solidFill>
                    <a:srgbClr val="222427"/>
                  </a:solidFill>
                  <a:latin typeface="メイリオ" panose="020B0604030504040204" pitchFamily="50" charset="-128"/>
                  <a:ea typeface="メイリオ" panose="020B0604030504040204" pitchFamily="50" charset="-128"/>
                </a:rPr>
                <a:t>安部 陽一郎＊</a:t>
              </a:r>
              <a:endParaRPr lang="zh-TW"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p:txBody>
        </p:sp>
      </p:grpSp>
      <p:grpSp>
        <p:nvGrpSpPr>
          <p:cNvPr id="86" name="グループ化 85">
            <a:extLst>
              <a:ext uri="{FF2B5EF4-FFF2-40B4-BE49-F238E27FC236}">
                <a16:creationId xmlns:a16="http://schemas.microsoft.com/office/drawing/2014/main" id="{269C6BA9-792D-9DDB-DD52-D5593206DC1C}"/>
              </a:ext>
            </a:extLst>
          </p:cNvPr>
          <p:cNvGrpSpPr/>
          <p:nvPr/>
        </p:nvGrpSpPr>
        <p:grpSpPr>
          <a:xfrm>
            <a:off x="4793181" y="5687738"/>
            <a:ext cx="2442668" cy="276999"/>
            <a:chOff x="-1861370" y="3817112"/>
            <a:chExt cx="2442668" cy="276999"/>
          </a:xfrm>
        </p:grpSpPr>
        <p:sp>
          <p:nvSpPr>
            <p:cNvPr id="96" name="テキスト ボックス 95">
              <a:extLst>
                <a:ext uri="{FF2B5EF4-FFF2-40B4-BE49-F238E27FC236}">
                  <a16:creationId xmlns:a16="http://schemas.microsoft.com/office/drawing/2014/main" id="{98DF79FB-D25E-C4D2-6B55-77C56FA41691}"/>
                </a:ext>
              </a:extLst>
            </p:cNvPr>
            <p:cNvSpPr txBox="1"/>
            <p:nvPr/>
          </p:nvSpPr>
          <p:spPr>
            <a:xfrm>
              <a:off x="-1861370" y="3817112"/>
              <a:ext cx="1594507" cy="276999"/>
            </a:xfrm>
            <a:prstGeom prst="rect">
              <a:avLst/>
            </a:prstGeom>
            <a:noFill/>
          </p:spPr>
          <p:txBody>
            <a:bodyPr wrap="square" lIns="91440" tIns="45720" rIns="91440" bIns="45720" rtlCol="0" anchor="t">
              <a:spAutoFit/>
            </a:bodyPr>
            <a:lstStyle/>
            <a:p>
              <a:pPr marL="0" marR="0" lvl="0" indent="0" algn="l" defTabSz="914400">
                <a:spcBef>
                  <a:spcPct val="0"/>
                </a:spcBef>
                <a:spcAft>
                  <a:spcPct val="0"/>
                </a:spcAft>
                <a:buNone/>
                <a:tabLst/>
                <a:defRPr/>
              </a:pPr>
              <a:r>
                <a:rPr lang="zh-TW" sz="1200">
                  <a:solidFill>
                    <a:srgbClr val="222427"/>
                  </a:solidFill>
                  <a:latin typeface="メイリオ" panose="020B0604030504040204" pitchFamily="50" charset="-128"/>
                  <a:ea typeface="メイリオ" panose="020B0604030504040204" pitchFamily="50" charset="-128"/>
                </a:rPr>
                <a:t>監査</a:t>
              </a:r>
              <a:r>
                <a:rPr lang="zh-TW" sz="1200" b="0" i="0">
                  <a:solidFill>
                    <a:srgbClr val="222427"/>
                  </a:solidFill>
                  <a:effectLst/>
                  <a:latin typeface="メイリオ" panose="020B0604030504040204" pitchFamily="50" charset="-128"/>
                  <a:ea typeface="メイリオ" panose="020B0604030504040204" pitchFamily="50" charset="-128"/>
                </a:rPr>
                <a:t>役</a:t>
              </a:r>
              <a:endParaRPr lang="ja-JP">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F6FDB52D-B183-AC69-430A-BA747CEA7FEC}"/>
                </a:ext>
              </a:extLst>
            </p:cNvPr>
            <p:cNvSpPr txBox="1"/>
            <p:nvPr/>
          </p:nvSpPr>
          <p:spPr>
            <a:xfrm>
              <a:off x="-578905" y="3817112"/>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zh-TW" sz="1200">
                  <a:solidFill>
                    <a:srgbClr val="222427"/>
                  </a:solidFill>
                  <a:latin typeface="メイリオ" panose="020B0604030504040204" pitchFamily="50" charset="-128"/>
                  <a:ea typeface="メイリオ" panose="020B0604030504040204" pitchFamily="50" charset="-128"/>
                </a:rPr>
                <a:t>野村 雅行＊</a:t>
              </a:r>
              <a:endParaRPr lang="zh-TW" sz="1200">
                <a:latin typeface="メイリオ" panose="020B0604030504040204" pitchFamily="50" charset="-128"/>
                <a:ea typeface="メイリオ" panose="020B0604030504040204" pitchFamily="50" charset="-128"/>
              </a:endParaRPr>
            </a:p>
          </p:txBody>
        </p:sp>
      </p:grpSp>
      <p:grpSp>
        <p:nvGrpSpPr>
          <p:cNvPr id="87" name="グループ化 86">
            <a:extLst>
              <a:ext uri="{FF2B5EF4-FFF2-40B4-BE49-F238E27FC236}">
                <a16:creationId xmlns:a16="http://schemas.microsoft.com/office/drawing/2014/main" id="{436B113E-F4AD-D624-C5A2-47F54DE8DCF1}"/>
              </a:ext>
            </a:extLst>
          </p:cNvPr>
          <p:cNvGrpSpPr/>
          <p:nvPr/>
        </p:nvGrpSpPr>
        <p:grpSpPr>
          <a:xfrm>
            <a:off x="4793181" y="5892924"/>
            <a:ext cx="2442668" cy="276999"/>
            <a:chOff x="-1861370" y="3817112"/>
            <a:chExt cx="2442668" cy="276999"/>
          </a:xfrm>
        </p:grpSpPr>
        <p:sp>
          <p:nvSpPr>
            <p:cNvPr id="94" name="テキスト ボックス 93">
              <a:extLst>
                <a:ext uri="{FF2B5EF4-FFF2-40B4-BE49-F238E27FC236}">
                  <a16:creationId xmlns:a16="http://schemas.microsoft.com/office/drawing/2014/main" id="{4DE453A3-5E6D-4F2D-9237-1935B8092A24}"/>
                </a:ext>
              </a:extLst>
            </p:cNvPr>
            <p:cNvSpPr txBox="1"/>
            <p:nvPr/>
          </p:nvSpPr>
          <p:spPr>
            <a:xfrm>
              <a:off x="-1861370" y="3817112"/>
              <a:ext cx="1594507" cy="276999"/>
            </a:xfrm>
            <a:prstGeom prst="rect">
              <a:avLst/>
            </a:prstGeom>
            <a:noFill/>
          </p:spPr>
          <p:txBody>
            <a:bodyPr wrap="square" lIns="91440" tIns="45720" rIns="91440" bIns="45720" rtlCol="0" anchor="t">
              <a:spAutoFit/>
            </a:bodyPr>
            <a:lstStyle/>
            <a:p>
              <a:pPr marL="0" marR="0" lvl="0" indent="0" algn="l" defTabSz="914400">
                <a:spcBef>
                  <a:spcPct val="0"/>
                </a:spcBef>
                <a:spcAft>
                  <a:spcPct val="0"/>
                </a:spcAft>
                <a:buNone/>
                <a:tabLst/>
                <a:defRPr/>
              </a:pPr>
              <a:r>
                <a:rPr lang="zh-TW" sz="1200">
                  <a:solidFill>
                    <a:srgbClr val="222427"/>
                  </a:solidFill>
                  <a:latin typeface="メイリオ" panose="020B0604030504040204" pitchFamily="50" charset="-128"/>
                  <a:ea typeface="メイリオ" panose="020B0604030504040204" pitchFamily="50" charset="-128"/>
                </a:rPr>
                <a:t>執行役員</a:t>
              </a:r>
              <a:endParaRPr lang="ja-JP" altLang="en-US">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391E6A6C-9F07-8674-7E8E-12A2D6548C83}"/>
                </a:ext>
              </a:extLst>
            </p:cNvPr>
            <p:cNvSpPr txBox="1"/>
            <p:nvPr/>
          </p:nvSpPr>
          <p:spPr>
            <a:xfrm>
              <a:off x="-578905" y="3817112"/>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zh-TW" altLang="en-US" sz="1200">
                  <a:solidFill>
                    <a:srgbClr val="222427"/>
                  </a:solidFill>
                  <a:latin typeface="メイリオ" panose="020B0604030504040204" pitchFamily="50" charset="-128"/>
                  <a:ea typeface="メイリオ" panose="020B0604030504040204" pitchFamily="50" charset="-128"/>
                </a:rPr>
                <a:t>渡辺 和宏</a:t>
              </a:r>
              <a:endParaRPr lang="zh-TW" altLang="en-US" sz="1200">
                <a:latin typeface="メイリオ" panose="020B0604030504040204" pitchFamily="50" charset="-128"/>
                <a:ea typeface="メイリオ" panose="020B0604030504040204" pitchFamily="50" charset="-128"/>
              </a:endParaRPr>
            </a:p>
          </p:txBody>
        </p:sp>
      </p:grpSp>
      <p:grpSp>
        <p:nvGrpSpPr>
          <p:cNvPr id="88" name="グループ化 87">
            <a:extLst>
              <a:ext uri="{FF2B5EF4-FFF2-40B4-BE49-F238E27FC236}">
                <a16:creationId xmlns:a16="http://schemas.microsoft.com/office/drawing/2014/main" id="{BA946AE6-F322-CB17-AA9F-33C1C0429690}"/>
              </a:ext>
            </a:extLst>
          </p:cNvPr>
          <p:cNvGrpSpPr/>
          <p:nvPr/>
        </p:nvGrpSpPr>
        <p:grpSpPr>
          <a:xfrm>
            <a:off x="4793181" y="6098110"/>
            <a:ext cx="2442668" cy="276999"/>
            <a:chOff x="-1861370" y="3817112"/>
            <a:chExt cx="2442668" cy="276999"/>
          </a:xfrm>
        </p:grpSpPr>
        <p:sp>
          <p:nvSpPr>
            <p:cNvPr id="92" name="テキスト ボックス 91">
              <a:extLst>
                <a:ext uri="{FF2B5EF4-FFF2-40B4-BE49-F238E27FC236}">
                  <a16:creationId xmlns:a16="http://schemas.microsoft.com/office/drawing/2014/main" id="{F5862AB7-B779-FB37-88AC-6DB6A72A532E}"/>
                </a:ext>
              </a:extLst>
            </p:cNvPr>
            <p:cNvSpPr txBox="1"/>
            <p:nvPr/>
          </p:nvSpPr>
          <p:spPr>
            <a:xfrm>
              <a:off x="-1861370" y="3817112"/>
              <a:ext cx="1594507" cy="276999"/>
            </a:xfrm>
            <a:prstGeom prst="rect">
              <a:avLst/>
            </a:prstGeom>
            <a:noFill/>
          </p:spPr>
          <p:txBody>
            <a:bodyPr wrap="square" lIns="91440" tIns="45720" rIns="91440" bIns="45720" rtlCol="0" anchor="t">
              <a:spAutoFit/>
            </a:bodyPr>
            <a:lstStyle/>
            <a:p>
              <a:pPr marL="0" marR="0" lvl="0" indent="0" algn="l" defTabSz="914400">
                <a:spcBef>
                  <a:spcPct val="0"/>
                </a:spcBef>
                <a:spcAft>
                  <a:spcPct val="0"/>
                </a:spcAft>
                <a:buNone/>
                <a:tabLst/>
                <a:defRPr/>
              </a:pPr>
              <a:r>
                <a:rPr lang="zh-TW" sz="1200">
                  <a:solidFill>
                    <a:srgbClr val="222427"/>
                  </a:solidFill>
                  <a:latin typeface="メイリオ" panose="020B0604030504040204" pitchFamily="50" charset="-128"/>
                  <a:ea typeface="メイリオ" panose="020B0604030504040204" pitchFamily="50" charset="-128"/>
                </a:rPr>
                <a:t>執行</a:t>
              </a:r>
              <a:r>
                <a:rPr lang="zh-TW" sz="1200" b="0" i="0">
                  <a:solidFill>
                    <a:srgbClr val="222427"/>
                  </a:solidFill>
                  <a:effectLst/>
                  <a:latin typeface="メイリオ" panose="020B0604030504040204" pitchFamily="50" charset="-128"/>
                  <a:ea typeface="メイリオ" panose="020B0604030504040204" pitchFamily="50" charset="-128"/>
                </a:rPr>
                <a:t>役</a:t>
              </a:r>
              <a:r>
                <a:rPr lang="zh-TW" sz="1200">
                  <a:solidFill>
                    <a:srgbClr val="222427"/>
                  </a:solidFill>
                  <a:latin typeface="メイリオ" panose="020B0604030504040204" pitchFamily="50" charset="-128"/>
                  <a:ea typeface="メイリオ" panose="020B0604030504040204" pitchFamily="50" charset="-128"/>
                </a:rPr>
                <a:t>員</a:t>
              </a:r>
              <a:endParaRPr lang="ja-JP" altLang="en-US">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39A17FA5-7B18-75F1-3E7D-D6D0D20B819A}"/>
                </a:ext>
              </a:extLst>
            </p:cNvPr>
            <p:cNvSpPr txBox="1"/>
            <p:nvPr/>
          </p:nvSpPr>
          <p:spPr>
            <a:xfrm>
              <a:off x="-578905" y="3817112"/>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zh-TW" sz="1200">
                  <a:solidFill>
                    <a:srgbClr val="222427"/>
                  </a:solidFill>
                  <a:latin typeface="メイリオ" panose="020B0604030504040204" pitchFamily="50" charset="-128"/>
                  <a:ea typeface="メイリオ" panose="020B0604030504040204" pitchFamily="50" charset="-128"/>
                </a:rPr>
                <a:t>杤尾 有</a:t>
              </a:r>
              <a:r>
                <a:rPr lang="zh-TW" altLang="en-US" sz="1200">
                  <a:solidFill>
                    <a:srgbClr val="222427"/>
                  </a:solidFill>
                  <a:latin typeface="メイリオ" panose="020B0604030504040204" pitchFamily="50" charset="-128"/>
                  <a:ea typeface="メイリオ" panose="020B0604030504040204" pitchFamily="50" charset="-128"/>
                </a:rPr>
                <a:t>紀</a:t>
              </a:r>
              <a:endParaRPr lang="ja-JP" altLang="en-US">
                <a:latin typeface="メイリオ" panose="020B0604030504040204" pitchFamily="50" charset="-128"/>
                <a:ea typeface="メイリオ" panose="020B0604030504040204" pitchFamily="50" charset="-128"/>
              </a:endParaRPr>
            </a:p>
          </p:txBody>
        </p:sp>
      </p:grpSp>
      <p:grpSp>
        <p:nvGrpSpPr>
          <p:cNvPr id="102" name="グループ化 101">
            <a:extLst>
              <a:ext uri="{FF2B5EF4-FFF2-40B4-BE49-F238E27FC236}">
                <a16:creationId xmlns:a16="http://schemas.microsoft.com/office/drawing/2014/main" id="{45DEDF4E-BF79-E16C-03A0-2FBDA2EFB040}"/>
              </a:ext>
            </a:extLst>
          </p:cNvPr>
          <p:cNvGrpSpPr/>
          <p:nvPr/>
        </p:nvGrpSpPr>
        <p:grpSpPr>
          <a:xfrm>
            <a:off x="4793181" y="6308981"/>
            <a:ext cx="2442668" cy="276999"/>
            <a:chOff x="-1861370" y="3817112"/>
            <a:chExt cx="2442668" cy="276999"/>
          </a:xfrm>
        </p:grpSpPr>
        <p:sp>
          <p:nvSpPr>
            <p:cNvPr id="103" name="テキスト ボックス 102">
              <a:extLst>
                <a:ext uri="{FF2B5EF4-FFF2-40B4-BE49-F238E27FC236}">
                  <a16:creationId xmlns:a16="http://schemas.microsoft.com/office/drawing/2014/main" id="{AC48D146-B46F-DBAC-E814-2E3321527CAA}"/>
                </a:ext>
              </a:extLst>
            </p:cNvPr>
            <p:cNvSpPr txBox="1"/>
            <p:nvPr/>
          </p:nvSpPr>
          <p:spPr>
            <a:xfrm>
              <a:off x="-1861370" y="3817112"/>
              <a:ext cx="1594507" cy="276999"/>
            </a:xfrm>
            <a:prstGeom prst="rect">
              <a:avLst/>
            </a:prstGeom>
            <a:noFill/>
          </p:spPr>
          <p:txBody>
            <a:bodyPr wrap="square" lIns="91440" tIns="45720" rIns="91440" bIns="45720" rtlCol="0" anchor="t">
              <a:spAutoFit/>
            </a:bodyPr>
            <a:lstStyle/>
            <a:p>
              <a:pPr marL="0" marR="0" lvl="0" indent="0" algn="l" defTabSz="914400">
                <a:spcBef>
                  <a:spcPct val="0"/>
                </a:spcBef>
                <a:spcAft>
                  <a:spcPct val="0"/>
                </a:spcAft>
                <a:buNone/>
                <a:tabLst/>
                <a:defRPr/>
              </a:pPr>
              <a:r>
                <a:rPr lang="zh-TW" sz="1200">
                  <a:solidFill>
                    <a:srgbClr val="222427"/>
                  </a:solidFill>
                  <a:latin typeface="メイリオ" panose="020B0604030504040204" pitchFamily="50" charset="-128"/>
                  <a:ea typeface="メイリオ" panose="020B0604030504040204" pitchFamily="50" charset="-128"/>
                </a:rPr>
                <a:t>執行</a:t>
              </a:r>
              <a:r>
                <a:rPr lang="zh-TW" sz="1200" b="0" i="0">
                  <a:solidFill>
                    <a:srgbClr val="222427"/>
                  </a:solidFill>
                  <a:effectLst/>
                  <a:latin typeface="メイリオ" panose="020B0604030504040204" pitchFamily="50" charset="-128"/>
                  <a:ea typeface="メイリオ" panose="020B0604030504040204" pitchFamily="50" charset="-128"/>
                </a:rPr>
                <a:t>役</a:t>
              </a:r>
              <a:r>
                <a:rPr lang="zh-TW" sz="1200">
                  <a:solidFill>
                    <a:srgbClr val="222427"/>
                  </a:solidFill>
                  <a:latin typeface="メイリオ" panose="020B0604030504040204" pitchFamily="50" charset="-128"/>
                  <a:ea typeface="メイリオ" panose="020B0604030504040204" pitchFamily="50" charset="-128"/>
                </a:rPr>
                <a:t>員</a:t>
              </a:r>
              <a:endParaRPr lang="ja-JP" altLang="en-US">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FE310765-C05E-55F8-EA7F-5EFCC16123F8}"/>
                </a:ext>
              </a:extLst>
            </p:cNvPr>
            <p:cNvSpPr txBox="1"/>
            <p:nvPr/>
          </p:nvSpPr>
          <p:spPr>
            <a:xfrm>
              <a:off x="-578905" y="3817112"/>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zh-TW" sz="1200">
                  <a:solidFill>
                    <a:srgbClr val="222427"/>
                  </a:solidFill>
                  <a:latin typeface="メイリオ" panose="020B0604030504040204" pitchFamily="50" charset="-128"/>
                  <a:ea typeface="メイリオ" panose="020B0604030504040204" pitchFamily="50" charset="-128"/>
                </a:rPr>
                <a:t>岩崎 昭夫</a:t>
              </a:r>
              <a:endParaRPr lang="ja-JP">
                <a:latin typeface="メイリオ" panose="020B0604030504040204" pitchFamily="50" charset="-128"/>
                <a:ea typeface="メイリオ" panose="020B0604030504040204" pitchFamily="50" charset="-128"/>
              </a:endParaRPr>
            </a:p>
          </p:txBody>
        </p:sp>
      </p:grpSp>
      <p:grpSp>
        <p:nvGrpSpPr>
          <p:cNvPr id="172" name="グループ化 171">
            <a:extLst>
              <a:ext uri="{FF2B5EF4-FFF2-40B4-BE49-F238E27FC236}">
                <a16:creationId xmlns:a16="http://schemas.microsoft.com/office/drawing/2014/main" id="{6090CB9D-A343-B5DE-2A50-291F1B82583B}"/>
              </a:ext>
            </a:extLst>
          </p:cNvPr>
          <p:cNvGrpSpPr/>
          <p:nvPr/>
        </p:nvGrpSpPr>
        <p:grpSpPr>
          <a:xfrm>
            <a:off x="4793181" y="5072180"/>
            <a:ext cx="2442668" cy="276999"/>
            <a:chOff x="-1861370" y="3817112"/>
            <a:chExt cx="2442668" cy="276999"/>
          </a:xfrm>
        </p:grpSpPr>
        <p:sp>
          <p:nvSpPr>
            <p:cNvPr id="173" name="テキスト ボックス 172">
              <a:extLst>
                <a:ext uri="{FF2B5EF4-FFF2-40B4-BE49-F238E27FC236}">
                  <a16:creationId xmlns:a16="http://schemas.microsoft.com/office/drawing/2014/main" id="{9D8F7286-5390-989C-CB2D-151B828DB661}"/>
                </a:ext>
              </a:extLst>
            </p:cNvPr>
            <p:cNvSpPr txBox="1"/>
            <p:nvPr/>
          </p:nvSpPr>
          <p:spPr>
            <a:xfrm>
              <a:off x="-1861370" y="3817112"/>
              <a:ext cx="1594507" cy="276999"/>
            </a:xfrm>
            <a:prstGeom prst="rect">
              <a:avLst/>
            </a:prstGeom>
            <a:noFill/>
          </p:spPr>
          <p:txBody>
            <a:bodyPr wrap="square" lIns="91440" tIns="45720" rIns="91440" bIns="45720" rtlCol="0" anchor="t">
              <a:spAutoFit/>
            </a:bodyPr>
            <a:lstStyle/>
            <a:p>
              <a:pPr marL="0" marR="0" lvl="0" indent="0" algn="l" defTabSz="914400">
                <a:spcBef>
                  <a:spcPct val="0"/>
                </a:spcBef>
                <a:spcAft>
                  <a:spcPct val="0"/>
                </a:spcAft>
                <a:buNone/>
                <a:tabLst/>
                <a:defRPr/>
              </a:pPr>
              <a:r>
                <a:rPr lang="zh-TW" sz="1200">
                  <a:solidFill>
                    <a:srgbClr val="222427"/>
                  </a:solidFill>
                  <a:latin typeface="メイリオ" panose="020B0604030504040204" pitchFamily="50" charset="-128"/>
                  <a:ea typeface="メイリオ" panose="020B0604030504040204" pitchFamily="50" charset="-128"/>
                </a:rPr>
                <a:t>常</a:t>
              </a:r>
              <a:r>
                <a:rPr lang="zh-TW" altLang="en-US" sz="1200">
                  <a:solidFill>
                    <a:srgbClr val="222427"/>
                  </a:solidFill>
                  <a:latin typeface="メイリオ" panose="020B0604030504040204" pitchFamily="50" charset="-128"/>
                  <a:ea typeface="メイリオ" panose="020B0604030504040204" pitchFamily="50" charset="-128"/>
                </a:rPr>
                <a:t>勤監査</a:t>
              </a:r>
              <a:r>
                <a:rPr lang="zh-TW" sz="1200" b="0" i="0">
                  <a:solidFill>
                    <a:srgbClr val="222427"/>
                  </a:solidFill>
                  <a:effectLst/>
                  <a:latin typeface="メイリオ" panose="020B0604030504040204" pitchFamily="50" charset="-128"/>
                  <a:ea typeface="メイリオ" panose="020B0604030504040204" pitchFamily="50" charset="-128"/>
                </a:rPr>
                <a:t>役</a:t>
              </a:r>
              <a:endParaRPr lang="ja-JP">
                <a:latin typeface="メイリオ" panose="020B0604030504040204" pitchFamily="50" charset="-128"/>
                <a:ea typeface="メイリオ" panose="020B0604030504040204" pitchFamily="50" charset="-128"/>
              </a:endParaRPr>
            </a:p>
          </p:txBody>
        </p:sp>
        <p:sp>
          <p:nvSpPr>
            <p:cNvPr id="174" name="テキスト ボックス 173">
              <a:extLst>
                <a:ext uri="{FF2B5EF4-FFF2-40B4-BE49-F238E27FC236}">
                  <a16:creationId xmlns:a16="http://schemas.microsoft.com/office/drawing/2014/main" id="{A954A4F9-DC51-32F5-DE1A-90275B462241}"/>
                </a:ext>
              </a:extLst>
            </p:cNvPr>
            <p:cNvSpPr txBox="1"/>
            <p:nvPr/>
          </p:nvSpPr>
          <p:spPr>
            <a:xfrm>
              <a:off x="-578905" y="3817112"/>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ja-JP" altLang="en-US" sz="1200" b="0" i="0">
                  <a:solidFill>
                    <a:srgbClr val="242424"/>
                  </a:solidFill>
                  <a:effectLst/>
                  <a:latin typeface="メイリオ" panose="020B0604030504040204" pitchFamily="50" charset="-128"/>
                  <a:ea typeface="メイリオ" panose="020B0604030504040204" pitchFamily="50" charset="-128"/>
                </a:rPr>
                <a:t>飯田 繁</a:t>
              </a:r>
              <a:endParaRPr lang="zh-TW"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p:txBody>
        </p:sp>
      </p:grpSp>
      <p:sp>
        <p:nvSpPr>
          <p:cNvPr id="82" name="テキスト ボックス 81">
            <a:extLst>
              <a:ext uri="{FF2B5EF4-FFF2-40B4-BE49-F238E27FC236}">
                <a16:creationId xmlns:a16="http://schemas.microsoft.com/office/drawing/2014/main" id="{31973282-4C03-79A1-D74C-CDA5243DDAF5}"/>
              </a:ext>
            </a:extLst>
          </p:cNvPr>
          <p:cNvSpPr txBox="1"/>
          <p:nvPr/>
        </p:nvSpPr>
        <p:spPr>
          <a:xfrm>
            <a:off x="4797615" y="6514185"/>
            <a:ext cx="1594507" cy="276999"/>
          </a:xfrm>
          <a:prstGeom prst="rect">
            <a:avLst/>
          </a:prstGeom>
          <a:noFill/>
        </p:spPr>
        <p:txBody>
          <a:bodyPr wrap="square" lIns="91440" tIns="45720" rIns="91440" bIns="45720" rtlCol="0" anchor="t">
            <a:spAutoFit/>
          </a:bodyPr>
          <a:lstStyle/>
          <a:p>
            <a:pPr marL="0" marR="0" lvl="0" indent="0" algn="l" defTabSz="914400">
              <a:spcBef>
                <a:spcPct val="0"/>
              </a:spcBef>
              <a:spcAft>
                <a:spcPct val="0"/>
              </a:spcAft>
              <a:buNone/>
              <a:tabLst/>
              <a:defRPr/>
            </a:pPr>
            <a:r>
              <a:rPr lang="zh-TW" sz="1200">
                <a:solidFill>
                  <a:srgbClr val="222427"/>
                </a:solidFill>
                <a:latin typeface="メイリオ" panose="020B0604030504040204" pitchFamily="50" charset="-128"/>
                <a:ea typeface="メイリオ" panose="020B0604030504040204" pitchFamily="50" charset="-128"/>
              </a:rPr>
              <a:t>執行</a:t>
            </a:r>
            <a:r>
              <a:rPr lang="zh-TW" sz="1200" b="0" i="0">
                <a:solidFill>
                  <a:srgbClr val="222427"/>
                </a:solidFill>
                <a:effectLst/>
                <a:latin typeface="メイリオ" panose="020B0604030504040204" pitchFamily="50" charset="-128"/>
                <a:ea typeface="メイリオ" panose="020B0604030504040204" pitchFamily="50" charset="-128"/>
              </a:rPr>
              <a:t>役</a:t>
            </a:r>
            <a:r>
              <a:rPr lang="zh-TW" sz="1200">
                <a:solidFill>
                  <a:srgbClr val="222427"/>
                </a:solidFill>
                <a:latin typeface="メイリオ" panose="020B0604030504040204" pitchFamily="50" charset="-128"/>
                <a:ea typeface="メイリオ" panose="020B0604030504040204" pitchFamily="50" charset="-128"/>
              </a:rPr>
              <a:t>員</a:t>
            </a:r>
            <a:endParaRPr lang="ja-JP" altLang="en-US">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4E46007D-72CF-A576-8E04-3CBF1B85AB77}"/>
              </a:ext>
            </a:extLst>
          </p:cNvPr>
          <p:cNvSpPr txBox="1"/>
          <p:nvPr/>
        </p:nvSpPr>
        <p:spPr>
          <a:xfrm>
            <a:off x="6080080" y="6514185"/>
            <a:ext cx="1160203" cy="276999"/>
          </a:xfrm>
          <a:prstGeom prst="rect">
            <a:avLst/>
          </a:prstGeom>
          <a:noFill/>
        </p:spPr>
        <p:txBody>
          <a:bodyPr wrap="square" lIns="91440" tIns="45720" rIns="91440" bIns="45720" rtlCol="0" anchor="t">
            <a:spAutoFit/>
          </a:bodyPr>
          <a:lstStyle/>
          <a:p>
            <a:pPr>
              <a:spcBef>
                <a:spcPct val="0"/>
              </a:spcBef>
              <a:spcAft>
                <a:spcPct val="0"/>
              </a:spcAft>
              <a:defRPr/>
            </a:pPr>
            <a:r>
              <a:rPr lang="ja-JP" altLang="en-US" sz="1200">
                <a:solidFill>
                  <a:srgbClr val="222427"/>
                </a:solidFill>
                <a:latin typeface="メイリオ" panose="020B0604030504040204" pitchFamily="50" charset="-128"/>
                <a:ea typeface="メイリオ" panose="020B0604030504040204" pitchFamily="50" charset="-128"/>
              </a:rPr>
              <a:t>山田 恭平</a:t>
            </a:r>
            <a:endParaRPr lang="ja-JP">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27770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6EDD6D42-57F3-2993-9D6E-E48ABF466B33}"/>
              </a:ext>
            </a:extLst>
          </p:cNvPr>
          <p:cNvSpPr>
            <a:spLocks noGrp="1"/>
          </p:cNvSpPr>
          <p:nvPr>
            <p:ph type="title"/>
          </p:nvPr>
        </p:nvSpPr>
        <p:spPr/>
        <p:txBody>
          <a:bodyPr>
            <a:normAutofit fontScale="90000"/>
          </a:bodyPr>
          <a:lstStyle/>
          <a:p>
            <a:r>
              <a:rPr lang="en-US" altLang="ja-JP" sz="2800" b="1" dirty="0"/>
              <a:t>C&amp;R</a:t>
            </a:r>
            <a:r>
              <a:rPr lang="ja-JP" altLang="en-US" sz="2800" b="1" dirty="0"/>
              <a:t>グループの経営理念</a:t>
            </a:r>
            <a:endParaRPr lang="ja-JP" altLang="en-US" dirty="0"/>
          </a:p>
        </p:txBody>
      </p:sp>
      <p:sp>
        <p:nvSpPr>
          <p:cNvPr id="2" name="スライド番号プレースホルダー 1">
            <a:extLst>
              <a:ext uri="{FF2B5EF4-FFF2-40B4-BE49-F238E27FC236}">
                <a16:creationId xmlns:a16="http://schemas.microsoft.com/office/drawing/2014/main" id="{D5389C41-D0C6-A07B-04C6-126FBB388B24}"/>
              </a:ext>
            </a:extLst>
          </p:cNvPr>
          <p:cNvSpPr>
            <a:spLocks noGrp="1"/>
          </p:cNvSpPr>
          <p:nvPr>
            <p:ph type="sldNum" sz="quarter" idx="11"/>
          </p:nvPr>
        </p:nvSpPr>
        <p:spPr/>
        <p:txBody>
          <a:bodyPr/>
          <a:lstStyle/>
          <a:p>
            <a:fld id="{B75FDD43-FCEC-4ECC-8189-A5C6D2E08DC6}" type="slidenum">
              <a:rPr lang="ja-JP" altLang="en-US" smtClean="0"/>
              <a:pPr/>
              <a:t>2</a:t>
            </a:fld>
            <a:endParaRPr lang="ja-JP" altLang="en-US"/>
          </a:p>
        </p:txBody>
      </p:sp>
      <p:grpSp>
        <p:nvGrpSpPr>
          <p:cNvPr id="9" name="グループ化 8">
            <a:extLst>
              <a:ext uri="{FF2B5EF4-FFF2-40B4-BE49-F238E27FC236}">
                <a16:creationId xmlns:a16="http://schemas.microsoft.com/office/drawing/2014/main" id="{59692340-2423-3E7C-3BB1-BEB8B056AD23}"/>
              </a:ext>
            </a:extLst>
          </p:cNvPr>
          <p:cNvGrpSpPr/>
          <p:nvPr/>
        </p:nvGrpSpPr>
        <p:grpSpPr>
          <a:xfrm>
            <a:off x="1615441" y="1521501"/>
            <a:ext cx="4329062" cy="3814997"/>
            <a:chOff x="1533278" y="2023672"/>
            <a:chExt cx="4329062" cy="3814997"/>
          </a:xfrm>
        </p:grpSpPr>
        <p:sp>
          <p:nvSpPr>
            <p:cNvPr id="5" name="楕円 4">
              <a:extLst>
                <a:ext uri="{FF2B5EF4-FFF2-40B4-BE49-F238E27FC236}">
                  <a16:creationId xmlns:a16="http://schemas.microsoft.com/office/drawing/2014/main" id="{3DE61A77-1C5A-D541-873B-DBE0C107CC04}"/>
                </a:ext>
              </a:extLst>
            </p:cNvPr>
            <p:cNvSpPr/>
            <p:nvPr/>
          </p:nvSpPr>
          <p:spPr bwMode="auto">
            <a:xfrm>
              <a:off x="1790310" y="2023672"/>
              <a:ext cx="3814997" cy="3814997"/>
            </a:xfrm>
            <a:prstGeom prst="ellipse">
              <a:avLst/>
            </a:prstGeom>
            <a:solidFill>
              <a:schemeClr val="accent2">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sp>
          <p:nvSpPr>
            <p:cNvPr id="18" name="正方形/長方形 17">
              <a:extLst>
                <a:ext uri="{FF2B5EF4-FFF2-40B4-BE49-F238E27FC236}">
                  <a16:creationId xmlns:a16="http://schemas.microsoft.com/office/drawing/2014/main" id="{13BD81C8-80B3-51CC-9624-8AB06E9D3C86}"/>
                </a:ext>
              </a:extLst>
            </p:cNvPr>
            <p:cNvSpPr/>
            <p:nvPr/>
          </p:nvSpPr>
          <p:spPr>
            <a:xfrm>
              <a:off x="1533278" y="3508876"/>
              <a:ext cx="4329062" cy="844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ja-JP" altLang="en-US" sz="3200" b="1">
                  <a:solidFill>
                    <a:schemeClr val="tx1"/>
                  </a:solidFill>
                  <a:latin typeface="メイリオ" panose="020B0604030504040204" pitchFamily="50" charset="-128"/>
                  <a:ea typeface="メイリオ" panose="020B0604030504040204" pitchFamily="50" charset="-128"/>
                </a:rPr>
                <a:t>プロフェッショナルの</a:t>
              </a:r>
              <a:endParaRPr lang="en-US" altLang="ja-JP" sz="3200" b="1">
                <a:solidFill>
                  <a:schemeClr val="tx1"/>
                </a:solidFill>
                <a:latin typeface="メイリオ" panose="020B0604030504040204" pitchFamily="50" charset="-128"/>
                <a:ea typeface="メイリオ" panose="020B0604030504040204" pitchFamily="50" charset="-128"/>
              </a:endParaRPr>
            </a:p>
            <a:p>
              <a:pPr algn="ctr">
                <a:spcBef>
                  <a:spcPts val="600"/>
                </a:spcBef>
              </a:pPr>
              <a:r>
                <a:rPr lang="ja-JP" altLang="en-US" sz="3200" b="1">
                  <a:solidFill>
                    <a:schemeClr val="tx1"/>
                  </a:solidFill>
                  <a:latin typeface="メイリオ" panose="020B0604030504040204" pitchFamily="50" charset="-128"/>
                  <a:ea typeface="メイリオ" panose="020B0604030504040204" pitchFamily="50" charset="-128"/>
                </a:rPr>
                <a:t>生涯価値の向上</a:t>
              </a:r>
              <a:endParaRPr kumimoji="1" lang="ja-JP" altLang="en-US" sz="3200" b="1">
                <a:solidFill>
                  <a:schemeClr val="tx1"/>
                </a:solidFill>
                <a:latin typeface="メイリオ" panose="020B0604030504040204" pitchFamily="50" charset="-128"/>
                <a:ea typeface="メイリオ" panose="020B0604030504040204" pitchFamily="50" charset="-128"/>
              </a:endParaRPr>
            </a:p>
          </p:txBody>
        </p:sp>
      </p:grpSp>
      <p:sp>
        <p:nvSpPr>
          <p:cNvPr id="17" name="テキスト ボックス 16">
            <a:extLst>
              <a:ext uri="{FF2B5EF4-FFF2-40B4-BE49-F238E27FC236}">
                <a16:creationId xmlns:a16="http://schemas.microsoft.com/office/drawing/2014/main" id="{B63CB33C-2EBC-04CD-94DB-796891C2F2B4}"/>
              </a:ext>
            </a:extLst>
          </p:cNvPr>
          <p:cNvSpPr txBox="1"/>
          <p:nvPr/>
        </p:nvSpPr>
        <p:spPr>
          <a:xfrm>
            <a:off x="3541183" y="835314"/>
            <a:ext cx="5244547" cy="646331"/>
          </a:xfrm>
          <a:prstGeom prst="rect">
            <a:avLst/>
          </a:prstGeom>
          <a:noFill/>
        </p:spPr>
        <p:txBody>
          <a:bodyPr wrap="square" rtlCol="0">
            <a:spAutoFit/>
          </a:bodyPr>
          <a:lstStyle/>
          <a:p>
            <a:pPr algn="ctr"/>
            <a:r>
              <a:rPr lang="en-US" altLang="ja-JP" sz="3600" b="1" i="0">
                <a:effectLst/>
                <a:latin typeface="メイリオ" panose="020B0604030504040204" pitchFamily="50" charset="-128"/>
                <a:ea typeface="メイリオ" panose="020B0604030504040204" pitchFamily="50" charset="-128"/>
              </a:rPr>
              <a:t>Group Mission</a:t>
            </a:r>
          </a:p>
        </p:txBody>
      </p:sp>
      <p:grpSp>
        <p:nvGrpSpPr>
          <p:cNvPr id="11" name="グループ化 10">
            <a:extLst>
              <a:ext uri="{FF2B5EF4-FFF2-40B4-BE49-F238E27FC236}">
                <a16:creationId xmlns:a16="http://schemas.microsoft.com/office/drawing/2014/main" id="{E6786173-FFF9-E483-385E-4F44BEB2C3BB}"/>
              </a:ext>
            </a:extLst>
          </p:cNvPr>
          <p:cNvGrpSpPr/>
          <p:nvPr/>
        </p:nvGrpSpPr>
        <p:grpSpPr>
          <a:xfrm>
            <a:off x="6513180" y="1521500"/>
            <a:ext cx="3884480" cy="3814997"/>
            <a:chOff x="6431017" y="2023671"/>
            <a:chExt cx="3884480" cy="3814997"/>
          </a:xfrm>
        </p:grpSpPr>
        <p:sp>
          <p:nvSpPr>
            <p:cNvPr id="7" name="楕円 6">
              <a:extLst>
                <a:ext uri="{FF2B5EF4-FFF2-40B4-BE49-F238E27FC236}">
                  <a16:creationId xmlns:a16="http://schemas.microsoft.com/office/drawing/2014/main" id="{59E37BF1-00EE-E914-62B5-1CB2162FAD1A}"/>
                </a:ext>
              </a:extLst>
            </p:cNvPr>
            <p:cNvSpPr/>
            <p:nvPr/>
          </p:nvSpPr>
          <p:spPr bwMode="auto">
            <a:xfrm>
              <a:off x="6465759" y="2023671"/>
              <a:ext cx="3814997" cy="3814997"/>
            </a:xfrm>
            <a:prstGeom prst="ellipse">
              <a:avLst/>
            </a:prstGeom>
            <a:solidFill>
              <a:schemeClr val="accent4">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ndParaRPr>
            </a:p>
          </p:txBody>
        </p:sp>
        <p:sp>
          <p:nvSpPr>
            <p:cNvPr id="4" name="正方形/長方形 3">
              <a:extLst>
                <a:ext uri="{FF2B5EF4-FFF2-40B4-BE49-F238E27FC236}">
                  <a16:creationId xmlns:a16="http://schemas.microsoft.com/office/drawing/2014/main" id="{1FB3D1B1-3BDD-71F3-6185-9E2811BCEEB6}"/>
                </a:ext>
              </a:extLst>
            </p:cNvPr>
            <p:cNvSpPr/>
            <p:nvPr/>
          </p:nvSpPr>
          <p:spPr>
            <a:xfrm>
              <a:off x="6431017" y="3508875"/>
              <a:ext cx="3884480" cy="844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ja-JP" altLang="en-US" sz="3200" b="1">
                  <a:solidFill>
                    <a:schemeClr val="tx1"/>
                  </a:solidFill>
                  <a:latin typeface="メイリオ" panose="020B0604030504040204" pitchFamily="50" charset="-128"/>
                  <a:ea typeface="メイリオ" panose="020B0604030504040204" pitchFamily="50" charset="-128"/>
                </a:rPr>
                <a:t>クライアントの</a:t>
              </a:r>
              <a:endParaRPr lang="en-US" altLang="ja-JP" sz="3200" b="1">
                <a:solidFill>
                  <a:schemeClr val="tx1"/>
                </a:solidFill>
                <a:latin typeface="メイリオ" panose="020B0604030504040204" pitchFamily="50" charset="-128"/>
                <a:ea typeface="メイリオ" panose="020B0604030504040204" pitchFamily="50" charset="-128"/>
              </a:endParaRPr>
            </a:p>
            <a:p>
              <a:pPr algn="ctr">
                <a:spcBef>
                  <a:spcPts val="600"/>
                </a:spcBef>
              </a:pPr>
              <a:r>
                <a:rPr lang="ja-JP" altLang="en-US" sz="3200" b="1">
                  <a:solidFill>
                    <a:schemeClr val="tx1"/>
                  </a:solidFill>
                  <a:latin typeface="メイリオ" panose="020B0604030504040204" pitchFamily="50" charset="-128"/>
                  <a:ea typeface="メイリオ" panose="020B0604030504040204" pitchFamily="50" charset="-128"/>
                </a:rPr>
                <a:t>価値創造への貢献</a:t>
              </a:r>
              <a:endParaRPr kumimoji="1" lang="ja-JP" altLang="en-US" sz="3200" b="1">
                <a:solidFill>
                  <a:schemeClr val="tx1"/>
                </a:solidFill>
                <a:latin typeface="メイリオ" panose="020B0604030504040204" pitchFamily="50" charset="-128"/>
                <a:ea typeface="メイリオ" panose="020B0604030504040204" pitchFamily="50" charset="-128"/>
              </a:endParaRPr>
            </a:p>
          </p:txBody>
        </p:sp>
      </p:grpSp>
      <p:sp>
        <p:nvSpPr>
          <p:cNvPr id="12" name="テキスト ボックス 11">
            <a:extLst>
              <a:ext uri="{FF2B5EF4-FFF2-40B4-BE49-F238E27FC236}">
                <a16:creationId xmlns:a16="http://schemas.microsoft.com/office/drawing/2014/main" id="{683A7AB4-8EF6-1B1E-FCD3-15C20FA5C578}"/>
              </a:ext>
            </a:extLst>
          </p:cNvPr>
          <p:cNvSpPr txBox="1"/>
          <p:nvPr/>
        </p:nvSpPr>
        <p:spPr>
          <a:xfrm>
            <a:off x="299804" y="5416207"/>
            <a:ext cx="11834734" cy="1304203"/>
          </a:xfrm>
          <a:prstGeom prst="rect">
            <a:avLst/>
          </a:prstGeom>
          <a:noFill/>
        </p:spPr>
        <p:txBody>
          <a:bodyPr wrap="square">
            <a:spAutoFit/>
          </a:bodyPr>
          <a:lstStyle/>
          <a:p>
            <a:pPr algn="ctr">
              <a:lnSpc>
                <a:spcPct val="150000"/>
              </a:lnSpc>
            </a:pPr>
            <a:r>
              <a:rPr lang="ja-JP" altLang="en-US">
                <a:latin typeface="メイリオ" panose="020B0604030504040204" pitchFamily="50" charset="-128"/>
                <a:ea typeface="メイリオ" panose="020B0604030504040204" pitchFamily="50" charset="-128"/>
              </a:rPr>
              <a:t>才能豊かなプロフェッショナルを発掘し、育て、支援し、活躍できる環境を構築していきます。</a:t>
            </a:r>
          </a:p>
          <a:p>
            <a:pPr algn="ctr">
              <a:lnSpc>
                <a:spcPct val="150000"/>
              </a:lnSpc>
            </a:pPr>
            <a:r>
              <a:rPr lang="ja-JP" altLang="en-US">
                <a:latin typeface="メイリオ" panose="020B0604030504040204" pitchFamily="50" charset="-128"/>
                <a:ea typeface="メイリオ" panose="020B0604030504040204" pitchFamily="50" charset="-128"/>
              </a:rPr>
              <a:t>そして、その才能を組み合わせることにより新たな価値を生み出し、</a:t>
            </a:r>
            <a:endParaRPr lang="en-US" altLang="ja-JP">
              <a:latin typeface="メイリオ" panose="020B0604030504040204" pitchFamily="50" charset="-128"/>
              <a:ea typeface="メイリオ" panose="020B0604030504040204" pitchFamily="50" charset="-128"/>
            </a:endParaRPr>
          </a:p>
          <a:p>
            <a:pPr algn="ctr">
              <a:lnSpc>
                <a:spcPct val="150000"/>
              </a:lnSpc>
            </a:pPr>
            <a:r>
              <a:rPr lang="ja-JP" altLang="en-US">
                <a:latin typeface="メイリオ" panose="020B0604030504040204" pitchFamily="50" charset="-128"/>
                <a:ea typeface="メイリオ" panose="020B0604030504040204" pitchFamily="50" charset="-128"/>
              </a:rPr>
              <a:t>私たちに関わる全ての方の幸せを追求していきます。</a:t>
            </a:r>
          </a:p>
        </p:txBody>
      </p:sp>
    </p:spTree>
    <p:extLst>
      <p:ext uri="{BB962C8B-B14F-4D97-AF65-F5344CB8AC3E}">
        <p14:creationId xmlns:p14="http://schemas.microsoft.com/office/powerpoint/2010/main" val="2572500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6EDD6D42-57F3-2993-9D6E-E48ABF466B33}"/>
              </a:ext>
            </a:extLst>
          </p:cNvPr>
          <p:cNvSpPr>
            <a:spLocks noGrp="1"/>
          </p:cNvSpPr>
          <p:nvPr>
            <p:ph type="title"/>
          </p:nvPr>
        </p:nvSpPr>
        <p:spPr/>
        <p:txBody>
          <a:bodyPr>
            <a:normAutofit fontScale="90000"/>
          </a:bodyPr>
          <a:lstStyle/>
          <a:p>
            <a:r>
              <a:rPr lang="en-US" altLang="ja-JP" sz="2800" b="1" dirty="0"/>
              <a:t>C&amp;R</a:t>
            </a:r>
            <a:r>
              <a:rPr lang="ja-JP" altLang="en-US" sz="2800" b="1" dirty="0"/>
              <a:t>グループのビジネスモデル</a:t>
            </a:r>
            <a:endParaRPr lang="ja-JP" altLang="en-US" dirty="0"/>
          </a:p>
        </p:txBody>
      </p:sp>
      <p:sp>
        <p:nvSpPr>
          <p:cNvPr id="4" name="スライド番号プレースホルダー 3">
            <a:extLst>
              <a:ext uri="{FF2B5EF4-FFF2-40B4-BE49-F238E27FC236}">
                <a16:creationId xmlns:a16="http://schemas.microsoft.com/office/drawing/2014/main" id="{C438E642-69CC-FB40-6483-0E1623D9B28A}"/>
              </a:ext>
            </a:extLst>
          </p:cNvPr>
          <p:cNvSpPr>
            <a:spLocks noGrp="1"/>
          </p:cNvSpPr>
          <p:nvPr>
            <p:ph type="sldNum" sz="quarter" idx="11"/>
          </p:nvPr>
        </p:nvSpPr>
        <p:spPr/>
        <p:txBody>
          <a:bodyPr/>
          <a:lstStyle/>
          <a:p>
            <a:fld id="{B75FDD43-FCEC-4ECC-8189-A5C6D2E08DC6}" type="slidenum">
              <a:rPr lang="ja-JP" altLang="en-US" smtClean="0"/>
              <a:pPr/>
              <a:t>3</a:t>
            </a:fld>
            <a:endParaRPr lang="ja-JP" altLang="en-US"/>
          </a:p>
        </p:txBody>
      </p:sp>
      <p:grpSp>
        <p:nvGrpSpPr>
          <p:cNvPr id="2" name="グループ化 1">
            <a:extLst>
              <a:ext uri="{FF2B5EF4-FFF2-40B4-BE49-F238E27FC236}">
                <a16:creationId xmlns:a16="http://schemas.microsoft.com/office/drawing/2014/main" id="{5C2D532D-AF33-0107-7336-FD5FA1E18FC0}"/>
              </a:ext>
            </a:extLst>
          </p:cNvPr>
          <p:cNvGrpSpPr/>
          <p:nvPr/>
        </p:nvGrpSpPr>
        <p:grpSpPr>
          <a:xfrm>
            <a:off x="818240" y="923641"/>
            <a:ext cx="10733901" cy="1054428"/>
            <a:chOff x="894545" y="2059667"/>
            <a:chExt cx="9856726" cy="653813"/>
          </a:xfrm>
          <a:solidFill>
            <a:schemeClr val="accent4">
              <a:lumMod val="75000"/>
            </a:schemeClr>
          </a:solidFill>
        </p:grpSpPr>
        <p:sp>
          <p:nvSpPr>
            <p:cNvPr id="5" name="角丸四角形 9">
              <a:extLst>
                <a:ext uri="{FF2B5EF4-FFF2-40B4-BE49-F238E27FC236}">
                  <a16:creationId xmlns:a16="http://schemas.microsoft.com/office/drawing/2014/main" id="{89F03B11-7E65-746C-437F-116A7AEFBEEC}"/>
                </a:ext>
              </a:extLst>
            </p:cNvPr>
            <p:cNvSpPr/>
            <p:nvPr/>
          </p:nvSpPr>
          <p:spPr>
            <a:xfrm>
              <a:off x="7560389" y="2059667"/>
              <a:ext cx="3190882" cy="653813"/>
            </a:xfrm>
            <a:prstGeom prst="roundRect">
              <a:avLst>
                <a:gd name="adj" fmla="val 9066"/>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600" i="0" u="none" strike="noStrike" kern="0" cap="none" spc="0" normalizeH="0" baseline="0" noProof="0">
                  <a:ln>
                    <a:noFill/>
                  </a:ln>
                  <a:solidFill>
                    <a:schemeClr val="bg2"/>
                  </a:solidFill>
                  <a:effectLst/>
                  <a:uLnTx/>
                  <a:uFillTx/>
                  <a:latin typeface="メイリオ" panose="020B0604030504040204" pitchFamily="50" charset="-128"/>
                  <a:ea typeface="メイリオ" panose="020B0604030504040204" pitchFamily="50" charset="-128"/>
                </a:rPr>
                <a:t>知的財産の企画開発・流通</a:t>
              </a:r>
              <a:endParaRPr kumimoji="0" lang="en-US" altLang="ja-JP" sz="1600" i="0" u="none" strike="noStrike" kern="0" cap="none" spc="0" normalizeH="0" baseline="0" noProof="0">
                <a:ln>
                  <a:noFill/>
                </a:ln>
                <a:solidFill>
                  <a:schemeClr val="bg2"/>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2000" b="1" i="0" u="none" strike="noStrike" kern="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rPr>
                <a:t>ライツマネジメント</a:t>
              </a:r>
            </a:p>
          </p:txBody>
        </p:sp>
        <p:sp>
          <p:nvSpPr>
            <p:cNvPr id="7" name="角丸四角形 9">
              <a:extLst>
                <a:ext uri="{FF2B5EF4-FFF2-40B4-BE49-F238E27FC236}">
                  <a16:creationId xmlns:a16="http://schemas.microsoft.com/office/drawing/2014/main" id="{292403D4-3C70-E539-9B41-B8895D29D313}"/>
                </a:ext>
              </a:extLst>
            </p:cNvPr>
            <p:cNvSpPr/>
            <p:nvPr/>
          </p:nvSpPr>
          <p:spPr>
            <a:xfrm>
              <a:off x="894545" y="2059667"/>
              <a:ext cx="3190882" cy="653813"/>
            </a:xfrm>
            <a:prstGeom prst="roundRect">
              <a:avLst>
                <a:gd name="adj" fmla="val 9066"/>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600" i="0" u="none" strike="noStrike" kern="0" cap="none" spc="0" normalizeH="0" baseline="0" noProof="0">
                  <a:ln>
                    <a:noFill/>
                  </a:ln>
                  <a:solidFill>
                    <a:schemeClr val="bg2"/>
                  </a:solidFill>
                  <a:effectLst/>
                  <a:uLnTx/>
                  <a:uFillTx/>
                  <a:latin typeface="メイリオ" panose="020B0604030504040204" pitchFamily="50" charset="-128"/>
                  <a:ea typeface="メイリオ" panose="020B0604030504040204" pitchFamily="50" charset="-128"/>
                </a:rPr>
                <a:t>開発・請負</a:t>
              </a:r>
              <a:endParaRPr kumimoji="0" lang="en-US" altLang="ja-JP" sz="1600" i="0" u="none" strike="noStrike" kern="0" cap="none" spc="0" normalizeH="0" baseline="0" noProof="0">
                <a:ln>
                  <a:noFill/>
                </a:ln>
                <a:solidFill>
                  <a:schemeClr val="bg2"/>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2000" b="1" i="0" u="none" strike="noStrike" kern="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rPr>
                <a:t>プロデュース</a:t>
              </a:r>
            </a:p>
          </p:txBody>
        </p:sp>
        <p:sp>
          <p:nvSpPr>
            <p:cNvPr id="8" name="角丸四角形 9">
              <a:extLst>
                <a:ext uri="{FF2B5EF4-FFF2-40B4-BE49-F238E27FC236}">
                  <a16:creationId xmlns:a16="http://schemas.microsoft.com/office/drawing/2014/main" id="{B0B8CD72-1A61-C6EE-9350-F659E039D02F}"/>
                </a:ext>
              </a:extLst>
            </p:cNvPr>
            <p:cNvSpPr/>
            <p:nvPr/>
          </p:nvSpPr>
          <p:spPr>
            <a:xfrm>
              <a:off x="4227467" y="2059667"/>
              <a:ext cx="3190882" cy="653813"/>
            </a:xfrm>
            <a:prstGeom prst="roundRect">
              <a:avLst>
                <a:gd name="adj" fmla="val 9066"/>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600" i="0" u="none" strike="noStrike" kern="0" cap="none" spc="0" normalizeH="0" baseline="0" noProof="0">
                  <a:ln>
                    <a:noFill/>
                  </a:ln>
                  <a:solidFill>
                    <a:schemeClr val="bg2"/>
                  </a:solidFill>
                  <a:effectLst/>
                  <a:uLnTx/>
                  <a:uFillTx/>
                  <a:latin typeface="メイリオ" panose="020B0604030504040204" pitchFamily="50" charset="-128"/>
                  <a:ea typeface="メイリオ" panose="020B0604030504040204" pitchFamily="50" charset="-128"/>
                </a:rPr>
                <a:t>人材派遣・人材紹介</a:t>
              </a:r>
              <a:endParaRPr kumimoji="0" lang="en-US" altLang="ja-JP" sz="1600" i="0" u="none" strike="noStrike" kern="0" cap="none" spc="0" normalizeH="0" baseline="0" noProof="0">
                <a:ln>
                  <a:noFill/>
                </a:ln>
                <a:solidFill>
                  <a:schemeClr val="bg2"/>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2000" b="1" i="0" u="none" strike="noStrike" kern="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rPr>
                <a:t>エージェンシー</a:t>
              </a:r>
            </a:p>
          </p:txBody>
        </p:sp>
      </p:grpSp>
      <p:grpSp>
        <p:nvGrpSpPr>
          <p:cNvPr id="12" name="グループ化 11">
            <a:extLst>
              <a:ext uri="{FF2B5EF4-FFF2-40B4-BE49-F238E27FC236}">
                <a16:creationId xmlns:a16="http://schemas.microsoft.com/office/drawing/2014/main" id="{EEAA5812-B8CD-631A-0021-493D454F76C7}"/>
              </a:ext>
            </a:extLst>
          </p:cNvPr>
          <p:cNvGrpSpPr/>
          <p:nvPr/>
        </p:nvGrpSpPr>
        <p:grpSpPr>
          <a:xfrm>
            <a:off x="6624284" y="3435746"/>
            <a:ext cx="5049915" cy="2234664"/>
            <a:chOff x="6342738" y="1738238"/>
            <a:chExt cx="5218379" cy="2234664"/>
          </a:xfrm>
        </p:grpSpPr>
        <p:sp>
          <p:nvSpPr>
            <p:cNvPr id="17" name="テキスト ボックス 16">
              <a:extLst>
                <a:ext uri="{FF2B5EF4-FFF2-40B4-BE49-F238E27FC236}">
                  <a16:creationId xmlns:a16="http://schemas.microsoft.com/office/drawing/2014/main" id="{B63CB33C-2EBC-04CD-94DB-796891C2F2B4}"/>
                </a:ext>
              </a:extLst>
            </p:cNvPr>
            <p:cNvSpPr txBox="1"/>
            <p:nvPr/>
          </p:nvSpPr>
          <p:spPr>
            <a:xfrm>
              <a:off x="6342738" y="1738238"/>
              <a:ext cx="5218379" cy="1508105"/>
            </a:xfrm>
            <a:prstGeom prst="rect">
              <a:avLst/>
            </a:prstGeom>
            <a:noFill/>
          </p:spPr>
          <p:txBody>
            <a:bodyPr wrap="square" rtlCol="0">
              <a:spAutoFit/>
            </a:bodyPr>
            <a:lstStyle/>
            <a:p>
              <a:r>
                <a:rPr lang="en-US" altLang="ja-JP" sz="4000" b="1" i="0">
                  <a:effectLst/>
                  <a:latin typeface="メイリオ" panose="020B0604030504040204" pitchFamily="50" charset="-128"/>
                  <a:ea typeface="メイリオ" panose="020B0604030504040204" pitchFamily="50" charset="-128"/>
                </a:rPr>
                <a:t>Business model</a:t>
              </a:r>
              <a:br>
                <a:rPr lang="en-US" altLang="ja-JP" sz="4000" b="1" i="0">
                  <a:effectLst/>
                  <a:latin typeface="メイリオ" panose="020B0604030504040204" pitchFamily="50" charset="-128"/>
                  <a:ea typeface="メイリオ" panose="020B0604030504040204" pitchFamily="50" charset="-128"/>
                </a:rPr>
              </a:br>
              <a:r>
                <a:rPr lang="ja-JP" altLang="en-US" sz="1200" b="1" i="0">
                  <a:effectLst/>
                  <a:latin typeface="メイリオ" panose="020B0604030504040204" pitchFamily="50" charset="-128"/>
                  <a:ea typeface="メイリオ" panose="020B0604030504040204" pitchFamily="50" charset="-128"/>
                </a:rPr>
                <a:t>　</a:t>
              </a:r>
              <a:endParaRPr lang="en-US" altLang="ja-JP" sz="4000" b="1" i="0">
                <a:effectLst/>
                <a:latin typeface="メイリオ" panose="020B0604030504040204" pitchFamily="50" charset="-128"/>
                <a:ea typeface="メイリオ" panose="020B0604030504040204" pitchFamily="50" charset="-128"/>
              </a:endParaRPr>
            </a:p>
            <a:p>
              <a:endParaRPr lang="en-US" altLang="ja-JP" sz="4000" b="1" i="0">
                <a:effectLst/>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16A5E7CA-6F2A-0408-9D5B-39D3CA643E68}"/>
                </a:ext>
              </a:extLst>
            </p:cNvPr>
            <p:cNvSpPr/>
            <p:nvPr/>
          </p:nvSpPr>
          <p:spPr>
            <a:xfrm>
              <a:off x="6352297" y="2733204"/>
              <a:ext cx="4860151" cy="12396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spcBef>
                  <a:spcPts val="600"/>
                </a:spcBef>
              </a:pPr>
              <a:r>
                <a:rPr lang="en-US" altLang="ja-JP" sz="2000" b="1">
                  <a:solidFill>
                    <a:schemeClr val="tx1"/>
                  </a:solidFill>
                  <a:latin typeface="メイリオ" panose="020B0604030504040204" pitchFamily="50" charset="-128"/>
                  <a:ea typeface="メイリオ" panose="020B0604030504040204" pitchFamily="50" charset="-128"/>
                </a:rPr>
                <a:t>3</a:t>
              </a:r>
              <a:r>
                <a:rPr lang="ja-JP" altLang="en-US" sz="2000" b="1">
                  <a:solidFill>
                    <a:schemeClr val="tx1"/>
                  </a:solidFill>
                  <a:latin typeface="メイリオ" panose="020B0604030504040204" pitchFamily="50" charset="-128"/>
                  <a:ea typeface="メイリオ" panose="020B0604030504040204" pitchFamily="50" charset="-128"/>
                </a:rPr>
                <a:t>つの柱で事業を展開する唯一無二の</a:t>
              </a:r>
              <a:endParaRPr lang="ja-JP" sz="2000">
                <a:solidFill>
                  <a:schemeClr val="tx1"/>
                </a:solidFill>
                <a:latin typeface="メイリオ" panose="020B0604030504040204" pitchFamily="50" charset="-128"/>
                <a:ea typeface="メイリオ" panose="020B0604030504040204" pitchFamily="50" charset="-128"/>
              </a:endParaRPr>
            </a:p>
            <a:p>
              <a:pPr>
                <a:spcBef>
                  <a:spcPts val="600"/>
                </a:spcBef>
              </a:pPr>
              <a:r>
                <a:rPr lang="ja-JP" altLang="en-US" sz="2000" b="1">
                  <a:solidFill>
                    <a:schemeClr val="tx1"/>
                  </a:solidFill>
                  <a:latin typeface="メイリオ" panose="020B0604030504040204" pitchFamily="50" charset="-128"/>
                  <a:ea typeface="メイリオ" panose="020B0604030504040204" pitchFamily="50" charset="-128"/>
                </a:rPr>
                <a:t>プロフェッショナル･エージェンシー。</a:t>
              </a:r>
              <a:endParaRPr lang="ja-JP" sz="2000">
                <a:solidFill>
                  <a:schemeClr val="tx1"/>
                </a:solidFill>
                <a:latin typeface="メイリオ" panose="020B0604030504040204" pitchFamily="50" charset="-128"/>
                <a:ea typeface="メイリオ" panose="020B0604030504040204" pitchFamily="50" charset="-128"/>
              </a:endParaRPr>
            </a:p>
          </p:txBody>
        </p:sp>
      </p:grpSp>
      <p:grpSp>
        <p:nvGrpSpPr>
          <p:cNvPr id="22" name="グループ化 21">
            <a:extLst>
              <a:ext uri="{FF2B5EF4-FFF2-40B4-BE49-F238E27FC236}">
                <a16:creationId xmlns:a16="http://schemas.microsoft.com/office/drawing/2014/main" id="{71853FBA-27DB-5C56-58C7-2AD3BF368F14}"/>
              </a:ext>
            </a:extLst>
          </p:cNvPr>
          <p:cNvGrpSpPr/>
          <p:nvPr/>
        </p:nvGrpSpPr>
        <p:grpSpPr>
          <a:xfrm>
            <a:off x="960783" y="2391221"/>
            <a:ext cx="5159070" cy="3632061"/>
            <a:chOff x="581961" y="2391221"/>
            <a:chExt cx="5687611" cy="4004162"/>
          </a:xfrm>
        </p:grpSpPr>
        <p:grpSp>
          <p:nvGrpSpPr>
            <p:cNvPr id="44" name="グループ化 43">
              <a:extLst>
                <a:ext uri="{FF2B5EF4-FFF2-40B4-BE49-F238E27FC236}">
                  <a16:creationId xmlns:a16="http://schemas.microsoft.com/office/drawing/2014/main" id="{23D34A7F-9483-53B6-4592-73D3E1BA6715}"/>
                </a:ext>
              </a:extLst>
            </p:cNvPr>
            <p:cNvGrpSpPr/>
            <p:nvPr/>
          </p:nvGrpSpPr>
          <p:grpSpPr>
            <a:xfrm>
              <a:off x="818240" y="2761162"/>
              <a:ext cx="5451332" cy="3634221"/>
              <a:chOff x="5333347" y="3345804"/>
              <a:chExt cx="4709604" cy="3139736"/>
            </a:xfrm>
          </p:grpSpPr>
          <p:grpSp>
            <p:nvGrpSpPr>
              <p:cNvPr id="21" name="グループ化 20">
                <a:extLst>
                  <a:ext uri="{FF2B5EF4-FFF2-40B4-BE49-F238E27FC236}">
                    <a16:creationId xmlns:a16="http://schemas.microsoft.com/office/drawing/2014/main" id="{8B93C15A-0C5A-8ED2-02FD-3F2590A5492B}"/>
                  </a:ext>
                </a:extLst>
              </p:cNvPr>
              <p:cNvGrpSpPr/>
              <p:nvPr/>
            </p:nvGrpSpPr>
            <p:grpSpPr>
              <a:xfrm>
                <a:off x="5333347" y="3345804"/>
                <a:ext cx="4709604" cy="3139736"/>
                <a:chOff x="4228447" y="2922405"/>
                <a:chExt cx="4709604" cy="3139736"/>
              </a:xfrm>
            </p:grpSpPr>
            <p:graphicFrame>
              <p:nvGraphicFramePr>
                <p:cNvPr id="15" name="グラフ 14">
                  <a:extLst>
                    <a:ext uri="{FF2B5EF4-FFF2-40B4-BE49-F238E27FC236}">
                      <a16:creationId xmlns:a16="http://schemas.microsoft.com/office/drawing/2014/main" id="{F5CEC227-C030-6B93-759E-33A856682F80}"/>
                    </a:ext>
                  </a:extLst>
                </p:cNvPr>
                <p:cNvGraphicFramePr/>
                <p:nvPr>
                  <p:extLst>
                    <p:ext uri="{D42A27DB-BD31-4B8C-83A1-F6EECF244321}">
                      <p14:modId xmlns:p14="http://schemas.microsoft.com/office/powerpoint/2010/main" val="3434075989"/>
                    </p:ext>
                  </p:extLst>
                </p:nvPr>
              </p:nvGraphicFramePr>
              <p:xfrm>
                <a:off x="4228447" y="2922405"/>
                <a:ext cx="4709604" cy="3139736"/>
              </p:xfrm>
              <a:graphic>
                <a:graphicData uri="http://schemas.openxmlformats.org/drawingml/2006/chart">
                  <c:chart xmlns:c="http://schemas.openxmlformats.org/drawingml/2006/chart" xmlns:r="http://schemas.openxmlformats.org/officeDocument/2006/relationships" r:id="rId3"/>
                </a:graphicData>
              </a:graphic>
            </p:graphicFrame>
            <p:sp>
              <p:nvSpPr>
                <p:cNvPr id="16" name="テキスト ボックス 15">
                  <a:extLst>
                    <a:ext uri="{FF2B5EF4-FFF2-40B4-BE49-F238E27FC236}">
                      <a16:creationId xmlns:a16="http://schemas.microsoft.com/office/drawing/2014/main" id="{B3A779F7-78C1-0B05-D4E6-1643D335209B}"/>
                    </a:ext>
                  </a:extLst>
                </p:cNvPr>
                <p:cNvSpPr txBox="1"/>
                <p:nvPr/>
              </p:nvSpPr>
              <p:spPr>
                <a:xfrm>
                  <a:off x="7313374" y="4368200"/>
                  <a:ext cx="775907" cy="322454"/>
                </a:xfrm>
                <a:prstGeom prst="rect">
                  <a:avLst/>
                </a:prstGeom>
                <a:noFill/>
              </p:spPr>
              <p:txBody>
                <a:bodyPr wrap="none" rtlCol="0">
                  <a:spAutoFit/>
                </a:bodyPr>
                <a:lstStyle/>
                <a:p>
                  <a:r>
                    <a:rPr lang="en-US" altLang="ja-JP" sz="1600" b="1">
                      <a:solidFill>
                        <a:schemeClr val="bg1"/>
                      </a:solidFill>
                      <a:latin typeface="メイリオ" panose="020B0604030504040204" pitchFamily="50" charset="-128"/>
                      <a:ea typeface="メイリオ" panose="020B0604030504040204" pitchFamily="50" charset="-128"/>
                    </a:rPr>
                    <a:t>50.9</a:t>
                  </a:r>
                  <a:r>
                    <a:rPr lang="ja-JP" altLang="en-US" sz="1050" b="1">
                      <a:solidFill>
                        <a:schemeClr val="bg1"/>
                      </a:solidFill>
                      <a:latin typeface="メイリオ" panose="020B0604030504040204" pitchFamily="50" charset="-128"/>
                      <a:ea typeface="メイリオ" panose="020B0604030504040204" pitchFamily="50" charset="-128"/>
                    </a:rPr>
                    <a:t>％</a:t>
                  </a:r>
                  <a:endParaRPr kumimoji="1" lang="ja-JP" altLang="en-US" sz="1600" b="1">
                    <a:solidFill>
                      <a:schemeClr val="bg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0C35520E-3FBA-52D8-68CE-817A1BB8956D}"/>
                    </a:ext>
                  </a:extLst>
                </p:cNvPr>
                <p:cNvSpPr txBox="1"/>
                <p:nvPr/>
              </p:nvSpPr>
              <p:spPr>
                <a:xfrm>
                  <a:off x="5132520" y="4673498"/>
                  <a:ext cx="788121" cy="322454"/>
                </a:xfrm>
                <a:prstGeom prst="rect">
                  <a:avLst/>
                </a:prstGeom>
                <a:noFill/>
              </p:spPr>
              <p:txBody>
                <a:bodyPr wrap="none" rtlCol="0">
                  <a:spAutoFit/>
                </a:bodyPr>
                <a:lstStyle/>
                <a:p>
                  <a:r>
                    <a:rPr lang="en-US" altLang="ja-JP" sz="1600" b="1">
                      <a:solidFill>
                        <a:schemeClr val="bg1"/>
                      </a:solidFill>
                      <a:latin typeface="メイリオ" panose="020B0604030504040204" pitchFamily="50" charset="-128"/>
                      <a:ea typeface="メイリオ" panose="020B0604030504040204" pitchFamily="50" charset="-128"/>
                    </a:rPr>
                    <a:t>33.7</a:t>
                  </a:r>
                  <a:r>
                    <a:rPr lang="ja-JP" altLang="en-US" sz="1100" b="1">
                      <a:solidFill>
                        <a:schemeClr val="bg1"/>
                      </a:solidFill>
                      <a:latin typeface="メイリオ" panose="020B0604030504040204" pitchFamily="50" charset="-128"/>
                      <a:ea typeface="メイリオ" panose="020B0604030504040204" pitchFamily="50" charset="-128"/>
                    </a:rPr>
                    <a:t>％</a:t>
                  </a:r>
                  <a:endParaRPr kumimoji="1" lang="ja-JP" altLang="en-US" sz="2800" b="1">
                    <a:solidFill>
                      <a:schemeClr val="bg1"/>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375D3E9F-3C30-338C-AB96-C8B49EDE3488}"/>
                    </a:ext>
                  </a:extLst>
                </p:cNvPr>
                <p:cNvSpPr txBox="1"/>
                <p:nvPr/>
              </p:nvSpPr>
              <p:spPr>
                <a:xfrm>
                  <a:off x="5547305" y="3409927"/>
                  <a:ext cx="711782" cy="293141"/>
                </a:xfrm>
                <a:prstGeom prst="rect">
                  <a:avLst/>
                </a:prstGeom>
                <a:noFill/>
              </p:spPr>
              <p:txBody>
                <a:bodyPr wrap="none" rtlCol="0">
                  <a:spAutoFit/>
                </a:bodyPr>
                <a:lstStyle/>
                <a:p>
                  <a:r>
                    <a:rPr lang="en-US" altLang="ja-JP" sz="1400" b="1">
                      <a:solidFill>
                        <a:schemeClr val="bg1"/>
                      </a:solidFill>
                      <a:latin typeface="メイリオ" panose="020B0604030504040204" pitchFamily="50" charset="-128"/>
                      <a:ea typeface="メイリオ" panose="020B0604030504040204" pitchFamily="50" charset="-128"/>
                    </a:rPr>
                    <a:t>11.2</a:t>
                  </a:r>
                  <a:r>
                    <a:rPr lang="ja-JP" altLang="en-US" sz="1000" b="1">
                      <a:solidFill>
                        <a:schemeClr val="bg1"/>
                      </a:solidFill>
                      <a:latin typeface="メイリオ" panose="020B0604030504040204" pitchFamily="50" charset="-128"/>
                      <a:ea typeface="メイリオ" panose="020B0604030504040204" pitchFamily="50" charset="-128"/>
                    </a:rPr>
                    <a:t>％</a:t>
                  </a:r>
                  <a:endParaRPr kumimoji="1" lang="ja-JP" altLang="en-US" sz="1400" b="1">
                    <a:solidFill>
                      <a:schemeClr val="bg1"/>
                    </a:solidFill>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7825CF32-D80E-A30E-A339-C5E9C73B43CD}"/>
                    </a:ext>
                  </a:extLst>
                </p:cNvPr>
                <p:cNvSpPr txBox="1"/>
                <p:nvPr/>
              </p:nvSpPr>
              <p:spPr>
                <a:xfrm>
                  <a:off x="6188041" y="3106470"/>
                  <a:ext cx="595747" cy="293141"/>
                </a:xfrm>
                <a:prstGeom prst="rect">
                  <a:avLst/>
                </a:prstGeom>
                <a:noFill/>
              </p:spPr>
              <p:txBody>
                <a:bodyPr wrap="none" rtlCol="0">
                  <a:spAutoFit/>
                </a:bodyPr>
                <a:lstStyle/>
                <a:p>
                  <a:r>
                    <a:rPr lang="en-US" altLang="ja-JP" sz="1400" b="1">
                      <a:solidFill>
                        <a:schemeClr val="bg1"/>
                      </a:solidFill>
                      <a:latin typeface="メイリオ" panose="020B0604030504040204" pitchFamily="50" charset="-128"/>
                      <a:ea typeface="メイリオ" panose="020B0604030504040204" pitchFamily="50" charset="-128"/>
                    </a:rPr>
                    <a:t>4.2</a:t>
                  </a:r>
                  <a:r>
                    <a:rPr lang="ja-JP" altLang="en-US" sz="1000" b="1">
                      <a:solidFill>
                        <a:schemeClr val="bg1"/>
                      </a:solidFill>
                      <a:latin typeface="メイリオ" panose="020B0604030504040204" pitchFamily="50" charset="-128"/>
                      <a:ea typeface="メイリオ" panose="020B0604030504040204" pitchFamily="50" charset="-128"/>
                    </a:rPr>
                    <a:t>％</a:t>
                  </a:r>
                  <a:endParaRPr kumimoji="1" lang="ja-JP" altLang="en-US" sz="1400" b="1">
                    <a:solidFill>
                      <a:schemeClr val="bg1"/>
                    </a:solidFill>
                    <a:latin typeface="メイリオ" panose="020B0604030504040204" pitchFamily="50" charset="-128"/>
                    <a:ea typeface="メイリオ" panose="020B0604030504040204" pitchFamily="50" charset="-128"/>
                  </a:endParaRPr>
                </a:p>
              </p:txBody>
            </p:sp>
          </p:grpSp>
          <p:sp>
            <p:nvSpPr>
              <p:cNvPr id="43" name="角丸四角形 9">
                <a:extLst>
                  <a:ext uri="{FF2B5EF4-FFF2-40B4-BE49-F238E27FC236}">
                    <a16:creationId xmlns:a16="http://schemas.microsoft.com/office/drawing/2014/main" id="{BFFF8EEA-11B5-0C73-CF8F-CEC2FFB6854E}"/>
                  </a:ext>
                </a:extLst>
              </p:cNvPr>
              <p:cNvSpPr/>
              <p:nvPr/>
            </p:nvSpPr>
            <p:spPr>
              <a:xfrm>
                <a:off x="6987153" y="4680833"/>
                <a:ext cx="1401992" cy="453946"/>
              </a:xfrm>
              <a:prstGeom prst="roundRect">
                <a:avLst>
                  <a:gd name="adj" fmla="val 9066"/>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schemeClr val="tx1"/>
                    </a:solidFill>
                    <a:effectLst/>
                    <a:uLnTx/>
                    <a:uFillTx/>
                    <a:cs typeface="+mn-cs"/>
                  </a:rPr>
                  <a:t>売上高</a:t>
                </a:r>
                <a:endParaRPr kumimoji="0" lang="ja-JP" altLang="en-US" sz="2000" b="1" i="0" u="none" strike="noStrike" kern="0" cap="none" spc="0" normalizeH="0" baseline="0" noProof="0">
                  <a:ln>
                    <a:noFill/>
                  </a:ln>
                  <a:solidFill>
                    <a:schemeClr val="tx1"/>
                  </a:solidFill>
                  <a:effectLst/>
                  <a:uLnTx/>
                  <a:uFillTx/>
                  <a:cs typeface="+mn-cs"/>
                </a:endParaRPr>
              </a:p>
            </p:txBody>
          </p:sp>
        </p:grpSp>
        <p:grpSp>
          <p:nvGrpSpPr>
            <p:cNvPr id="46" name="グループ化 45">
              <a:extLst>
                <a:ext uri="{FF2B5EF4-FFF2-40B4-BE49-F238E27FC236}">
                  <a16:creationId xmlns:a16="http://schemas.microsoft.com/office/drawing/2014/main" id="{4196D693-8438-27B9-53EC-663A4502F9A2}"/>
                </a:ext>
              </a:extLst>
            </p:cNvPr>
            <p:cNvGrpSpPr/>
            <p:nvPr/>
          </p:nvGrpSpPr>
          <p:grpSpPr>
            <a:xfrm>
              <a:off x="834790" y="5804305"/>
              <a:ext cx="2071328" cy="576824"/>
              <a:chOff x="1255317" y="5962320"/>
              <a:chExt cx="2071328" cy="576824"/>
            </a:xfrm>
          </p:grpSpPr>
          <p:sp>
            <p:nvSpPr>
              <p:cNvPr id="47" name="テキスト ボックス 46">
                <a:extLst>
                  <a:ext uri="{FF2B5EF4-FFF2-40B4-BE49-F238E27FC236}">
                    <a16:creationId xmlns:a16="http://schemas.microsoft.com/office/drawing/2014/main" id="{A5EFB5B3-0C62-4093-397D-8CFB8B0A9A91}"/>
                  </a:ext>
                </a:extLst>
              </p:cNvPr>
              <p:cNvSpPr txBox="1"/>
              <p:nvPr/>
            </p:nvSpPr>
            <p:spPr>
              <a:xfrm>
                <a:off x="1255317" y="5962320"/>
                <a:ext cx="1589092" cy="576824"/>
              </a:xfrm>
              <a:prstGeom prst="rect">
                <a:avLst/>
              </a:prstGeom>
              <a:noFill/>
            </p:spPr>
            <p:txBody>
              <a:bodyPr wrap="none" rtlCol="0">
                <a:spAutoFit/>
              </a:bodyPr>
              <a:lstStyle/>
              <a:p>
                <a:r>
                  <a:rPr kumimoji="1" lang="ja-JP" altLang="en-US" sz="1400" b="1">
                    <a:latin typeface="メイリオ" panose="020B0604030504040204" pitchFamily="50" charset="-128"/>
                    <a:ea typeface="メイリオ" panose="020B0604030504040204" pitchFamily="50" charset="-128"/>
                  </a:rPr>
                  <a:t>エージェンシー</a:t>
                </a:r>
                <a:endParaRPr kumimoji="1" lang="en-US" altLang="ja-JP" sz="1400" b="1">
                  <a:latin typeface="メイリオ" panose="020B0604030504040204" pitchFamily="50" charset="-128"/>
                  <a:ea typeface="メイリオ" panose="020B0604030504040204" pitchFamily="50" charset="-128"/>
                </a:endParaRPr>
              </a:p>
              <a:p>
                <a:r>
                  <a:rPr kumimoji="1" lang="en-US" altLang="ja-JP" sz="1400">
                    <a:latin typeface="メイリオ" panose="020B0604030504040204" pitchFamily="50" charset="-128"/>
                    <a:ea typeface="メイリオ" panose="020B0604030504040204" pitchFamily="50" charset="-128"/>
                  </a:rPr>
                  <a:t>(</a:t>
                </a:r>
                <a:r>
                  <a:rPr lang="ja-JP" altLang="en-US" sz="1400">
                    <a:latin typeface="メイリオ" panose="020B0604030504040204" pitchFamily="50" charset="-128"/>
                    <a:ea typeface="メイリオ" panose="020B0604030504040204" pitchFamily="50" charset="-128"/>
                  </a:rPr>
                  <a:t>派遣</a:t>
                </a:r>
                <a:r>
                  <a:rPr kumimoji="1" lang="en-US" altLang="ja-JP" sz="1400">
                    <a:latin typeface="メイリオ" panose="020B0604030504040204" pitchFamily="50" charset="-128"/>
                    <a:ea typeface="メイリオ" panose="020B0604030504040204" pitchFamily="50" charset="-128"/>
                  </a:rPr>
                  <a:t>)</a:t>
                </a:r>
                <a:endParaRPr kumimoji="1" lang="ja-JP" altLang="en-US" sz="1400">
                  <a:latin typeface="メイリオ" panose="020B0604030504040204" pitchFamily="50" charset="-128"/>
                  <a:ea typeface="メイリオ" panose="020B0604030504040204" pitchFamily="50" charset="-128"/>
                </a:endParaRPr>
              </a:p>
            </p:txBody>
          </p:sp>
          <p:cxnSp>
            <p:nvCxnSpPr>
              <p:cNvPr id="48" name="直線コネクタ 47">
                <a:extLst>
                  <a:ext uri="{FF2B5EF4-FFF2-40B4-BE49-F238E27FC236}">
                    <a16:creationId xmlns:a16="http://schemas.microsoft.com/office/drawing/2014/main" id="{D391B773-AA72-38B3-6799-ECF6F06CF974}"/>
                  </a:ext>
                </a:extLst>
              </p:cNvPr>
              <p:cNvCxnSpPr>
                <a:cxnSpLocks/>
              </p:cNvCxnSpPr>
              <p:nvPr/>
            </p:nvCxnSpPr>
            <p:spPr>
              <a:xfrm>
                <a:off x="1276924" y="6497664"/>
                <a:ext cx="1483098"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D6600B1D-79A5-5763-AADC-AA1EA9DD78C7}"/>
                  </a:ext>
                </a:extLst>
              </p:cNvPr>
              <p:cNvCxnSpPr>
                <a:cxnSpLocks/>
              </p:cNvCxnSpPr>
              <p:nvPr/>
            </p:nvCxnSpPr>
            <p:spPr>
              <a:xfrm flipV="1">
                <a:off x="2754943" y="6038351"/>
                <a:ext cx="571702" cy="45710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1" name="グループ化 50">
              <a:extLst>
                <a:ext uri="{FF2B5EF4-FFF2-40B4-BE49-F238E27FC236}">
                  <a16:creationId xmlns:a16="http://schemas.microsoft.com/office/drawing/2014/main" id="{B1915ECB-FC59-A8E1-DF6F-095295D0885C}"/>
                </a:ext>
              </a:extLst>
            </p:cNvPr>
            <p:cNvGrpSpPr/>
            <p:nvPr/>
          </p:nvGrpSpPr>
          <p:grpSpPr>
            <a:xfrm>
              <a:off x="581961" y="3323107"/>
              <a:ext cx="1762847" cy="576824"/>
              <a:chOff x="475423" y="4270550"/>
              <a:chExt cx="1762847" cy="576824"/>
            </a:xfrm>
          </p:grpSpPr>
          <p:sp>
            <p:nvSpPr>
              <p:cNvPr id="52" name="テキスト ボックス 51">
                <a:extLst>
                  <a:ext uri="{FF2B5EF4-FFF2-40B4-BE49-F238E27FC236}">
                    <a16:creationId xmlns:a16="http://schemas.microsoft.com/office/drawing/2014/main" id="{26F445E5-5AB9-BD73-E23A-6F8D36D69BFA}"/>
                  </a:ext>
                </a:extLst>
              </p:cNvPr>
              <p:cNvSpPr txBox="1"/>
              <p:nvPr/>
            </p:nvSpPr>
            <p:spPr>
              <a:xfrm>
                <a:off x="475423" y="4270550"/>
                <a:ext cx="1589092" cy="576824"/>
              </a:xfrm>
              <a:prstGeom prst="rect">
                <a:avLst/>
              </a:prstGeom>
              <a:noFill/>
            </p:spPr>
            <p:txBody>
              <a:bodyPr wrap="none" rtlCol="0">
                <a:spAutoFit/>
              </a:bodyPr>
              <a:lstStyle/>
              <a:p>
                <a:r>
                  <a:rPr kumimoji="1" lang="ja-JP" altLang="en-US" sz="1400" b="1">
                    <a:latin typeface="メイリオ" panose="020B0604030504040204" pitchFamily="50" charset="-128"/>
                    <a:ea typeface="メイリオ" panose="020B0604030504040204" pitchFamily="50" charset="-128"/>
                  </a:rPr>
                  <a:t>エージェンシー</a:t>
                </a:r>
                <a:endParaRPr kumimoji="1" lang="en-US" altLang="ja-JP" sz="1400" b="1">
                  <a:latin typeface="メイリオ" panose="020B0604030504040204" pitchFamily="50" charset="-128"/>
                  <a:ea typeface="メイリオ" panose="020B0604030504040204" pitchFamily="50" charset="-128"/>
                </a:endParaRPr>
              </a:p>
              <a:p>
                <a:r>
                  <a:rPr kumimoji="1" lang="en-US" altLang="ja-JP" sz="1400">
                    <a:latin typeface="メイリオ" panose="020B0604030504040204" pitchFamily="50" charset="-128"/>
                    <a:ea typeface="メイリオ" panose="020B0604030504040204" pitchFamily="50" charset="-128"/>
                  </a:rPr>
                  <a:t>(</a:t>
                </a:r>
                <a:r>
                  <a:rPr kumimoji="1" lang="ja-JP" altLang="en-US" sz="1400">
                    <a:latin typeface="メイリオ" panose="020B0604030504040204" pitchFamily="50" charset="-128"/>
                    <a:ea typeface="メイリオ" panose="020B0604030504040204" pitchFamily="50" charset="-128"/>
                  </a:rPr>
                  <a:t>紹介</a:t>
                </a:r>
                <a:r>
                  <a:rPr kumimoji="1" lang="en-US" altLang="ja-JP" sz="1400">
                    <a:latin typeface="メイリオ" panose="020B0604030504040204" pitchFamily="50" charset="-128"/>
                    <a:ea typeface="メイリオ" panose="020B0604030504040204" pitchFamily="50" charset="-128"/>
                  </a:rPr>
                  <a:t>)</a:t>
                </a:r>
                <a:endParaRPr kumimoji="1" lang="ja-JP" altLang="en-US" sz="1400">
                  <a:latin typeface="メイリオ" panose="020B0604030504040204" pitchFamily="50" charset="-128"/>
                  <a:ea typeface="メイリオ" panose="020B0604030504040204" pitchFamily="50" charset="-128"/>
                </a:endParaRPr>
              </a:p>
            </p:txBody>
          </p:sp>
          <p:cxnSp>
            <p:nvCxnSpPr>
              <p:cNvPr id="53" name="直線コネクタ 52">
                <a:extLst>
                  <a:ext uri="{FF2B5EF4-FFF2-40B4-BE49-F238E27FC236}">
                    <a16:creationId xmlns:a16="http://schemas.microsoft.com/office/drawing/2014/main" id="{23213B8B-1756-297C-7933-0DE69A5F4760}"/>
                  </a:ext>
                </a:extLst>
              </p:cNvPr>
              <p:cNvCxnSpPr>
                <a:cxnSpLocks/>
              </p:cNvCxnSpPr>
              <p:nvPr/>
            </p:nvCxnSpPr>
            <p:spPr>
              <a:xfrm>
                <a:off x="535375" y="4820344"/>
                <a:ext cx="129808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884F018E-4F2B-11E3-FC87-73F232772E0A}"/>
                  </a:ext>
                </a:extLst>
              </p:cNvPr>
              <p:cNvCxnSpPr>
                <a:cxnSpLocks/>
              </p:cNvCxnSpPr>
              <p:nvPr/>
            </p:nvCxnSpPr>
            <p:spPr>
              <a:xfrm flipV="1">
                <a:off x="1833455" y="4620620"/>
                <a:ext cx="404815" cy="1955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 name="グループ化 56">
              <a:extLst>
                <a:ext uri="{FF2B5EF4-FFF2-40B4-BE49-F238E27FC236}">
                  <a16:creationId xmlns:a16="http://schemas.microsoft.com/office/drawing/2014/main" id="{2ED74BF1-6582-C0AB-3494-D55CCA9BA969}"/>
                </a:ext>
              </a:extLst>
            </p:cNvPr>
            <p:cNvGrpSpPr/>
            <p:nvPr/>
          </p:nvGrpSpPr>
          <p:grpSpPr>
            <a:xfrm>
              <a:off x="4403018" y="2658856"/>
              <a:ext cx="1862410" cy="720224"/>
              <a:chOff x="4526280" y="2417237"/>
              <a:chExt cx="1862410" cy="720224"/>
            </a:xfrm>
          </p:grpSpPr>
          <p:sp>
            <p:nvSpPr>
              <p:cNvPr id="58" name="テキスト ボックス 57">
                <a:extLst>
                  <a:ext uri="{FF2B5EF4-FFF2-40B4-BE49-F238E27FC236}">
                    <a16:creationId xmlns:a16="http://schemas.microsoft.com/office/drawing/2014/main" id="{42E91DEB-F2F9-3473-DE9D-DBAC3A02AAB0}"/>
                  </a:ext>
                </a:extLst>
              </p:cNvPr>
              <p:cNvSpPr txBox="1"/>
              <p:nvPr/>
            </p:nvSpPr>
            <p:spPr>
              <a:xfrm>
                <a:off x="4997528" y="2417237"/>
                <a:ext cx="1391162" cy="576823"/>
              </a:xfrm>
              <a:prstGeom prst="rect">
                <a:avLst/>
              </a:prstGeom>
              <a:noFill/>
            </p:spPr>
            <p:txBody>
              <a:bodyPr wrap="none" rtlCol="0">
                <a:spAutoFit/>
              </a:bodyPr>
              <a:lstStyle/>
              <a:p>
                <a:r>
                  <a:rPr kumimoji="1" lang="ja-JP" altLang="en-US" sz="1400" b="1">
                    <a:latin typeface="メイリオ" panose="020B0604030504040204" pitchFamily="50" charset="-128"/>
                    <a:ea typeface="メイリオ" panose="020B0604030504040204" pitchFamily="50" charset="-128"/>
                  </a:rPr>
                  <a:t>プロデュース</a:t>
                </a:r>
                <a:endParaRPr kumimoji="1" lang="en-US" altLang="ja-JP" sz="1400" b="1">
                  <a:latin typeface="メイリオ" panose="020B0604030504040204" pitchFamily="50" charset="-128"/>
                  <a:ea typeface="メイリオ" panose="020B0604030504040204" pitchFamily="50" charset="-128"/>
                </a:endParaRPr>
              </a:p>
              <a:p>
                <a:r>
                  <a:rPr kumimoji="1" lang="en-US" altLang="ja-JP" sz="1400">
                    <a:latin typeface="メイリオ" panose="020B0604030504040204" pitchFamily="50" charset="-128"/>
                    <a:ea typeface="メイリオ" panose="020B0604030504040204" pitchFamily="50" charset="-128"/>
                  </a:rPr>
                  <a:t>(</a:t>
                </a:r>
                <a:r>
                  <a:rPr kumimoji="1" lang="ja-JP" altLang="en-US" sz="1400">
                    <a:latin typeface="メイリオ" panose="020B0604030504040204" pitchFamily="50" charset="-128"/>
                    <a:ea typeface="メイリオ" panose="020B0604030504040204" pitchFamily="50" charset="-128"/>
                  </a:rPr>
                  <a:t>開発･請負</a:t>
                </a:r>
                <a:r>
                  <a:rPr kumimoji="1" lang="en-US" altLang="ja-JP" sz="1400">
                    <a:latin typeface="メイリオ" panose="020B0604030504040204" pitchFamily="50" charset="-128"/>
                    <a:ea typeface="メイリオ" panose="020B0604030504040204" pitchFamily="50" charset="-128"/>
                  </a:rPr>
                  <a:t>)</a:t>
                </a:r>
                <a:endParaRPr kumimoji="1" lang="ja-JP" altLang="en-US" sz="1400">
                  <a:latin typeface="メイリオ" panose="020B0604030504040204" pitchFamily="50" charset="-128"/>
                  <a:ea typeface="メイリオ" panose="020B0604030504040204" pitchFamily="50" charset="-128"/>
                </a:endParaRPr>
              </a:p>
            </p:txBody>
          </p:sp>
          <p:cxnSp>
            <p:nvCxnSpPr>
              <p:cNvPr id="59" name="直線コネクタ 58">
                <a:extLst>
                  <a:ext uri="{FF2B5EF4-FFF2-40B4-BE49-F238E27FC236}">
                    <a16:creationId xmlns:a16="http://schemas.microsoft.com/office/drawing/2014/main" id="{C31FD4AE-7361-96E7-9F2C-4D68006412DC}"/>
                  </a:ext>
                </a:extLst>
              </p:cNvPr>
              <p:cNvCxnSpPr>
                <a:cxnSpLocks/>
              </p:cNvCxnSpPr>
              <p:nvPr/>
            </p:nvCxnSpPr>
            <p:spPr>
              <a:xfrm>
                <a:off x="4776314" y="2953501"/>
                <a:ext cx="1483098"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8A672DAB-6511-87E4-5A8A-A194FA54D36F}"/>
                  </a:ext>
                </a:extLst>
              </p:cNvPr>
              <p:cNvCxnSpPr>
                <a:cxnSpLocks/>
              </p:cNvCxnSpPr>
              <p:nvPr/>
            </p:nvCxnSpPr>
            <p:spPr>
              <a:xfrm flipV="1">
                <a:off x="4526280" y="2948845"/>
                <a:ext cx="250034" cy="18861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 name="グループ化 60">
              <a:extLst>
                <a:ext uri="{FF2B5EF4-FFF2-40B4-BE49-F238E27FC236}">
                  <a16:creationId xmlns:a16="http://schemas.microsoft.com/office/drawing/2014/main" id="{4252011E-BF69-CE8D-50BC-4D889FF27378}"/>
                </a:ext>
              </a:extLst>
            </p:cNvPr>
            <p:cNvGrpSpPr/>
            <p:nvPr/>
          </p:nvGrpSpPr>
          <p:grpSpPr>
            <a:xfrm>
              <a:off x="871846" y="2391221"/>
              <a:ext cx="2318329" cy="590372"/>
              <a:chOff x="738575" y="2329186"/>
              <a:chExt cx="2318329" cy="590372"/>
            </a:xfrm>
          </p:grpSpPr>
          <p:sp>
            <p:nvSpPr>
              <p:cNvPr id="62" name="テキスト ボックス 61">
                <a:extLst>
                  <a:ext uri="{FF2B5EF4-FFF2-40B4-BE49-F238E27FC236}">
                    <a16:creationId xmlns:a16="http://schemas.microsoft.com/office/drawing/2014/main" id="{29BB16A7-AE90-20E0-1004-5BBA8870BDA6}"/>
                  </a:ext>
                </a:extLst>
              </p:cNvPr>
              <p:cNvSpPr txBox="1"/>
              <p:nvPr/>
            </p:nvSpPr>
            <p:spPr>
              <a:xfrm>
                <a:off x="738575" y="2329186"/>
                <a:ext cx="2182881" cy="339308"/>
              </a:xfrm>
              <a:prstGeom prst="rect">
                <a:avLst/>
              </a:prstGeom>
              <a:noFill/>
            </p:spPr>
            <p:txBody>
              <a:bodyPr wrap="none" rtlCol="0">
                <a:spAutoFit/>
              </a:bodyPr>
              <a:lstStyle/>
              <a:p>
                <a:r>
                  <a:rPr kumimoji="1" lang="ja-JP" altLang="en-US" sz="1400" b="1">
                    <a:latin typeface="メイリオ" panose="020B0604030504040204" pitchFamily="50" charset="-128"/>
                    <a:ea typeface="メイリオ" panose="020B0604030504040204" pitchFamily="50" charset="-128"/>
                  </a:rPr>
                  <a:t>ライツマネジメント他</a:t>
                </a:r>
                <a:endParaRPr kumimoji="1" lang="ja-JP" altLang="en-US" sz="1400">
                  <a:latin typeface="メイリオ" panose="020B0604030504040204" pitchFamily="50" charset="-128"/>
                  <a:ea typeface="メイリオ" panose="020B0604030504040204" pitchFamily="50" charset="-128"/>
                </a:endParaRPr>
              </a:p>
            </p:txBody>
          </p:sp>
          <p:cxnSp>
            <p:nvCxnSpPr>
              <p:cNvPr id="63" name="直線コネクタ 62">
                <a:extLst>
                  <a:ext uri="{FF2B5EF4-FFF2-40B4-BE49-F238E27FC236}">
                    <a16:creationId xmlns:a16="http://schemas.microsoft.com/office/drawing/2014/main" id="{A3459330-0B10-678B-F27B-D8F1378B61FB}"/>
                  </a:ext>
                </a:extLst>
              </p:cNvPr>
              <p:cNvCxnSpPr>
                <a:cxnSpLocks/>
              </p:cNvCxnSpPr>
              <p:nvPr/>
            </p:nvCxnSpPr>
            <p:spPr>
              <a:xfrm>
                <a:off x="789225" y="2714936"/>
                <a:ext cx="1929379"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24E1454E-C74E-7EEB-8927-36B760ADF5AB}"/>
                  </a:ext>
                </a:extLst>
              </p:cNvPr>
              <p:cNvCxnSpPr>
                <a:cxnSpLocks/>
              </p:cNvCxnSpPr>
              <p:nvPr/>
            </p:nvCxnSpPr>
            <p:spPr>
              <a:xfrm>
                <a:off x="2718604" y="2715127"/>
                <a:ext cx="338300" cy="20443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3" name="正方形/長方形 22">
            <a:extLst>
              <a:ext uri="{FF2B5EF4-FFF2-40B4-BE49-F238E27FC236}">
                <a16:creationId xmlns:a16="http://schemas.microsoft.com/office/drawing/2014/main" id="{1E1A7A1D-B728-2F74-5F4D-2D68E8788E89}"/>
              </a:ext>
            </a:extLst>
          </p:cNvPr>
          <p:cNvSpPr/>
          <p:nvPr/>
        </p:nvSpPr>
        <p:spPr>
          <a:xfrm>
            <a:off x="933258" y="6247799"/>
            <a:ext cx="5099116" cy="2772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ja-JP" altLang="en-US" sz="1100">
                <a:solidFill>
                  <a:schemeClr val="tx1"/>
                </a:solidFill>
                <a:latin typeface="メイリオ" panose="020B0604030504040204" pitchFamily="50" charset="-128"/>
                <a:ea typeface="メイリオ" panose="020B0604030504040204" pitchFamily="50" charset="-128"/>
              </a:rPr>
              <a:t>主要３事業の売上高比率（</a:t>
            </a:r>
            <a:r>
              <a:rPr lang="en-US" altLang="ja-JP" sz="1100">
                <a:solidFill>
                  <a:schemeClr val="tx1"/>
                </a:solidFill>
                <a:latin typeface="メイリオ" panose="020B0604030504040204" pitchFamily="50" charset="-128"/>
                <a:ea typeface="メイリオ" panose="020B0604030504040204" pitchFamily="50" charset="-128"/>
              </a:rPr>
              <a:t>2025</a:t>
            </a:r>
            <a:r>
              <a:rPr lang="ja-JP" altLang="en-US" sz="1100">
                <a:solidFill>
                  <a:schemeClr val="tx1"/>
                </a:solidFill>
                <a:latin typeface="メイリオ" panose="020B0604030504040204" pitchFamily="50" charset="-128"/>
                <a:ea typeface="メイリオ" panose="020B0604030504040204" pitchFamily="50" charset="-128"/>
              </a:rPr>
              <a:t>年２月期）</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55013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ダイアグラム&#10;&#10;AI 生成コンテンツは誤りを含む可能性があります。">
            <a:extLst>
              <a:ext uri="{FF2B5EF4-FFF2-40B4-BE49-F238E27FC236}">
                <a16:creationId xmlns:a16="http://schemas.microsoft.com/office/drawing/2014/main" id="{8E6202D8-DB95-993D-D79E-7B350285A9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052" y="553731"/>
            <a:ext cx="10910712" cy="6150192"/>
          </a:xfrm>
          <a:prstGeom prst="rect">
            <a:avLst/>
          </a:prstGeom>
        </p:spPr>
      </p:pic>
      <p:sp>
        <p:nvSpPr>
          <p:cNvPr id="18" name="正方形/長方形 17">
            <a:extLst>
              <a:ext uri="{FF2B5EF4-FFF2-40B4-BE49-F238E27FC236}">
                <a16:creationId xmlns:a16="http://schemas.microsoft.com/office/drawing/2014/main" id="{13BD81C8-80B3-51CC-9624-8AB06E9D3C86}"/>
              </a:ext>
            </a:extLst>
          </p:cNvPr>
          <p:cNvSpPr/>
          <p:nvPr/>
        </p:nvSpPr>
        <p:spPr>
          <a:xfrm>
            <a:off x="8939196" y="3674349"/>
            <a:ext cx="3252804" cy="985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endParaRPr kumimoji="1" lang="ja-JP" altLang="en-US" sz="1400" b="1">
              <a:solidFill>
                <a:schemeClr val="tx1">
                  <a:lumMod val="85000"/>
                  <a:lumOff val="1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872F6331-511F-0390-4678-8160CD73FECC}"/>
              </a:ext>
            </a:extLst>
          </p:cNvPr>
          <p:cNvSpPr/>
          <p:nvPr/>
        </p:nvSpPr>
        <p:spPr bwMode="auto">
          <a:xfrm>
            <a:off x="2977539" y="555846"/>
            <a:ext cx="990381" cy="716762"/>
          </a:xfrm>
          <a:prstGeom prst="rect">
            <a:avLst/>
          </a:prstGeom>
          <a:noFill/>
          <a:ln w="76200" algn="ctr">
            <a:solidFill>
              <a:schemeClr val="accent6"/>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5" name="タイトル 5">
            <a:extLst>
              <a:ext uri="{FF2B5EF4-FFF2-40B4-BE49-F238E27FC236}">
                <a16:creationId xmlns:a16="http://schemas.microsoft.com/office/drawing/2014/main" id="{1049A501-C8C5-B9DA-BABC-5467D62247C6}"/>
              </a:ext>
            </a:extLst>
          </p:cNvPr>
          <p:cNvSpPr txBox="1">
            <a:spLocks/>
          </p:cNvSpPr>
          <p:nvPr/>
        </p:nvSpPr>
        <p:spPr>
          <a:xfrm>
            <a:off x="653801" y="92360"/>
            <a:ext cx="11614399" cy="467359"/>
          </a:xfrm>
          <a:prstGeom prst="rect">
            <a:avLst/>
          </a:prstGeom>
        </p:spPr>
        <p:txBody>
          <a:bodyPr>
            <a:normAutofit fontScale="97500" lnSpcReduction="10000"/>
          </a:bodyPr>
          <a:lstStyle>
            <a:lvl1pPr algn="l" defTabSz="914400" rtl="0" eaLnBrk="1" latinLnBrk="0" hangingPunct="1">
              <a:lnSpc>
                <a:spcPct val="90000"/>
              </a:lnSpc>
              <a:spcBef>
                <a:spcPct val="0"/>
              </a:spcBef>
              <a:buNone/>
              <a:defRPr kumimoji="1" sz="2800" b="1" kern="1200">
                <a:solidFill>
                  <a:schemeClr val="tx1"/>
                </a:solidFill>
                <a:latin typeface="+mn-lt"/>
                <a:ea typeface="Noto Sans JP" panose="020B0200000000000000" pitchFamily="50" charset="-128"/>
                <a:cs typeface="+mj-cs"/>
              </a:defRPr>
            </a:lvl1pPr>
          </a:lstStyle>
          <a:p>
            <a:r>
              <a:rPr lang="en-US" altLang="ja-JP" dirty="0">
                <a:latin typeface="メイリオ" panose="020B0604030504040204" pitchFamily="50" charset="-128"/>
                <a:ea typeface="メイリオ" panose="020B0604030504040204" pitchFamily="50" charset="-128"/>
              </a:rPr>
              <a:t>C&amp;R</a:t>
            </a:r>
            <a:r>
              <a:rPr lang="ja-JP" altLang="en-US" dirty="0">
                <a:latin typeface="メイリオ" panose="020B0604030504040204" pitchFamily="50" charset="-128"/>
                <a:ea typeface="メイリオ" panose="020B0604030504040204" pitchFamily="50" charset="-128"/>
              </a:rPr>
              <a:t>グループのプロフェッショナルネットワーク</a:t>
            </a:r>
          </a:p>
        </p:txBody>
      </p:sp>
      <p:sp>
        <p:nvSpPr>
          <p:cNvPr id="2" name="スライド番号プレースホルダー 1">
            <a:extLst>
              <a:ext uri="{FF2B5EF4-FFF2-40B4-BE49-F238E27FC236}">
                <a16:creationId xmlns:a16="http://schemas.microsoft.com/office/drawing/2014/main" id="{5BA6C538-C2BE-4AB3-09EF-A23203062F3E}"/>
              </a:ext>
            </a:extLst>
          </p:cNvPr>
          <p:cNvSpPr>
            <a:spLocks noGrp="1"/>
          </p:cNvSpPr>
          <p:nvPr>
            <p:ph type="sldNum" sz="quarter" idx="10"/>
          </p:nvPr>
        </p:nvSpPr>
        <p:spPr/>
        <p:txBody>
          <a:bodyPr/>
          <a:lstStyle/>
          <a:p>
            <a:fld id="{B75FDD43-FCEC-4ECC-8189-A5C6D2E08DC6}" type="slidenum">
              <a:rPr lang="ja-JP" altLang="en-US" smtClean="0"/>
              <a:pPr/>
              <a:t>4</a:t>
            </a:fld>
            <a:endParaRPr lang="ja-JP" altLang="en-US"/>
          </a:p>
        </p:txBody>
      </p:sp>
    </p:spTree>
    <p:extLst>
      <p:ext uri="{BB962C8B-B14F-4D97-AF65-F5344CB8AC3E}">
        <p14:creationId xmlns:p14="http://schemas.microsoft.com/office/powerpoint/2010/main" val="1550138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6EDD6D42-57F3-2993-9D6E-E48ABF466B33}"/>
              </a:ext>
            </a:extLst>
          </p:cNvPr>
          <p:cNvSpPr>
            <a:spLocks noGrp="1"/>
          </p:cNvSpPr>
          <p:nvPr>
            <p:ph type="title"/>
          </p:nvPr>
        </p:nvSpPr>
        <p:spPr/>
        <p:txBody>
          <a:bodyPr>
            <a:normAutofit fontScale="90000"/>
          </a:bodyPr>
          <a:lstStyle/>
          <a:p>
            <a:r>
              <a:rPr lang="en-US" altLang="ja-JP" sz="2800" b="1"/>
              <a:t>C&amp;R</a:t>
            </a:r>
            <a:r>
              <a:rPr lang="ja-JP" altLang="en-US" sz="2800" b="1"/>
              <a:t>グループ紹介</a:t>
            </a:r>
            <a:endParaRPr lang="ja-JP" altLang="en-US"/>
          </a:p>
        </p:txBody>
      </p:sp>
      <p:sp>
        <p:nvSpPr>
          <p:cNvPr id="4" name="スライド番号プレースホルダー 3">
            <a:extLst>
              <a:ext uri="{FF2B5EF4-FFF2-40B4-BE49-F238E27FC236}">
                <a16:creationId xmlns:a16="http://schemas.microsoft.com/office/drawing/2014/main" id="{DA0A48B7-69B7-F83E-51C8-531BBDB9C3B5}"/>
              </a:ext>
            </a:extLst>
          </p:cNvPr>
          <p:cNvSpPr>
            <a:spLocks noGrp="1"/>
          </p:cNvSpPr>
          <p:nvPr>
            <p:ph type="sldNum" sz="quarter" idx="11"/>
          </p:nvPr>
        </p:nvSpPr>
        <p:spPr/>
        <p:txBody>
          <a:bodyPr/>
          <a:lstStyle/>
          <a:p>
            <a:fld id="{B75FDD43-FCEC-4ECC-8189-A5C6D2E08DC6}" type="slidenum">
              <a:rPr lang="ja-JP" altLang="en-US" smtClean="0"/>
              <a:pPr/>
              <a:t>5</a:t>
            </a:fld>
            <a:endParaRPr lang="ja-JP" altLang="en-US"/>
          </a:p>
        </p:txBody>
      </p:sp>
      <p:sp>
        <p:nvSpPr>
          <p:cNvPr id="18" name="正方形/長方形 17">
            <a:extLst>
              <a:ext uri="{FF2B5EF4-FFF2-40B4-BE49-F238E27FC236}">
                <a16:creationId xmlns:a16="http://schemas.microsoft.com/office/drawing/2014/main" id="{13BD81C8-80B3-51CC-9624-8AB06E9D3C86}"/>
              </a:ext>
            </a:extLst>
          </p:cNvPr>
          <p:cNvSpPr/>
          <p:nvPr/>
        </p:nvSpPr>
        <p:spPr>
          <a:xfrm>
            <a:off x="6462764" y="3006706"/>
            <a:ext cx="5628339" cy="844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600"/>
              </a:spcBef>
            </a:pPr>
            <a:r>
              <a:rPr lang="ja-JP" altLang="en-US" b="1">
                <a:solidFill>
                  <a:schemeClr val="tx1"/>
                </a:solidFill>
                <a:latin typeface="メイリオ" panose="020B0604030504040204" pitchFamily="50" charset="-128"/>
                <a:ea typeface="メイリオ" panose="020B0604030504040204" pitchFamily="50" charset="-128"/>
              </a:rPr>
              <a:t>クリーク･アンド･リバー社を中心に</a:t>
            </a:r>
            <a:endParaRPr lang="en-US" altLang="ja-JP" b="1">
              <a:solidFill>
                <a:schemeClr val="tx1"/>
              </a:solidFill>
              <a:latin typeface="メイリオ" panose="020B0604030504040204" pitchFamily="50" charset="-128"/>
              <a:ea typeface="メイリオ" panose="020B0604030504040204" pitchFamily="50" charset="-128"/>
            </a:endParaRPr>
          </a:p>
          <a:p>
            <a:pPr>
              <a:spcBef>
                <a:spcPts val="600"/>
              </a:spcBef>
            </a:pPr>
            <a:r>
              <a:rPr lang="ja-JP" altLang="en-US" b="1">
                <a:solidFill>
                  <a:schemeClr val="tx1"/>
                </a:solidFill>
                <a:latin typeface="メイリオ" panose="020B0604030504040204" pitchFamily="50" charset="-128"/>
                <a:ea typeface="メイリオ" panose="020B0604030504040204" pitchFamily="50" charset="-128"/>
              </a:rPr>
              <a:t>グループ経営を推進、事業を拡大。</a:t>
            </a:r>
            <a:endParaRPr kumimoji="1" lang="ja-JP" altLang="en-US" b="1">
              <a:solidFill>
                <a:schemeClr val="tx1"/>
              </a:solidFill>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AB0A2594-8697-50EA-5F94-B8ED434D4B2B}"/>
              </a:ext>
            </a:extLst>
          </p:cNvPr>
          <p:cNvSpPr txBox="1"/>
          <p:nvPr/>
        </p:nvSpPr>
        <p:spPr>
          <a:xfrm>
            <a:off x="713288" y="4516928"/>
            <a:ext cx="3167335" cy="2246769"/>
          </a:xfrm>
          <a:prstGeom prst="rect">
            <a:avLst/>
          </a:prstGeom>
          <a:noFill/>
        </p:spPr>
        <p:txBody>
          <a:bodyPr wrap="square" lIns="91440" tIns="45720" rIns="91440" bIns="45720" rtlCol="0" anchor="t">
            <a:spAutoFit/>
          </a:bodyPr>
          <a:lstStyle/>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株式会社メディカル･プリンシプル社</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株式会社リーディング･エッジ社</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C&amp;R</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リーガル･エージェンシー社</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ジャスネットコミュニケーションズ株式会社</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a:ea typeface="メイリオ"/>
              </a:rPr>
              <a:t>株式会社インター･ベル</a:t>
            </a:r>
            <a:endParaRPr lang="ja-JP" altLang="en-US" sz="1000" b="0" i="0" u="none" strike="noStrike" kern="1200" cap="none" spc="0" normalizeH="0" baseline="0" noProof="0">
              <a:ln>
                <a:noFill/>
              </a:ln>
              <a:effectLst/>
              <a:uLnTx/>
              <a:uFillTx/>
              <a:latin typeface="メイリオ"/>
              <a:ea typeface="メイリオ"/>
            </a:endParaRP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VR Japan</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a:ea typeface="メイリオ"/>
              </a:rPr>
              <a:t>株式会社</a:t>
            </a:r>
            <a:r>
              <a:rPr kumimoji="1" lang="en-US" altLang="ja-JP" sz="1000" b="0" i="0" u="none" strike="noStrike" kern="1200" cap="none" spc="0" normalizeH="0" baseline="0" noProof="0" err="1">
                <a:ln>
                  <a:noFill/>
                </a:ln>
                <a:effectLst/>
                <a:uLnTx/>
                <a:uFillTx/>
                <a:latin typeface="メイリオ"/>
                <a:ea typeface="メイリオ"/>
              </a:rPr>
              <a:t>forGIFT</a:t>
            </a:r>
            <a:endParaRPr kumimoji="1" lang="en-US" altLang="ja-JP" sz="1000" b="0" i="0" u="none" strike="noStrike" kern="1200" cap="none" spc="0" normalizeH="0" baseline="0" noProof="0">
              <a:ln>
                <a:noFill/>
              </a:ln>
              <a:effectLst/>
              <a:uLnTx/>
              <a:uFillTx/>
              <a:latin typeface="メイリオ"/>
              <a:ea typeface="メイリオ"/>
            </a:endParaRP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a:ea typeface="メイリオ"/>
              </a:rPr>
              <a:t>株式会社</a:t>
            </a:r>
            <a:r>
              <a:rPr kumimoji="1" lang="en-US" altLang="ja-JP" sz="1000" b="0" i="0" u="none" strike="noStrike" kern="1200" cap="none" spc="0" normalizeH="0" baseline="0" noProof="0" err="1">
                <a:ln>
                  <a:noFill/>
                </a:ln>
                <a:effectLst/>
                <a:uLnTx/>
                <a:uFillTx/>
                <a:latin typeface="メイリオ"/>
                <a:ea typeface="メイリオ"/>
              </a:rPr>
              <a:t>Idrasys</a:t>
            </a:r>
            <a:endParaRPr kumimoji="1" lang="en-US" altLang="ja-JP" sz="1000" b="0" i="0" u="none" strike="noStrike" kern="1200" cap="none" spc="0" normalizeH="0" baseline="0" noProof="0">
              <a:ln>
                <a:noFill/>
              </a:ln>
              <a:effectLst/>
              <a:uLnTx/>
              <a:uFillTx/>
              <a:latin typeface="メイリオ"/>
              <a:ea typeface="メイリオ"/>
            </a:endParaRP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株式会社クレイテックワークス</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a:ea typeface="メイリオ"/>
              </a:rPr>
              <a:t>株式会社</a:t>
            </a:r>
            <a:r>
              <a:rPr kumimoji="1" lang="en-US" altLang="ja-JP" sz="1000" b="0" i="0" u="none" strike="noStrike" kern="1200" cap="none" spc="0" normalizeH="0" baseline="0" noProof="0" err="1">
                <a:ln>
                  <a:noFill/>
                </a:ln>
                <a:effectLst/>
                <a:uLnTx/>
                <a:uFillTx/>
                <a:latin typeface="メイリオ"/>
                <a:ea typeface="メイリオ"/>
              </a:rPr>
              <a:t>jeki</a:t>
            </a:r>
            <a:r>
              <a:rPr kumimoji="1" lang="en-US" altLang="ja-JP" sz="1000" b="0" i="0" u="none" strike="noStrike" kern="1200" cap="none" spc="0" normalizeH="0" baseline="0" noProof="0">
                <a:ln>
                  <a:noFill/>
                </a:ln>
                <a:effectLst/>
                <a:uLnTx/>
                <a:uFillTx/>
                <a:latin typeface="メイリオ"/>
                <a:ea typeface="メイリオ"/>
              </a:rPr>
              <a:t> Data-Driven Lab</a:t>
            </a:r>
            <a:endParaRPr lang="en-US" altLang="ja-JP" sz="1000" b="0" i="0" u="none" strike="noStrike" kern="1200" cap="none" spc="0" normalizeH="0" baseline="0" noProof="0">
              <a:ln>
                <a:noFill/>
              </a:ln>
              <a:effectLst/>
              <a:uLnTx/>
              <a:uFillTx/>
              <a:latin typeface="メイリオ"/>
              <a:ea typeface="メイリオ"/>
            </a:endParaRP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株式会社ウイング</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きづきアーキテクト株式会社</a:t>
            </a:r>
            <a:endPar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eaLnBrk="0" fontAlgn="base" hangingPunct="0">
              <a:spcBef>
                <a:spcPct val="0"/>
              </a:spcBef>
              <a:spcAft>
                <a:spcPct val="0"/>
              </a:spcAf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株式会社コミュニティ･メディカル･イノベーション</a:t>
            </a:r>
          </a:p>
          <a:p>
            <a:pPr marL="0" marR="0" lvl="0" indent="0" algn="l" defTabSz="914400" rtl="0" eaLnBrk="0" fontAlgn="base" latinLnBrk="0" hangingPunct="0">
              <a:spcBef>
                <a:spcPct val="0"/>
              </a:spcBef>
              <a:spcAft>
                <a:spcPct val="0"/>
              </a:spcAft>
              <a:buClrTx/>
              <a:buSzTx/>
              <a:buFontTx/>
              <a:buNone/>
              <a:tabLst/>
              <a:defRPr/>
            </a:pPr>
            <a:endPar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p:txBody>
      </p:sp>
      <p:grpSp>
        <p:nvGrpSpPr>
          <p:cNvPr id="10" name="グループ化 9">
            <a:extLst>
              <a:ext uri="{FF2B5EF4-FFF2-40B4-BE49-F238E27FC236}">
                <a16:creationId xmlns:a16="http://schemas.microsoft.com/office/drawing/2014/main" id="{143B7B30-77F9-FCF5-D458-7D7D38398C97}"/>
              </a:ext>
            </a:extLst>
          </p:cNvPr>
          <p:cNvGrpSpPr/>
          <p:nvPr/>
        </p:nvGrpSpPr>
        <p:grpSpPr>
          <a:xfrm>
            <a:off x="6462764" y="994125"/>
            <a:ext cx="5244547" cy="1911985"/>
            <a:chOff x="6462764" y="1299145"/>
            <a:chExt cx="5244547" cy="1911985"/>
          </a:xfrm>
        </p:grpSpPr>
        <p:sp>
          <p:nvSpPr>
            <p:cNvPr id="17" name="テキスト ボックス 16">
              <a:extLst>
                <a:ext uri="{FF2B5EF4-FFF2-40B4-BE49-F238E27FC236}">
                  <a16:creationId xmlns:a16="http://schemas.microsoft.com/office/drawing/2014/main" id="{B63CB33C-2EBC-04CD-94DB-796891C2F2B4}"/>
                </a:ext>
              </a:extLst>
            </p:cNvPr>
            <p:cNvSpPr txBox="1"/>
            <p:nvPr/>
          </p:nvSpPr>
          <p:spPr>
            <a:xfrm>
              <a:off x="6462764" y="1299145"/>
              <a:ext cx="5244547" cy="1661993"/>
            </a:xfrm>
            <a:prstGeom prst="rect">
              <a:avLst/>
            </a:prstGeom>
            <a:noFill/>
          </p:spPr>
          <p:txBody>
            <a:bodyPr wrap="square" lIns="91440" tIns="45720" rIns="91440" bIns="45720" rtlCol="0" anchor="t">
              <a:spAutoFit/>
            </a:bodyPr>
            <a:lstStyle/>
            <a:p>
              <a:r>
                <a:rPr lang="en-US" altLang="ja-JP" sz="3600" b="1" i="0">
                  <a:effectLst/>
                  <a:latin typeface="メイリオ" panose="020B0604030504040204" pitchFamily="50" charset="-128"/>
                  <a:ea typeface="メイリオ" panose="020B0604030504040204" pitchFamily="50" charset="-128"/>
                </a:rPr>
                <a:t>Group companies</a:t>
              </a:r>
            </a:p>
            <a:p>
              <a:r>
                <a:rPr lang="en-US" altLang="ja-JP" sz="6600" b="1">
                  <a:latin typeface="メイリオ"/>
                  <a:ea typeface="メイリオ"/>
                  <a:cs typeface="Aharoni"/>
                </a:rPr>
                <a:t>35</a:t>
              </a:r>
              <a:r>
                <a:rPr lang="ja-JP" altLang="en-US" sz="2400" b="1">
                  <a:latin typeface="メイリオ"/>
                  <a:ea typeface="メイリオ"/>
                  <a:cs typeface="Aharoni"/>
                </a:rPr>
                <a:t>社</a:t>
              </a:r>
              <a:endParaRPr kumimoji="1" lang="ja-JP" altLang="en-US" sz="3600" b="1">
                <a:latin typeface="メイリオ"/>
                <a:ea typeface="メイリオ"/>
                <a:cs typeface="Aharoni"/>
              </a:endParaRPr>
            </a:p>
          </p:txBody>
        </p:sp>
        <p:sp>
          <p:nvSpPr>
            <p:cNvPr id="3" name="正方形/長方形 2">
              <a:extLst>
                <a:ext uri="{FF2B5EF4-FFF2-40B4-BE49-F238E27FC236}">
                  <a16:creationId xmlns:a16="http://schemas.microsoft.com/office/drawing/2014/main" id="{1E1A7A1D-B728-2F74-5F4D-2D68E8788E89}"/>
                </a:ext>
              </a:extLst>
            </p:cNvPr>
            <p:cNvSpPr/>
            <p:nvPr/>
          </p:nvSpPr>
          <p:spPr>
            <a:xfrm>
              <a:off x="6462764" y="2775535"/>
              <a:ext cx="2438717" cy="435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altLang="ja-JP" sz="1600">
                  <a:solidFill>
                    <a:schemeClr val="tx1"/>
                  </a:solidFill>
                  <a:latin typeface="メイリオ" panose="020B0604030504040204" pitchFamily="50" charset="-128"/>
                  <a:ea typeface="メイリオ" panose="020B0604030504040204" pitchFamily="50" charset="-128"/>
                </a:rPr>
                <a:t>C&amp;R</a:t>
              </a:r>
              <a:r>
                <a:rPr lang="ja-JP" altLang="en-US" sz="1600">
                  <a:solidFill>
                    <a:schemeClr val="tx1"/>
                  </a:solidFill>
                  <a:latin typeface="メイリオ" panose="020B0604030504040204" pitchFamily="50" charset="-128"/>
                  <a:ea typeface="メイリオ" panose="020B0604030504040204" pitchFamily="50" charset="-128"/>
                </a:rPr>
                <a:t>グループの会社数</a:t>
              </a:r>
              <a:endParaRPr kumimoji="1" lang="ja-JP" altLang="en-US" sz="1600">
                <a:solidFill>
                  <a:schemeClr val="tx1"/>
                </a:solidFill>
                <a:latin typeface="メイリオ" panose="020B0604030504040204" pitchFamily="50" charset="-128"/>
                <a:ea typeface="メイリオ" panose="020B0604030504040204" pitchFamily="50" charset="-128"/>
              </a:endParaRPr>
            </a:p>
          </p:txBody>
        </p:sp>
      </p:grpSp>
      <p:pic>
        <p:nvPicPr>
          <p:cNvPr id="8" name="図 7" descr="マップ が含まれている画像&#10;&#10;自動的に生成された説明">
            <a:extLst>
              <a:ext uri="{FF2B5EF4-FFF2-40B4-BE49-F238E27FC236}">
                <a16:creationId xmlns:a16="http://schemas.microsoft.com/office/drawing/2014/main" id="{14DA904A-88C4-B612-970F-B01A0E4134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289" y="821726"/>
            <a:ext cx="5382711" cy="3588473"/>
          </a:xfrm>
          <a:prstGeom prst="rect">
            <a:avLst/>
          </a:prstGeom>
        </p:spPr>
      </p:pic>
      <p:sp>
        <p:nvSpPr>
          <p:cNvPr id="13" name="テキスト ボックス 12">
            <a:extLst>
              <a:ext uri="{FF2B5EF4-FFF2-40B4-BE49-F238E27FC236}">
                <a16:creationId xmlns:a16="http://schemas.microsoft.com/office/drawing/2014/main" id="{E9C41888-2D59-A55A-2515-B759E6ADDB9C}"/>
              </a:ext>
            </a:extLst>
          </p:cNvPr>
          <p:cNvSpPr txBox="1"/>
          <p:nvPr/>
        </p:nvSpPr>
        <p:spPr>
          <a:xfrm>
            <a:off x="3835021" y="4516928"/>
            <a:ext cx="3298094" cy="2077492"/>
          </a:xfrm>
          <a:prstGeom prst="rect">
            <a:avLst/>
          </a:prstGeom>
          <a:noFill/>
        </p:spPr>
        <p:txBody>
          <a:bodyPr wrap="square" rtlCol="0">
            <a:spAutoFit/>
          </a:bodyPr>
          <a:lstStyle/>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株式会社コネクトアラウンド</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One Leaf Clover</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Chef’s value</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a:t>
            </a:r>
            <a:r>
              <a:rPr kumimoji="1" lang="en-US" altLang="ja-JP" sz="1000" b="0" i="0" u="none" strike="noStrike" kern="1200" cap="none" spc="0" normalizeH="0" baseline="0" noProof="0" err="1">
                <a:ln>
                  <a:noFill/>
                </a:ln>
                <a:effectLst/>
                <a:uLnTx/>
                <a:uFillTx/>
                <a:latin typeface="メイリオ" panose="020B0604030504040204" pitchFamily="50" charset="-128"/>
                <a:ea typeface="メイリオ" panose="020B0604030504040204" pitchFamily="50" charset="-128"/>
              </a:rPr>
              <a:t>Nextrek</a:t>
            </a:r>
            <a:endPar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lvl="0" eaLnBrk="0" fontAlgn="base" hangingPunct="0">
              <a:spcBef>
                <a:spcPct val="0"/>
              </a:spcBef>
              <a:spcAft>
                <a:spcPct val="0"/>
              </a:spcAft>
              <a:defRPr/>
            </a:pPr>
            <a:r>
              <a:rPr lang="ja-JP" altLang="en-US" sz="1000">
                <a:latin typeface="メイリオ" panose="020B0604030504040204" pitchFamily="50" charset="-128"/>
                <a:ea typeface="メイリオ" panose="020B0604030504040204" pitchFamily="50" charset="-128"/>
              </a:rPr>
              <a:t>株式会社</a:t>
            </a:r>
            <a:r>
              <a:rPr lang="en-US" altLang="ja-JP" sz="1000">
                <a:latin typeface="メイリオ" panose="020B0604030504040204" pitchFamily="50" charset="-128"/>
                <a:ea typeface="メイリオ" panose="020B0604030504040204" pitchFamily="50" charset="-128"/>
              </a:rPr>
              <a:t>C&amp;R EVERLASTING STORY</a:t>
            </a:r>
          </a:p>
          <a:p>
            <a:pPr lvl="0" eaLnBrk="0" fontAlgn="base" hangingPunct="0">
              <a:spcBef>
                <a:spcPct val="0"/>
              </a:spcBef>
              <a:spcAft>
                <a:spcPct val="0"/>
              </a:spcAf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株式会社シオン</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株式会社シオンステージ</a:t>
            </a: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ALFA PMC</a:t>
            </a:r>
          </a:p>
          <a:p>
            <a:pPr marL="0" marR="0" lvl="0" indent="0" algn="l" defTabSz="914400" rtl="0" eaLnBrk="0" fontAlgn="base" latinLnBrk="0" hangingPunct="0">
              <a:spcBef>
                <a:spcPct val="0"/>
              </a:spcBef>
              <a:spcAft>
                <a:spcPct val="0"/>
              </a:spcAft>
              <a:buClrTx/>
              <a:buSzTx/>
              <a:buFontTx/>
              <a:buNone/>
              <a:tabLst/>
              <a:defRPr/>
            </a:pPr>
            <a:r>
              <a:rPr lang="ja-JP" altLang="ja-JP" sz="900" b="0" i="0" u="none" strike="noStrike">
                <a:effectLst/>
                <a:latin typeface="メイリオ" panose="020B0604030504040204" pitchFamily="50" charset="-128"/>
                <a:ea typeface="メイリオ" panose="020B0604030504040204" pitchFamily="50" charset="-128"/>
              </a:rPr>
              <a:t>エージェント･グロース株式会社</a:t>
            </a:r>
            <a:endParaRPr kumimoji="1" lang="en-US" altLang="ja-JP" sz="3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a:t>
            </a:r>
            <a:r>
              <a:rPr kumimoji="1" lang="en-US" altLang="ja-JP" sz="1000" b="0" i="0" u="none" strike="noStrike" kern="1200" cap="none" spc="0" normalizeH="0" baseline="0" noProof="0" err="1">
                <a:ln>
                  <a:noFill/>
                </a:ln>
                <a:effectLst/>
                <a:uLnTx/>
                <a:uFillTx/>
                <a:latin typeface="メイリオ" panose="020B0604030504040204" pitchFamily="50" charset="-128"/>
                <a:ea typeface="メイリオ" panose="020B0604030504040204" pitchFamily="50" charset="-128"/>
              </a:rPr>
              <a:t>Shiftall</a:t>
            </a:r>
            <a:endPar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l"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リヴァイ株式会社</a:t>
            </a:r>
            <a:endPar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eaLnBrk="0" fontAlgn="base" hangingPunct="0">
              <a:spcBef>
                <a:spcPct val="0"/>
              </a:spcBef>
              <a:spcAft>
                <a:spcPct val="0"/>
              </a:spcAft>
              <a:defRPr/>
            </a:pP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株式会社</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URS Games</a:t>
            </a:r>
          </a:p>
          <a:p>
            <a:pPr eaLnBrk="0" fontAlgn="base" hangingPunct="0">
              <a:spcBef>
                <a:spcPct val="0"/>
              </a:spcBef>
              <a:spcAft>
                <a:spcPct val="0"/>
              </a:spcAft>
              <a:defRPr/>
            </a:pPr>
            <a:r>
              <a:rPr lang="ja-JP" altLang="en-US" sz="1000">
                <a:latin typeface="メイリオ" panose="020B0604030504040204" pitchFamily="50" charset="-128"/>
                <a:ea typeface="メイリオ" panose="020B0604030504040204" pitchFamily="50" charset="-128"/>
              </a:rPr>
              <a:t>株式会社</a:t>
            </a:r>
            <a:r>
              <a:rPr lang="en-US" altLang="ja-JP" sz="1000">
                <a:latin typeface="メイリオ" panose="020B0604030504040204" pitchFamily="50" charset="-128"/>
                <a:ea typeface="メイリオ" panose="020B0604030504040204" pitchFamily="50" charset="-128"/>
              </a:rPr>
              <a:t>T&amp;W</a:t>
            </a:r>
            <a:r>
              <a:rPr lang="ja-JP" altLang="en-US" sz="1000">
                <a:latin typeface="メイリオ" panose="020B0604030504040204" pitchFamily="50" charset="-128"/>
                <a:ea typeface="メイリオ" panose="020B0604030504040204" pitchFamily="50" charset="-128"/>
              </a:rPr>
              <a:t>オフィス</a:t>
            </a:r>
          </a:p>
        </p:txBody>
      </p:sp>
      <p:sp>
        <p:nvSpPr>
          <p:cNvPr id="15" name="テキスト ボックス 14">
            <a:extLst>
              <a:ext uri="{FF2B5EF4-FFF2-40B4-BE49-F238E27FC236}">
                <a16:creationId xmlns:a16="http://schemas.microsoft.com/office/drawing/2014/main" id="{B14E3CE2-CA03-4347-5ACD-11F586F6377C}"/>
              </a:ext>
            </a:extLst>
          </p:cNvPr>
          <p:cNvSpPr txBox="1"/>
          <p:nvPr/>
        </p:nvSpPr>
        <p:spPr>
          <a:xfrm>
            <a:off x="7204291" y="4516928"/>
            <a:ext cx="4313582" cy="1477328"/>
          </a:xfrm>
          <a:prstGeom prst="rect">
            <a:avLst/>
          </a:prstGeom>
          <a:noFill/>
        </p:spPr>
        <p:txBody>
          <a:bodyPr wrap="square" rtlCol="0">
            <a:spAutoFit/>
          </a:bodyPr>
          <a:lstStyle/>
          <a:p>
            <a:pPr marL="0" marR="0" lvl="0" indent="0" algn="l" defTabSz="914400" rtl="0" eaLnBrk="0" fontAlgn="base" latinLnBrk="0" hangingPunct="0">
              <a:spcBef>
                <a:spcPct val="0"/>
              </a:spcBef>
              <a:spcAft>
                <a:spcPct val="0"/>
              </a:spcAft>
              <a:buClrTx/>
              <a:buSzTx/>
              <a:buFontTx/>
              <a:buNone/>
              <a:tabLst/>
              <a:defRPr/>
            </a:pPr>
            <a:r>
              <a:rPr lang="ja-JP" altLang="en-US" sz="1000">
                <a:latin typeface="メイリオ" panose="020B0604030504040204" pitchFamily="50" charset="-128"/>
                <a:ea typeface="メイリオ" panose="020B0604030504040204" pitchFamily="50" charset="-128"/>
              </a:rPr>
              <a:t>株式会社高橋書店</a:t>
            </a:r>
          </a:p>
          <a:p>
            <a:pPr marL="0" marR="0" lvl="0" indent="0" algn="l" defTabSz="914400" rtl="0" eaLnBrk="0" fontAlgn="base" latinLnBrk="0" hangingPunct="0">
              <a:spcBef>
                <a:spcPct val="0"/>
              </a:spcBef>
              <a:spcAft>
                <a:spcPct val="0"/>
              </a:spcAft>
              <a:buClrTx/>
              <a:buSzTx/>
              <a:buFontTx/>
              <a:buNone/>
              <a:tabLst/>
              <a:defRPr/>
            </a:pPr>
            <a:r>
              <a:rPr lang="ja-JP" altLang="en-US" sz="1000">
                <a:latin typeface="メイリオ" panose="020B0604030504040204" pitchFamily="50" charset="-128"/>
                <a:ea typeface="メイリオ" panose="020B0604030504040204" pitchFamily="50" charset="-128"/>
              </a:rPr>
              <a:t>株式会社高和堂</a:t>
            </a:r>
          </a:p>
          <a:p>
            <a:pPr marL="0" marR="0" lvl="0" indent="0" algn="l" defTabSz="914400" rtl="0" eaLnBrk="0" fontAlgn="base" latinLnBrk="0" hangingPunct="0">
              <a:spcBef>
                <a:spcPct val="0"/>
              </a:spcBef>
              <a:spcAft>
                <a:spcPct val="0"/>
              </a:spcAft>
              <a:buClrTx/>
              <a:buSzTx/>
              <a:buFontTx/>
              <a:buNone/>
              <a:tabLst/>
              <a:defRPr/>
            </a:pPr>
            <a:r>
              <a:rPr lang="ja-JP" altLang="en-US" sz="1000">
                <a:latin typeface="メイリオ" panose="020B0604030504040204" pitchFamily="50" charset="-128"/>
                <a:ea typeface="メイリオ" panose="020B0604030504040204" pitchFamily="50" charset="-128"/>
              </a:rPr>
              <a:t>株式会社高橋編集事務所</a:t>
            </a:r>
          </a:p>
          <a:p>
            <a:pPr marL="0" marR="0" lvl="0" indent="0" algn="l" defTabSz="914400" rtl="0" eaLnBrk="0" fontAlgn="base" latinLnBrk="0" hangingPunct="0">
              <a:spcBef>
                <a:spcPct val="0"/>
              </a:spcBef>
              <a:spcAft>
                <a:spcPct val="0"/>
              </a:spcAft>
              <a:buClrTx/>
              <a:buSzTx/>
              <a:buFontTx/>
              <a:buNone/>
              <a:tabLst/>
              <a:defRPr/>
            </a:pPr>
            <a:r>
              <a:rPr lang="ja-JP" altLang="en-US" sz="1000">
                <a:latin typeface="メイリオ" panose="020B0604030504040204" pitchFamily="50" charset="-128"/>
                <a:ea typeface="メイリオ" panose="020B0604030504040204" pitchFamily="50" charset="-128"/>
              </a:rPr>
              <a:t>高橋編集企画株式会社</a:t>
            </a:r>
            <a:endPar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l" defTabSz="914400" rtl="0" eaLnBrk="0" fontAlgn="base" latinLnBrk="0" hangingPunct="0">
              <a:spcBef>
                <a:spcPct val="0"/>
              </a:spcBef>
              <a:spcAft>
                <a:spcPct val="0"/>
              </a:spcAft>
              <a:buClrTx/>
              <a:buSzTx/>
              <a:buFontTx/>
              <a:buNone/>
              <a:tabLst/>
              <a:defRPr/>
            </a:pPr>
            <a:endPar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l" defTabSz="914400" rtl="0" eaLnBrk="0" fontAlgn="base" latinLnBrk="0" hangingPunct="0">
              <a:spcBef>
                <a:spcPct val="0"/>
              </a:spcBef>
              <a:spcAft>
                <a:spcPct val="0"/>
              </a:spcAft>
              <a:buClrTx/>
              <a:buSzTx/>
              <a:buFontTx/>
              <a:buNone/>
              <a:tabLst/>
              <a:defRPr/>
            </a:pP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CREEK</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&amp;</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RIVER</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KOREA Co.,</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Ltd.</a:t>
            </a:r>
          </a:p>
          <a:p>
            <a:pPr marL="0" marR="0" lvl="0" indent="0" algn="l" defTabSz="914400" rtl="0" eaLnBrk="0" fontAlgn="base" latinLnBrk="0" hangingPunct="0">
              <a:spcBef>
                <a:spcPct val="0"/>
              </a:spcBef>
              <a:spcAft>
                <a:spcPct val="0"/>
              </a:spcAft>
              <a:buClrTx/>
              <a:buSzTx/>
              <a:buFontTx/>
              <a:buNone/>
              <a:tabLst/>
              <a:defRPr/>
            </a:pP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CREEK</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&amp;</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RIVER</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SHANGHAI Co.,</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Ltd.</a:t>
            </a:r>
          </a:p>
          <a:p>
            <a:pPr marL="0" marR="0" lvl="0" indent="0" algn="l" defTabSz="914400" rtl="0" eaLnBrk="0" fontAlgn="base" latinLnBrk="0" hangingPunct="0">
              <a:spcBef>
                <a:spcPct val="0"/>
              </a:spcBef>
              <a:spcAft>
                <a:spcPct val="0"/>
              </a:spcAft>
              <a:buClrTx/>
              <a:buSzTx/>
              <a:buFontTx/>
              <a:buNone/>
              <a:tabLst/>
              <a:defRPr/>
            </a:pP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CREEK</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&amp;</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RIVER</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Global Co.,</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Ltd.</a:t>
            </a:r>
          </a:p>
          <a:p>
            <a:pPr marL="0" marR="0" lvl="0" indent="0" algn="l" defTabSz="914400" rtl="0" eaLnBrk="0" fontAlgn="base" latinLnBrk="0" hangingPunct="0">
              <a:spcBef>
                <a:spcPct val="0"/>
              </a:spcBef>
              <a:spcAft>
                <a:spcPct val="0"/>
              </a:spcAft>
              <a:buClrTx/>
              <a:buSzTx/>
              <a:buFontTx/>
              <a:buNone/>
              <a:tabLst/>
              <a:defRPr/>
            </a:pP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CREEK</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&amp;</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RIVER</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ENTERTAINMENT Co.,</a:t>
            </a:r>
            <a:r>
              <a:rPr kumimoji="1" lang="ja-JP" altLang="en-US"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Ltd.</a:t>
            </a:r>
          </a:p>
        </p:txBody>
      </p:sp>
    </p:spTree>
    <p:extLst>
      <p:ext uri="{BB962C8B-B14F-4D97-AF65-F5344CB8AC3E}">
        <p14:creationId xmlns:p14="http://schemas.microsoft.com/office/powerpoint/2010/main" val="1819572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グループ化 67">
            <a:extLst>
              <a:ext uri="{FF2B5EF4-FFF2-40B4-BE49-F238E27FC236}">
                <a16:creationId xmlns:a16="http://schemas.microsoft.com/office/drawing/2014/main" id="{C121FC84-167A-A6A7-DD5A-E35B9B7386D4}"/>
              </a:ext>
            </a:extLst>
          </p:cNvPr>
          <p:cNvGrpSpPr/>
          <p:nvPr/>
        </p:nvGrpSpPr>
        <p:grpSpPr>
          <a:xfrm>
            <a:off x="599232" y="4166883"/>
            <a:ext cx="9848382" cy="2653333"/>
            <a:chOff x="902961" y="3393264"/>
            <a:chExt cx="9848382" cy="3342916"/>
          </a:xfrm>
        </p:grpSpPr>
        <p:graphicFrame>
          <p:nvGraphicFramePr>
            <p:cNvPr id="69" name="グラフ 68">
              <a:extLst>
                <a:ext uri="{FF2B5EF4-FFF2-40B4-BE49-F238E27FC236}">
                  <a16:creationId xmlns:a16="http://schemas.microsoft.com/office/drawing/2014/main" id="{979C4B37-BDDF-7B04-A5E6-36598882ED6F}"/>
                </a:ext>
              </a:extLst>
            </p:cNvPr>
            <p:cNvGraphicFramePr/>
            <p:nvPr>
              <p:extLst>
                <p:ext uri="{D42A27DB-BD31-4B8C-83A1-F6EECF244321}">
                  <p14:modId xmlns:p14="http://schemas.microsoft.com/office/powerpoint/2010/main" val="4227420602"/>
                </p:ext>
              </p:extLst>
            </p:nvPr>
          </p:nvGraphicFramePr>
          <p:xfrm>
            <a:off x="992844" y="3807619"/>
            <a:ext cx="9758499" cy="2767063"/>
          </p:xfrm>
          <a:graphic>
            <a:graphicData uri="http://schemas.openxmlformats.org/drawingml/2006/chart">
              <c:chart xmlns:c="http://schemas.openxmlformats.org/drawingml/2006/chart" xmlns:r="http://schemas.openxmlformats.org/officeDocument/2006/relationships" r:id="rId3"/>
            </a:graphicData>
          </a:graphic>
        </p:graphicFrame>
        <p:sp>
          <p:nvSpPr>
            <p:cNvPr id="70" name="正方形/長方形 69">
              <a:extLst>
                <a:ext uri="{FF2B5EF4-FFF2-40B4-BE49-F238E27FC236}">
                  <a16:creationId xmlns:a16="http://schemas.microsoft.com/office/drawing/2014/main" id="{5DDE10AF-AF69-AFD2-2689-68BBEA17E305}"/>
                </a:ext>
              </a:extLst>
            </p:cNvPr>
            <p:cNvSpPr/>
            <p:nvPr/>
          </p:nvSpPr>
          <p:spPr>
            <a:xfrm>
              <a:off x="902961" y="3393264"/>
              <a:ext cx="9089930" cy="3021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600"/>
                </a:spcBef>
              </a:pPr>
              <a:r>
                <a:rPr lang="ja-JP" altLang="en-US" b="1">
                  <a:solidFill>
                    <a:schemeClr val="tx1"/>
                  </a:solidFill>
                  <a:latin typeface="メイリオ" panose="020B0604030504040204" pitchFamily="50" charset="-128"/>
                  <a:ea typeface="メイリオ" panose="020B0604030504040204" pitchFamily="50" charset="-128"/>
                </a:rPr>
                <a:t>連結構成 売上高</a:t>
              </a:r>
              <a:r>
                <a:rPr lang="en-US" altLang="ja-JP" b="1">
                  <a:solidFill>
                    <a:schemeClr val="tx1"/>
                  </a:solidFill>
                  <a:latin typeface="メイリオ" panose="020B0604030504040204" pitchFamily="50" charset="-128"/>
                  <a:ea typeface="メイリオ" panose="020B0604030504040204" pitchFamily="50" charset="-128"/>
                </a:rPr>
                <a:t>/</a:t>
              </a:r>
              <a:r>
                <a:rPr lang="ja-JP" altLang="en-US" b="1">
                  <a:solidFill>
                    <a:schemeClr val="tx1"/>
                  </a:solidFill>
                  <a:latin typeface="メイリオ" panose="020B0604030504040204" pitchFamily="50" charset="-128"/>
                  <a:ea typeface="メイリオ" panose="020B0604030504040204" pitchFamily="50" charset="-128"/>
                </a:rPr>
                <a:t>営業利益　</a:t>
              </a:r>
              <a:endParaRPr lang="en-US" altLang="ja-JP" sz="1000">
                <a:solidFill>
                  <a:schemeClr val="tx1"/>
                </a:solidFill>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12FD8438-9424-26FF-0079-A6CDB8871F10}"/>
                </a:ext>
              </a:extLst>
            </p:cNvPr>
            <p:cNvSpPr txBox="1"/>
            <p:nvPr/>
          </p:nvSpPr>
          <p:spPr>
            <a:xfrm>
              <a:off x="1888775" y="4372873"/>
              <a:ext cx="808235" cy="426542"/>
            </a:xfrm>
            <a:prstGeom prst="rect">
              <a:avLst/>
            </a:prstGeom>
            <a:noFill/>
          </p:spPr>
          <p:txBody>
            <a:bodyPr wrap="none" rtlCol="0">
              <a:spAutoFit/>
            </a:bodyPr>
            <a:lstStyle/>
            <a:p>
              <a:r>
                <a:rPr lang="en-US" altLang="ja-JP" sz="1600" b="1">
                  <a:solidFill>
                    <a:schemeClr val="bg1"/>
                  </a:solidFill>
                  <a:latin typeface="メイリオ" panose="020B0604030504040204" pitchFamily="50" charset="-128"/>
                  <a:ea typeface="メイリオ" panose="020B0604030504040204" pitchFamily="50" charset="-128"/>
                </a:rPr>
                <a:t>21.9</a:t>
              </a:r>
              <a:r>
                <a:rPr lang="ja-JP" altLang="en-US" sz="1050" b="1">
                  <a:solidFill>
                    <a:schemeClr val="bg1"/>
                  </a:solidFill>
                  <a:latin typeface="メイリオ" panose="020B0604030504040204" pitchFamily="50" charset="-128"/>
                  <a:ea typeface="メイリオ" panose="020B0604030504040204" pitchFamily="50" charset="-128"/>
                </a:rPr>
                <a:t>％</a:t>
              </a:r>
              <a:endParaRPr kumimoji="1" lang="ja-JP" altLang="en-US" sz="1600" b="1">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86A586D2-19B4-C0C4-B9B6-428E4AC77046}"/>
                </a:ext>
              </a:extLst>
            </p:cNvPr>
            <p:cNvSpPr txBox="1"/>
            <p:nvPr/>
          </p:nvSpPr>
          <p:spPr>
            <a:xfrm>
              <a:off x="3454628" y="4393448"/>
              <a:ext cx="808235" cy="426542"/>
            </a:xfrm>
            <a:prstGeom prst="rect">
              <a:avLst/>
            </a:prstGeom>
            <a:noFill/>
          </p:spPr>
          <p:txBody>
            <a:bodyPr wrap="none" rtlCol="0">
              <a:spAutoFit/>
            </a:bodyPr>
            <a:lstStyle/>
            <a:p>
              <a:r>
                <a:rPr lang="en-US" altLang="ja-JP" sz="1600" b="1">
                  <a:latin typeface="メイリオ" panose="020B0604030504040204" pitchFamily="50" charset="-128"/>
                  <a:ea typeface="メイリオ" panose="020B0604030504040204" pitchFamily="50" charset="-128"/>
                </a:rPr>
                <a:t>26.0</a:t>
              </a:r>
              <a:r>
                <a:rPr lang="ja-JP" altLang="en-US" sz="1050" b="1">
                  <a:latin typeface="メイリオ" panose="020B0604030504040204" pitchFamily="50" charset="-128"/>
                  <a:ea typeface="メイリオ" panose="020B0604030504040204" pitchFamily="50" charset="-128"/>
                </a:rPr>
                <a:t>％</a:t>
              </a:r>
              <a:endParaRPr kumimoji="1" lang="ja-JP" altLang="en-US" sz="1600" b="1">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89AAED80-2A9E-E187-C7ED-29E64B9E13F6}"/>
                </a:ext>
              </a:extLst>
            </p:cNvPr>
            <p:cNvSpPr txBox="1"/>
            <p:nvPr/>
          </p:nvSpPr>
          <p:spPr>
            <a:xfrm>
              <a:off x="5386520" y="4393448"/>
              <a:ext cx="808235" cy="426542"/>
            </a:xfrm>
            <a:prstGeom prst="rect">
              <a:avLst/>
            </a:prstGeom>
            <a:noFill/>
          </p:spPr>
          <p:txBody>
            <a:bodyPr wrap="none" rtlCol="0">
              <a:spAutoFit/>
            </a:bodyPr>
            <a:lstStyle/>
            <a:p>
              <a:r>
                <a:rPr lang="en-US" altLang="ja-JP" sz="1600" b="1">
                  <a:solidFill>
                    <a:schemeClr val="bg1"/>
                  </a:solidFill>
                  <a:latin typeface="メイリオ" panose="020B0604030504040204" pitchFamily="50" charset="-128"/>
                  <a:ea typeface="メイリオ" panose="020B0604030504040204" pitchFamily="50" charset="-128"/>
                </a:rPr>
                <a:t>18.2</a:t>
              </a:r>
              <a:r>
                <a:rPr lang="ja-JP" altLang="en-US" sz="1050" b="1">
                  <a:solidFill>
                    <a:schemeClr val="bg1"/>
                  </a:solidFill>
                  <a:latin typeface="メイリオ" panose="020B0604030504040204" pitchFamily="50" charset="-128"/>
                  <a:ea typeface="メイリオ" panose="020B0604030504040204" pitchFamily="50" charset="-128"/>
                </a:rPr>
                <a:t>％</a:t>
              </a:r>
              <a:endParaRPr kumimoji="1" lang="ja-JP" altLang="en-US" sz="1600" b="1">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7C1D6CCC-CB47-38E1-2D4A-C672916A9F8F}"/>
                </a:ext>
              </a:extLst>
            </p:cNvPr>
            <p:cNvSpPr txBox="1"/>
            <p:nvPr/>
          </p:nvSpPr>
          <p:spPr>
            <a:xfrm>
              <a:off x="6699409" y="4393448"/>
              <a:ext cx="808235" cy="426542"/>
            </a:xfrm>
            <a:prstGeom prst="rect">
              <a:avLst/>
            </a:prstGeom>
            <a:noFill/>
          </p:spPr>
          <p:txBody>
            <a:bodyPr wrap="none" rtlCol="0">
              <a:spAutoFit/>
            </a:bodyPr>
            <a:lstStyle/>
            <a:p>
              <a:r>
                <a:rPr lang="en-US" altLang="ja-JP" sz="1600" b="1">
                  <a:solidFill>
                    <a:schemeClr val="bg1"/>
                  </a:solidFill>
                  <a:latin typeface="メイリオ" panose="020B0604030504040204" pitchFamily="50" charset="-128"/>
                  <a:ea typeface="メイリオ" panose="020B0604030504040204" pitchFamily="50" charset="-128"/>
                </a:rPr>
                <a:t>10.5</a:t>
              </a:r>
              <a:r>
                <a:rPr lang="ja-JP" altLang="en-US" sz="1050" b="1">
                  <a:solidFill>
                    <a:schemeClr val="bg1"/>
                  </a:solidFill>
                  <a:latin typeface="メイリオ" panose="020B0604030504040204" pitchFamily="50" charset="-128"/>
                  <a:ea typeface="メイリオ" panose="020B0604030504040204" pitchFamily="50" charset="-128"/>
                </a:rPr>
                <a:t>％</a:t>
              </a:r>
              <a:endParaRPr kumimoji="1" lang="ja-JP" altLang="en-US" sz="1600" b="1">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85C25D91-7029-C4EA-56D8-16CC7FD2F978}"/>
                </a:ext>
              </a:extLst>
            </p:cNvPr>
            <p:cNvSpPr txBox="1"/>
            <p:nvPr/>
          </p:nvSpPr>
          <p:spPr>
            <a:xfrm>
              <a:off x="6887487" y="4968694"/>
              <a:ext cx="668773" cy="426542"/>
            </a:xfrm>
            <a:prstGeom prst="rect">
              <a:avLst/>
            </a:prstGeom>
            <a:noFill/>
          </p:spPr>
          <p:txBody>
            <a:bodyPr wrap="none" rtlCol="0">
              <a:spAutoFit/>
            </a:bodyPr>
            <a:lstStyle/>
            <a:p>
              <a:r>
                <a:rPr lang="en-US" altLang="ja-JP" sz="1600" b="1">
                  <a:solidFill>
                    <a:srgbClr val="D9A91A"/>
                  </a:solidFill>
                  <a:latin typeface="メイリオ" panose="020B0604030504040204" pitchFamily="50" charset="-128"/>
                  <a:ea typeface="メイリオ" panose="020B0604030504040204" pitchFamily="50" charset="-128"/>
                </a:rPr>
                <a:t>4.2</a:t>
              </a:r>
              <a:r>
                <a:rPr lang="ja-JP" altLang="en-US" sz="1050" b="1">
                  <a:solidFill>
                    <a:srgbClr val="D9A91A"/>
                  </a:solidFill>
                  <a:latin typeface="メイリオ" panose="020B0604030504040204" pitchFamily="50" charset="-128"/>
                  <a:ea typeface="メイリオ" panose="020B0604030504040204" pitchFamily="50" charset="-128"/>
                </a:rPr>
                <a:t>％</a:t>
              </a:r>
              <a:endParaRPr kumimoji="1" lang="ja-JP" altLang="en-US" sz="1600" b="1">
                <a:solidFill>
                  <a:srgbClr val="D9A91A"/>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9428EF31-5F22-1206-5700-31297CABC4A0}"/>
                </a:ext>
              </a:extLst>
            </p:cNvPr>
            <p:cNvSpPr txBox="1"/>
            <p:nvPr/>
          </p:nvSpPr>
          <p:spPr>
            <a:xfrm>
              <a:off x="7948049" y="4947528"/>
              <a:ext cx="668773" cy="426542"/>
            </a:xfrm>
            <a:prstGeom prst="rect">
              <a:avLst/>
            </a:prstGeom>
            <a:noFill/>
          </p:spPr>
          <p:txBody>
            <a:bodyPr wrap="none" rtlCol="0">
              <a:spAutoFit/>
            </a:bodyPr>
            <a:lstStyle/>
            <a:p>
              <a:r>
                <a:rPr lang="en-US" altLang="ja-JP" sz="1600" b="1">
                  <a:solidFill>
                    <a:srgbClr val="E35B5B"/>
                  </a:solidFill>
                  <a:latin typeface="メイリオ" panose="020B0604030504040204" pitchFamily="50" charset="-128"/>
                  <a:ea typeface="メイリオ" panose="020B0604030504040204" pitchFamily="50" charset="-128"/>
                </a:rPr>
                <a:t>1.7</a:t>
              </a:r>
              <a:r>
                <a:rPr lang="ja-JP" altLang="en-US" sz="1050" b="1">
                  <a:solidFill>
                    <a:srgbClr val="E35B5B"/>
                  </a:solidFill>
                  <a:latin typeface="メイリオ" panose="020B0604030504040204" pitchFamily="50" charset="-128"/>
                  <a:ea typeface="メイリオ" panose="020B0604030504040204" pitchFamily="50" charset="-128"/>
                </a:rPr>
                <a:t>％</a:t>
              </a:r>
              <a:endParaRPr kumimoji="1" lang="ja-JP" altLang="en-US" sz="1600" b="1">
                <a:solidFill>
                  <a:srgbClr val="E35B5B"/>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BB78C85A-6B8B-7F26-9D0C-82D5C7C4D2FF}"/>
                </a:ext>
              </a:extLst>
            </p:cNvPr>
            <p:cNvSpPr txBox="1"/>
            <p:nvPr/>
          </p:nvSpPr>
          <p:spPr>
            <a:xfrm>
              <a:off x="7851143" y="4393448"/>
              <a:ext cx="668773" cy="426542"/>
            </a:xfrm>
            <a:prstGeom prst="rect">
              <a:avLst/>
            </a:prstGeom>
            <a:noFill/>
          </p:spPr>
          <p:txBody>
            <a:bodyPr wrap="none" rtlCol="0">
              <a:spAutoFit/>
            </a:bodyPr>
            <a:lstStyle/>
            <a:p>
              <a:r>
                <a:rPr lang="en-US" altLang="ja-JP" sz="1600" b="1">
                  <a:solidFill>
                    <a:schemeClr val="bg1"/>
                  </a:solidFill>
                  <a:latin typeface="メイリオ" panose="020B0604030504040204" pitchFamily="50" charset="-128"/>
                  <a:ea typeface="メイリオ" panose="020B0604030504040204" pitchFamily="50" charset="-128"/>
                </a:rPr>
                <a:t>6.1</a:t>
              </a:r>
              <a:r>
                <a:rPr lang="ja-JP" altLang="en-US" sz="1050" b="1">
                  <a:solidFill>
                    <a:schemeClr val="bg1"/>
                  </a:solidFill>
                  <a:latin typeface="メイリオ" panose="020B0604030504040204" pitchFamily="50" charset="-128"/>
                  <a:ea typeface="メイリオ" panose="020B0604030504040204" pitchFamily="50" charset="-128"/>
                </a:rPr>
                <a:t>％</a:t>
              </a:r>
              <a:endParaRPr kumimoji="1" lang="ja-JP" altLang="en-US" sz="1600" b="1">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51544041-1F3E-67F7-9BA1-2538FB15FC73}"/>
                </a:ext>
              </a:extLst>
            </p:cNvPr>
            <p:cNvSpPr txBox="1"/>
            <p:nvPr/>
          </p:nvSpPr>
          <p:spPr>
            <a:xfrm>
              <a:off x="8414745" y="4393448"/>
              <a:ext cx="808235" cy="426542"/>
            </a:xfrm>
            <a:prstGeom prst="rect">
              <a:avLst/>
            </a:prstGeom>
            <a:noFill/>
          </p:spPr>
          <p:txBody>
            <a:bodyPr wrap="none" rtlCol="0">
              <a:spAutoFit/>
            </a:bodyPr>
            <a:lstStyle/>
            <a:p>
              <a:r>
                <a:rPr lang="en-US" altLang="ja-JP" sz="1600" b="1">
                  <a:solidFill>
                    <a:schemeClr val="bg1"/>
                  </a:solidFill>
                  <a:latin typeface="メイリオ" panose="020B0604030504040204" pitchFamily="50" charset="-128"/>
                  <a:ea typeface="メイリオ" panose="020B0604030504040204" pitchFamily="50" charset="-128"/>
                </a:rPr>
                <a:t>11.4</a:t>
              </a:r>
              <a:r>
                <a:rPr lang="ja-JP" altLang="en-US" sz="1050" b="1">
                  <a:solidFill>
                    <a:schemeClr val="bg1"/>
                  </a:solidFill>
                  <a:latin typeface="メイリオ" panose="020B0604030504040204" pitchFamily="50" charset="-128"/>
                  <a:ea typeface="メイリオ" panose="020B0604030504040204" pitchFamily="50" charset="-128"/>
                </a:rPr>
                <a:t>％</a:t>
              </a:r>
              <a:endParaRPr kumimoji="1" lang="ja-JP" altLang="en-US" sz="1600" b="1">
                <a:solidFill>
                  <a:schemeClr val="bg1"/>
                </a:solidFill>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1BB624EC-F5A6-23EF-71D0-F7A445131917}"/>
                </a:ext>
              </a:extLst>
            </p:cNvPr>
            <p:cNvSpPr txBox="1"/>
            <p:nvPr/>
          </p:nvSpPr>
          <p:spPr>
            <a:xfrm>
              <a:off x="1843942" y="5592326"/>
              <a:ext cx="808235" cy="426542"/>
            </a:xfrm>
            <a:prstGeom prst="rect">
              <a:avLst/>
            </a:prstGeom>
            <a:noFill/>
          </p:spPr>
          <p:txBody>
            <a:bodyPr wrap="none" rtlCol="0">
              <a:spAutoFit/>
            </a:bodyPr>
            <a:lstStyle/>
            <a:p>
              <a:r>
                <a:rPr lang="en-US" altLang="ja-JP" sz="1600" b="1">
                  <a:solidFill>
                    <a:schemeClr val="bg1"/>
                  </a:solidFill>
                  <a:latin typeface="メイリオ" panose="020B0604030504040204" pitchFamily="50" charset="-128"/>
                  <a:ea typeface="メイリオ" panose="020B0604030504040204" pitchFamily="50" charset="-128"/>
                </a:rPr>
                <a:t>16.6</a:t>
              </a:r>
              <a:r>
                <a:rPr lang="ja-JP" altLang="en-US" sz="1050" b="1">
                  <a:solidFill>
                    <a:schemeClr val="bg1"/>
                  </a:solidFill>
                  <a:latin typeface="メイリオ" panose="020B0604030504040204" pitchFamily="50" charset="-128"/>
                  <a:ea typeface="メイリオ" panose="020B0604030504040204" pitchFamily="50" charset="-128"/>
                </a:rPr>
                <a:t>％</a:t>
              </a:r>
              <a:endParaRPr kumimoji="1" lang="ja-JP" altLang="en-US" sz="1600" b="1">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B33F8179-3DE5-F4B3-DDCB-AA2E6CF489CE}"/>
                </a:ext>
              </a:extLst>
            </p:cNvPr>
            <p:cNvSpPr txBox="1"/>
            <p:nvPr/>
          </p:nvSpPr>
          <p:spPr>
            <a:xfrm>
              <a:off x="2742962" y="5592326"/>
              <a:ext cx="808235" cy="426542"/>
            </a:xfrm>
            <a:prstGeom prst="rect">
              <a:avLst/>
            </a:prstGeom>
            <a:noFill/>
          </p:spPr>
          <p:txBody>
            <a:bodyPr wrap="none" rtlCol="0">
              <a:spAutoFit/>
            </a:bodyPr>
            <a:lstStyle/>
            <a:p>
              <a:r>
                <a:rPr lang="en-US" altLang="ja-JP" sz="1600" b="1">
                  <a:latin typeface="メイリオ" panose="020B0604030504040204" pitchFamily="50" charset="-128"/>
                  <a:ea typeface="メイリオ" panose="020B0604030504040204" pitchFamily="50" charset="-128"/>
                </a:rPr>
                <a:t>39.8</a:t>
              </a:r>
              <a:r>
                <a:rPr lang="ja-JP" altLang="en-US" sz="1050" b="1">
                  <a:latin typeface="メイリオ" panose="020B0604030504040204" pitchFamily="50" charset="-128"/>
                  <a:ea typeface="メイリオ" panose="020B0604030504040204" pitchFamily="50" charset="-128"/>
                </a:rPr>
                <a:t>％</a:t>
              </a:r>
              <a:endParaRPr kumimoji="1" lang="ja-JP" altLang="en-US" sz="1600" b="1">
                <a:latin typeface="メイリオ" panose="020B0604030504040204" pitchFamily="50" charset="-128"/>
                <a:ea typeface="メイリオ" panose="020B0604030504040204" pitchFamily="50" charset="-128"/>
              </a:endParaRPr>
            </a:p>
          </p:txBody>
        </p:sp>
        <p:sp>
          <p:nvSpPr>
            <p:cNvPr id="81" name="テキスト ボックス 80">
              <a:extLst>
                <a:ext uri="{FF2B5EF4-FFF2-40B4-BE49-F238E27FC236}">
                  <a16:creationId xmlns:a16="http://schemas.microsoft.com/office/drawing/2014/main" id="{7D959987-8589-60B6-F3D2-9D14511A0280}"/>
                </a:ext>
              </a:extLst>
            </p:cNvPr>
            <p:cNvSpPr txBox="1"/>
            <p:nvPr/>
          </p:nvSpPr>
          <p:spPr>
            <a:xfrm>
              <a:off x="5006200" y="5592326"/>
              <a:ext cx="808235" cy="426542"/>
            </a:xfrm>
            <a:prstGeom prst="rect">
              <a:avLst/>
            </a:prstGeom>
            <a:noFill/>
          </p:spPr>
          <p:txBody>
            <a:bodyPr wrap="none" rtlCol="0">
              <a:spAutoFit/>
            </a:bodyPr>
            <a:lstStyle/>
            <a:p>
              <a:r>
                <a:rPr lang="en-US" altLang="ja-JP" sz="1600" b="1">
                  <a:solidFill>
                    <a:schemeClr val="bg1"/>
                  </a:solidFill>
                  <a:latin typeface="メイリオ" panose="020B0604030504040204" pitchFamily="50" charset="-128"/>
                  <a:ea typeface="メイリオ" panose="020B0604030504040204" pitchFamily="50" charset="-128"/>
                </a:rPr>
                <a:t>18.8</a:t>
              </a:r>
              <a:r>
                <a:rPr lang="ja-JP" altLang="en-US" sz="1050" b="1">
                  <a:solidFill>
                    <a:schemeClr val="bg1"/>
                  </a:solidFill>
                  <a:latin typeface="メイリオ" panose="020B0604030504040204" pitchFamily="50" charset="-128"/>
                  <a:ea typeface="メイリオ" panose="020B0604030504040204" pitchFamily="50" charset="-128"/>
                </a:rPr>
                <a:t>％</a:t>
              </a:r>
              <a:endParaRPr kumimoji="1" lang="ja-JP" altLang="en-US" sz="1600" b="1">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0CAC84DE-C07D-9015-EE96-60C34A06E4D4}"/>
                </a:ext>
              </a:extLst>
            </p:cNvPr>
            <p:cNvSpPr txBox="1"/>
            <p:nvPr/>
          </p:nvSpPr>
          <p:spPr>
            <a:xfrm>
              <a:off x="6104206" y="5592326"/>
              <a:ext cx="808235" cy="426542"/>
            </a:xfrm>
            <a:prstGeom prst="rect">
              <a:avLst/>
            </a:prstGeom>
            <a:noFill/>
          </p:spPr>
          <p:txBody>
            <a:bodyPr wrap="none" rtlCol="0">
              <a:spAutoFit/>
            </a:bodyPr>
            <a:lstStyle/>
            <a:p>
              <a:r>
                <a:rPr lang="en-US" altLang="ja-JP" sz="1600" b="1">
                  <a:solidFill>
                    <a:schemeClr val="bg1"/>
                  </a:solidFill>
                  <a:latin typeface="メイリオ" panose="020B0604030504040204" pitchFamily="50" charset="-128"/>
                  <a:ea typeface="メイリオ" panose="020B0604030504040204" pitchFamily="50" charset="-128"/>
                </a:rPr>
                <a:t>29.1</a:t>
              </a:r>
              <a:r>
                <a:rPr lang="ja-JP" altLang="en-US" sz="1050" b="1">
                  <a:solidFill>
                    <a:schemeClr val="bg1"/>
                  </a:solidFill>
                  <a:latin typeface="メイリオ" panose="020B0604030504040204" pitchFamily="50" charset="-128"/>
                  <a:ea typeface="メイリオ" panose="020B0604030504040204" pitchFamily="50" charset="-128"/>
                </a:rPr>
                <a:t>％</a:t>
              </a:r>
              <a:endParaRPr kumimoji="1" lang="ja-JP" altLang="en-US" sz="1600" b="1">
                <a:solidFill>
                  <a:schemeClr val="bg1"/>
                </a:solidFill>
                <a:latin typeface="メイリオ" panose="020B0604030504040204" pitchFamily="50" charset="-128"/>
                <a:ea typeface="メイリオ" panose="020B0604030504040204" pitchFamily="50" charset="-128"/>
              </a:endParaRPr>
            </a:p>
          </p:txBody>
        </p:sp>
        <p:sp>
          <p:nvSpPr>
            <p:cNvPr id="83" name="テキスト ボックス 82">
              <a:extLst>
                <a:ext uri="{FF2B5EF4-FFF2-40B4-BE49-F238E27FC236}">
                  <a16:creationId xmlns:a16="http://schemas.microsoft.com/office/drawing/2014/main" id="{224F5002-E666-C1D3-36DE-8A09EFFE472F}"/>
                </a:ext>
              </a:extLst>
            </p:cNvPr>
            <p:cNvSpPr txBox="1"/>
            <p:nvPr/>
          </p:nvSpPr>
          <p:spPr>
            <a:xfrm>
              <a:off x="6919423" y="6305237"/>
              <a:ext cx="706631" cy="426542"/>
            </a:xfrm>
            <a:prstGeom prst="rect">
              <a:avLst/>
            </a:prstGeom>
            <a:noFill/>
          </p:spPr>
          <p:txBody>
            <a:bodyPr wrap="square" rtlCol="0">
              <a:spAutoFit/>
            </a:bodyPr>
            <a:lstStyle/>
            <a:p>
              <a:r>
                <a:rPr lang="en-US" altLang="ja-JP" sz="1600" b="1">
                  <a:solidFill>
                    <a:srgbClr val="D9A91A"/>
                  </a:solidFill>
                  <a:latin typeface="メイリオ" panose="020B0604030504040204" pitchFamily="50" charset="-128"/>
                  <a:ea typeface="メイリオ" panose="020B0604030504040204" pitchFamily="50" charset="-128"/>
                </a:rPr>
                <a:t>1.4</a:t>
              </a:r>
              <a:r>
                <a:rPr lang="ja-JP" altLang="en-US" sz="1050" b="1">
                  <a:solidFill>
                    <a:srgbClr val="D9A91A"/>
                  </a:solidFill>
                  <a:latin typeface="メイリオ" panose="020B0604030504040204" pitchFamily="50" charset="-128"/>
                  <a:ea typeface="メイリオ" panose="020B0604030504040204" pitchFamily="50" charset="-128"/>
                </a:rPr>
                <a:t>％</a:t>
              </a:r>
              <a:endParaRPr kumimoji="1" lang="ja-JP" altLang="en-US" sz="1600" b="1">
                <a:solidFill>
                  <a:srgbClr val="D9A91A"/>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FF220201-0CCC-0959-1061-4399A0C77035}"/>
                </a:ext>
              </a:extLst>
            </p:cNvPr>
            <p:cNvSpPr txBox="1"/>
            <p:nvPr/>
          </p:nvSpPr>
          <p:spPr>
            <a:xfrm>
              <a:off x="7666881" y="5592326"/>
              <a:ext cx="668773" cy="426542"/>
            </a:xfrm>
            <a:prstGeom prst="rect">
              <a:avLst/>
            </a:prstGeom>
            <a:noFill/>
          </p:spPr>
          <p:txBody>
            <a:bodyPr wrap="none" rtlCol="0">
              <a:spAutoFit/>
            </a:bodyPr>
            <a:lstStyle/>
            <a:p>
              <a:r>
                <a:rPr lang="en-US" altLang="ja-JP" sz="1600" b="1">
                  <a:solidFill>
                    <a:schemeClr val="bg1"/>
                  </a:solidFill>
                  <a:latin typeface="メイリオ" panose="020B0604030504040204" pitchFamily="50" charset="-128"/>
                  <a:ea typeface="メイリオ" panose="020B0604030504040204" pitchFamily="50" charset="-128"/>
                </a:rPr>
                <a:t>8.1</a:t>
              </a:r>
              <a:r>
                <a:rPr lang="ja-JP" altLang="en-US" sz="1050" b="1">
                  <a:solidFill>
                    <a:schemeClr val="bg1"/>
                  </a:solidFill>
                  <a:latin typeface="メイリオ" panose="020B0604030504040204" pitchFamily="50" charset="-128"/>
                  <a:ea typeface="メイリオ" panose="020B0604030504040204" pitchFamily="50" charset="-128"/>
                </a:rPr>
                <a:t>％</a:t>
              </a:r>
              <a:endParaRPr kumimoji="1" lang="ja-JP" altLang="en-US" sz="1600" b="1">
                <a:solidFill>
                  <a:schemeClr val="bg1"/>
                </a:solidFill>
                <a:latin typeface="メイリオ" panose="020B0604030504040204" pitchFamily="50" charset="-128"/>
                <a:ea typeface="メイリオ" panose="020B0604030504040204" pitchFamily="50" charset="-128"/>
              </a:endParaRPr>
            </a:p>
          </p:txBody>
        </p:sp>
        <p:sp>
          <p:nvSpPr>
            <p:cNvPr id="85" name="テキスト ボックス 84">
              <a:extLst>
                <a:ext uri="{FF2B5EF4-FFF2-40B4-BE49-F238E27FC236}">
                  <a16:creationId xmlns:a16="http://schemas.microsoft.com/office/drawing/2014/main" id="{5D825307-D12F-BFF4-4C2B-B81D0A726297}"/>
                </a:ext>
              </a:extLst>
            </p:cNvPr>
            <p:cNvSpPr txBox="1"/>
            <p:nvPr/>
          </p:nvSpPr>
          <p:spPr>
            <a:xfrm>
              <a:off x="7643513" y="6309638"/>
              <a:ext cx="668773" cy="426542"/>
            </a:xfrm>
            <a:prstGeom prst="rect">
              <a:avLst/>
            </a:prstGeom>
            <a:noFill/>
          </p:spPr>
          <p:txBody>
            <a:bodyPr wrap="none" rtlCol="0">
              <a:spAutoFit/>
            </a:bodyPr>
            <a:lstStyle/>
            <a:p>
              <a:r>
                <a:rPr lang="en-US" altLang="ja-JP" sz="1600" b="1">
                  <a:solidFill>
                    <a:schemeClr val="accent5">
                      <a:lumMod val="75000"/>
                    </a:schemeClr>
                  </a:solidFill>
                  <a:latin typeface="メイリオ" panose="020B0604030504040204" pitchFamily="50" charset="-128"/>
                  <a:ea typeface="メイリオ" panose="020B0604030504040204" pitchFamily="50" charset="-128"/>
                </a:rPr>
                <a:t>1.8</a:t>
              </a:r>
              <a:r>
                <a:rPr lang="ja-JP" altLang="en-US" sz="1050" b="1">
                  <a:solidFill>
                    <a:schemeClr val="accent5">
                      <a:lumMod val="75000"/>
                    </a:schemeClr>
                  </a:solidFill>
                  <a:latin typeface="メイリオ" panose="020B0604030504040204" pitchFamily="50" charset="-128"/>
                  <a:ea typeface="メイリオ" panose="020B0604030504040204" pitchFamily="50" charset="-128"/>
                </a:rPr>
                <a:t>％</a:t>
              </a:r>
              <a:endParaRPr kumimoji="1" lang="ja-JP" altLang="en-US" sz="1600" b="1">
                <a:solidFill>
                  <a:schemeClr val="accent5">
                    <a:lumMod val="75000"/>
                  </a:schemeClr>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6AD9B2DE-A95C-AB85-5C3B-10DA138B0A37}"/>
                </a:ext>
              </a:extLst>
            </p:cNvPr>
            <p:cNvSpPr txBox="1"/>
            <p:nvPr/>
          </p:nvSpPr>
          <p:spPr>
            <a:xfrm>
              <a:off x="8379795" y="6309409"/>
              <a:ext cx="904415" cy="426542"/>
            </a:xfrm>
            <a:prstGeom prst="rect">
              <a:avLst/>
            </a:prstGeom>
            <a:noFill/>
          </p:spPr>
          <p:txBody>
            <a:bodyPr wrap="none" rtlCol="0">
              <a:spAutoFit/>
            </a:bodyPr>
            <a:lstStyle/>
            <a:p>
              <a:r>
                <a:rPr lang="en-US" altLang="ja-JP" sz="1600" b="1">
                  <a:solidFill>
                    <a:srgbClr val="AE9D1A"/>
                  </a:solidFill>
                  <a:latin typeface="メイリオ" panose="020B0604030504040204" pitchFamily="50" charset="-128"/>
                  <a:ea typeface="メイリオ" panose="020B0604030504040204" pitchFamily="50" charset="-128"/>
                </a:rPr>
                <a:t>-15.6</a:t>
              </a:r>
              <a:r>
                <a:rPr lang="ja-JP" altLang="en-US" sz="1050" b="1">
                  <a:solidFill>
                    <a:srgbClr val="AE9D1A"/>
                  </a:solidFill>
                  <a:latin typeface="メイリオ" panose="020B0604030504040204" pitchFamily="50" charset="-128"/>
                  <a:ea typeface="メイリオ" panose="020B0604030504040204" pitchFamily="50" charset="-128"/>
                </a:rPr>
                <a:t>％</a:t>
              </a:r>
              <a:endParaRPr kumimoji="1" lang="ja-JP" altLang="en-US" sz="1600" b="1">
                <a:solidFill>
                  <a:srgbClr val="AE9D1A"/>
                </a:solidFill>
                <a:latin typeface="メイリオ" panose="020B0604030504040204" pitchFamily="50" charset="-128"/>
                <a:ea typeface="メイリオ" panose="020B0604030504040204" pitchFamily="50" charset="-128"/>
              </a:endParaRPr>
            </a:p>
          </p:txBody>
        </p:sp>
        <p:cxnSp>
          <p:nvCxnSpPr>
            <p:cNvPr id="87" name="コネクタ: カギ線 86">
              <a:extLst>
                <a:ext uri="{FF2B5EF4-FFF2-40B4-BE49-F238E27FC236}">
                  <a16:creationId xmlns:a16="http://schemas.microsoft.com/office/drawing/2014/main" id="{9DCC1E35-C4A9-AC9B-72D1-E6F520A590C6}"/>
                </a:ext>
              </a:extLst>
            </p:cNvPr>
            <p:cNvCxnSpPr>
              <a:cxnSpLocks/>
              <a:endCxn id="75" idx="3"/>
            </p:cNvCxnSpPr>
            <p:nvPr/>
          </p:nvCxnSpPr>
          <p:spPr>
            <a:xfrm rot="5400000">
              <a:off x="7434344" y="4990255"/>
              <a:ext cx="313627" cy="69793"/>
            </a:xfrm>
            <a:prstGeom prst="bentConnector2">
              <a:avLst/>
            </a:prstGeom>
            <a:ln w="19050">
              <a:solidFill>
                <a:srgbClr val="D9A91A"/>
              </a:solidFill>
            </a:ln>
          </p:spPr>
          <p:style>
            <a:lnRef idx="1">
              <a:schemeClr val="accent1"/>
            </a:lnRef>
            <a:fillRef idx="0">
              <a:schemeClr val="accent1"/>
            </a:fillRef>
            <a:effectRef idx="0">
              <a:schemeClr val="accent1"/>
            </a:effectRef>
            <a:fontRef idx="minor">
              <a:schemeClr val="tx1"/>
            </a:fontRef>
          </p:style>
        </p:cxnSp>
        <p:cxnSp>
          <p:nvCxnSpPr>
            <p:cNvPr id="88" name="コネクタ: カギ線 87">
              <a:extLst>
                <a:ext uri="{FF2B5EF4-FFF2-40B4-BE49-F238E27FC236}">
                  <a16:creationId xmlns:a16="http://schemas.microsoft.com/office/drawing/2014/main" id="{F7DAFCE6-148C-AB31-ED73-5756F5ED1393}"/>
                </a:ext>
              </a:extLst>
            </p:cNvPr>
            <p:cNvCxnSpPr>
              <a:cxnSpLocks/>
              <a:endCxn id="83" idx="3"/>
            </p:cNvCxnSpPr>
            <p:nvPr/>
          </p:nvCxnSpPr>
          <p:spPr>
            <a:xfrm rot="5400000">
              <a:off x="7522529" y="6349067"/>
              <a:ext cx="272967" cy="65915"/>
            </a:xfrm>
            <a:prstGeom prst="bentConnector2">
              <a:avLst/>
            </a:prstGeom>
            <a:ln w="19050">
              <a:solidFill>
                <a:srgbClr val="D9A91A"/>
              </a:solidFill>
            </a:ln>
          </p:spPr>
          <p:style>
            <a:lnRef idx="1">
              <a:schemeClr val="accent1"/>
            </a:lnRef>
            <a:fillRef idx="0">
              <a:schemeClr val="accent1"/>
            </a:fillRef>
            <a:effectRef idx="0">
              <a:schemeClr val="accent1"/>
            </a:effectRef>
            <a:fontRef idx="minor">
              <a:schemeClr val="tx1"/>
            </a:fontRef>
          </p:style>
        </p:cxnSp>
        <p:cxnSp>
          <p:nvCxnSpPr>
            <p:cNvPr id="89" name="コネクタ: カギ線 88">
              <a:extLst>
                <a:ext uri="{FF2B5EF4-FFF2-40B4-BE49-F238E27FC236}">
                  <a16:creationId xmlns:a16="http://schemas.microsoft.com/office/drawing/2014/main" id="{448C95CE-80AE-45FF-D58E-A47A74A3CD56}"/>
                </a:ext>
              </a:extLst>
            </p:cNvPr>
            <p:cNvCxnSpPr>
              <a:cxnSpLocks/>
              <a:endCxn id="76" idx="1"/>
            </p:cNvCxnSpPr>
            <p:nvPr/>
          </p:nvCxnSpPr>
          <p:spPr>
            <a:xfrm rot="16200000" flipH="1">
              <a:off x="7760025" y="4972775"/>
              <a:ext cx="263900" cy="112148"/>
            </a:xfrm>
            <a:prstGeom prst="bentConnector2">
              <a:avLst/>
            </a:prstGeom>
            <a:ln w="19050">
              <a:solidFill>
                <a:srgbClr val="E35B5B"/>
              </a:solidFill>
            </a:ln>
          </p:spPr>
          <p:style>
            <a:lnRef idx="1">
              <a:schemeClr val="accent1"/>
            </a:lnRef>
            <a:fillRef idx="0">
              <a:schemeClr val="accent1"/>
            </a:fillRef>
            <a:effectRef idx="0">
              <a:schemeClr val="accent1"/>
            </a:effectRef>
            <a:fontRef idx="minor">
              <a:schemeClr val="tx1"/>
            </a:fontRef>
          </p:style>
        </p:cxnSp>
        <p:cxnSp>
          <p:nvCxnSpPr>
            <p:cNvPr id="90" name="コネクタ: カギ線 89">
              <a:extLst>
                <a:ext uri="{FF2B5EF4-FFF2-40B4-BE49-F238E27FC236}">
                  <a16:creationId xmlns:a16="http://schemas.microsoft.com/office/drawing/2014/main" id="{D78D86D6-408F-A572-FD59-15E3EAA3B4AF}"/>
                </a:ext>
              </a:extLst>
            </p:cNvPr>
            <p:cNvCxnSpPr>
              <a:cxnSpLocks/>
            </p:cNvCxnSpPr>
            <p:nvPr/>
          </p:nvCxnSpPr>
          <p:spPr>
            <a:xfrm rot="5400000">
              <a:off x="8055473" y="6207750"/>
              <a:ext cx="327607" cy="105231"/>
            </a:xfrm>
            <a:prstGeom prst="bentConnector2">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コネクタ: カギ線 90">
              <a:extLst>
                <a:ext uri="{FF2B5EF4-FFF2-40B4-BE49-F238E27FC236}">
                  <a16:creationId xmlns:a16="http://schemas.microsoft.com/office/drawing/2014/main" id="{64FB44C6-B3FC-B0D1-68BD-119C08D2AC2A}"/>
                </a:ext>
              </a:extLst>
            </p:cNvPr>
            <p:cNvCxnSpPr>
              <a:cxnSpLocks/>
              <a:endCxn id="86" idx="0"/>
            </p:cNvCxnSpPr>
            <p:nvPr/>
          </p:nvCxnSpPr>
          <p:spPr>
            <a:xfrm rot="16200000" flipH="1">
              <a:off x="8683661" y="6161066"/>
              <a:ext cx="165651" cy="131034"/>
            </a:xfrm>
            <a:prstGeom prst="bentConnector3">
              <a:avLst>
                <a:gd name="adj1" fmla="val 50000"/>
              </a:avLst>
            </a:prstGeom>
            <a:ln w="19050">
              <a:solidFill>
                <a:srgbClr val="AE9D1A"/>
              </a:solidFill>
            </a:ln>
          </p:spPr>
          <p:style>
            <a:lnRef idx="1">
              <a:schemeClr val="accent1"/>
            </a:lnRef>
            <a:fillRef idx="0">
              <a:schemeClr val="accent1"/>
            </a:fillRef>
            <a:effectRef idx="0">
              <a:schemeClr val="accent1"/>
            </a:effectRef>
            <a:fontRef idx="minor">
              <a:schemeClr val="tx1"/>
            </a:fontRef>
          </p:style>
        </p:cxnSp>
      </p:grpSp>
      <p:sp>
        <p:nvSpPr>
          <p:cNvPr id="6" name="タイトル 5">
            <a:extLst>
              <a:ext uri="{FF2B5EF4-FFF2-40B4-BE49-F238E27FC236}">
                <a16:creationId xmlns:a16="http://schemas.microsoft.com/office/drawing/2014/main" id="{6EDD6D42-57F3-2993-9D6E-E48ABF466B33}"/>
              </a:ext>
            </a:extLst>
          </p:cNvPr>
          <p:cNvSpPr>
            <a:spLocks noGrp="1"/>
          </p:cNvSpPr>
          <p:nvPr>
            <p:ph type="title"/>
          </p:nvPr>
        </p:nvSpPr>
        <p:spPr/>
        <p:txBody>
          <a:bodyPr>
            <a:normAutofit fontScale="90000"/>
          </a:bodyPr>
          <a:lstStyle/>
          <a:p>
            <a:r>
              <a:rPr lang="en-US" altLang="ja-JP" sz="2800" b="1" dirty="0"/>
              <a:t>C&amp;R</a:t>
            </a:r>
            <a:r>
              <a:rPr lang="ja-JP" altLang="en-US" sz="2800" b="1" dirty="0"/>
              <a:t>グループの売上高</a:t>
            </a:r>
            <a:endParaRPr lang="ja-JP" altLang="en-US" dirty="0"/>
          </a:p>
        </p:txBody>
      </p:sp>
      <p:sp>
        <p:nvSpPr>
          <p:cNvPr id="4" name="スライド番号プレースホルダー 3">
            <a:extLst>
              <a:ext uri="{FF2B5EF4-FFF2-40B4-BE49-F238E27FC236}">
                <a16:creationId xmlns:a16="http://schemas.microsoft.com/office/drawing/2014/main" id="{A5F22BCE-42D6-E5E5-938A-92953F37D253}"/>
              </a:ext>
            </a:extLst>
          </p:cNvPr>
          <p:cNvSpPr>
            <a:spLocks noGrp="1"/>
          </p:cNvSpPr>
          <p:nvPr>
            <p:ph type="sldNum" sz="quarter" idx="11"/>
          </p:nvPr>
        </p:nvSpPr>
        <p:spPr/>
        <p:txBody>
          <a:bodyPr/>
          <a:lstStyle/>
          <a:p>
            <a:fld id="{B75FDD43-FCEC-4ECC-8189-A5C6D2E08DC6}" type="slidenum">
              <a:rPr lang="ja-JP" altLang="en-US" smtClean="0"/>
              <a:pPr/>
              <a:t>6</a:t>
            </a:fld>
            <a:endParaRPr lang="ja-JP" altLang="en-US"/>
          </a:p>
        </p:txBody>
      </p:sp>
      <p:grpSp>
        <p:nvGrpSpPr>
          <p:cNvPr id="10" name="グループ化 9">
            <a:extLst>
              <a:ext uri="{FF2B5EF4-FFF2-40B4-BE49-F238E27FC236}">
                <a16:creationId xmlns:a16="http://schemas.microsoft.com/office/drawing/2014/main" id="{143B7B30-77F9-FCF5-D458-7D7D38398C97}"/>
              </a:ext>
            </a:extLst>
          </p:cNvPr>
          <p:cNvGrpSpPr/>
          <p:nvPr/>
        </p:nvGrpSpPr>
        <p:grpSpPr>
          <a:xfrm>
            <a:off x="6691364" y="887120"/>
            <a:ext cx="5272036" cy="1900881"/>
            <a:chOff x="6462764" y="1299145"/>
            <a:chExt cx="5812062" cy="1900881"/>
          </a:xfrm>
        </p:grpSpPr>
        <p:sp>
          <p:nvSpPr>
            <p:cNvPr id="17" name="テキスト ボックス 16">
              <a:extLst>
                <a:ext uri="{FF2B5EF4-FFF2-40B4-BE49-F238E27FC236}">
                  <a16:creationId xmlns:a16="http://schemas.microsoft.com/office/drawing/2014/main" id="{B63CB33C-2EBC-04CD-94DB-796891C2F2B4}"/>
                </a:ext>
              </a:extLst>
            </p:cNvPr>
            <p:cNvSpPr txBox="1"/>
            <p:nvPr/>
          </p:nvSpPr>
          <p:spPr>
            <a:xfrm>
              <a:off x="6462764" y="1299145"/>
              <a:ext cx="5812062" cy="1661993"/>
            </a:xfrm>
            <a:prstGeom prst="rect">
              <a:avLst/>
            </a:prstGeom>
            <a:noFill/>
          </p:spPr>
          <p:txBody>
            <a:bodyPr wrap="square" lIns="91440" tIns="45720" rIns="91440" bIns="45720" rtlCol="0" anchor="t">
              <a:spAutoFit/>
            </a:bodyPr>
            <a:lstStyle/>
            <a:p>
              <a:r>
                <a:rPr lang="en-US" altLang="ja-JP" sz="3600" b="1" i="0">
                  <a:effectLst/>
                  <a:latin typeface="メイリオ" panose="020B0604030504040204" pitchFamily="50" charset="-128"/>
                  <a:ea typeface="メイリオ" panose="020B0604030504040204" pitchFamily="50" charset="-128"/>
                </a:rPr>
                <a:t>Business growth</a:t>
              </a:r>
            </a:p>
            <a:p>
              <a:r>
                <a:rPr lang="en-US" altLang="ja-JP" sz="6600" b="1">
                  <a:latin typeface="メイリオ" panose="020B0604030504040204" pitchFamily="50" charset="-128"/>
                  <a:ea typeface="メイリオ" panose="020B0604030504040204" pitchFamily="50" charset="-128"/>
                  <a:cs typeface="Aharoni"/>
                </a:rPr>
                <a:t>502</a:t>
              </a:r>
              <a:r>
                <a:rPr lang="ja-JP" altLang="en-US" sz="2400" b="1">
                  <a:latin typeface="メイリオ" panose="020B0604030504040204" pitchFamily="50" charset="-128"/>
                  <a:ea typeface="メイリオ" panose="020B0604030504040204" pitchFamily="50" charset="-128"/>
                  <a:cs typeface="Aharoni"/>
                </a:rPr>
                <a:t>億円</a:t>
              </a:r>
              <a:endParaRPr kumimoji="1" lang="ja-JP" altLang="en-US" sz="3600" b="1">
                <a:latin typeface="メイリオ" panose="020B0604030504040204" pitchFamily="50" charset="-128"/>
                <a:ea typeface="メイリオ" panose="020B0604030504040204" pitchFamily="50" charset="-128"/>
                <a:cs typeface="Aharoni"/>
              </a:endParaRPr>
            </a:p>
          </p:txBody>
        </p:sp>
        <p:sp>
          <p:nvSpPr>
            <p:cNvPr id="3" name="正方形/長方形 2">
              <a:extLst>
                <a:ext uri="{FF2B5EF4-FFF2-40B4-BE49-F238E27FC236}">
                  <a16:creationId xmlns:a16="http://schemas.microsoft.com/office/drawing/2014/main" id="{1E1A7A1D-B728-2F74-5F4D-2D68E8788E89}"/>
                </a:ext>
              </a:extLst>
            </p:cNvPr>
            <p:cNvSpPr/>
            <p:nvPr/>
          </p:nvSpPr>
          <p:spPr>
            <a:xfrm>
              <a:off x="6462764" y="2764431"/>
              <a:ext cx="4400706" cy="435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altLang="ja-JP" sz="1600">
                  <a:solidFill>
                    <a:schemeClr val="tx1"/>
                  </a:solidFill>
                  <a:latin typeface="メイリオ" panose="020B0604030504040204" pitchFamily="50" charset="-128"/>
                  <a:ea typeface="メイリオ" panose="020B0604030504040204" pitchFamily="50" charset="-128"/>
                </a:rPr>
                <a:t>C&amp;R</a:t>
              </a:r>
              <a:r>
                <a:rPr lang="ja-JP" altLang="en-US" sz="1600">
                  <a:solidFill>
                    <a:schemeClr val="tx1"/>
                  </a:solidFill>
                  <a:latin typeface="メイリオ" panose="020B0604030504040204" pitchFamily="50" charset="-128"/>
                  <a:ea typeface="メイリオ" panose="020B0604030504040204" pitchFamily="50" charset="-128"/>
                </a:rPr>
                <a:t>グループの売上高（</a:t>
              </a:r>
              <a:r>
                <a:rPr lang="en-US" altLang="ja-JP" sz="1600">
                  <a:solidFill>
                    <a:schemeClr val="tx1"/>
                  </a:solidFill>
                  <a:latin typeface="メイリオ" panose="020B0604030504040204" pitchFamily="50" charset="-128"/>
                  <a:ea typeface="メイリオ" panose="020B0604030504040204" pitchFamily="50" charset="-128"/>
                </a:rPr>
                <a:t>2025</a:t>
              </a:r>
              <a:r>
                <a:rPr lang="ja-JP" altLang="en-US" sz="1600">
                  <a:solidFill>
                    <a:schemeClr val="tx1"/>
                  </a:solidFill>
                  <a:latin typeface="メイリオ" panose="020B0604030504040204" pitchFamily="50" charset="-128"/>
                  <a:ea typeface="メイリオ" panose="020B0604030504040204" pitchFamily="50" charset="-128"/>
                </a:rPr>
                <a:t>年２月期）</a:t>
              </a:r>
              <a:endParaRPr kumimoji="1" lang="ja-JP" altLang="en-US" sz="1600">
                <a:solidFill>
                  <a:schemeClr val="tx1"/>
                </a:solidFill>
                <a:latin typeface="メイリオ" panose="020B0604030504040204" pitchFamily="50" charset="-128"/>
                <a:ea typeface="メイリオ" panose="020B0604030504040204" pitchFamily="50" charset="-128"/>
              </a:endParaRPr>
            </a:p>
          </p:txBody>
        </p:sp>
      </p:grpSp>
      <p:sp>
        <p:nvSpPr>
          <p:cNvPr id="2" name="正方形/長方形 1">
            <a:extLst>
              <a:ext uri="{FF2B5EF4-FFF2-40B4-BE49-F238E27FC236}">
                <a16:creationId xmlns:a16="http://schemas.microsoft.com/office/drawing/2014/main" id="{F3C94B71-D8B7-8381-4BE4-EDCB52587463}"/>
              </a:ext>
            </a:extLst>
          </p:cNvPr>
          <p:cNvSpPr/>
          <p:nvPr/>
        </p:nvSpPr>
        <p:spPr>
          <a:xfrm>
            <a:off x="6691364" y="2939830"/>
            <a:ext cx="5145830" cy="844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600"/>
              </a:spcBef>
            </a:pPr>
            <a:r>
              <a:rPr lang="ja-JP" altLang="en-US" b="1">
                <a:solidFill>
                  <a:schemeClr val="tx1"/>
                </a:solidFill>
                <a:latin typeface="メイリオ" panose="020B0604030504040204" pitchFamily="50" charset="-128"/>
                <a:ea typeface="メイリオ" panose="020B0604030504040204" pitchFamily="50" charset="-128"/>
              </a:rPr>
              <a:t>時代の変化を読み取り、事業領域を拡大・深化。</a:t>
            </a:r>
            <a:endParaRPr lang="en-US" altLang="ja-JP" b="1">
              <a:solidFill>
                <a:schemeClr val="tx1"/>
              </a:solidFill>
              <a:latin typeface="メイリオ" panose="020B0604030504040204" pitchFamily="50" charset="-128"/>
              <a:ea typeface="メイリオ" panose="020B0604030504040204" pitchFamily="50" charset="-128"/>
            </a:endParaRPr>
          </a:p>
          <a:p>
            <a:pPr>
              <a:spcBef>
                <a:spcPts val="600"/>
              </a:spcBef>
            </a:pPr>
            <a:r>
              <a:rPr lang="ja-JP" altLang="en-US" b="1">
                <a:solidFill>
                  <a:schemeClr val="tx1"/>
                </a:solidFill>
                <a:latin typeface="メイリオ" panose="020B0604030504040204" pitchFamily="50" charset="-128"/>
                <a:ea typeface="メイリオ" panose="020B0604030504040204" pitchFamily="50" charset="-128"/>
              </a:rPr>
              <a:t>安定と挑戦の両立を実現しながら成長。</a:t>
            </a:r>
          </a:p>
        </p:txBody>
      </p:sp>
      <p:grpSp>
        <p:nvGrpSpPr>
          <p:cNvPr id="16" name="グループ化 15">
            <a:extLst>
              <a:ext uri="{FF2B5EF4-FFF2-40B4-BE49-F238E27FC236}">
                <a16:creationId xmlns:a16="http://schemas.microsoft.com/office/drawing/2014/main" id="{3DE9BC72-BFA1-DB0F-80AA-FC5458BDB469}"/>
              </a:ext>
            </a:extLst>
          </p:cNvPr>
          <p:cNvGrpSpPr/>
          <p:nvPr/>
        </p:nvGrpSpPr>
        <p:grpSpPr>
          <a:xfrm>
            <a:off x="396843" y="782943"/>
            <a:ext cx="6023144" cy="3158904"/>
            <a:chOff x="5746922" y="2641141"/>
            <a:chExt cx="6381871" cy="3347042"/>
          </a:xfrm>
        </p:grpSpPr>
        <p:graphicFrame>
          <p:nvGraphicFramePr>
            <p:cNvPr id="20" name="グラフ 19">
              <a:extLst>
                <a:ext uri="{FF2B5EF4-FFF2-40B4-BE49-F238E27FC236}">
                  <a16:creationId xmlns:a16="http://schemas.microsoft.com/office/drawing/2014/main" id="{5F027104-440C-86B8-F8EF-DE1066CECE23}"/>
                </a:ext>
              </a:extLst>
            </p:cNvPr>
            <p:cNvGraphicFramePr/>
            <p:nvPr>
              <p:extLst>
                <p:ext uri="{D42A27DB-BD31-4B8C-83A1-F6EECF244321}">
                  <p14:modId xmlns:p14="http://schemas.microsoft.com/office/powerpoint/2010/main" val="2172515923"/>
                </p:ext>
              </p:extLst>
            </p:nvPr>
          </p:nvGraphicFramePr>
          <p:xfrm>
            <a:off x="6602755" y="2641141"/>
            <a:ext cx="5020561" cy="3347042"/>
          </p:xfrm>
          <a:graphic>
            <a:graphicData uri="http://schemas.openxmlformats.org/drawingml/2006/chart">
              <c:chart xmlns:c="http://schemas.openxmlformats.org/drawingml/2006/chart" xmlns:r="http://schemas.openxmlformats.org/officeDocument/2006/relationships" r:id="rId4"/>
            </a:graphicData>
          </a:graphic>
        </p:graphicFrame>
        <p:sp>
          <p:nvSpPr>
            <p:cNvPr id="23" name="正方形/長方形 22">
              <a:extLst>
                <a:ext uri="{FF2B5EF4-FFF2-40B4-BE49-F238E27FC236}">
                  <a16:creationId xmlns:a16="http://schemas.microsoft.com/office/drawing/2014/main" id="{1FA18AB3-9163-F6C7-B3C1-19FA4FE48D65}"/>
                </a:ext>
              </a:extLst>
            </p:cNvPr>
            <p:cNvSpPr/>
            <p:nvPr/>
          </p:nvSpPr>
          <p:spPr>
            <a:xfrm>
              <a:off x="5746922" y="5669041"/>
              <a:ext cx="1063279" cy="183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600"/>
                </a:spcBef>
              </a:pPr>
              <a:r>
                <a:rPr lang="ja-JP" altLang="en-US" sz="800">
                  <a:solidFill>
                    <a:schemeClr val="tx1"/>
                  </a:solidFill>
                  <a:latin typeface="メイリオ" panose="020B0604030504040204" pitchFamily="50" charset="-128"/>
                  <a:ea typeface="メイリオ" panose="020B0604030504040204" pitchFamily="50" charset="-128"/>
                </a:rPr>
                <a:t>（単位：百万円）</a:t>
              </a:r>
              <a:endParaRPr kumimoji="1" lang="ja-JP" altLang="en-US" sz="800">
                <a:solidFill>
                  <a:schemeClr val="tx1"/>
                </a:solidFill>
                <a:latin typeface="メイリオ" panose="020B0604030504040204" pitchFamily="50" charset="-128"/>
                <a:ea typeface="メイリオ" panose="020B0604030504040204" pitchFamily="50" charset="-128"/>
              </a:endParaRPr>
            </a:p>
          </p:txBody>
        </p:sp>
        <p:grpSp>
          <p:nvGrpSpPr>
            <p:cNvPr id="24" name="グループ化 23">
              <a:extLst>
                <a:ext uri="{FF2B5EF4-FFF2-40B4-BE49-F238E27FC236}">
                  <a16:creationId xmlns:a16="http://schemas.microsoft.com/office/drawing/2014/main" id="{8AE8F97A-36AE-006D-0BAD-165098F10BD6}"/>
                </a:ext>
              </a:extLst>
            </p:cNvPr>
            <p:cNvGrpSpPr/>
            <p:nvPr/>
          </p:nvGrpSpPr>
          <p:grpSpPr>
            <a:xfrm>
              <a:off x="6744908" y="3149692"/>
              <a:ext cx="4730233" cy="2351911"/>
              <a:chOff x="976363" y="2206305"/>
              <a:chExt cx="4799901" cy="2692866"/>
            </a:xfrm>
          </p:grpSpPr>
          <p:cxnSp>
            <p:nvCxnSpPr>
              <p:cNvPr id="53" name="直線コネクタ 52">
                <a:extLst>
                  <a:ext uri="{FF2B5EF4-FFF2-40B4-BE49-F238E27FC236}">
                    <a16:creationId xmlns:a16="http://schemas.microsoft.com/office/drawing/2014/main" id="{82212D51-46C7-28FD-3103-3E8CF51A59ED}"/>
                  </a:ext>
                </a:extLst>
              </p:cNvPr>
              <p:cNvCxnSpPr>
                <a:cxnSpLocks/>
              </p:cNvCxnSpPr>
              <p:nvPr/>
            </p:nvCxnSpPr>
            <p:spPr>
              <a:xfrm>
                <a:off x="976363" y="2206305"/>
                <a:ext cx="0" cy="269286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EA8EA99D-8EE8-8041-D9C4-43F9DE5D3640}"/>
                  </a:ext>
                </a:extLst>
              </p:cNvPr>
              <p:cNvCxnSpPr>
                <a:cxnSpLocks/>
              </p:cNvCxnSpPr>
              <p:nvPr/>
            </p:nvCxnSpPr>
            <p:spPr>
              <a:xfrm>
                <a:off x="5776264" y="2206305"/>
                <a:ext cx="0" cy="269286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5" name="グループ化 24">
              <a:extLst>
                <a:ext uri="{FF2B5EF4-FFF2-40B4-BE49-F238E27FC236}">
                  <a16:creationId xmlns:a16="http://schemas.microsoft.com/office/drawing/2014/main" id="{C6AB9456-9959-74AC-308B-945A9FE50728}"/>
                </a:ext>
              </a:extLst>
            </p:cNvPr>
            <p:cNvGrpSpPr/>
            <p:nvPr/>
          </p:nvGrpSpPr>
          <p:grpSpPr>
            <a:xfrm>
              <a:off x="6097869" y="3141297"/>
              <a:ext cx="776936" cy="2019026"/>
              <a:chOff x="999303" y="2177892"/>
              <a:chExt cx="788379" cy="2048762"/>
            </a:xfrm>
          </p:grpSpPr>
          <p:sp>
            <p:nvSpPr>
              <p:cNvPr id="48" name="正方形/長方形 47">
                <a:extLst>
                  <a:ext uri="{FF2B5EF4-FFF2-40B4-BE49-F238E27FC236}">
                    <a16:creationId xmlns:a16="http://schemas.microsoft.com/office/drawing/2014/main" id="{A1E90C35-8F86-DAC7-4C21-4C6848BFAB72}"/>
                  </a:ext>
                </a:extLst>
              </p:cNvPr>
              <p:cNvSpPr/>
              <p:nvPr/>
            </p:nvSpPr>
            <p:spPr>
              <a:xfrm>
                <a:off x="999303" y="2177892"/>
                <a:ext cx="788379" cy="243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600"/>
                  </a:spcBef>
                </a:pPr>
                <a:r>
                  <a:rPr lang="en-US" altLang="ja-JP" sz="1050">
                    <a:solidFill>
                      <a:schemeClr val="tx1"/>
                    </a:solidFill>
                    <a:latin typeface="メイリオ" panose="020B0604030504040204" pitchFamily="50" charset="-128"/>
                    <a:ea typeface="メイリオ" panose="020B0604030504040204" pitchFamily="50" charset="-128"/>
                  </a:rPr>
                  <a:t>50,000</a:t>
                </a:r>
                <a:endParaRPr kumimoji="1" lang="ja-JP" altLang="en-US" sz="1050">
                  <a:solidFill>
                    <a:schemeClr val="tx1"/>
                  </a:solidFill>
                  <a:latin typeface="メイリオ" panose="020B0604030504040204" pitchFamily="50" charset="-128"/>
                  <a:ea typeface="メイリオ" panose="020B0604030504040204" pitchFamily="50" charset="-128"/>
                </a:endParaRPr>
              </a:p>
            </p:txBody>
          </p:sp>
          <p:sp>
            <p:nvSpPr>
              <p:cNvPr id="49" name="正方形/長方形 48">
                <a:extLst>
                  <a:ext uri="{FF2B5EF4-FFF2-40B4-BE49-F238E27FC236}">
                    <a16:creationId xmlns:a16="http://schemas.microsoft.com/office/drawing/2014/main" id="{BDDEB41E-9966-CED0-BED9-621FF4697FE1}"/>
                  </a:ext>
                </a:extLst>
              </p:cNvPr>
              <p:cNvSpPr/>
              <p:nvPr/>
            </p:nvSpPr>
            <p:spPr>
              <a:xfrm>
                <a:off x="999303" y="2621444"/>
                <a:ext cx="788379" cy="243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600"/>
                  </a:spcBef>
                </a:pPr>
                <a:r>
                  <a:rPr lang="en-US" altLang="ja-JP" sz="1050">
                    <a:solidFill>
                      <a:schemeClr val="tx1"/>
                    </a:solidFill>
                    <a:latin typeface="メイリオ" panose="020B0604030504040204" pitchFamily="50" charset="-128"/>
                    <a:ea typeface="メイリオ" panose="020B0604030504040204" pitchFamily="50" charset="-128"/>
                  </a:rPr>
                  <a:t>40,000</a:t>
                </a:r>
                <a:endParaRPr kumimoji="1" lang="ja-JP" altLang="en-US" sz="1050">
                  <a:solidFill>
                    <a:schemeClr val="tx1"/>
                  </a:solidFill>
                  <a:latin typeface="メイリオ" panose="020B0604030504040204" pitchFamily="50" charset="-128"/>
                  <a:ea typeface="メイリオ" panose="020B0604030504040204" pitchFamily="50" charset="-128"/>
                </a:endParaRPr>
              </a:p>
            </p:txBody>
          </p:sp>
          <p:sp>
            <p:nvSpPr>
              <p:cNvPr id="50" name="正方形/長方形 49">
                <a:extLst>
                  <a:ext uri="{FF2B5EF4-FFF2-40B4-BE49-F238E27FC236}">
                    <a16:creationId xmlns:a16="http://schemas.microsoft.com/office/drawing/2014/main" id="{7840CA5B-F7FD-0B4A-3DFD-7F03A10624EE}"/>
                  </a:ext>
                </a:extLst>
              </p:cNvPr>
              <p:cNvSpPr/>
              <p:nvPr/>
            </p:nvSpPr>
            <p:spPr>
              <a:xfrm>
                <a:off x="999303" y="3069601"/>
                <a:ext cx="788379" cy="243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600"/>
                  </a:spcBef>
                </a:pPr>
                <a:r>
                  <a:rPr lang="en-US" altLang="ja-JP" sz="1050">
                    <a:solidFill>
                      <a:schemeClr val="tx1"/>
                    </a:solidFill>
                    <a:latin typeface="メイリオ" panose="020B0604030504040204" pitchFamily="50" charset="-128"/>
                    <a:ea typeface="メイリオ" panose="020B0604030504040204" pitchFamily="50" charset="-128"/>
                  </a:rPr>
                  <a:t>30,000</a:t>
                </a:r>
                <a:endParaRPr kumimoji="1" lang="ja-JP" altLang="en-US" sz="105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86AD376A-F69D-7B1D-12F4-79763D7AD676}"/>
                  </a:ext>
                </a:extLst>
              </p:cNvPr>
              <p:cNvSpPr/>
              <p:nvPr/>
            </p:nvSpPr>
            <p:spPr>
              <a:xfrm>
                <a:off x="999303" y="3536647"/>
                <a:ext cx="788379" cy="243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600"/>
                  </a:spcBef>
                </a:pPr>
                <a:r>
                  <a:rPr lang="en-US" altLang="ja-JP" sz="1050">
                    <a:solidFill>
                      <a:schemeClr val="tx1"/>
                    </a:solidFill>
                    <a:latin typeface="メイリオ" panose="020B0604030504040204" pitchFamily="50" charset="-128"/>
                    <a:ea typeface="メイリオ" panose="020B0604030504040204" pitchFamily="50" charset="-128"/>
                  </a:rPr>
                  <a:t>20,000</a:t>
                </a:r>
                <a:endParaRPr kumimoji="1" lang="ja-JP" altLang="en-US" sz="1050">
                  <a:solidFill>
                    <a:schemeClr val="tx1"/>
                  </a:solidFill>
                  <a:latin typeface="メイリオ" panose="020B0604030504040204" pitchFamily="50" charset="-128"/>
                  <a:ea typeface="メイリオ" panose="020B0604030504040204" pitchFamily="50" charset="-128"/>
                </a:endParaRPr>
              </a:p>
            </p:txBody>
          </p:sp>
          <p:sp>
            <p:nvSpPr>
              <p:cNvPr id="52" name="正方形/長方形 51">
                <a:extLst>
                  <a:ext uri="{FF2B5EF4-FFF2-40B4-BE49-F238E27FC236}">
                    <a16:creationId xmlns:a16="http://schemas.microsoft.com/office/drawing/2014/main" id="{6E828A8B-D642-0EC6-3A87-51715AC49111}"/>
                  </a:ext>
                </a:extLst>
              </p:cNvPr>
              <p:cNvSpPr/>
              <p:nvPr/>
            </p:nvSpPr>
            <p:spPr>
              <a:xfrm>
                <a:off x="999303" y="3983638"/>
                <a:ext cx="788379" cy="243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600"/>
                  </a:spcBef>
                </a:pPr>
                <a:r>
                  <a:rPr lang="en-US" altLang="ja-JP" sz="1050">
                    <a:solidFill>
                      <a:schemeClr val="tx1"/>
                    </a:solidFill>
                    <a:latin typeface="メイリオ" panose="020B0604030504040204" pitchFamily="50" charset="-128"/>
                    <a:ea typeface="メイリオ" panose="020B0604030504040204" pitchFamily="50" charset="-128"/>
                  </a:rPr>
                  <a:t>10,000</a:t>
                </a:r>
                <a:endParaRPr kumimoji="1" lang="ja-JP" altLang="en-US" sz="1050">
                  <a:solidFill>
                    <a:schemeClr val="tx1"/>
                  </a:solidFill>
                  <a:latin typeface="メイリオ" panose="020B0604030504040204" pitchFamily="50" charset="-128"/>
                  <a:ea typeface="メイリオ" panose="020B0604030504040204" pitchFamily="50" charset="-128"/>
                </a:endParaRPr>
              </a:p>
            </p:txBody>
          </p:sp>
        </p:grpSp>
        <p:sp>
          <p:nvSpPr>
            <p:cNvPr id="26" name="円: 塗りつぶしなし 25">
              <a:extLst>
                <a:ext uri="{FF2B5EF4-FFF2-40B4-BE49-F238E27FC236}">
                  <a16:creationId xmlns:a16="http://schemas.microsoft.com/office/drawing/2014/main" id="{B781D175-72F5-8921-C5C0-BB1012DA2DD9}"/>
                </a:ext>
              </a:extLst>
            </p:cNvPr>
            <p:cNvSpPr/>
            <p:nvPr/>
          </p:nvSpPr>
          <p:spPr bwMode="auto">
            <a:xfrm>
              <a:off x="7138009" y="3984929"/>
              <a:ext cx="139976" cy="139976"/>
            </a:xfrm>
            <a:prstGeom prst="donut">
              <a:avLst/>
            </a:prstGeom>
            <a:solidFill>
              <a:schemeClr val="accent6"/>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7" name="円: 塗りつぶしなし 26">
              <a:extLst>
                <a:ext uri="{FF2B5EF4-FFF2-40B4-BE49-F238E27FC236}">
                  <a16:creationId xmlns:a16="http://schemas.microsoft.com/office/drawing/2014/main" id="{9B6D4B5E-9467-20FB-CE8E-7713A78D2F6E}"/>
                </a:ext>
              </a:extLst>
            </p:cNvPr>
            <p:cNvSpPr/>
            <p:nvPr/>
          </p:nvSpPr>
          <p:spPr bwMode="auto">
            <a:xfrm>
              <a:off x="8082942" y="3519498"/>
              <a:ext cx="139976" cy="139976"/>
            </a:xfrm>
            <a:prstGeom prst="donut">
              <a:avLst/>
            </a:prstGeom>
            <a:solidFill>
              <a:schemeClr val="accent6"/>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8" name="円: 塗りつぶしなし 27">
              <a:extLst>
                <a:ext uri="{FF2B5EF4-FFF2-40B4-BE49-F238E27FC236}">
                  <a16:creationId xmlns:a16="http://schemas.microsoft.com/office/drawing/2014/main" id="{BB29247A-5D3A-75D7-84D9-10B49681A251}"/>
                </a:ext>
              </a:extLst>
            </p:cNvPr>
            <p:cNvSpPr/>
            <p:nvPr/>
          </p:nvSpPr>
          <p:spPr bwMode="auto">
            <a:xfrm>
              <a:off x="9040037" y="3235652"/>
              <a:ext cx="139976" cy="139976"/>
            </a:xfrm>
            <a:prstGeom prst="donut">
              <a:avLst/>
            </a:prstGeom>
            <a:solidFill>
              <a:schemeClr val="accent6"/>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9" name="円: 塗りつぶしなし 28">
              <a:extLst>
                <a:ext uri="{FF2B5EF4-FFF2-40B4-BE49-F238E27FC236}">
                  <a16:creationId xmlns:a16="http://schemas.microsoft.com/office/drawing/2014/main" id="{68B9163F-ED78-0988-3BA5-BD820E41B7C7}"/>
                </a:ext>
              </a:extLst>
            </p:cNvPr>
            <p:cNvSpPr/>
            <p:nvPr/>
          </p:nvSpPr>
          <p:spPr bwMode="auto">
            <a:xfrm>
              <a:off x="10942064" y="3530268"/>
              <a:ext cx="139976" cy="139976"/>
            </a:xfrm>
            <a:prstGeom prst="donut">
              <a:avLst/>
            </a:prstGeom>
            <a:solidFill>
              <a:schemeClr val="accent6"/>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30" name="円: 塗りつぶしなし 29">
              <a:extLst>
                <a:ext uri="{FF2B5EF4-FFF2-40B4-BE49-F238E27FC236}">
                  <a16:creationId xmlns:a16="http://schemas.microsoft.com/office/drawing/2014/main" id="{C5E01519-6089-1414-C7E1-DF1686030D80}"/>
                </a:ext>
              </a:extLst>
            </p:cNvPr>
            <p:cNvSpPr/>
            <p:nvPr/>
          </p:nvSpPr>
          <p:spPr bwMode="auto">
            <a:xfrm>
              <a:off x="9997131" y="3144478"/>
              <a:ext cx="139976" cy="139976"/>
            </a:xfrm>
            <a:prstGeom prst="donut">
              <a:avLst/>
            </a:prstGeom>
            <a:solidFill>
              <a:schemeClr val="accent6"/>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cxnSp>
          <p:nvCxnSpPr>
            <p:cNvPr id="33" name="直線コネクタ 32">
              <a:extLst>
                <a:ext uri="{FF2B5EF4-FFF2-40B4-BE49-F238E27FC236}">
                  <a16:creationId xmlns:a16="http://schemas.microsoft.com/office/drawing/2014/main" id="{9AEEFC8E-D6EE-083C-E2C6-38CDF92D70CF}"/>
                </a:ext>
              </a:extLst>
            </p:cNvPr>
            <p:cNvCxnSpPr>
              <a:cxnSpLocks/>
            </p:cNvCxnSpPr>
            <p:nvPr/>
          </p:nvCxnSpPr>
          <p:spPr>
            <a:xfrm flipV="1">
              <a:off x="7260127" y="3614050"/>
              <a:ext cx="835642" cy="415802"/>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1BAF7ECC-F317-F647-585E-B1A3E04E7D59}"/>
                </a:ext>
              </a:extLst>
            </p:cNvPr>
            <p:cNvCxnSpPr>
              <a:cxnSpLocks/>
            </p:cNvCxnSpPr>
            <p:nvPr/>
          </p:nvCxnSpPr>
          <p:spPr>
            <a:xfrm flipV="1">
              <a:off x="8212839" y="3325411"/>
              <a:ext cx="841697" cy="246252"/>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BB0D52F3-3810-C366-4A3E-CACEA159F85E}"/>
                </a:ext>
              </a:extLst>
            </p:cNvPr>
            <p:cNvCxnSpPr>
              <a:cxnSpLocks/>
            </p:cNvCxnSpPr>
            <p:nvPr/>
          </p:nvCxnSpPr>
          <p:spPr>
            <a:xfrm flipV="1">
              <a:off x="9173625" y="3222470"/>
              <a:ext cx="837660" cy="68628"/>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EFD3F3EB-30E9-120A-C17F-138E3F93609D}"/>
                </a:ext>
              </a:extLst>
            </p:cNvPr>
            <p:cNvCxnSpPr>
              <a:cxnSpLocks/>
            </p:cNvCxnSpPr>
            <p:nvPr/>
          </p:nvCxnSpPr>
          <p:spPr>
            <a:xfrm>
              <a:off x="10102116" y="3232562"/>
              <a:ext cx="847752" cy="343138"/>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7" name="グループ化 36">
              <a:extLst>
                <a:ext uri="{FF2B5EF4-FFF2-40B4-BE49-F238E27FC236}">
                  <a16:creationId xmlns:a16="http://schemas.microsoft.com/office/drawing/2014/main" id="{5484B996-5746-5A09-A3DF-A3C2F2EAA92B}"/>
                </a:ext>
              </a:extLst>
            </p:cNvPr>
            <p:cNvGrpSpPr/>
            <p:nvPr/>
          </p:nvGrpSpPr>
          <p:grpSpPr>
            <a:xfrm>
              <a:off x="10655789" y="2856073"/>
              <a:ext cx="1375980" cy="235667"/>
              <a:chOff x="10655789" y="2381939"/>
              <a:chExt cx="1375980" cy="235667"/>
            </a:xfrm>
          </p:grpSpPr>
          <p:sp>
            <p:nvSpPr>
              <p:cNvPr id="46" name="円: 塗りつぶしなし 45">
                <a:extLst>
                  <a:ext uri="{FF2B5EF4-FFF2-40B4-BE49-F238E27FC236}">
                    <a16:creationId xmlns:a16="http://schemas.microsoft.com/office/drawing/2014/main" id="{7222C13B-4A3E-B840-34DD-AB1CE5DD2564}"/>
                  </a:ext>
                </a:extLst>
              </p:cNvPr>
              <p:cNvSpPr/>
              <p:nvPr/>
            </p:nvSpPr>
            <p:spPr bwMode="auto">
              <a:xfrm>
                <a:off x="10655789" y="2429788"/>
                <a:ext cx="139976" cy="139977"/>
              </a:xfrm>
              <a:prstGeom prst="donut">
                <a:avLst/>
              </a:prstGeom>
              <a:solidFill>
                <a:schemeClr val="accent6"/>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45B637FE-D869-005F-2C60-A78BDB4A5B40}"/>
                  </a:ext>
                </a:extLst>
              </p:cNvPr>
              <p:cNvSpPr/>
              <p:nvPr/>
            </p:nvSpPr>
            <p:spPr>
              <a:xfrm>
                <a:off x="10787429" y="2381939"/>
                <a:ext cx="1244340" cy="2356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kumimoji="1" lang="ja-JP" altLang="en-US" sz="1100" b="1">
                    <a:solidFill>
                      <a:schemeClr val="tx1"/>
                    </a:solidFill>
                    <a:latin typeface="メイリオ" panose="020B0604030504040204" pitchFamily="50" charset="-128"/>
                    <a:ea typeface="メイリオ" panose="020B0604030504040204" pitchFamily="50" charset="-128"/>
                  </a:rPr>
                  <a:t>営業利益</a:t>
                </a:r>
                <a:r>
                  <a:rPr kumimoji="1" lang="en-US" altLang="ja-JP" sz="1100" b="1">
                    <a:solidFill>
                      <a:schemeClr val="tx1"/>
                    </a:solidFill>
                    <a:latin typeface="メイリオ" panose="020B0604030504040204" pitchFamily="50" charset="-128"/>
                    <a:ea typeface="メイリオ" panose="020B0604030504040204" pitchFamily="50" charset="-128"/>
                  </a:rPr>
                  <a:t>(</a:t>
                </a:r>
                <a:r>
                  <a:rPr kumimoji="1" lang="ja-JP" altLang="en-US" sz="1100" b="1">
                    <a:solidFill>
                      <a:schemeClr val="tx1"/>
                    </a:solidFill>
                    <a:latin typeface="メイリオ" panose="020B0604030504040204" pitchFamily="50" charset="-128"/>
                    <a:ea typeface="メイリオ" panose="020B0604030504040204" pitchFamily="50" charset="-128"/>
                  </a:rPr>
                  <a:t>連結</a:t>
                </a:r>
                <a:r>
                  <a:rPr kumimoji="1" lang="en-US" altLang="ja-JP" sz="1100" b="1">
                    <a:solidFill>
                      <a:schemeClr val="tx1"/>
                    </a:solidFill>
                    <a:latin typeface="メイリオ" panose="020B0604030504040204" pitchFamily="50" charset="-128"/>
                    <a:ea typeface="メイリオ" panose="020B0604030504040204" pitchFamily="50" charset="-128"/>
                  </a:rPr>
                  <a:t>)</a:t>
                </a:r>
                <a:endParaRPr kumimoji="1" lang="ja-JP" altLang="en-US" sz="1100" b="1">
                  <a:solidFill>
                    <a:schemeClr val="tx1"/>
                  </a:solidFill>
                  <a:latin typeface="メイリオ" panose="020B0604030504040204" pitchFamily="50" charset="-128"/>
                  <a:ea typeface="メイリオ" panose="020B0604030504040204" pitchFamily="50" charset="-128"/>
                </a:endParaRPr>
              </a:p>
            </p:txBody>
          </p:sp>
        </p:grpSp>
        <p:grpSp>
          <p:nvGrpSpPr>
            <p:cNvPr id="38" name="グループ化 37">
              <a:extLst>
                <a:ext uri="{FF2B5EF4-FFF2-40B4-BE49-F238E27FC236}">
                  <a16:creationId xmlns:a16="http://schemas.microsoft.com/office/drawing/2014/main" id="{4D096F49-84CD-0326-A684-4DD3A834ED23}"/>
                </a:ext>
              </a:extLst>
            </p:cNvPr>
            <p:cNvGrpSpPr/>
            <p:nvPr/>
          </p:nvGrpSpPr>
          <p:grpSpPr>
            <a:xfrm>
              <a:off x="5967941" y="2843627"/>
              <a:ext cx="1310046" cy="226067"/>
              <a:chOff x="5967941" y="2369493"/>
              <a:chExt cx="1310046" cy="226067"/>
            </a:xfrm>
          </p:grpSpPr>
          <p:sp>
            <p:nvSpPr>
              <p:cNvPr id="44" name="正方形/長方形 43">
                <a:extLst>
                  <a:ext uri="{FF2B5EF4-FFF2-40B4-BE49-F238E27FC236}">
                    <a16:creationId xmlns:a16="http://schemas.microsoft.com/office/drawing/2014/main" id="{2CCA5A18-A73F-F810-E3CC-04138FBBBA8E}"/>
                  </a:ext>
                </a:extLst>
              </p:cNvPr>
              <p:cNvSpPr/>
              <p:nvPr/>
            </p:nvSpPr>
            <p:spPr>
              <a:xfrm>
                <a:off x="6069678" y="2369493"/>
                <a:ext cx="1208309" cy="2260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600"/>
                  </a:spcBef>
                </a:pPr>
                <a:r>
                  <a:rPr kumimoji="1" lang="ja-JP" altLang="en-US" sz="1100" b="1">
                    <a:solidFill>
                      <a:schemeClr val="tx1"/>
                    </a:solidFill>
                    <a:latin typeface="メイリオ" panose="020B0604030504040204" pitchFamily="50" charset="-128"/>
                    <a:ea typeface="メイリオ" panose="020B0604030504040204" pitchFamily="50" charset="-128"/>
                  </a:rPr>
                  <a:t>売上</a:t>
                </a:r>
                <a:r>
                  <a:rPr lang="ja-JP" altLang="en-US" sz="1100" b="1">
                    <a:solidFill>
                      <a:schemeClr val="tx1"/>
                    </a:solidFill>
                    <a:latin typeface="メイリオ" panose="020B0604030504040204" pitchFamily="50" charset="-128"/>
                    <a:ea typeface="メイリオ" panose="020B0604030504040204" pitchFamily="50" charset="-128"/>
                  </a:rPr>
                  <a:t>高</a:t>
                </a:r>
                <a:r>
                  <a:rPr lang="en-US" altLang="ja-JP" sz="1100" b="1">
                    <a:solidFill>
                      <a:schemeClr val="tx1"/>
                    </a:solidFill>
                    <a:latin typeface="メイリオ" panose="020B0604030504040204" pitchFamily="50" charset="-128"/>
                    <a:ea typeface="メイリオ" panose="020B0604030504040204" pitchFamily="50" charset="-128"/>
                  </a:rPr>
                  <a:t>(</a:t>
                </a:r>
                <a:r>
                  <a:rPr lang="ja-JP" altLang="en-US" sz="1100" b="1">
                    <a:solidFill>
                      <a:schemeClr val="tx1"/>
                    </a:solidFill>
                    <a:latin typeface="メイリオ" panose="020B0604030504040204" pitchFamily="50" charset="-128"/>
                    <a:ea typeface="メイリオ" panose="020B0604030504040204" pitchFamily="50" charset="-128"/>
                  </a:rPr>
                  <a:t>連結</a:t>
                </a:r>
                <a:r>
                  <a:rPr lang="en-US" altLang="ja-JP" sz="1100" b="1">
                    <a:solidFill>
                      <a:schemeClr val="tx1"/>
                    </a:solidFill>
                    <a:latin typeface="メイリオ" panose="020B0604030504040204" pitchFamily="50" charset="-128"/>
                    <a:ea typeface="メイリオ" panose="020B0604030504040204" pitchFamily="50" charset="-128"/>
                  </a:rPr>
                  <a:t>)</a:t>
                </a:r>
                <a:endParaRPr kumimoji="1" lang="ja-JP" altLang="en-US" sz="1100" b="1">
                  <a:solidFill>
                    <a:schemeClr val="tx1"/>
                  </a:solidFill>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3C8DA640-5798-7672-72BF-0F698654E5BC}"/>
                  </a:ext>
                </a:extLst>
              </p:cNvPr>
              <p:cNvSpPr/>
              <p:nvPr/>
            </p:nvSpPr>
            <p:spPr bwMode="auto">
              <a:xfrm>
                <a:off x="5967941" y="2406063"/>
                <a:ext cx="131676" cy="131674"/>
              </a:xfrm>
              <a:prstGeom prst="rect">
                <a:avLst/>
              </a:prstGeom>
              <a:solidFill>
                <a:schemeClr val="accent4">
                  <a:lumMod val="60000"/>
                  <a:lumOff val="4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grpSp>
          <p:nvGrpSpPr>
            <p:cNvPr id="39" name="グループ化 38">
              <a:extLst>
                <a:ext uri="{FF2B5EF4-FFF2-40B4-BE49-F238E27FC236}">
                  <a16:creationId xmlns:a16="http://schemas.microsoft.com/office/drawing/2014/main" id="{C772AABB-1CE2-FFAA-F3BA-3292C0651B5D}"/>
                </a:ext>
              </a:extLst>
            </p:cNvPr>
            <p:cNvGrpSpPr/>
            <p:nvPr/>
          </p:nvGrpSpPr>
          <p:grpSpPr>
            <a:xfrm>
              <a:off x="11351857" y="3556997"/>
              <a:ext cx="776936" cy="1588772"/>
              <a:chOff x="11389957" y="3576047"/>
              <a:chExt cx="776936" cy="1588772"/>
            </a:xfrm>
          </p:grpSpPr>
          <p:sp>
            <p:nvSpPr>
              <p:cNvPr id="40" name="正方形/長方形 39">
                <a:extLst>
                  <a:ext uri="{FF2B5EF4-FFF2-40B4-BE49-F238E27FC236}">
                    <a16:creationId xmlns:a16="http://schemas.microsoft.com/office/drawing/2014/main" id="{CB46EF0B-5753-AC6B-B638-C8D723014D10}"/>
                  </a:ext>
                </a:extLst>
              </p:cNvPr>
              <p:cNvSpPr/>
              <p:nvPr/>
            </p:nvSpPr>
            <p:spPr>
              <a:xfrm>
                <a:off x="11389957" y="3576047"/>
                <a:ext cx="776936" cy="235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600"/>
                  </a:spcBef>
                </a:pPr>
                <a:r>
                  <a:rPr lang="en-US" altLang="ja-JP" sz="1050">
                    <a:solidFill>
                      <a:schemeClr val="tx1"/>
                    </a:solidFill>
                    <a:latin typeface="メイリオ" panose="020B0604030504040204" pitchFamily="50" charset="-128"/>
                    <a:ea typeface="メイリオ" panose="020B0604030504040204" pitchFamily="50" charset="-128"/>
                  </a:rPr>
                  <a:t>3,500</a:t>
                </a:r>
                <a:endParaRPr kumimoji="1" lang="ja-JP" altLang="en-US" sz="1050">
                  <a:solidFill>
                    <a:schemeClr val="tx1"/>
                  </a:solidFill>
                  <a:latin typeface="メイリオ" panose="020B0604030504040204" pitchFamily="50" charset="-128"/>
                  <a:ea typeface="メイリオ" panose="020B0604030504040204" pitchFamily="50" charset="-128"/>
                </a:endParaRPr>
              </a:p>
            </p:txBody>
          </p:sp>
          <p:sp>
            <p:nvSpPr>
              <p:cNvPr id="41" name="正方形/長方形 40">
                <a:extLst>
                  <a:ext uri="{FF2B5EF4-FFF2-40B4-BE49-F238E27FC236}">
                    <a16:creationId xmlns:a16="http://schemas.microsoft.com/office/drawing/2014/main" id="{9CD79ED8-7B11-87B4-9B92-45EA437C93C8}"/>
                  </a:ext>
                </a:extLst>
              </p:cNvPr>
              <p:cNvSpPr/>
              <p:nvPr/>
            </p:nvSpPr>
            <p:spPr>
              <a:xfrm>
                <a:off x="11389957" y="4055576"/>
                <a:ext cx="776936" cy="235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600"/>
                  </a:spcBef>
                </a:pPr>
                <a:r>
                  <a:rPr lang="en-US" altLang="ja-JP" sz="1050">
                    <a:solidFill>
                      <a:schemeClr val="tx1"/>
                    </a:solidFill>
                    <a:latin typeface="メイリオ" panose="020B0604030504040204" pitchFamily="50" charset="-128"/>
                    <a:ea typeface="メイリオ" panose="020B0604030504040204" pitchFamily="50" charset="-128"/>
                  </a:rPr>
                  <a:t>2,500</a:t>
                </a:r>
                <a:endParaRPr kumimoji="1" lang="ja-JP" altLang="en-US" sz="1050">
                  <a:solidFill>
                    <a:schemeClr val="tx1"/>
                  </a:solidFill>
                  <a:latin typeface="メイリオ" panose="020B0604030504040204" pitchFamily="50" charset="-128"/>
                  <a:ea typeface="メイリオ" panose="020B0604030504040204" pitchFamily="50" charset="-128"/>
                </a:endParaRPr>
              </a:p>
            </p:txBody>
          </p:sp>
          <p:sp>
            <p:nvSpPr>
              <p:cNvPr id="42" name="正方形/長方形 41">
                <a:extLst>
                  <a:ext uri="{FF2B5EF4-FFF2-40B4-BE49-F238E27FC236}">
                    <a16:creationId xmlns:a16="http://schemas.microsoft.com/office/drawing/2014/main" id="{295C6551-DE7E-A56C-4D0B-634A6F50E23E}"/>
                  </a:ext>
                </a:extLst>
              </p:cNvPr>
              <p:cNvSpPr/>
              <p:nvPr/>
            </p:nvSpPr>
            <p:spPr>
              <a:xfrm>
                <a:off x="11389957" y="4510944"/>
                <a:ext cx="776936" cy="235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600"/>
                  </a:spcBef>
                </a:pPr>
                <a:r>
                  <a:rPr lang="en-US" altLang="ja-JP" sz="1050">
                    <a:solidFill>
                      <a:schemeClr val="tx1"/>
                    </a:solidFill>
                    <a:latin typeface="メイリオ" panose="020B0604030504040204" pitchFamily="50" charset="-128"/>
                    <a:ea typeface="メイリオ" panose="020B0604030504040204" pitchFamily="50" charset="-128"/>
                  </a:rPr>
                  <a:t>1,500</a:t>
                </a:r>
                <a:endParaRPr kumimoji="1" lang="ja-JP" altLang="en-US" sz="1050">
                  <a:solidFill>
                    <a:schemeClr val="tx1"/>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3DED4F17-CF35-D51F-F864-56AEB007FA2D}"/>
                  </a:ext>
                </a:extLst>
              </p:cNvPr>
              <p:cNvSpPr/>
              <p:nvPr/>
            </p:nvSpPr>
            <p:spPr>
              <a:xfrm>
                <a:off x="11389957" y="4929153"/>
                <a:ext cx="776936" cy="235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600"/>
                  </a:spcBef>
                </a:pPr>
                <a:r>
                  <a:rPr lang="en-US" altLang="ja-JP" sz="1050">
                    <a:solidFill>
                      <a:schemeClr val="tx1"/>
                    </a:solidFill>
                    <a:latin typeface="メイリオ" panose="020B0604030504040204" pitchFamily="50" charset="-128"/>
                    <a:ea typeface="メイリオ" panose="020B0604030504040204" pitchFamily="50" charset="-128"/>
                  </a:rPr>
                  <a:t>500</a:t>
                </a:r>
                <a:endParaRPr kumimoji="1" lang="ja-JP" altLang="en-US" sz="1050">
                  <a:solidFill>
                    <a:schemeClr val="tx1"/>
                  </a:solidFill>
                  <a:latin typeface="メイリオ" panose="020B0604030504040204" pitchFamily="50" charset="-128"/>
                  <a:ea typeface="メイリオ" panose="020B0604030504040204" pitchFamily="50" charset="-128"/>
                </a:endParaRPr>
              </a:p>
            </p:txBody>
          </p:sp>
        </p:grpSp>
      </p:grpSp>
      <p:sp>
        <p:nvSpPr>
          <p:cNvPr id="92" name="テキスト ボックス 91">
            <a:extLst>
              <a:ext uri="{FF2B5EF4-FFF2-40B4-BE49-F238E27FC236}">
                <a16:creationId xmlns:a16="http://schemas.microsoft.com/office/drawing/2014/main" id="{529BD3CD-2BF2-7564-4787-0BF6699637CB}"/>
              </a:ext>
            </a:extLst>
          </p:cNvPr>
          <p:cNvSpPr txBox="1"/>
          <p:nvPr/>
        </p:nvSpPr>
        <p:spPr>
          <a:xfrm>
            <a:off x="599232" y="4504774"/>
            <a:ext cx="1806905" cy="246221"/>
          </a:xfrm>
          <a:prstGeom prst="rect">
            <a:avLst/>
          </a:prstGeom>
          <a:noFill/>
        </p:spPr>
        <p:txBody>
          <a:bodyPr wrap="none" rtlCol="0">
            <a:spAutoFit/>
          </a:bodyPr>
          <a:lstStyle/>
          <a:p>
            <a:r>
              <a:rPr lang="en-US" altLang="ja-JP" sz="1000">
                <a:solidFill>
                  <a:schemeClr val="tx1"/>
                </a:solidFill>
                <a:latin typeface="メイリオ" panose="020B0604030504040204" pitchFamily="50" charset="-128"/>
                <a:ea typeface="メイリオ" panose="020B0604030504040204" pitchFamily="50" charset="-128"/>
              </a:rPr>
              <a:t>※2025</a:t>
            </a:r>
            <a:r>
              <a:rPr lang="ja-JP" altLang="en-US" sz="1000">
                <a:solidFill>
                  <a:schemeClr val="tx1"/>
                </a:solidFill>
                <a:latin typeface="メイリオ" panose="020B0604030504040204" pitchFamily="50" charset="-128"/>
                <a:ea typeface="メイリオ" panose="020B0604030504040204" pitchFamily="50" charset="-128"/>
              </a:rPr>
              <a:t>年</a:t>
            </a:r>
            <a:r>
              <a:rPr lang="ja-JP" altLang="en-US" sz="1000">
                <a:latin typeface="メイリオ" panose="020B0604030504040204" pitchFamily="50" charset="-128"/>
                <a:ea typeface="メイリオ" panose="020B0604030504040204" pitchFamily="50" charset="-128"/>
              </a:rPr>
              <a:t>２</a:t>
            </a:r>
            <a:r>
              <a:rPr lang="ja-JP" altLang="en-US" sz="1000">
                <a:solidFill>
                  <a:schemeClr val="tx1"/>
                </a:solidFill>
                <a:latin typeface="メイリオ" panose="020B0604030504040204" pitchFamily="50" charset="-128"/>
                <a:ea typeface="メイリオ" panose="020B0604030504040204" pitchFamily="50" charset="-128"/>
              </a:rPr>
              <a:t>月期実績による</a:t>
            </a:r>
            <a:endParaRPr kumimoji="1" lang="ja-JP" altLang="en-US" sz="1000">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9A5115E-7E0D-275E-34CD-7952C411F361}"/>
              </a:ext>
            </a:extLst>
          </p:cNvPr>
          <p:cNvSpPr txBox="1"/>
          <p:nvPr/>
        </p:nvSpPr>
        <p:spPr>
          <a:xfrm>
            <a:off x="3969435" y="4167985"/>
            <a:ext cx="7707135" cy="338554"/>
          </a:xfrm>
          <a:prstGeom prst="rect">
            <a:avLst/>
          </a:prstGeom>
          <a:solidFill>
            <a:schemeClr val="tx1"/>
          </a:solidFill>
        </p:spPr>
        <p:txBody>
          <a:bodyPr wrap="square" rtlCol="0" anchor="ctr">
            <a:spAutoFit/>
          </a:bodyPr>
          <a:lstStyle/>
          <a:p>
            <a:pPr algn="ctr"/>
            <a:r>
              <a:rPr kumimoji="1" lang="ja-JP" altLang="en-US" sz="1600" b="1">
                <a:solidFill>
                  <a:schemeClr val="bg1"/>
                </a:solidFill>
                <a:latin typeface="メイリオ" panose="020B0604030504040204" pitchFamily="50" charset="-128"/>
                <a:ea typeface="メイリオ" panose="020B0604030504040204" pitchFamily="50" charset="-128"/>
              </a:rPr>
              <a:t>ゲーム･エンタメ＋エンタープライズ関連の売上・利益がグループ内最大</a:t>
            </a:r>
          </a:p>
        </p:txBody>
      </p:sp>
      <p:grpSp>
        <p:nvGrpSpPr>
          <p:cNvPr id="115" name="グループ化 114">
            <a:extLst>
              <a:ext uri="{FF2B5EF4-FFF2-40B4-BE49-F238E27FC236}">
                <a16:creationId xmlns:a16="http://schemas.microsoft.com/office/drawing/2014/main" id="{C7E768B4-BE1B-CB35-6A30-92B16BEE9296}"/>
              </a:ext>
            </a:extLst>
          </p:cNvPr>
          <p:cNvGrpSpPr/>
          <p:nvPr/>
        </p:nvGrpSpPr>
        <p:grpSpPr>
          <a:xfrm rot="1838938">
            <a:off x="3599078" y="4153203"/>
            <a:ext cx="362771" cy="2075633"/>
            <a:chOff x="4325013" y="4495764"/>
            <a:chExt cx="362771" cy="2075633"/>
          </a:xfrm>
        </p:grpSpPr>
        <p:grpSp>
          <p:nvGrpSpPr>
            <p:cNvPr id="112" name="グループ化 111">
              <a:extLst>
                <a:ext uri="{FF2B5EF4-FFF2-40B4-BE49-F238E27FC236}">
                  <a16:creationId xmlns:a16="http://schemas.microsoft.com/office/drawing/2014/main" id="{BB069579-8858-DD15-28B1-AC519C011CA8}"/>
                </a:ext>
              </a:extLst>
            </p:cNvPr>
            <p:cNvGrpSpPr/>
            <p:nvPr/>
          </p:nvGrpSpPr>
          <p:grpSpPr>
            <a:xfrm>
              <a:off x="4325013" y="4495764"/>
              <a:ext cx="362771" cy="2075633"/>
              <a:chOff x="4325013" y="4495764"/>
              <a:chExt cx="362771" cy="2075633"/>
            </a:xfrm>
          </p:grpSpPr>
          <p:grpSp>
            <p:nvGrpSpPr>
              <p:cNvPr id="110" name="グループ化 109">
                <a:extLst>
                  <a:ext uri="{FF2B5EF4-FFF2-40B4-BE49-F238E27FC236}">
                    <a16:creationId xmlns:a16="http://schemas.microsoft.com/office/drawing/2014/main" id="{AD2247D0-8B33-8238-E033-5F13B0A0F37E}"/>
                  </a:ext>
                </a:extLst>
              </p:cNvPr>
              <p:cNvGrpSpPr/>
              <p:nvPr/>
            </p:nvGrpSpPr>
            <p:grpSpPr>
              <a:xfrm>
                <a:off x="4325013" y="4495764"/>
                <a:ext cx="362770" cy="924084"/>
                <a:chOff x="4329709" y="4483172"/>
                <a:chExt cx="362770" cy="924084"/>
              </a:xfrm>
            </p:grpSpPr>
            <p:sp>
              <p:nvSpPr>
                <p:cNvPr id="105" name="矢印: 右 104">
                  <a:extLst>
                    <a:ext uri="{FF2B5EF4-FFF2-40B4-BE49-F238E27FC236}">
                      <a16:creationId xmlns:a16="http://schemas.microsoft.com/office/drawing/2014/main" id="{49766D4F-8408-57E3-43B5-EB2916ABB977}"/>
                    </a:ext>
                  </a:extLst>
                </p:cNvPr>
                <p:cNvSpPr/>
                <p:nvPr/>
              </p:nvSpPr>
              <p:spPr bwMode="auto">
                <a:xfrm rot="5400000">
                  <a:off x="4313664" y="5028442"/>
                  <a:ext cx="394859" cy="362770"/>
                </a:xfrm>
                <a:prstGeom prst="rightArrow">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nvGrpSpPr>
                <p:cNvPr id="109" name="グループ化 108">
                  <a:extLst>
                    <a:ext uri="{FF2B5EF4-FFF2-40B4-BE49-F238E27FC236}">
                      <a16:creationId xmlns:a16="http://schemas.microsoft.com/office/drawing/2014/main" id="{DFD2F231-C084-DB7A-77CD-385F9608805A}"/>
                    </a:ext>
                  </a:extLst>
                </p:cNvPr>
                <p:cNvGrpSpPr/>
                <p:nvPr/>
              </p:nvGrpSpPr>
              <p:grpSpPr>
                <a:xfrm>
                  <a:off x="4417769" y="4483172"/>
                  <a:ext cx="186648" cy="512191"/>
                  <a:chOff x="4422390" y="4483172"/>
                  <a:chExt cx="186648" cy="512191"/>
                </a:xfrm>
              </p:grpSpPr>
              <p:sp>
                <p:nvSpPr>
                  <p:cNvPr id="104" name="正方形/長方形 103">
                    <a:extLst>
                      <a:ext uri="{FF2B5EF4-FFF2-40B4-BE49-F238E27FC236}">
                        <a16:creationId xmlns:a16="http://schemas.microsoft.com/office/drawing/2014/main" id="{540A0C7A-C284-1467-A609-DB88EC41E27C}"/>
                      </a:ext>
                    </a:extLst>
                  </p:cNvPr>
                  <p:cNvSpPr/>
                  <p:nvPr/>
                </p:nvSpPr>
                <p:spPr bwMode="auto">
                  <a:xfrm>
                    <a:off x="4422390" y="4483172"/>
                    <a:ext cx="184920" cy="323129"/>
                  </a:xfrm>
                  <a:prstGeom prst="rect">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F0C43274-972D-0C15-08CB-5E555094CF2B}"/>
                      </a:ext>
                    </a:extLst>
                  </p:cNvPr>
                  <p:cNvSpPr/>
                  <p:nvPr/>
                </p:nvSpPr>
                <p:spPr bwMode="auto">
                  <a:xfrm>
                    <a:off x="4422390" y="4821253"/>
                    <a:ext cx="184920" cy="45918"/>
                  </a:xfrm>
                  <a:prstGeom prst="rect">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07" name="正方形/長方形 106">
                    <a:extLst>
                      <a:ext uri="{FF2B5EF4-FFF2-40B4-BE49-F238E27FC236}">
                        <a16:creationId xmlns:a16="http://schemas.microsoft.com/office/drawing/2014/main" id="{1C9D3600-F6B7-989F-D94E-C38B6D7D9A42}"/>
                      </a:ext>
                    </a:extLst>
                  </p:cNvPr>
                  <p:cNvSpPr/>
                  <p:nvPr/>
                </p:nvSpPr>
                <p:spPr bwMode="auto">
                  <a:xfrm>
                    <a:off x="4422390" y="4885349"/>
                    <a:ext cx="184920" cy="45918"/>
                  </a:xfrm>
                  <a:prstGeom prst="rect">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08" name="正方形/長方形 107">
                    <a:extLst>
                      <a:ext uri="{FF2B5EF4-FFF2-40B4-BE49-F238E27FC236}">
                        <a16:creationId xmlns:a16="http://schemas.microsoft.com/office/drawing/2014/main" id="{075187EA-E245-1E87-0753-4F06A377F3F7}"/>
                      </a:ext>
                    </a:extLst>
                  </p:cNvPr>
                  <p:cNvSpPr/>
                  <p:nvPr/>
                </p:nvSpPr>
                <p:spPr bwMode="auto">
                  <a:xfrm>
                    <a:off x="4424118" y="4949445"/>
                    <a:ext cx="184920" cy="45918"/>
                  </a:xfrm>
                  <a:prstGeom prst="rect">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grpSp>
          <p:sp>
            <p:nvSpPr>
              <p:cNvPr id="111" name="矢印: 右 110">
                <a:extLst>
                  <a:ext uri="{FF2B5EF4-FFF2-40B4-BE49-F238E27FC236}">
                    <a16:creationId xmlns:a16="http://schemas.microsoft.com/office/drawing/2014/main" id="{B509F479-237D-0F2C-FF82-C3FD60F34A9B}"/>
                  </a:ext>
                </a:extLst>
              </p:cNvPr>
              <p:cNvSpPr/>
              <p:nvPr/>
            </p:nvSpPr>
            <p:spPr bwMode="auto">
              <a:xfrm rot="5400000">
                <a:off x="4308969" y="6192583"/>
                <a:ext cx="394859" cy="362770"/>
              </a:xfrm>
              <a:prstGeom prst="rightArrow">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sp>
          <p:nvSpPr>
            <p:cNvPr id="113" name="正方形/長方形 112">
              <a:extLst>
                <a:ext uri="{FF2B5EF4-FFF2-40B4-BE49-F238E27FC236}">
                  <a16:creationId xmlns:a16="http://schemas.microsoft.com/office/drawing/2014/main" id="{5D5800B4-25AC-A753-3C4A-E357B7B69AF0}"/>
                </a:ext>
              </a:extLst>
            </p:cNvPr>
            <p:cNvSpPr/>
            <p:nvPr/>
          </p:nvSpPr>
          <p:spPr bwMode="auto">
            <a:xfrm>
              <a:off x="4415707" y="6112759"/>
              <a:ext cx="184920" cy="45918"/>
            </a:xfrm>
            <a:prstGeom prst="rect">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B16492EC-5E27-792D-E88F-C7D11D59981F}"/>
                </a:ext>
              </a:extLst>
            </p:cNvPr>
            <p:cNvSpPr/>
            <p:nvPr/>
          </p:nvSpPr>
          <p:spPr bwMode="auto">
            <a:xfrm>
              <a:off x="4415707" y="6049909"/>
              <a:ext cx="184920" cy="45918"/>
            </a:xfrm>
            <a:prstGeom prst="rect">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833417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6EDD6D42-57F3-2993-9D6E-E48ABF466B33}"/>
              </a:ext>
            </a:extLst>
          </p:cNvPr>
          <p:cNvSpPr>
            <a:spLocks noGrp="1"/>
          </p:cNvSpPr>
          <p:nvPr>
            <p:ph type="title"/>
          </p:nvPr>
        </p:nvSpPr>
        <p:spPr/>
        <p:txBody>
          <a:bodyPr>
            <a:normAutofit fontScale="90000"/>
          </a:bodyPr>
          <a:lstStyle/>
          <a:p>
            <a:r>
              <a:rPr lang="en-US" altLang="ja-JP" sz="2800" b="1" dirty="0"/>
              <a:t>C&amp;R</a:t>
            </a:r>
            <a:r>
              <a:rPr lang="ja-JP" altLang="en-US" sz="2800" b="1" dirty="0"/>
              <a:t>グループの対応分野と取引社数</a:t>
            </a:r>
            <a:endParaRPr lang="ja-JP" altLang="en-US" dirty="0"/>
          </a:p>
        </p:txBody>
      </p:sp>
      <p:sp>
        <p:nvSpPr>
          <p:cNvPr id="4" name="スライド番号プレースホルダー 3">
            <a:extLst>
              <a:ext uri="{FF2B5EF4-FFF2-40B4-BE49-F238E27FC236}">
                <a16:creationId xmlns:a16="http://schemas.microsoft.com/office/drawing/2014/main" id="{D5124C46-920B-705F-23CC-5FA67E258007}"/>
              </a:ext>
            </a:extLst>
          </p:cNvPr>
          <p:cNvSpPr>
            <a:spLocks noGrp="1"/>
          </p:cNvSpPr>
          <p:nvPr>
            <p:ph type="sldNum" sz="quarter" idx="11"/>
          </p:nvPr>
        </p:nvSpPr>
        <p:spPr/>
        <p:txBody>
          <a:bodyPr/>
          <a:lstStyle/>
          <a:p>
            <a:fld id="{B75FDD43-FCEC-4ECC-8189-A5C6D2E08DC6}" type="slidenum">
              <a:rPr lang="ja-JP" altLang="en-US" smtClean="0"/>
              <a:pPr/>
              <a:t>7</a:t>
            </a:fld>
            <a:endParaRPr lang="ja-JP" altLang="en-US"/>
          </a:p>
        </p:txBody>
      </p:sp>
      <p:grpSp>
        <p:nvGrpSpPr>
          <p:cNvPr id="10" name="グループ化 9">
            <a:extLst>
              <a:ext uri="{FF2B5EF4-FFF2-40B4-BE49-F238E27FC236}">
                <a16:creationId xmlns:a16="http://schemas.microsoft.com/office/drawing/2014/main" id="{143B7B30-77F9-FCF5-D458-7D7D38398C97}"/>
              </a:ext>
            </a:extLst>
          </p:cNvPr>
          <p:cNvGrpSpPr/>
          <p:nvPr/>
        </p:nvGrpSpPr>
        <p:grpSpPr>
          <a:xfrm>
            <a:off x="5220377" y="880115"/>
            <a:ext cx="6348775" cy="2215991"/>
            <a:chOff x="6462763" y="1299145"/>
            <a:chExt cx="6348775" cy="2215991"/>
          </a:xfrm>
        </p:grpSpPr>
        <p:sp>
          <p:nvSpPr>
            <p:cNvPr id="17" name="テキスト ボックス 16">
              <a:extLst>
                <a:ext uri="{FF2B5EF4-FFF2-40B4-BE49-F238E27FC236}">
                  <a16:creationId xmlns:a16="http://schemas.microsoft.com/office/drawing/2014/main" id="{B63CB33C-2EBC-04CD-94DB-796891C2F2B4}"/>
                </a:ext>
              </a:extLst>
            </p:cNvPr>
            <p:cNvSpPr txBox="1"/>
            <p:nvPr/>
          </p:nvSpPr>
          <p:spPr>
            <a:xfrm>
              <a:off x="6462763" y="1299145"/>
              <a:ext cx="6348775" cy="2215991"/>
            </a:xfrm>
            <a:prstGeom prst="rect">
              <a:avLst/>
            </a:prstGeom>
            <a:noFill/>
          </p:spPr>
          <p:txBody>
            <a:bodyPr wrap="square" rtlCol="0">
              <a:spAutoFit/>
            </a:bodyPr>
            <a:lstStyle/>
            <a:p>
              <a:r>
                <a:rPr lang="en-US" altLang="ja-JP" sz="3600" b="1" i="0">
                  <a:effectLst/>
                  <a:latin typeface="メイリオ" panose="020B0604030504040204" pitchFamily="50" charset="-128"/>
                  <a:ea typeface="メイリオ" panose="020B0604030504040204" pitchFamily="50" charset="-128"/>
                </a:rPr>
                <a:t>Business field</a:t>
              </a:r>
            </a:p>
            <a:p>
              <a:r>
                <a:rPr lang="en-US" altLang="ja-JP" sz="6600" b="1">
                  <a:latin typeface="メイリオ" panose="020B0604030504040204" pitchFamily="50" charset="-128"/>
                  <a:ea typeface="メイリオ" panose="020B0604030504040204" pitchFamily="50" charset="-128"/>
                  <a:cs typeface="Aharoni" panose="02010803020104030203" pitchFamily="2" charset="-79"/>
                </a:rPr>
                <a:t>18</a:t>
              </a:r>
              <a:r>
                <a:rPr lang="ja-JP" altLang="en-US" sz="2400" b="1">
                  <a:latin typeface="メイリオ" panose="020B0604030504040204" pitchFamily="50" charset="-128"/>
                  <a:ea typeface="メイリオ" panose="020B0604030504040204" pitchFamily="50" charset="-128"/>
                  <a:cs typeface="Aharoni" panose="02010803020104030203" pitchFamily="2" charset="-79"/>
                </a:rPr>
                <a:t>分野 </a:t>
              </a:r>
              <a:r>
                <a:rPr lang="en-US" altLang="ja-JP" sz="6600" b="1">
                  <a:latin typeface="メイリオ" panose="020B0604030504040204" pitchFamily="50" charset="-128"/>
                  <a:ea typeface="メイリオ" panose="020B0604030504040204" pitchFamily="50" charset="-128"/>
                  <a:cs typeface="Aharoni" panose="02010803020104030203" pitchFamily="2" charset="-79"/>
                </a:rPr>
                <a:t>415,000</a:t>
              </a:r>
              <a:r>
                <a:rPr lang="ja-JP" altLang="en-US" sz="2400" b="1">
                  <a:latin typeface="メイリオ" panose="020B0604030504040204" pitchFamily="50" charset="-128"/>
                  <a:ea typeface="メイリオ" panose="020B0604030504040204" pitchFamily="50" charset="-128"/>
                  <a:cs typeface="Aharoni" panose="02010803020104030203" pitchFamily="2" charset="-79"/>
                </a:rPr>
                <a:t>人</a:t>
              </a:r>
              <a:endParaRPr kumimoji="1" lang="ja-JP" altLang="en-US" sz="1600" b="1">
                <a:latin typeface="メイリオ" panose="020B0604030504040204" pitchFamily="50" charset="-128"/>
                <a:ea typeface="メイリオ" panose="020B0604030504040204" pitchFamily="50" charset="-128"/>
                <a:cs typeface="Aharoni" panose="02010803020104030203" pitchFamily="2" charset="-79"/>
              </a:endParaRPr>
            </a:p>
            <a:p>
              <a:endParaRPr kumimoji="1" lang="ja-JP" altLang="en-US" sz="3600" b="1">
                <a:latin typeface="メイリオ" panose="020B0604030504040204" pitchFamily="50" charset="-128"/>
                <a:ea typeface="メイリオ" panose="020B0604030504040204" pitchFamily="50" charset="-128"/>
                <a:cs typeface="Aharoni" panose="02010803020104030203" pitchFamily="2" charset="-79"/>
              </a:endParaRPr>
            </a:p>
          </p:txBody>
        </p:sp>
        <p:sp>
          <p:nvSpPr>
            <p:cNvPr id="3" name="正方形/長方形 2">
              <a:extLst>
                <a:ext uri="{FF2B5EF4-FFF2-40B4-BE49-F238E27FC236}">
                  <a16:creationId xmlns:a16="http://schemas.microsoft.com/office/drawing/2014/main" id="{1E1A7A1D-B728-2F74-5F4D-2D68E8788E89}"/>
                </a:ext>
              </a:extLst>
            </p:cNvPr>
            <p:cNvSpPr/>
            <p:nvPr/>
          </p:nvSpPr>
          <p:spPr>
            <a:xfrm>
              <a:off x="6462763" y="2873389"/>
              <a:ext cx="4400706" cy="435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altLang="ja-JP" sz="1600">
                  <a:solidFill>
                    <a:schemeClr val="tx1"/>
                  </a:solidFill>
                  <a:latin typeface="メイリオ" panose="020B0604030504040204" pitchFamily="50" charset="-128"/>
                  <a:ea typeface="メイリオ" panose="020B0604030504040204" pitchFamily="50" charset="-128"/>
                </a:rPr>
                <a:t>C&amp;R</a:t>
              </a:r>
              <a:r>
                <a:rPr lang="ja-JP" altLang="en-US" sz="1600">
                  <a:solidFill>
                    <a:schemeClr val="tx1"/>
                  </a:solidFill>
                  <a:latin typeface="メイリオ" panose="020B0604030504040204" pitchFamily="50" charset="-128"/>
                  <a:ea typeface="メイリオ" panose="020B0604030504040204" pitchFamily="50" charset="-128"/>
                </a:rPr>
                <a:t>グループのプロフェッショナル領域</a:t>
              </a:r>
              <a:endParaRPr kumimoji="1" lang="ja-JP" altLang="en-US" sz="1600">
                <a:solidFill>
                  <a:schemeClr val="tx1"/>
                </a:solidFill>
                <a:latin typeface="メイリオ" panose="020B0604030504040204" pitchFamily="50" charset="-128"/>
                <a:ea typeface="メイリオ" panose="020B0604030504040204" pitchFamily="50" charset="-128"/>
              </a:endParaRPr>
            </a:p>
          </p:txBody>
        </p:sp>
      </p:grpSp>
      <p:sp>
        <p:nvSpPr>
          <p:cNvPr id="2" name="正方形/長方形 1">
            <a:extLst>
              <a:ext uri="{FF2B5EF4-FFF2-40B4-BE49-F238E27FC236}">
                <a16:creationId xmlns:a16="http://schemas.microsoft.com/office/drawing/2014/main" id="{F3C94B71-D8B7-8381-4BE4-EDCB52587463}"/>
              </a:ext>
            </a:extLst>
          </p:cNvPr>
          <p:cNvSpPr/>
          <p:nvPr/>
        </p:nvSpPr>
        <p:spPr>
          <a:xfrm>
            <a:off x="5220378" y="2847583"/>
            <a:ext cx="4899996" cy="844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600"/>
              </a:spcBef>
            </a:pPr>
            <a:r>
              <a:rPr lang="en-US" altLang="ja-JP" b="1">
                <a:solidFill>
                  <a:schemeClr val="tx1"/>
                </a:solidFill>
                <a:latin typeface="メイリオ" panose="020B0604030504040204" pitchFamily="50" charset="-128"/>
                <a:ea typeface="メイリオ" panose="020B0604030504040204" pitchFamily="50" charset="-128"/>
              </a:rPr>
              <a:t>18</a:t>
            </a:r>
            <a:r>
              <a:rPr lang="ja-JP" altLang="en-US" b="1">
                <a:solidFill>
                  <a:schemeClr val="tx1"/>
                </a:solidFill>
                <a:latin typeface="メイリオ" panose="020B0604030504040204" pitchFamily="50" charset="-128"/>
                <a:ea typeface="メイリオ" panose="020B0604030504040204" pitchFamily="50" charset="-128"/>
              </a:rPr>
              <a:t>分野でプロフェッショナルの力を最大限に発揮できる環境を提供、その叡智を集結。</a:t>
            </a:r>
          </a:p>
        </p:txBody>
      </p:sp>
      <p:pic>
        <p:nvPicPr>
          <p:cNvPr id="14" name="図 13" descr="人, グループ, 子供, コンピュータ が含まれている画像&#10;&#10;自動的に生成された説明">
            <a:extLst>
              <a:ext uri="{FF2B5EF4-FFF2-40B4-BE49-F238E27FC236}">
                <a16:creationId xmlns:a16="http://schemas.microsoft.com/office/drawing/2014/main" id="{C4F22DE8-B855-5EA9-C00A-6A7ACBDF1D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9463" y="880115"/>
            <a:ext cx="3841623" cy="2561082"/>
          </a:xfrm>
          <a:prstGeom prst="rect">
            <a:avLst/>
          </a:prstGeom>
        </p:spPr>
      </p:pic>
      <p:grpSp>
        <p:nvGrpSpPr>
          <p:cNvPr id="15" name="グループ化 14">
            <a:extLst>
              <a:ext uri="{FF2B5EF4-FFF2-40B4-BE49-F238E27FC236}">
                <a16:creationId xmlns:a16="http://schemas.microsoft.com/office/drawing/2014/main" id="{6B5BF756-844A-430F-597D-96854FD937A0}"/>
              </a:ext>
            </a:extLst>
          </p:cNvPr>
          <p:cNvGrpSpPr/>
          <p:nvPr/>
        </p:nvGrpSpPr>
        <p:grpSpPr>
          <a:xfrm>
            <a:off x="964095" y="3728384"/>
            <a:ext cx="6348775" cy="2215991"/>
            <a:chOff x="6462763" y="1299145"/>
            <a:chExt cx="6348775" cy="2215991"/>
          </a:xfrm>
        </p:grpSpPr>
        <p:sp>
          <p:nvSpPr>
            <p:cNvPr id="16" name="テキスト ボックス 15">
              <a:extLst>
                <a:ext uri="{FF2B5EF4-FFF2-40B4-BE49-F238E27FC236}">
                  <a16:creationId xmlns:a16="http://schemas.microsoft.com/office/drawing/2014/main" id="{99CFD2D0-1393-6F6F-A92E-4031549F23E5}"/>
                </a:ext>
              </a:extLst>
            </p:cNvPr>
            <p:cNvSpPr txBox="1"/>
            <p:nvPr/>
          </p:nvSpPr>
          <p:spPr>
            <a:xfrm>
              <a:off x="6462763" y="1299145"/>
              <a:ext cx="6348775" cy="2215991"/>
            </a:xfrm>
            <a:prstGeom prst="rect">
              <a:avLst/>
            </a:prstGeom>
            <a:noFill/>
          </p:spPr>
          <p:txBody>
            <a:bodyPr wrap="square" rtlCol="0">
              <a:spAutoFit/>
            </a:bodyPr>
            <a:lstStyle/>
            <a:p>
              <a:r>
                <a:rPr lang="en-US" altLang="ja-JP" sz="3600" b="1" i="0">
                  <a:effectLst/>
                  <a:latin typeface="メイリオ" panose="020B0604030504040204" pitchFamily="50" charset="-128"/>
                  <a:ea typeface="メイリオ" panose="020B0604030504040204" pitchFamily="50" charset="-128"/>
                </a:rPr>
                <a:t>Clients</a:t>
              </a:r>
            </a:p>
            <a:p>
              <a:r>
                <a:rPr lang="en-US" altLang="ja-JP" sz="6600" b="1">
                  <a:latin typeface="メイリオ" panose="020B0604030504040204" pitchFamily="50" charset="-128"/>
                  <a:ea typeface="メイリオ" panose="020B0604030504040204" pitchFamily="50" charset="-128"/>
                  <a:cs typeface="Aharoni" panose="02010803020104030203" pitchFamily="2" charset="-79"/>
                </a:rPr>
                <a:t>52,000</a:t>
              </a:r>
              <a:r>
                <a:rPr lang="ja-JP" altLang="en-US" sz="2400" b="1">
                  <a:latin typeface="メイリオ" panose="020B0604030504040204" pitchFamily="50" charset="-128"/>
                  <a:ea typeface="メイリオ" panose="020B0604030504040204" pitchFamily="50" charset="-128"/>
                  <a:cs typeface="Aharoni" panose="02010803020104030203" pitchFamily="2" charset="-79"/>
                </a:rPr>
                <a:t>社</a:t>
              </a:r>
              <a:endParaRPr kumimoji="1" lang="ja-JP" altLang="en-US" sz="1600" b="1">
                <a:latin typeface="メイリオ" panose="020B0604030504040204" pitchFamily="50" charset="-128"/>
                <a:ea typeface="メイリオ" panose="020B0604030504040204" pitchFamily="50" charset="-128"/>
                <a:cs typeface="Aharoni" panose="02010803020104030203" pitchFamily="2" charset="-79"/>
              </a:endParaRPr>
            </a:p>
            <a:p>
              <a:endParaRPr kumimoji="1" lang="ja-JP" altLang="en-US" sz="3600" b="1">
                <a:latin typeface="メイリオ" panose="020B0604030504040204" pitchFamily="50" charset="-128"/>
                <a:ea typeface="メイリオ" panose="020B0604030504040204" pitchFamily="50" charset="-128"/>
                <a:cs typeface="Aharoni" panose="02010803020104030203" pitchFamily="2" charset="-79"/>
              </a:endParaRPr>
            </a:p>
          </p:txBody>
        </p:sp>
        <p:sp>
          <p:nvSpPr>
            <p:cNvPr id="18" name="正方形/長方形 17">
              <a:extLst>
                <a:ext uri="{FF2B5EF4-FFF2-40B4-BE49-F238E27FC236}">
                  <a16:creationId xmlns:a16="http://schemas.microsoft.com/office/drawing/2014/main" id="{8D7D2ABE-8F8E-9E46-D78F-C7E6BD691D4E}"/>
                </a:ext>
              </a:extLst>
            </p:cNvPr>
            <p:cNvSpPr/>
            <p:nvPr/>
          </p:nvSpPr>
          <p:spPr>
            <a:xfrm>
              <a:off x="6462763" y="2889391"/>
              <a:ext cx="4400706" cy="435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altLang="ja-JP" sz="1600">
                  <a:solidFill>
                    <a:schemeClr val="tx1"/>
                  </a:solidFill>
                  <a:latin typeface="メイリオ" panose="020B0604030504040204" pitchFamily="50" charset="-128"/>
                  <a:ea typeface="メイリオ" panose="020B0604030504040204" pitchFamily="50" charset="-128"/>
                </a:rPr>
                <a:t>C&amp;R</a:t>
              </a:r>
              <a:r>
                <a:rPr lang="ja-JP" altLang="en-US" sz="1600">
                  <a:solidFill>
                    <a:schemeClr val="tx1"/>
                  </a:solidFill>
                  <a:latin typeface="メイリオ" panose="020B0604030504040204" pitchFamily="50" charset="-128"/>
                  <a:ea typeface="メイリオ" panose="020B0604030504040204" pitchFamily="50" charset="-128"/>
                </a:rPr>
                <a:t>グループの取引先企業数</a:t>
              </a:r>
              <a:endParaRPr kumimoji="1" lang="ja-JP" altLang="en-US" sz="1600">
                <a:solidFill>
                  <a:schemeClr val="tx1"/>
                </a:solidFill>
                <a:latin typeface="メイリオ" panose="020B0604030504040204" pitchFamily="50" charset="-128"/>
                <a:ea typeface="メイリオ" panose="020B0604030504040204" pitchFamily="50" charset="-128"/>
              </a:endParaRPr>
            </a:p>
          </p:txBody>
        </p:sp>
      </p:grpSp>
      <p:sp>
        <p:nvSpPr>
          <p:cNvPr id="19" name="正方形/長方形 18">
            <a:extLst>
              <a:ext uri="{FF2B5EF4-FFF2-40B4-BE49-F238E27FC236}">
                <a16:creationId xmlns:a16="http://schemas.microsoft.com/office/drawing/2014/main" id="{B4D0F511-A58B-A44E-EE58-09088FB8F481}"/>
              </a:ext>
            </a:extLst>
          </p:cNvPr>
          <p:cNvSpPr/>
          <p:nvPr/>
        </p:nvSpPr>
        <p:spPr>
          <a:xfrm>
            <a:off x="964095" y="5732065"/>
            <a:ext cx="5131905" cy="844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600"/>
              </a:spcBef>
            </a:pPr>
            <a:r>
              <a:rPr lang="ja-JP" altLang="en-US" b="1">
                <a:solidFill>
                  <a:schemeClr val="tx1"/>
                </a:solidFill>
                <a:latin typeface="メイリオ" panose="020B0604030504040204" pitchFamily="50" charset="-128"/>
                <a:ea typeface="メイリオ" panose="020B0604030504040204" pitchFamily="50" charset="-128"/>
              </a:rPr>
              <a:t>各分野で、プロフェッショナルの能力を通じて顧客企業の価値創造に貢献。</a:t>
            </a:r>
          </a:p>
        </p:txBody>
      </p:sp>
      <p:pic>
        <p:nvPicPr>
          <p:cNvPr id="21" name="図 20" descr="バブル, 屋外, 立つ, フロント が含まれている画像&#10;&#10;自動的に生成された説明">
            <a:extLst>
              <a:ext uri="{FF2B5EF4-FFF2-40B4-BE49-F238E27FC236}">
                <a16:creationId xmlns:a16="http://schemas.microsoft.com/office/drawing/2014/main" id="{9DA10349-41B0-E618-5CAA-1F3D2DDEBB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0145" y="3888065"/>
            <a:ext cx="3841624" cy="2561082"/>
          </a:xfrm>
          <a:prstGeom prst="rect">
            <a:avLst/>
          </a:prstGeom>
        </p:spPr>
      </p:pic>
      <p:pic>
        <p:nvPicPr>
          <p:cNvPr id="5" name="図 4" descr="ノートパソコン, 座る, テーブル, コンピュータ が含まれている画像&#10;&#10;自動的に生成された説明">
            <a:extLst>
              <a:ext uri="{FF2B5EF4-FFF2-40B4-BE49-F238E27FC236}">
                <a16:creationId xmlns:a16="http://schemas.microsoft.com/office/drawing/2014/main" id="{D89223D2-8C33-75C4-CECE-3E2A55A085B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56775"/>
          <a:stretch/>
        </p:blipFill>
        <p:spPr>
          <a:xfrm>
            <a:off x="3254505" y="2160656"/>
            <a:ext cx="841068" cy="1275344"/>
          </a:xfrm>
          <a:prstGeom prst="rect">
            <a:avLst/>
          </a:prstGeom>
        </p:spPr>
      </p:pic>
    </p:spTree>
    <p:extLst>
      <p:ext uri="{BB962C8B-B14F-4D97-AF65-F5344CB8AC3E}">
        <p14:creationId xmlns:p14="http://schemas.microsoft.com/office/powerpoint/2010/main" val="1941831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45D0BB91-2965-C6C8-D214-6264745E1777}"/>
              </a:ext>
            </a:extLst>
          </p:cNvPr>
          <p:cNvSpPr txBox="1"/>
          <p:nvPr/>
        </p:nvSpPr>
        <p:spPr>
          <a:xfrm>
            <a:off x="3811739" y="1052067"/>
            <a:ext cx="8166403" cy="1331134"/>
          </a:xfrm>
          <a:prstGeom prst="rect">
            <a:avLst/>
          </a:prstGeom>
          <a:noFill/>
        </p:spPr>
        <p:txBody>
          <a:bodyPr wrap="none" rtlCol="0">
            <a:spAutoFit/>
          </a:bodyPr>
          <a:lstStyle/>
          <a:p>
            <a:pPr>
              <a:lnSpc>
                <a:spcPct val="150000"/>
              </a:lnSpc>
            </a:pPr>
            <a:r>
              <a:rPr lang="ja-JP" altLang="en-US" sz="2800" b="1">
                <a:latin typeface="メイリオ" panose="020B0604030504040204" pitchFamily="50" charset="-128"/>
                <a:ea typeface="メイリオ" panose="020B0604030504040204" pitchFamily="50" charset="-128"/>
              </a:rPr>
              <a:t>日本最大級のクリエイティブチーム</a:t>
            </a:r>
            <a:endParaRPr lang="en-US" altLang="ja-JP" sz="2800" b="1">
              <a:latin typeface="メイリオ" panose="020B0604030504040204" pitchFamily="50" charset="-128"/>
              <a:ea typeface="メイリオ" panose="020B0604030504040204" pitchFamily="50" charset="-128"/>
            </a:endParaRPr>
          </a:p>
          <a:p>
            <a:pPr>
              <a:lnSpc>
                <a:spcPct val="150000"/>
              </a:lnSpc>
            </a:pPr>
            <a:r>
              <a:rPr lang="ja-JP" altLang="en-US" sz="2800" b="1">
                <a:latin typeface="メイリオ" panose="020B0604030504040204" pitchFamily="50" charset="-128"/>
                <a:ea typeface="メイリオ" panose="020B0604030504040204" pitchFamily="50" charset="-128"/>
              </a:rPr>
              <a:t>「</a:t>
            </a:r>
            <a:r>
              <a:rPr lang="en-US" altLang="ja-JP" sz="2800" b="1">
                <a:latin typeface="メイリオ" panose="020B0604030504040204" pitchFamily="50" charset="-128"/>
                <a:ea typeface="メイリオ" panose="020B0604030504040204" pitchFamily="50" charset="-128"/>
              </a:rPr>
              <a:t>C&amp;R Creative Studios</a:t>
            </a:r>
            <a:r>
              <a:rPr lang="ja-JP" altLang="en-US" sz="2800" b="1">
                <a:latin typeface="メイリオ" panose="020B0604030504040204" pitchFamily="50" charset="-128"/>
                <a:ea typeface="メイリオ" panose="020B0604030504040204" pitchFamily="50" charset="-128"/>
              </a:rPr>
              <a:t>」が新たな価値を提供</a:t>
            </a:r>
            <a:endParaRPr lang="en-US" altLang="ja-JP" sz="2800" b="1">
              <a:latin typeface="メイリオ" panose="020B0604030504040204" pitchFamily="50" charset="-128"/>
              <a:ea typeface="メイリオ" panose="020B0604030504040204" pitchFamily="50" charset="-128"/>
            </a:endParaRPr>
          </a:p>
        </p:txBody>
      </p:sp>
      <p:sp>
        <p:nvSpPr>
          <p:cNvPr id="4" name="タイトル 3">
            <a:extLst>
              <a:ext uri="{FF2B5EF4-FFF2-40B4-BE49-F238E27FC236}">
                <a16:creationId xmlns:a16="http://schemas.microsoft.com/office/drawing/2014/main" id="{363D835A-153B-BD59-74AA-05776CA195EC}"/>
              </a:ext>
            </a:extLst>
          </p:cNvPr>
          <p:cNvSpPr>
            <a:spLocks noGrp="1"/>
          </p:cNvSpPr>
          <p:nvPr>
            <p:ph type="title"/>
          </p:nvPr>
        </p:nvSpPr>
        <p:spPr/>
        <p:txBody>
          <a:bodyPr>
            <a:normAutofit/>
          </a:bodyPr>
          <a:lstStyle/>
          <a:p>
            <a:r>
              <a:rPr lang="ja-JP" altLang="en-US">
                <a:solidFill>
                  <a:schemeClr val="tx1"/>
                </a:solidFill>
                <a:latin typeface="+mn-lt"/>
              </a:rPr>
              <a:t>プロデュース事業の開発・請負</a:t>
            </a:r>
          </a:p>
        </p:txBody>
      </p:sp>
      <p:sp>
        <p:nvSpPr>
          <p:cNvPr id="7" name="スライド番号プレースホルダー 6">
            <a:extLst>
              <a:ext uri="{FF2B5EF4-FFF2-40B4-BE49-F238E27FC236}">
                <a16:creationId xmlns:a16="http://schemas.microsoft.com/office/drawing/2014/main" id="{7A824B63-1838-8428-7BC6-4DCB5C149CD2}"/>
              </a:ext>
            </a:extLst>
          </p:cNvPr>
          <p:cNvSpPr>
            <a:spLocks noGrp="1"/>
          </p:cNvSpPr>
          <p:nvPr>
            <p:ph type="sldNum" sz="quarter" idx="11"/>
          </p:nvPr>
        </p:nvSpPr>
        <p:spPr/>
        <p:txBody>
          <a:bodyPr/>
          <a:lstStyle/>
          <a:p>
            <a:fld id="{B75FDD43-FCEC-4ECC-8189-A5C6D2E08DC6}" type="slidenum">
              <a:rPr lang="ja-JP" altLang="en-US" smtClean="0"/>
              <a:pPr/>
              <a:t>8</a:t>
            </a:fld>
            <a:endParaRPr lang="ja-JP" altLang="en-US"/>
          </a:p>
        </p:txBody>
      </p:sp>
      <p:pic>
        <p:nvPicPr>
          <p:cNvPr id="8" name="図 7" descr="ロゴ&#10;&#10;中程度の精度で自動的に生成された説明">
            <a:extLst>
              <a:ext uri="{FF2B5EF4-FFF2-40B4-BE49-F238E27FC236}">
                <a16:creationId xmlns:a16="http://schemas.microsoft.com/office/drawing/2014/main" id="{6946C2DE-0787-5737-0390-08301F3F17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4396" y="960273"/>
            <a:ext cx="2398854" cy="1631220"/>
          </a:xfrm>
          <a:prstGeom prst="rect">
            <a:avLst/>
          </a:prstGeom>
        </p:spPr>
      </p:pic>
      <p:sp>
        <p:nvSpPr>
          <p:cNvPr id="23" name="テキスト ボックス 22">
            <a:extLst>
              <a:ext uri="{FF2B5EF4-FFF2-40B4-BE49-F238E27FC236}">
                <a16:creationId xmlns:a16="http://schemas.microsoft.com/office/drawing/2014/main" id="{46292F48-A38B-052B-0F5F-C9C20C9D3582}"/>
              </a:ext>
            </a:extLst>
          </p:cNvPr>
          <p:cNvSpPr txBox="1"/>
          <p:nvPr/>
        </p:nvSpPr>
        <p:spPr>
          <a:xfrm>
            <a:off x="7924800" y="5469444"/>
            <a:ext cx="2208797" cy="830997"/>
          </a:xfrm>
          <a:prstGeom prst="rect">
            <a:avLst/>
          </a:prstGeom>
          <a:noFill/>
        </p:spPr>
        <p:txBody>
          <a:bodyPr wrap="square" lIns="0" tIns="0" rIns="0" bIns="0" rtlCol="0" anchor="t">
            <a:spAutoFit/>
          </a:bodyPr>
          <a:lstStyle/>
          <a:p>
            <a:pPr marL="0" marR="0" lvl="0" indent="0" defTabSz="914400" rtl="0" eaLnBrk="0" fontAlgn="base" latinLnBrk="0" hangingPunct="0">
              <a:lnSpc>
                <a:spcPct val="100000"/>
              </a:lnSpc>
              <a:spcBef>
                <a:spcPct val="0"/>
              </a:spcBef>
              <a:spcAft>
                <a:spcPct val="0"/>
              </a:spcAft>
              <a:buClrTx/>
              <a:buSzTx/>
              <a:buFontTx/>
              <a:buNone/>
              <a:tabLst/>
              <a:defRPr/>
            </a:pPr>
            <a:r>
              <a:rPr lang="en-US" altLang="ja-JP" sz="5400" b="1">
                <a:latin typeface="メイリオ" panose="020B0604030504040204" pitchFamily="50" charset="-128"/>
                <a:ea typeface="メイリオ" panose="020B0604030504040204" pitchFamily="50" charset="-128"/>
              </a:rPr>
              <a:t>2,000</a:t>
            </a:r>
            <a:endParaRPr kumimoji="1" lang="ja-JP" altLang="en-US" sz="5400" b="1"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p:txBody>
      </p:sp>
      <p:sp>
        <p:nvSpPr>
          <p:cNvPr id="25" name="テキスト ボックス 24">
            <a:extLst>
              <a:ext uri="{FF2B5EF4-FFF2-40B4-BE49-F238E27FC236}">
                <a16:creationId xmlns:a16="http://schemas.microsoft.com/office/drawing/2014/main" id="{EFF319B4-4111-D9D1-16BB-547DC8A6BED7}"/>
              </a:ext>
            </a:extLst>
          </p:cNvPr>
          <p:cNvSpPr txBox="1"/>
          <p:nvPr/>
        </p:nvSpPr>
        <p:spPr>
          <a:xfrm>
            <a:off x="10038415" y="5727189"/>
            <a:ext cx="1751359" cy="430887"/>
          </a:xfrm>
          <a:prstGeom prst="rect">
            <a:avLst/>
          </a:prstGeom>
          <a:noFill/>
        </p:spPr>
        <p:txBody>
          <a:bodyPr wrap="square" lIns="0" tIns="0" rIns="0" bIns="0"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1" lang="en-US" altLang="ja-JP" sz="2800" b="1"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creators</a:t>
            </a:r>
            <a:endParaRPr kumimoji="1" lang="ja-JP" altLang="en-US" sz="2800" b="1"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6FAD7B0-5D59-5D48-6607-C7AE66F55728}"/>
              </a:ext>
            </a:extLst>
          </p:cNvPr>
          <p:cNvSpPr txBox="1"/>
          <p:nvPr/>
        </p:nvSpPr>
        <p:spPr>
          <a:xfrm>
            <a:off x="3963355" y="5498565"/>
            <a:ext cx="3513604" cy="738664"/>
          </a:xfrm>
          <a:prstGeom prst="rect">
            <a:avLst/>
          </a:prstGeom>
          <a:noFill/>
        </p:spPr>
        <p:txBody>
          <a:bodyPr wrap="square" lIns="0" tIns="0" rIns="0" bIns="0"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1" lang="ja-JP" altLang="en-US" sz="2400" b="1"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世界</a:t>
            </a:r>
            <a:r>
              <a:rPr kumimoji="1" lang="en-US" altLang="ja-JP" sz="2400" b="1"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20</a:t>
            </a:r>
            <a:r>
              <a:rPr kumimoji="1" lang="ja-JP" altLang="en-US" sz="2400" b="1"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か国から集結した</a:t>
            </a:r>
            <a:endParaRPr kumimoji="1" lang="en-US" altLang="ja-JP" sz="2400" b="1"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r" defTabSz="914400" rtl="0" eaLnBrk="0" fontAlgn="base" latinLnBrk="0" hangingPunct="0">
              <a:lnSpc>
                <a:spcPct val="100000"/>
              </a:lnSpc>
              <a:spcBef>
                <a:spcPct val="0"/>
              </a:spcBef>
              <a:spcAft>
                <a:spcPct val="0"/>
              </a:spcAft>
              <a:buClrTx/>
              <a:buSzTx/>
              <a:buFontTx/>
              <a:buNone/>
              <a:tabLst/>
              <a:defRPr/>
            </a:pPr>
            <a:r>
              <a:rPr kumimoji="1" lang="ja-JP" altLang="en-US" sz="2400" b="1"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クリエイター</a:t>
            </a:r>
            <a:r>
              <a:rPr lang="ja-JP" altLang="en-US" sz="2400" b="1">
                <a:latin typeface="メイリオ" panose="020B0604030504040204" pitchFamily="50" charset="-128"/>
                <a:ea typeface="メイリオ" panose="020B0604030504040204" pitchFamily="50" charset="-128"/>
              </a:rPr>
              <a:t>が所属</a:t>
            </a:r>
            <a:endParaRPr kumimoji="1" lang="en-US" altLang="ja-JP" sz="2400" b="1"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p:txBody>
      </p:sp>
      <p:grpSp>
        <p:nvGrpSpPr>
          <p:cNvPr id="93" name="グループ化 92">
            <a:extLst>
              <a:ext uri="{FF2B5EF4-FFF2-40B4-BE49-F238E27FC236}">
                <a16:creationId xmlns:a16="http://schemas.microsoft.com/office/drawing/2014/main" id="{9DD6510E-3969-F1A1-49F7-B8076B8344E0}"/>
              </a:ext>
            </a:extLst>
          </p:cNvPr>
          <p:cNvGrpSpPr/>
          <p:nvPr/>
        </p:nvGrpSpPr>
        <p:grpSpPr>
          <a:xfrm>
            <a:off x="665257" y="2850214"/>
            <a:ext cx="11253161" cy="2216419"/>
            <a:chOff x="665257" y="2850214"/>
            <a:chExt cx="11253161" cy="2216419"/>
          </a:xfrm>
        </p:grpSpPr>
        <p:grpSp>
          <p:nvGrpSpPr>
            <p:cNvPr id="82" name="グループ化 81">
              <a:extLst>
                <a:ext uri="{FF2B5EF4-FFF2-40B4-BE49-F238E27FC236}">
                  <a16:creationId xmlns:a16="http://schemas.microsoft.com/office/drawing/2014/main" id="{99FD7916-2C7D-49D5-B5AC-CEF183A83DC6}"/>
                </a:ext>
              </a:extLst>
            </p:cNvPr>
            <p:cNvGrpSpPr/>
            <p:nvPr/>
          </p:nvGrpSpPr>
          <p:grpSpPr>
            <a:xfrm>
              <a:off x="665257" y="2850214"/>
              <a:ext cx="1042871" cy="2215041"/>
              <a:chOff x="665257" y="2850214"/>
              <a:chExt cx="1042871" cy="2215041"/>
            </a:xfrm>
          </p:grpSpPr>
          <p:grpSp>
            <p:nvGrpSpPr>
              <p:cNvPr id="71" name="グループ化 70">
                <a:extLst>
                  <a:ext uri="{FF2B5EF4-FFF2-40B4-BE49-F238E27FC236}">
                    <a16:creationId xmlns:a16="http://schemas.microsoft.com/office/drawing/2014/main" id="{3B6F0A63-4753-717E-EB58-553DB3A3F1D7}"/>
                  </a:ext>
                </a:extLst>
              </p:cNvPr>
              <p:cNvGrpSpPr/>
              <p:nvPr/>
            </p:nvGrpSpPr>
            <p:grpSpPr>
              <a:xfrm>
                <a:off x="667511" y="2850214"/>
                <a:ext cx="1038362" cy="1060230"/>
                <a:chOff x="653801" y="2850214"/>
                <a:chExt cx="1038362" cy="1060230"/>
              </a:xfrm>
            </p:grpSpPr>
            <p:sp>
              <p:nvSpPr>
                <p:cNvPr id="47" name="楕円 46">
                  <a:extLst>
                    <a:ext uri="{FF2B5EF4-FFF2-40B4-BE49-F238E27FC236}">
                      <a16:creationId xmlns:a16="http://schemas.microsoft.com/office/drawing/2014/main" id="{594471E4-62F2-2C6E-EAC3-EA02B29710FC}"/>
                    </a:ext>
                  </a:extLst>
                </p:cNvPr>
                <p:cNvSpPr/>
                <p:nvPr/>
              </p:nvSpPr>
              <p:spPr>
                <a:xfrm>
                  <a:off x="698987" y="2895090"/>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14" name="楕円 13">
                  <a:extLst>
                    <a:ext uri="{FF2B5EF4-FFF2-40B4-BE49-F238E27FC236}">
                      <a16:creationId xmlns:a16="http://schemas.microsoft.com/office/drawing/2014/main" id="{DC89CB90-D442-70A6-8445-4068A8FF5E50}"/>
                    </a:ext>
                  </a:extLst>
                </p:cNvPr>
                <p:cNvSpPr/>
                <p:nvPr/>
              </p:nvSpPr>
              <p:spPr>
                <a:xfrm>
                  <a:off x="653801" y="2850214"/>
                  <a:ext cx="993176" cy="1015354"/>
                </a:xfrm>
                <a:prstGeom prst="ellipse">
                  <a:avLst/>
                </a:prstGeom>
                <a:solidFill>
                  <a:srgbClr val="E57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latin typeface="メイリオ" panose="020B0604030504040204" pitchFamily="50" charset="-128"/>
                      <a:ea typeface="メイリオ" panose="020B0604030504040204" pitchFamily="50" charset="-128"/>
                    </a:rPr>
                    <a:t>TV</a:t>
                  </a:r>
                </a:p>
                <a:p>
                  <a:pPr algn="ctr"/>
                  <a:r>
                    <a:rPr kumimoji="1" lang="ja-JP" altLang="en-US" sz="1400" b="1">
                      <a:latin typeface="メイリオ" panose="020B0604030504040204" pitchFamily="50" charset="-128"/>
                      <a:ea typeface="メイリオ" panose="020B0604030504040204" pitchFamily="50" charset="-128"/>
                    </a:rPr>
                    <a:t>番組</a:t>
                  </a:r>
                </a:p>
              </p:txBody>
            </p:sp>
          </p:grpSp>
          <p:grpSp>
            <p:nvGrpSpPr>
              <p:cNvPr id="6" name="グループ化 5">
                <a:extLst>
                  <a:ext uri="{FF2B5EF4-FFF2-40B4-BE49-F238E27FC236}">
                    <a16:creationId xmlns:a16="http://schemas.microsoft.com/office/drawing/2014/main" id="{23258E6D-EDAD-0B11-D00C-1F471387F565}"/>
                  </a:ext>
                </a:extLst>
              </p:cNvPr>
              <p:cNvGrpSpPr/>
              <p:nvPr/>
            </p:nvGrpSpPr>
            <p:grpSpPr>
              <a:xfrm>
                <a:off x="665257" y="4029053"/>
                <a:ext cx="1042871" cy="1036202"/>
                <a:chOff x="676713" y="4026341"/>
                <a:chExt cx="1042871" cy="1036202"/>
              </a:xfrm>
            </p:grpSpPr>
            <p:sp>
              <p:nvSpPr>
                <p:cNvPr id="57" name="楕円 56">
                  <a:extLst>
                    <a:ext uri="{FF2B5EF4-FFF2-40B4-BE49-F238E27FC236}">
                      <a16:creationId xmlns:a16="http://schemas.microsoft.com/office/drawing/2014/main" id="{F9F95290-D372-6185-616E-89D63C73AA6C}"/>
                    </a:ext>
                  </a:extLst>
                </p:cNvPr>
                <p:cNvSpPr/>
                <p:nvPr/>
              </p:nvSpPr>
              <p:spPr>
                <a:xfrm>
                  <a:off x="726408" y="4047189"/>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30" name="楕円 29">
                  <a:extLst>
                    <a:ext uri="{FF2B5EF4-FFF2-40B4-BE49-F238E27FC236}">
                      <a16:creationId xmlns:a16="http://schemas.microsoft.com/office/drawing/2014/main" id="{ECDD42BD-BB35-ADE7-87EB-FD55093ADF33}"/>
                    </a:ext>
                  </a:extLst>
                </p:cNvPr>
                <p:cNvSpPr/>
                <p:nvPr/>
              </p:nvSpPr>
              <p:spPr>
                <a:xfrm>
                  <a:off x="676713" y="4026341"/>
                  <a:ext cx="993176" cy="1015354"/>
                </a:xfrm>
                <a:prstGeom prst="ellipse">
                  <a:avLst/>
                </a:prstGeom>
                <a:solidFill>
                  <a:srgbClr val="E57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a:latin typeface="メイリオ" panose="020B0604030504040204" pitchFamily="50" charset="-128"/>
                      <a:ea typeface="メイリオ" panose="020B0604030504040204" pitchFamily="50" charset="-128"/>
                    </a:rPr>
                    <a:t>映像</a:t>
                  </a:r>
                  <a:endParaRPr kumimoji="1" lang="ja-JP" altLang="en-US" sz="1400" b="1">
                    <a:latin typeface="メイリオ" panose="020B0604030504040204" pitchFamily="50" charset="-128"/>
                    <a:ea typeface="メイリオ" panose="020B0604030504040204" pitchFamily="50" charset="-128"/>
                  </a:endParaRPr>
                </a:p>
              </p:txBody>
            </p:sp>
          </p:grpSp>
        </p:grpSp>
        <p:grpSp>
          <p:nvGrpSpPr>
            <p:cNvPr id="86" name="グループ化 85">
              <a:extLst>
                <a:ext uri="{FF2B5EF4-FFF2-40B4-BE49-F238E27FC236}">
                  <a16:creationId xmlns:a16="http://schemas.microsoft.com/office/drawing/2014/main" id="{72005D06-AD91-A359-A66C-68FCA543B2FD}"/>
                </a:ext>
              </a:extLst>
            </p:cNvPr>
            <p:cNvGrpSpPr/>
            <p:nvPr/>
          </p:nvGrpSpPr>
          <p:grpSpPr>
            <a:xfrm>
              <a:off x="4088800" y="2850214"/>
              <a:ext cx="1043341" cy="2215041"/>
              <a:chOff x="4029589" y="2850214"/>
              <a:chExt cx="1043341" cy="2215041"/>
            </a:xfrm>
          </p:grpSpPr>
          <p:grpSp>
            <p:nvGrpSpPr>
              <p:cNvPr id="75" name="グループ化 74">
                <a:extLst>
                  <a:ext uri="{FF2B5EF4-FFF2-40B4-BE49-F238E27FC236}">
                    <a16:creationId xmlns:a16="http://schemas.microsoft.com/office/drawing/2014/main" id="{395B31AB-F4EE-2C7A-A113-F4F8D1184660}"/>
                  </a:ext>
                </a:extLst>
              </p:cNvPr>
              <p:cNvGrpSpPr/>
              <p:nvPr/>
            </p:nvGrpSpPr>
            <p:grpSpPr>
              <a:xfrm>
                <a:off x="4031844" y="2850214"/>
                <a:ext cx="1038831" cy="1060230"/>
                <a:chOff x="4018133" y="2850214"/>
                <a:chExt cx="1038831" cy="1060230"/>
              </a:xfrm>
            </p:grpSpPr>
            <p:sp>
              <p:nvSpPr>
                <p:cNvPr id="50" name="楕円 49">
                  <a:extLst>
                    <a:ext uri="{FF2B5EF4-FFF2-40B4-BE49-F238E27FC236}">
                      <a16:creationId xmlns:a16="http://schemas.microsoft.com/office/drawing/2014/main" id="{49F34541-2AC7-435A-27E4-814408BA34A3}"/>
                    </a:ext>
                  </a:extLst>
                </p:cNvPr>
                <p:cNvSpPr/>
                <p:nvPr/>
              </p:nvSpPr>
              <p:spPr>
                <a:xfrm>
                  <a:off x="4063788" y="2895090"/>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17" name="楕円 16">
                  <a:extLst>
                    <a:ext uri="{FF2B5EF4-FFF2-40B4-BE49-F238E27FC236}">
                      <a16:creationId xmlns:a16="http://schemas.microsoft.com/office/drawing/2014/main" id="{873556C5-F216-007C-4383-8F9A04513D05}"/>
                    </a:ext>
                  </a:extLst>
                </p:cNvPr>
                <p:cNvSpPr/>
                <p:nvPr/>
              </p:nvSpPr>
              <p:spPr>
                <a:xfrm>
                  <a:off x="4018133" y="2850214"/>
                  <a:ext cx="993176" cy="1015354"/>
                </a:xfrm>
                <a:prstGeom prst="ellipse">
                  <a:avLst/>
                </a:prstGeom>
                <a:solidFill>
                  <a:srgbClr val="E79E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latin typeface="メイリオ" panose="020B0604030504040204" pitchFamily="50" charset="-128"/>
                      <a:ea typeface="メイリオ" panose="020B0604030504040204" pitchFamily="50" charset="-128"/>
                    </a:rPr>
                    <a:t>2D</a:t>
                  </a:r>
                </a:p>
                <a:p>
                  <a:pPr algn="ctr"/>
                  <a:r>
                    <a:rPr kumimoji="1" lang="en-US" altLang="ja-JP" sz="1200" b="1">
                      <a:latin typeface="メイリオ" panose="020B0604030504040204" pitchFamily="50" charset="-128"/>
                      <a:ea typeface="メイリオ" panose="020B0604030504040204" pitchFamily="50" charset="-128"/>
                    </a:rPr>
                    <a:t>UI/UX</a:t>
                  </a:r>
                  <a:endParaRPr kumimoji="1" lang="ja-JP" altLang="en-US" sz="1200" b="1">
                    <a:latin typeface="メイリオ" panose="020B0604030504040204" pitchFamily="50" charset="-128"/>
                    <a:ea typeface="メイリオ" panose="020B0604030504040204" pitchFamily="50" charset="-128"/>
                  </a:endParaRPr>
                </a:p>
              </p:txBody>
            </p:sp>
          </p:grpSp>
          <p:grpSp>
            <p:nvGrpSpPr>
              <p:cNvPr id="26" name="グループ化 25">
                <a:extLst>
                  <a:ext uri="{FF2B5EF4-FFF2-40B4-BE49-F238E27FC236}">
                    <a16:creationId xmlns:a16="http://schemas.microsoft.com/office/drawing/2014/main" id="{CF555E25-1684-51CD-40A3-7B3E29CC595C}"/>
                  </a:ext>
                </a:extLst>
              </p:cNvPr>
              <p:cNvGrpSpPr/>
              <p:nvPr/>
            </p:nvGrpSpPr>
            <p:grpSpPr>
              <a:xfrm>
                <a:off x="4029589" y="4029053"/>
                <a:ext cx="1043341" cy="1036202"/>
                <a:chOff x="4041045" y="4026341"/>
                <a:chExt cx="1043341" cy="1036202"/>
              </a:xfrm>
            </p:grpSpPr>
            <p:sp>
              <p:nvSpPr>
                <p:cNvPr id="60" name="楕円 59">
                  <a:extLst>
                    <a:ext uri="{FF2B5EF4-FFF2-40B4-BE49-F238E27FC236}">
                      <a16:creationId xmlns:a16="http://schemas.microsoft.com/office/drawing/2014/main" id="{8D11D2DC-BF98-1678-2C0B-3A4B37782107}"/>
                    </a:ext>
                  </a:extLst>
                </p:cNvPr>
                <p:cNvSpPr/>
                <p:nvPr/>
              </p:nvSpPr>
              <p:spPr>
                <a:xfrm>
                  <a:off x="4091210" y="4047189"/>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33" name="楕円 32">
                  <a:extLst>
                    <a:ext uri="{FF2B5EF4-FFF2-40B4-BE49-F238E27FC236}">
                      <a16:creationId xmlns:a16="http://schemas.microsoft.com/office/drawing/2014/main" id="{18798C85-46DF-1DB8-52B7-CECEF763238B}"/>
                    </a:ext>
                  </a:extLst>
                </p:cNvPr>
                <p:cNvSpPr/>
                <p:nvPr/>
              </p:nvSpPr>
              <p:spPr>
                <a:xfrm>
                  <a:off x="4041045" y="4026341"/>
                  <a:ext cx="993176" cy="1015354"/>
                </a:xfrm>
                <a:prstGeom prst="ellipse">
                  <a:avLst/>
                </a:prstGeom>
                <a:solidFill>
                  <a:srgbClr val="E79E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latin typeface="メイリオ" panose="020B0604030504040204" pitchFamily="50" charset="-128"/>
                      <a:ea typeface="メイリオ" panose="020B0604030504040204" pitchFamily="50" charset="-128"/>
                    </a:rPr>
                    <a:t>3DCG</a:t>
                  </a:r>
                  <a:endParaRPr kumimoji="1" lang="ja-JP" altLang="en-US" sz="1200" b="1">
                    <a:latin typeface="メイリオ" panose="020B0604030504040204" pitchFamily="50" charset="-128"/>
                    <a:ea typeface="メイリオ" panose="020B0604030504040204" pitchFamily="50" charset="-128"/>
                  </a:endParaRPr>
                </a:p>
              </p:txBody>
            </p:sp>
          </p:grpSp>
        </p:grpSp>
        <p:grpSp>
          <p:nvGrpSpPr>
            <p:cNvPr id="90" name="グループ化 89">
              <a:extLst>
                <a:ext uri="{FF2B5EF4-FFF2-40B4-BE49-F238E27FC236}">
                  <a16:creationId xmlns:a16="http://schemas.microsoft.com/office/drawing/2014/main" id="{08FB1DF1-24C1-0292-E838-A95BCDB27BA0}"/>
                </a:ext>
              </a:extLst>
            </p:cNvPr>
            <p:cNvGrpSpPr/>
            <p:nvPr/>
          </p:nvGrpSpPr>
          <p:grpSpPr>
            <a:xfrm>
              <a:off x="8623535" y="2852771"/>
              <a:ext cx="1043972" cy="2213862"/>
              <a:chOff x="8515363" y="2852771"/>
              <a:chExt cx="1043972" cy="2213862"/>
            </a:xfrm>
          </p:grpSpPr>
          <p:grpSp>
            <p:nvGrpSpPr>
              <p:cNvPr id="79" name="グループ化 78">
                <a:extLst>
                  <a:ext uri="{FF2B5EF4-FFF2-40B4-BE49-F238E27FC236}">
                    <a16:creationId xmlns:a16="http://schemas.microsoft.com/office/drawing/2014/main" id="{DBE29949-8E6D-08CE-8E83-2A1141A79837}"/>
                  </a:ext>
                </a:extLst>
              </p:cNvPr>
              <p:cNvGrpSpPr/>
              <p:nvPr/>
            </p:nvGrpSpPr>
            <p:grpSpPr>
              <a:xfrm>
                <a:off x="8517618" y="2852771"/>
                <a:ext cx="1039462" cy="1055117"/>
                <a:chOff x="8503907" y="2850214"/>
                <a:chExt cx="1039462" cy="1055117"/>
              </a:xfrm>
            </p:grpSpPr>
            <p:sp>
              <p:nvSpPr>
                <p:cNvPr id="54" name="楕円 53">
                  <a:extLst>
                    <a:ext uri="{FF2B5EF4-FFF2-40B4-BE49-F238E27FC236}">
                      <a16:creationId xmlns:a16="http://schemas.microsoft.com/office/drawing/2014/main" id="{12584E67-8119-ED7F-B160-1904618E9150}"/>
                    </a:ext>
                  </a:extLst>
                </p:cNvPr>
                <p:cNvSpPr/>
                <p:nvPr/>
              </p:nvSpPr>
              <p:spPr>
                <a:xfrm>
                  <a:off x="8550193" y="2889977"/>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21" name="楕円 20">
                  <a:extLst>
                    <a:ext uri="{FF2B5EF4-FFF2-40B4-BE49-F238E27FC236}">
                      <a16:creationId xmlns:a16="http://schemas.microsoft.com/office/drawing/2014/main" id="{56F492F2-D1D8-84C0-A13B-3C42D837A5EF}"/>
                    </a:ext>
                  </a:extLst>
                </p:cNvPr>
                <p:cNvSpPr/>
                <p:nvPr/>
              </p:nvSpPr>
              <p:spPr>
                <a:xfrm>
                  <a:off x="8503907" y="2850214"/>
                  <a:ext cx="993176" cy="1015354"/>
                </a:xfrm>
                <a:prstGeom prst="ellipse">
                  <a:avLst/>
                </a:prstGeom>
                <a:solidFill>
                  <a:srgbClr val="4E9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メイリオ" panose="020B0604030504040204" pitchFamily="50" charset="-128"/>
                      <a:ea typeface="メイリオ" panose="020B0604030504040204" pitchFamily="50" charset="-128"/>
                    </a:rPr>
                    <a:t>漫画</a:t>
                  </a:r>
                  <a:endParaRPr kumimoji="1" lang="en-US" altLang="ja-JP" sz="1400" b="1">
                    <a:latin typeface="メイリオ" panose="020B0604030504040204" pitchFamily="50" charset="-128"/>
                    <a:ea typeface="メイリオ" panose="020B0604030504040204" pitchFamily="50" charset="-128"/>
                  </a:endParaRPr>
                </a:p>
                <a:p>
                  <a:pPr algn="ctr"/>
                  <a:r>
                    <a:rPr lang="ja-JP" altLang="en-US" sz="1400" b="1">
                      <a:latin typeface="メイリオ" panose="020B0604030504040204" pitchFamily="50" charset="-128"/>
                      <a:ea typeface="メイリオ" panose="020B0604030504040204" pitchFamily="50" charset="-128"/>
                    </a:rPr>
                    <a:t>小説</a:t>
                  </a:r>
                  <a:endParaRPr kumimoji="1" lang="ja-JP" altLang="en-US" sz="1400" b="1">
                    <a:latin typeface="メイリオ" panose="020B0604030504040204" pitchFamily="50" charset="-128"/>
                    <a:ea typeface="メイリオ" panose="020B0604030504040204" pitchFamily="50" charset="-128"/>
                  </a:endParaRPr>
                </a:p>
              </p:txBody>
            </p:sp>
          </p:grpSp>
          <p:grpSp>
            <p:nvGrpSpPr>
              <p:cNvPr id="44" name="グループ化 43">
                <a:extLst>
                  <a:ext uri="{FF2B5EF4-FFF2-40B4-BE49-F238E27FC236}">
                    <a16:creationId xmlns:a16="http://schemas.microsoft.com/office/drawing/2014/main" id="{E01AF996-C5A9-10E0-D7BD-F89E5C411834}"/>
                  </a:ext>
                </a:extLst>
              </p:cNvPr>
              <p:cNvGrpSpPr/>
              <p:nvPr/>
            </p:nvGrpSpPr>
            <p:grpSpPr>
              <a:xfrm>
                <a:off x="8515363" y="4027675"/>
                <a:ext cx="1043972" cy="1038958"/>
                <a:chOff x="8526819" y="4026341"/>
                <a:chExt cx="1043972" cy="1038958"/>
              </a:xfrm>
            </p:grpSpPr>
            <p:sp>
              <p:nvSpPr>
                <p:cNvPr id="64" name="楕円 63">
                  <a:extLst>
                    <a:ext uri="{FF2B5EF4-FFF2-40B4-BE49-F238E27FC236}">
                      <a16:creationId xmlns:a16="http://schemas.microsoft.com/office/drawing/2014/main" id="{D0C97CC6-75AB-9FD8-ED23-404DA263AF0D}"/>
                    </a:ext>
                  </a:extLst>
                </p:cNvPr>
                <p:cNvSpPr/>
                <p:nvPr/>
              </p:nvSpPr>
              <p:spPr>
                <a:xfrm>
                  <a:off x="8577615" y="4049945"/>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37" name="楕円 36">
                  <a:extLst>
                    <a:ext uri="{FF2B5EF4-FFF2-40B4-BE49-F238E27FC236}">
                      <a16:creationId xmlns:a16="http://schemas.microsoft.com/office/drawing/2014/main" id="{E7483DDD-6117-9401-3624-DB93DD4D1A34}"/>
                    </a:ext>
                  </a:extLst>
                </p:cNvPr>
                <p:cNvSpPr/>
                <p:nvPr/>
              </p:nvSpPr>
              <p:spPr>
                <a:xfrm>
                  <a:off x="8526819" y="4026341"/>
                  <a:ext cx="993176" cy="1015354"/>
                </a:xfrm>
                <a:prstGeom prst="ellipse">
                  <a:avLst/>
                </a:prstGeom>
                <a:solidFill>
                  <a:srgbClr val="4E9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メイリオ" panose="020B0604030504040204" pitchFamily="50" charset="-128"/>
                      <a:ea typeface="メイリオ" panose="020B0604030504040204" pitchFamily="50" charset="-128"/>
                    </a:rPr>
                    <a:t>採用</a:t>
                  </a:r>
                  <a:endParaRPr kumimoji="1" lang="en-US" altLang="ja-JP" sz="1400" b="1">
                    <a:latin typeface="メイリオ" panose="020B0604030504040204" pitchFamily="50" charset="-128"/>
                    <a:ea typeface="メイリオ" panose="020B0604030504040204" pitchFamily="50" charset="-128"/>
                  </a:endParaRPr>
                </a:p>
                <a:p>
                  <a:pPr algn="ctr"/>
                  <a:r>
                    <a:rPr lang="ja-JP" altLang="en-US" sz="1400" b="1">
                      <a:latin typeface="メイリオ" panose="020B0604030504040204" pitchFamily="50" charset="-128"/>
                      <a:ea typeface="メイリオ" panose="020B0604030504040204" pitchFamily="50" charset="-128"/>
                    </a:rPr>
                    <a:t>代行</a:t>
                  </a:r>
                  <a:endParaRPr kumimoji="1" lang="ja-JP" altLang="en-US" sz="1400" b="1">
                    <a:latin typeface="メイリオ" panose="020B0604030504040204" pitchFamily="50" charset="-128"/>
                    <a:ea typeface="メイリオ" panose="020B0604030504040204" pitchFamily="50" charset="-128"/>
                  </a:endParaRPr>
                </a:p>
              </p:txBody>
            </p:sp>
          </p:grpSp>
        </p:grpSp>
        <p:grpSp>
          <p:nvGrpSpPr>
            <p:cNvPr id="92" name="グループ化 91">
              <a:extLst>
                <a:ext uri="{FF2B5EF4-FFF2-40B4-BE49-F238E27FC236}">
                  <a16:creationId xmlns:a16="http://schemas.microsoft.com/office/drawing/2014/main" id="{933BAEB9-275E-1CB8-7640-87533D75D0C2}"/>
                </a:ext>
              </a:extLst>
            </p:cNvPr>
            <p:cNvGrpSpPr/>
            <p:nvPr/>
          </p:nvGrpSpPr>
          <p:grpSpPr>
            <a:xfrm>
              <a:off x="10869458" y="2862305"/>
              <a:ext cx="1048960" cy="2204287"/>
              <a:chOff x="10869458" y="2862305"/>
              <a:chExt cx="1048960" cy="2204287"/>
            </a:xfrm>
          </p:grpSpPr>
          <p:grpSp>
            <p:nvGrpSpPr>
              <p:cNvPr id="81" name="グループ化 80">
                <a:extLst>
                  <a:ext uri="{FF2B5EF4-FFF2-40B4-BE49-F238E27FC236}">
                    <a16:creationId xmlns:a16="http://schemas.microsoft.com/office/drawing/2014/main" id="{66CAB878-A7DA-2018-3633-DAD8AA7FB409}"/>
                  </a:ext>
                </a:extLst>
              </p:cNvPr>
              <p:cNvGrpSpPr/>
              <p:nvPr/>
            </p:nvGrpSpPr>
            <p:grpSpPr>
              <a:xfrm>
                <a:off x="10869458" y="2862305"/>
                <a:ext cx="1048960" cy="1036049"/>
                <a:chOff x="10858311" y="2852965"/>
                <a:chExt cx="1048960" cy="1036049"/>
              </a:xfrm>
            </p:grpSpPr>
            <p:sp>
              <p:nvSpPr>
                <p:cNvPr id="29" name="楕円 28">
                  <a:extLst>
                    <a:ext uri="{FF2B5EF4-FFF2-40B4-BE49-F238E27FC236}">
                      <a16:creationId xmlns:a16="http://schemas.microsoft.com/office/drawing/2014/main" id="{00496A5E-0420-6200-8885-5ECB8E676CF9}"/>
                    </a:ext>
                  </a:extLst>
                </p:cNvPr>
                <p:cNvSpPr/>
                <p:nvPr/>
              </p:nvSpPr>
              <p:spPr>
                <a:xfrm>
                  <a:off x="10914095" y="2873660"/>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41" name="楕円 40">
                  <a:extLst>
                    <a:ext uri="{FF2B5EF4-FFF2-40B4-BE49-F238E27FC236}">
                      <a16:creationId xmlns:a16="http://schemas.microsoft.com/office/drawing/2014/main" id="{B82AD130-1B36-144B-EB09-35D504F96902}"/>
                    </a:ext>
                  </a:extLst>
                </p:cNvPr>
                <p:cNvSpPr/>
                <p:nvPr/>
              </p:nvSpPr>
              <p:spPr>
                <a:xfrm>
                  <a:off x="10858311" y="2852965"/>
                  <a:ext cx="993176" cy="1015354"/>
                </a:xfrm>
                <a:prstGeom prst="ellipse">
                  <a:avLst/>
                </a:prstGeom>
                <a:solidFill>
                  <a:srgbClr val="BC58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メイリオ" panose="020B0604030504040204" pitchFamily="50" charset="-128"/>
                      <a:ea typeface="メイリオ" panose="020B0604030504040204" pitchFamily="50" charset="-128"/>
                    </a:rPr>
                    <a:t>執筆</a:t>
                  </a:r>
                  <a:endParaRPr kumimoji="1" lang="en-US" altLang="ja-JP" sz="1400" b="1">
                    <a:latin typeface="メイリオ" panose="020B0604030504040204" pitchFamily="50" charset="-128"/>
                    <a:ea typeface="メイリオ" panose="020B0604030504040204" pitchFamily="50" charset="-128"/>
                  </a:endParaRPr>
                </a:p>
                <a:p>
                  <a:pPr algn="ctr"/>
                  <a:r>
                    <a:rPr kumimoji="1" lang="ja-JP" altLang="en-US" sz="1400" b="1">
                      <a:latin typeface="メイリオ" panose="020B0604030504040204" pitchFamily="50" charset="-128"/>
                      <a:ea typeface="メイリオ" panose="020B0604030504040204" pitchFamily="50" charset="-128"/>
                    </a:rPr>
                    <a:t>写真</a:t>
                  </a:r>
                </a:p>
              </p:txBody>
            </p:sp>
          </p:grpSp>
          <p:grpSp>
            <p:nvGrpSpPr>
              <p:cNvPr id="55" name="グループ化 54">
                <a:extLst>
                  <a:ext uri="{FF2B5EF4-FFF2-40B4-BE49-F238E27FC236}">
                    <a16:creationId xmlns:a16="http://schemas.microsoft.com/office/drawing/2014/main" id="{D793F469-BA3C-185B-6815-029CBDC7673E}"/>
                  </a:ext>
                </a:extLst>
              </p:cNvPr>
              <p:cNvGrpSpPr/>
              <p:nvPr/>
            </p:nvGrpSpPr>
            <p:grpSpPr>
              <a:xfrm>
                <a:off x="10869767" y="4027717"/>
                <a:ext cx="1048342" cy="1038875"/>
                <a:chOff x="10881223" y="4029092"/>
                <a:chExt cx="1048342" cy="1038875"/>
              </a:xfrm>
            </p:grpSpPr>
            <p:sp>
              <p:nvSpPr>
                <p:cNvPr id="40" name="楕円 39">
                  <a:extLst>
                    <a:ext uri="{FF2B5EF4-FFF2-40B4-BE49-F238E27FC236}">
                      <a16:creationId xmlns:a16="http://schemas.microsoft.com/office/drawing/2014/main" id="{1D098F70-3157-54D8-A581-9A2374D9022A}"/>
                    </a:ext>
                  </a:extLst>
                </p:cNvPr>
                <p:cNvSpPr/>
                <p:nvPr/>
              </p:nvSpPr>
              <p:spPr>
                <a:xfrm>
                  <a:off x="10936389" y="4052613"/>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43" name="楕円 42">
                  <a:extLst>
                    <a:ext uri="{FF2B5EF4-FFF2-40B4-BE49-F238E27FC236}">
                      <a16:creationId xmlns:a16="http://schemas.microsoft.com/office/drawing/2014/main" id="{A95EBE61-A830-D673-CD45-E1336CDEA688}"/>
                    </a:ext>
                  </a:extLst>
                </p:cNvPr>
                <p:cNvSpPr/>
                <p:nvPr/>
              </p:nvSpPr>
              <p:spPr>
                <a:xfrm>
                  <a:off x="10881223" y="4029092"/>
                  <a:ext cx="993176" cy="1015354"/>
                </a:xfrm>
                <a:prstGeom prst="ellipse">
                  <a:avLst/>
                </a:prstGeom>
                <a:solidFill>
                  <a:srgbClr val="BC58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6B254E27-53A5-C619-03EC-839BF8CC7C90}"/>
                    </a:ext>
                  </a:extLst>
                </p:cNvPr>
                <p:cNvSpPr txBox="1"/>
                <p:nvPr/>
              </p:nvSpPr>
              <p:spPr>
                <a:xfrm>
                  <a:off x="11106560" y="4391735"/>
                  <a:ext cx="584840" cy="276999"/>
                </a:xfrm>
                <a:prstGeom prst="rect">
                  <a:avLst/>
                </a:prstGeom>
                <a:noFill/>
              </p:spPr>
              <p:txBody>
                <a:bodyPr wrap="none" rtlCol="0">
                  <a:spAutoFit/>
                </a:bodyPr>
                <a:lstStyle/>
                <a:p>
                  <a:pPr algn="ctr"/>
                  <a:r>
                    <a:rPr lang="en-US" altLang="ja-JP" sz="1200" b="1" err="1">
                      <a:solidFill>
                        <a:schemeClr val="bg1"/>
                      </a:solidFill>
                      <a:latin typeface="メイリオ" panose="020B0604030504040204" pitchFamily="50" charset="-128"/>
                      <a:ea typeface="メイリオ" panose="020B0604030504040204" pitchFamily="50" charset="-128"/>
                    </a:rPr>
                    <a:t>etc</a:t>
                  </a:r>
                  <a:r>
                    <a:rPr lang="en-US" altLang="ja-JP" sz="1200" b="1">
                      <a:solidFill>
                        <a:schemeClr val="bg1"/>
                      </a:solidFill>
                      <a:latin typeface="メイリオ" panose="020B0604030504040204" pitchFamily="50" charset="-128"/>
                      <a:ea typeface="メイリオ" panose="020B0604030504040204" pitchFamily="50" charset="-128"/>
                    </a:rPr>
                    <a:t>…</a:t>
                  </a:r>
                  <a:endParaRPr kumimoji="1" lang="ja-JP" altLang="en-US" sz="1200" b="1">
                    <a:solidFill>
                      <a:schemeClr val="bg1"/>
                    </a:solidFill>
                    <a:latin typeface="メイリオ" panose="020B0604030504040204" pitchFamily="50" charset="-128"/>
                    <a:ea typeface="メイリオ" panose="020B0604030504040204" pitchFamily="50" charset="-128"/>
                  </a:endParaRPr>
                </a:p>
              </p:txBody>
            </p:sp>
          </p:grpSp>
        </p:grpSp>
        <p:grpSp>
          <p:nvGrpSpPr>
            <p:cNvPr id="85" name="グループ化 84">
              <a:extLst>
                <a:ext uri="{FF2B5EF4-FFF2-40B4-BE49-F238E27FC236}">
                  <a16:creationId xmlns:a16="http://schemas.microsoft.com/office/drawing/2014/main" id="{CEEE08BF-0165-E523-BC5D-8CFAC3CD1A5E}"/>
                </a:ext>
              </a:extLst>
            </p:cNvPr>
            <p:cNvGrpSpPr/>
            <p:nvPr/>
          </p:nvGrpSpPr>
          <p:grpSpPr>
            <a:xfrm>
              <a:off x="2969119" y="2850214"/>
              <a:ext cx="1043184" cy="2215041"/>
              <a:chOff x="2908145" y="2850214"/>
              <a:chExt cx="1043184" cy="2215041"/>
            </a:xfrm>
          </p:grpSpPr>
          <p:grpSp>
            <p:nvGrpSpPr>
              <p:cNvPr id="74" name="グループ化 73">
                <a:extLst>
                  <a:ext uri="{FF2B5EF4-FFF2-40B4-BE49-F238E27FC236}">
                    <a16:creationId xmlns:a16="http://schemas.microsoft.com/office/drawing/2014/main" id="{586D23F0-DFCC-EEAE-164F-16B1CFAE367F}"/>
                  </a:ext>
                </a:extLst>
              </p:cNvPr>
              <p:cNvGrpSpPr/>
              <p:nvPr/>
            </p:nvGrpSpPr>
            <p:grpSpPr>
              <a:xfrm>
                <a:off x="2910400" y="2850214"/>
                <a:ext cx="1038675" cy="1060230"/>
                <a:chOff x="2896689" y="2850214"/>
                <a:chExt cx="1038675" cy="1060230"/>
              </a:xfrm>
            </p:grpSpPr>
            <p:sp>
              <p:nvSpPr>
                <p:cNvPr id="49" name="楕円 48">
                  <a:extLst>
                    <a:ext uri="{FF2B5EF4-FFF2-40B4-BE49-F238E27FC236}">
                      <a16:creationId xmlns:a16="http://schemas.microsoft.com/office/drawing/2014/main" id="{72172FFD-B722-3EAF-4AE5-47F28AF0A980}"/>
                    </a:ext>
                  </a:extLst>
                </p:cNvPr>
                <p:cNvSpPr/>
                <p:nvPr/>
              </p:nvSpPr>
              <p:spPr>
                <a:xfrm>
                  <a:off x="2942188" y="2895090"/>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16" name="楕円 15">
                  <a:extLst>
                    <a:ext uri="{FF2B5EF4-FFF2-40B4-BE49-F238E27FC236}">
                      <a16:creationId xmlns:a16="http://schemas.microsoft.com/office/drawing/2014/main" id="{9CB68609-A1E4-E4A7-5CAA-E7B32926BF99}"/>
                    </a:ext>
                  </a:extLst>
                </p:cNvPr>
                <p:cNvSpPr/>
                <p:nvPr/>
              </p:nvSpPr>
              <p:spPr>
                <a:xfrm>
                  <a:off x="2896689" y="2850214"/>
                  <a:ext cx="993176" cy="1015354"/>
                </a:xfrm>
                <a:prstGeom prst="ellipse">
                  <a:avLst/>
                </a:prstGeom>
                <a:solidFill>
                  <a:srgbClr val="E2A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700" b="1">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8100B409-FC7E-C29F-E7D0-12AF143EFE03}"/>
                    </a:ext>
                  </a:extLst>
                </p:cNvPr>
                <p:cNvSpPr txBox="1"/>
                <p:nvPr/>
              </p:nvSpPr>
              <p:spPr>
                <a:xfrm>
                  <a:off x="3032780" y="3103094"/>
                  <a:ext cx="723275" cy="523220"/>
                </a:xfrm>
                <a:prstGeom prst="rect">
                  <a:avLst/>
                </a:prstGeom>
                <a:noFill/>
              </p:spPr>
              <p:txBody>
                <a:bodyPr wrap="none" rtlCol="0">
                  <a:spAutoFit/>
                </a:bodyPr>
                <a:lstStyle/>
                <a:p>
                  <a:pPr algn="ctr"/>
                  <a:r>
                    <a:rPr kumimoji="1" lang="ja-JP" altLang="en-US" sz="1400" b="1">
                      <a:solidFill>
                        <a:schemeClr val="bg1"/>
                      </a:solidFill>
                      <a:latin typeface="メイリオ" panose="020B0604030504040204" pitchFamily="50" charset="-128"/>
                      <a:ea typeface="メイリオ" panose="020B0604030504040204" pitchFamily="50" charset="-128"/>
                    </a:rPr>
                    <a:t>ゲーム</a:t>
                  </a:r>
                  <a:endParaRPr kumimoji="1" lang="en-US" altLang="ja-JP" sz="1400" b="1">
                    <a:solidFill>
                      <a:schemeClr val="bg1"/>
                    </a:solidFill>
                    <a:latin typeface="メイリオ" panose="020B0604030504040204" pitchFamily="50" charset="-128"/>
                    <a:ea typeface="メイリオ" panose="020B0604030504040204" pitchFamily="50" charset="-128"/>
                  </a:endParaRPr>
                </a:p>
                <a:p>
                  <a:pPr algn="ctr"/>
                  <a:r>
                    <a:rPr lang="ja-JP" altLang="en-US" sz="1400" b="1">
                      <a:solidFill>
                        <a:schemeClr val="bg1"/>
                      </a:solidFill>
                      <a:latin typeface="メイリオ" panose="020B0604030504040204" pitchFamily="50" charset="-128"/>
                      <a:ea typeface="メイリオ" panose="020B0604030504040204" pitchFamily="50" charset="-128"/>
                    </a:rPr>
                    <a:t>開発</a:t>
                  </a:r>
                  <a:endParaRPr kumimoji="1" lang="ja-JP" altLang="en-US" sz="1400" b="1">
                    <a:solidFill>
                      <a:schemeClr val="bg1"/>
                    </a:solidFill>
                    <a:latin typeface="メイリオ" panose="020B0604030504040204" pitchFamily="50" charset="-128"/>
                    <a:ea typeface="メイリオ" panose="020B0604030504040204" pitchFamily="50" charset="-128"/>
                  </a:endParaRPr>
                </a:p>
              </p:txBody>
            </p:sp>
          </p:grpSp>
          <p:grpSp>
            <p:nvGrpSpPr>
              <p:cNvPr id="13" name="グループ化 12">
                <a:extLst>
                  <a:ext uri="{FF2B5EF4-FFF2-40B4-BE49-F238E27FC236}">
                    <a16:creationId xmlns:a16="http://schemas.microsoft.com/office/drawing/2014/main" id="{84137449-048C-FBEA-F740-81138B4A4858}"/>
                  </a:ext>
                </a:extLst>
              </p:cNvPr>
              <p:cNvGrpSpPr/>
              <p:nvPr/>
            </p:nvGrpSpPr>
            <p:grpSpPr>
              <a:xfrm>
                <a:off x="2908145" y="4029053"/>
                <a:ext cx="1043184" cy="1036202"/>
                <a:chOff x="2919601" y="4026341"/>
                <a:chExt cx="1043184" cy="1036202"/>
              </a:xfrm>
            </p:grpSpPr>
            <p:sp>
              <p:nvSpPr>
                <p:cNvPr id="59" name="楕円 58">
                  <a:extLst>
                    <a:ext uri="{FF2B5EF4-FFF2-40B4-BE49-F238E27FC236}">
                      <a16:creationId xmlns:a16="http://schemas.microsoft.com/office/drawing/2014/main" id="{48FE9A0E-87D8-92DF-FB33-39B4FF7457EE}"/>
                    </a:ext>
                  </a:extLst>
                </p:cNvPr>
                <p:cNvSpPr/>
                <p:nvPr/>
              </p:nvSpPr>
              <p:spPr>
                <a:xfrm>
                  <a:off x="2969609" y="4047189"/>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32" name="楕円 31">
                  <a:extLst>
                    <a:ext uri="{FF2B5EF4-FFF2-40B4-BE49-F238E27FC236}">
                      <a16:creationId xmlns:a16="http://schemas.microsoft.com/office/drawing/2014/main" id="{57AE66B2-9098-4505-F117-D80A49A09EA9}"/>
                    </a:ext>
                  </a:extLst>
                </p:cNvPr>
                <p:cNvSpPr/>
                <p:nvPr/>
              </p:nvSpPr>
              <p:spPr>
                <a:xfrm>
                  <a:off x="2919601" y="4026341"/>
                  <a:ext cx="993176" cy="1015354"/>
                </a:xfrm>
                <a:prstGeom prst="ellipse">
                  <a:avLst/>
                </a:prstGeom>
                <a:solidFill>
                  <a:srgbClr val="E2A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D43D3FB6-35F0-A0F5-399F-AB89030DA027}"/>
                    </a:ext>
                  </a:extLst>
                </p:cNvPr>
                <p:cNvSpPr txBox="1"/>
                <p:nvPr/>
              </p:nvSpPr>
              <p:spPr>
                <a:xfrm>
                  <a:off x="3054081" y="4275180"/>
                  <a:ext cx="723275" cy="523220"/>
                </a:xfrm>
                <a:prstGeom prst="rect">
                  <a:avLst/>
                </a:prstGeom>
                <a:noFill/>
              </p:spPr>
              <p:txBody>
                <a:bodyPr wrap="none" rtlCol="0">
                  <a:spAutoFit/>
                </a:bodyPr>
                <a:lstStyle/>
                <a:p>
                  <a:pPr algn="ctr"/>
                  <a:r>
                    <a:rPr kumimoji="1" lang="ja-JP" altLang="en-US" sz="1400" b="1">
                      <a:solidFill>
                        <a:schemeClr val="bg1"/>
                      </a:solidFill>
                      <a:latin typeface="メイリオ" panose="020B0604030504040204" pitchFamily="50" charset="-128"/>
                      <a:ea typeface="メイリオ" panose="020B0604030504040204" pitchFamily="50" charset="-128"/>
                    </a:rPr>
                    <a:t>ゲーム</a:t>
                  </a:r>
                  <a:endParaRPr kumimoji="1" lang="en-US" altLang="ja-JP" sz="1400" b="1">
                    <a:solidFill>
                      <a:schemeClr val="bg1"/>
                    </a:solidFill>
                    <a:latin typeface="メイリオ" panose="020B0604030504040204" pitchFamily="50" charset="-128"/>
                    <a:ea typeface="メイリオ" panose="020B0604030504040204" pitchFamily="50" charset="-128"/>
                  </a:endParaRPr>
                </a:p>
                <a:p>
                  <a:pPr algn="ctr"/>
                  <a:r>
                    <a:rPr lang="ja-JP" altLang="en-US" sz="1400" b="1">
                      <a:solidFill>
                        <a:schemeClr val="bg1"/>
                      </a:solidFill>
                      <a:latin typeface="メイリオ" panose="020B0604030504040204" pitchFamily="50" charset="-128"/>
                      <a:ea typeface="メイリオ" panose="020B0604030504040204" pitchFamily="50" charset="-128"/>
                    </a:rPr>
                    <a:t>企画</a:t>
                  </a:r>
                  <a:endParaRPr kumimoji="1" lang="ja-JP" altLang="en-US" sz="1400" b="1">
                    <a:solidFill>
                      <a:schemeClr val="bg1"/>
                    </a:solidFill>
                    <a:latin typeface="メイリオ" panose="020B0604030504040204" pitchFamily="50" charset="-128"/>
                    <a:ea typeface="メイリオ" panose="020B0604030504040204" pitchFamily="50" charset="-128"/>
                  </a:endParaRPr>
                </a:p>
              </p:txBody>
            </p:sp>
          </p:grpSp>
        </p:grpSp>
        <p:grpSp>
          <p:nvGrpSpPr>
            <p:cNvPr id="91" name="グループ化 90">
              <a:extLst>
                <a:ext uri="{FF2B5EF4-FFF2-40B4-BE49-F238E27FC236}">
                  <a16:creationId xmlns:a16="http://schemas.microsoft.com/office/drawing/2014/main" id="{042F4BC8-D9CC-54B2-537D-3159DFE12930}"/>
                </a:ext>
              </a:extLst>
            </p:cNvPr>
            <p:cNvGrpSpPr/>
            <p:nvPr/>
          </p:nvGrpSpPr>
          <p:grpSpPr>
            <a:xfrm>
              <a:off x="9735460" y="2862305"/>
              <a:ext cx="1057504" cy="2204287"/>
              <a:chOff x="9701662" y="2862305"/>
              <a:chExt cx="1057504" cy="2204287"/>
            </a:xfrm>
          </p:grpSpPr>
          <p:grpSp>
            <p:nvGrpSpPr>
              <p:cNvPr id="80" name="グループ化 79">
                <a:extLst>
                  <a:ext uri="{FF2B5EF4-FFF2-40B4-BE49-F238E27FC236}">
                    <a16:creationId xmlns:a16="http://schemas.microsoft.com/office/drawing/2014/main" id="{815B6F09-E144-89DF-71AE-D797086ADDF9}"/>
                  </a:ext>
                </a:extLst>
              </p:cNvPr>
              <p:cNvGrpSpPr/>
              <p:nvPr/>
            </p:nvGrpSpPr>
            <p:grpSpPr>
              <a:xfrm>
                <a:off x="9710206" y="2862305"/>
                <a:ext cx="1048960" cy="1036049"/>
                <a:chOff x="9699059" y="2850214"/>
                <a:chExt cx="1048960" cy="1036049"/>
              </a:xfrm>
            </p:grpSpPr>
            <p:sp>
              <p:nvSpPr>
                <p:cNvPr id="12" name="楕円 11">
                  <a:extLst>
                    <a:ext uri="{FF2B5EF4-FFF2-40B4-BE49-F238E27FC236}">
                      <a16:creationId xmlns:a16="http://schemas.microsoft.com/office/drawing/2014/main" id="{94EEB52F-AAB7-4E20-CA78-87AB5DC74923}"/>
                    </a:ext>
                  </a:extLst>
                </p:cNvPr>
                <p:cNvSpPr/>
                <p:nvPr/>
              </p:nvSpPr>
              <p:spPr>
                <a:xfrm>
                  <a:off x="9754843" y="2870909"/>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2" name="楕円 1">
                  <a:extLst>
                    <a:ext uri="{FF2B5EF4-FFF2-40B4-BE49-F238E27FC236}">
                      <a16:creationId xmlns:a16="http://schemas.microsoft.com/office/drawing/2014/main" id="{E5388BEE-AEA1-79CF-0A9B-3405593A3CD4}"/>
                    </a:ext>
                  </a:extLst>
                </p:cNvPr>
                <p:cNvSpPr/>
                <p:nvPr/>
              </p:nvSpPr>
              <p:spPr>
                <a:xfrm>
                  <a:off x="9699059" y="2850214"/>
                  <a:ext cx="993176" cy="1015354"/>
                </a:xfrm>
                <a:prstGeom prst="ellipse">
                  <a:avLst/>
                </a:prstGeom>
                <a:solidFill>
                  <a:srgbClr val="9158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メイリオ" panose="020B0604030504040204" pitchFamily="50" charset="-128"/>
                      <a:ea typeface="メイリオ" panose="020B0604030504040204" pitchFamily="50" charset="-128"/>
                    </a:rPr>
                    <a:t>建築</a:t>
                  </a:r>
                </a:p>
              </p:txBody>
            </p:sp>
          </p:grpSp>
          <p:grpSp>
            <p:nvGrpSpPr>
              <p:cNvPr id="46" name="グループ化 45">
                <a:extLst>
                  <a:ext uri="{FF2B5EF4-FFF2-40B4-BE49-F238E27FC236}">
                    <a16:creationId xmlns:a16="http://schemas.microsoft.com/office/drawing/2014/main" id="{0BB15335-6772-2C29-7A89-A93659F209C0}"/>
                  </a:ext>
                </a:extLst>
              </p:cNvPr>
              <p:cNvGrpSpPr/>
              <p:nvPr/>
            </p:nvGrpSpPr>
            <p:grpSpPr>
              <a:xfrm>
                <a:off x="9701662" y="4027717"/>
                <a:ext cx="1057195" cy="1038875"/>
                <a:chOff x="9713118" y="4026341"/>
                <a:chExt cx="1057195" cy="1038875"/>
              </a:xfrm>
            </p:grpSpPr>
            <p:sp>
              <p:nvSpPr>
                <p:cNvPr id="11" name="楕円 10">
                  <a:extLst>
                    <a:ext uri="{FF2B5EF4-FFF2-40B4-BE49-F238E27FC236}">
                      <a16:creationId xmlns:a16="http://schemas.microsoft.com/office/drawing/2014/main" id="{40F6C867-64E3-864A-0AA0-AB5220496B2A}"/>
                    </a:ext>
                  </a:extLst>
                </p:cNvPr>
                <p:cNvSpPr/>
                <p:nvPr/>
              </p:nvSpPr>
              <p:spPr>
                <a:xfrm>
                  <a:off x="9777137" y="4049862"/>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5" name="楕円 4">
                  <a:extLst>
                    <a:ext uri="{FF2B5EF4-FFF2-40B4-BE49-F238E27FC236}">
                      <a16:creationId xmlns:a16="http://schemas.microsoft.com/office/drawing/2014/main" id="{91512AF6-FF2A-1DCC-38CE-DD4474571BF8}"/>
                    </a:ext>
                  </a:extLst>
                </p:cNvPr>
                <p:cNvSpPr/>
                <p:nvPr/>
              </p:nvSpPr>
              <p:spPr>
                <a:xfrm>
                  <a:off x="9721971" y="4026341"/>
                  <a:ext cx="993176" cy="1015354"/>
                </a:xfrm>
                <a:prstGeom prst="ellipse">
                  <a:avLst/>
                </a:prstGeom>
                <a:solidFill>
                  <a:srgbClr val="9158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3A336EAE-89A7-65D8-999F-963EA49D2DB1}"/>
                    </a:ext>
                  </a:extLst>
                </p:cNvPr>
                <p:cNvSpPr txBox="1"/>
                <p:nvPr/>
              </p:nvSpPr>
              <p:spPr>
                <a:xfrm>
                  <a:off x="9713118" y="4416345"/>
                  <a:ext cx="992580" cy="253916"/>
                </a:xfrm>
                <a:prstGeom prst="rect">
                  <a:avLst/>
                </a:prstGeom>
                <a:noFill/>
              </p:spPr>
              <p:txBody>
                <a:bodyPr wrap="none" rtlCol="0">
                  <a:spAutoFit/>
                </a:bodyPr>
                <a:lstStyle/>
                <a:p>
                  <a:pPr algn="ctr"/>
                  <a:r>
                    <a:rPr kumimoji="1" lang="ja-JP" altLang="en-US" sz="1050" b="1">
                      <a:solidFill>
                        <a:schemeClr val="bg1"/>
                      </a:solidFill>
                      <a:latin typeface="メイリオ" panose="020B0604030504040204" pitchFamily="50" charset="-128"/>
                      <a:ea typeface="メイリオ" panose="020B0604030504040204" pitchFamily="50" charset="-128"/>
                    </a:rPr>
                    <a:t>ファッション</a:t>
                  </a:r>
                </a:p>
              </p:txBody>
            </p:sp>
          </p:grpSp>
        </p:grpSp>
        <p:grpSp>
          <p:nvGrpSpPr>
            <p:cNvPr id="87" name="グループ化 86">
              <a:extLst>
                <a:ext uri="{FF2B5EF4-FFF2-40B4-BE49-F238E27FC236}">
                  <a16:creationId xmlns:a16="http://schemas.microsoft.com/office/drawing/2014/main" id="{2D32D135-6B71-7131-3C1C-EF8229370D92}"/>
                </a:ext>
              </a:extLst>
            </p:cNvPr>
            <p:cNvGrpSpPr/>
            <p:nvPr/>
          </p:nvGrpSpPr>
          <p:grpSpPr>
            <a:xfrm>
              <a:off x="5208638" y="2850214"/>
              <a:ext cx="1050158" cy="2215041"/>
              <a:chOff x="5147702" y="2850214"/>
              <a:chExt cx="1050158" cy="2215041"/>
            </a:xfrm>
          </p:grpSpPr>
          <p:grpSp>
            <p:nvGrpSpPr>
              <p:cNvPr id="28" name="グループ化 27">
                <a:extLst>
                  <a:ext uri="{FF2B5EF4-FFF2-40B4-BE49-F238E27FC236}">
                    <a16:creationId xmlns:a16="http://schemas.microsoft.com/office/drawing/2014/main" id="{988FF148-0274-DC75-F6C3-1BE71768A204}"/>
                  </a:ext>
                </a:extLst>
              </p:cNvPr>
              <p:cNvGrpSpPr/>
              <p:nvPr/>
            </p:nvGrpSpPr>
            <p:grpSpPr>
              <a:xfrm>
                <a:off x="5147702" y="4029053"/>
                <a:ext cx="1050158" cy="1036202"/>
                <a:chOff x="5155828" y="4026341"/>
                <a:chExt cx="1050158" cy="1036202"/>
              </a:xfrm>
            </p:grpSpPr>
            <p:sp>
              <p:nvSpPr>
                <p:cNvPr id="61" name="楕円 60">
                  <a:extLst>
                    <a:ext uri="{FF2B5EF4-FFF2-40B4-BE49-F238E27FC236}">
                      <a16:creationId xmlns:a16="http://schemas.microsoft.com/office/drawing/2014/main" id="{2E2D1BE0-8AE8-2AE3-73CA-557A6E10665B}"/>
                    </a:ext>
                  </a:extLst>
                </p:cNvPr>
                <p:cNvSpPr/>
                <p:nvPr/>
              </p:nvSpPr>
              <p:spPr>
                <a:xfrm>
                  <a:off x="5212810" y="4047189"/>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34" name="楕円 33">
                  <a:extLst>
                    <a:ext uri="{FF2B5EF4-FFF2-40B4-BE49-F238E27FC236}">
                      <a16:creationId xmlns:a16="http://schemas.microsoft.com/office/drawing/2014/main" id="{8043738D-244F-C42D-CE58-36B5EDB4B984}"/>
                    </a:ext>
                  </a:extLst>
                </p:cNvPr>
                <p:cNvSpPr/>
                <p:nvPr/>
              </p:nvSpPr>
              <p:spPr>
                <a:xfrm>
                  <a:off x="5155828" y="4026341"/>
                  <a:ext cx="993176" cy="1015354"/>
                </a:xfrm>
                <a:prstGeom prst="ellipse">
                  <a:avLst/>
                </a:prstGeom>
                <a:solidFill>
                  <a:srgbClr val="53A7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B68D3917-BC0F-ABAF-41C6-497F554F81F4}"/>
                    </a:ext>
                  </a:extLst>
                </p:cNvPr>
                <p:cNvSpPr txBox="1"/>
                <p:nvPr/>
              </p:nvSpPr>
              <p:spPr>
                <a:xfrm>
                  <a:off x="5250469" y="4202610"/>
                  <a:ext cx="800219" cy="646331"/>
                </a:xfrm>
                <a:prstGeom prst="rect">
                  <a:avLst/>
                </a:prstGeom>
                <a:noFill/>
              </p:spPr>
              <p:txBody>
                <a:bodyPr wrap="none" rtlCol="0">
                  <a:spAutoFit/>
                </a:bodyPr>
                <a:lstStyle/>
                <a:p>
                  <a:pPr algn="ctr"/>
                  <a:r>
                    <a:rPr kumimoji="1" lang="ja-JP" altLang="en-US" sz="1200" b="1">
                      <a:solidFill>
                        <a:schemeClr val="bg1"/>
                      </a:solidFill>
                      <a:latin typeface="メイリオ" panose="020B0604030504040204" pitchFamily="50" charset="-128"/>
                      <a:ea typeface="メイリオ" panose="020B0604030504040204" pitchFamily="50" charset="-128"/>
                    </a:rPr>
                    <a:t>ゲーム</a:t>
                  </a:r>
                  <a:endParaRPr kumimoji="1" lang="en-US" altLang="ja-JP" sz="1200" b="1">
                    <a:solidFill>
                      <a:schemeClr val="bg1"/>
                    </a:solidFill>
                    <a:latin typeface="メイリオ" panose="020B0604030504040204" pitchFamily="50" charset="-128"/>
                    <a:ea typeface="メイリオ" panose="020B0604030504040204" pitchFamily="50" charset="-128"/>
                  </a:endParaRPr>
                </a:p>
                <a:p>
                  <a:pPr algn="ctr"/>
                  <a:r>
                    <a:rPr kumimoji="1" lang="ja-JP" altLang="en-US" sz="1200" b="1">
                      <a:solidFill>
                        <a:schemeClr val="bg1"/>
                      </a:solidFill>
                      <a:latin typeface="メイリオ" panose="020B0604030504040204" pitchFamily="50" charset="-128"/>
                      <a:ea typeface="メイリオ" panose="020B0604030504040204" pitchFamily="50" charset="-128"/>
                    </a:rPr>
                    <a:t>プログラ</a:t>
                  </a:r>
                  <a:endParaRPr kumimoji="1" lang="en-US" altLang="ja-JP" sz="1200" b="1">
                    <a:solidFill>
                      <a:schemeClr val="bg1"/>
                    </a:solidFill>
                    <a:latin typeface="メイリオ" panose="020B0604030504040204" pitchFamily="50" charset="-128"/>
                    <a:ea typeface="メイリオ" panose="020B0604030504040204" pitchFamily="50" charset="-128"/>
                  </a:endParaRPr>
                </a:p>
                <a:p>
                  <a:pPr algn="ctr"/>
                  <a:r>
                    <a:rPr kumimoji="1" lang="ja-JP" altLang="en-US" sz="1200" b="1">
                      <a:solidFill>
                        <a:schemeClr val="bg1"/>
                      </a:solidFill>
                      <a:latin typeface="メイリオ" panose="020B0604030504040204" pitchFamily="50" charset="-128"/>
                      <a:ea typeface="メイリオ" panose="020B0604030504040204" pitchFamily="50" charset="-128"/>
                    </a:rPr>
                    <a:t>ミング</a:t>
                  </a:r>
                </a:p>
              </p:txBody>
            </p:sp>
          </p:grpSp>
          <p:grpSp>
            <p:nvGrpSpPr>
              <p:cNvPr id="76" name="グループ化 75">
                <a:extLst>
                  <a:ext uri="{FF2B5EF4-FFF2-40B4-BE49-F238E27FC236}">
                    <a16:creationId xmlns:a16="http://schemas.microsoft.com/office/drawing/2014/main" id="{D5A6ABFE-CEC5-472E-D27A-2FFB467FD891}"/>
                  </a:ext>
                </a:extLst>
              </p:cNvPr>
              <p:cNvGrpSpPr/>
              <p:nvPr/>
            </p:nvGrpSpPr>
            <p:grpSpPr>
              <a:xfrm>
                <a:off x="5153287" y="2850214"/>
                <a:ext cx="1038989" cy="1060230"/>
                <a:chOff x="5139576" y="2850214"/>
                <a:chExt cx="1038989" cy="1060230"/>
              </a:xfrm>
            </p:grpSpPr>
            <p:sp>
              <p:nvSpPr>
                <p:cNvPr id="51" name="楕円 50">
                  <a:extLst>
                    <a:ext uri="{FF2B5EF4-FFF2-40B4-BE49-F238E27FC236}">
                      <a16:creationId xmlns:a16="http://schemas.microsoft.com/office/drawing/2014/main" id="{124BAEC0-C11B-B633-D11D-39D229628FAF}"/>
                    </a:ext>
                  </a:extLst>
                </p:cNvPr>
                <p:cNvSpPr/>
                <p:nvPr/>
              </p:nvSpPr>
              <p:spPr>
                <a:xfrm>
                  <a:off x="5185389" y="2895090"/>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18" name="楕円 17">
                  <a:extLst>
                    <a:ext uri="{FF2B5EF4-FFF2-40B4-BE49-F238E27FC236}">
                      <a16:creationId xmlns:a16="http://schemas.microsoft.com/office/drawing/2014/main" id="{EC0EF9D2-72EF-0926-0323-BF22B61DA97C}"/>
                    </a:ext>
                  </a:extLst>
                </p:cNvPr>
                <p:cNvSpPr/>
                <p:nvPr/>
              </p:nvSpPr>
              <p:spPr>
                <a:xfrm>
                  <a:off x="5139576" y="2850214"/>
                  <a:ext cx="993176" cy="1015354"/>
                </a:xfrm>
                <a:prstGeom prst="ellipse">
                  <a:avLst/>
                </a:prstGeom>
                <a:solidFill>
                  <a:srgbClr val="53A7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a:latin typeface="メイリオ" panose="020B0604030504040204" pitchFamily="50" charset="-128"/>
                    <a:ea typeface="メイリオ" panose="020B0604030504040204" pitchFamily="50" charset="-128"/>
                  </a:endParaRPr>
                </a:p>
              </p:txBody>
            </p:sp>
            <p:sp>
              <p:nvSpPr>
                <p:cNvPr id="66" name="テキスト ボックス 65">
                  <a:extLst>
                    <a:ext uri="{FF2B5EF4-FFF2-40B4-BE49-F238E27FC236}">
                      <a16:creationId xmlns:a16="http://schemas.microsoft.com/office/drawing/2014/main" id="{3089FF3B-5EFC-75E9-6E3C-0878A8AC9795}"/>
                    </a:ext>
                  </a:extLst>
                </p:cNvPr>
                <p:cNvSpPr txBox="1"/>
                <p:nvPr/>
              </p:nvSpPr>
              <p:spPr>
                <a:xfrm>
                  <a:off x="5178485" y="3111044"/>
                  <a:ext cx="954107" cy="461665"/>
                </a:xfrm>
                <a:prstGeom prst="rect">
                  <a:avLst/>
                </a:prstGeom>
                <a:noFill/>
              </p:spPr>
              <p:txBody>
                <a:bodyPr wrap="none" rtlCol="0">
                  <a:spAutoFit/>
                </a:bodyPr>
                <a:lstStyle/>
                <a:p>
                  <a:pPr algn="ctr"/>
                  <a:r>
                    <a:rPr kumimoji="1" lang="ja-JP" altLang="en-US" sz="1200" b="1">
                      <a:solidFill>
                        <a:schemeClr val="bg1"/>
                      </a:solidFill>
                      <a:latin typeface="メイリオ" panose="020B0604030504040204" pitchFamily="50" charset="-128"/>
                      <a:ea typeface="メイリオ" panose="020B0604030504040204" pitchFamily="50" charset="-128"/>
                    </a:rPr>
                    <a:t>ゲーム</a:t>
                  </a:r>
                  <a:endParaRPr kumimoji="1" lang="en-US" altLang="ja-JP" sz="1200" b="1">
                    <a:solidFill>
                      <a:schemeClr val="bg1"/>
                    </a:solidFill>
                    <a:latin typeface="メイリオ" panose="020B0604030504040204" pitchFamily="50" charset="-128"/>
                    <a:ea typeface="メイリオ" panose="020B0604030504040204" pitchFamily="50" charset="-128"/>
                  </a:endParaRPr>
                </a:p>
                <a:p>
                  <a:pPr algn="ctr"/>
                  <a:r>
                    <a:rPr lang="ja-JP" altLang="en-US" sz="1200" b="1">
                      <a:solidFill>
                        <a:schemeClr val="bg1"/>
                      </a:solidFill>
                      <a:latin typeface="メイリオ" panose="020B0604030504040204" pitchFamily="50" charset="-128"/>
                      <a:ea typeface="メイリオ" panose="020B0604030504040204" pitchFamily="50" charset="-128"/>
                    </a:rPr>
                    <a:t>エフェクト</a:t>
                  </a:r>
                  <a:endParaRPr kumimoji="1" lang="ja-JP" altLang="en-US" sz="1200" b="1">
                    <a:solidFill>
                      <a:schemeClr val="bg1"/>
                    </a:solidFill>
                    <a:latin typeface="メイリオ" panose="020B0604030504040204" pitchFamily="50" charset="-128"/>
                    <a:ea typeface="メイリオ" panose="020B0604030504040204" pitchFamily="50" charset="-128"/>
                  </a:endParaRPr>
                </a:p>
              </p:txBody>
            </p:sp>
          </p:grpSp>
        </p:grpSp>
        <p:grpSp>
          <p:nvGrpSpPr>
            <p:cNvPr id="89" name="グループ化 88">
              <a:extLst>
                <a:ext uri="{FF2B5EF4-FFF2-40B4-BE49-F238E27FC236}">
                  <a16:creationId xmlns:a16="http://schemas.microsoft.com/office/drawing/2014/main" id="{F158A04E-034E-3C0E-8537-96ED52F9C967}"/>
                </a:ext>
              </a:extLst>
            </p:cNvPr>
            <p:cNvGrpSpPr/>
            <p:nvPr/>
          </p:nvGrpSpPr>
          <p:grpSpPr>
            <a:xfrm>
              <a:off x="7455445" y="2850214"/>
              <a:ext cx="1091593" cy="2215041"/>
              <a:chOff x="7343884" y="2850214"/>
              <a:chExt cx="1091593" cy="2215041"/>
            </a:xfrm>
          </p:grpSpPr>
          <p:grpSp>
            <p:nvGrpSpPr>
              <p:cNvPr id="39" name="グループ化 38">
                <a:extLst>
                  <a:ext uri="{FF2B5EF4-FFF2-40B4-BE49-F238E27FC236}">
                    <a16:creationId xmlns:a16="http://schemas.microsoft.com/office/drawing/2014/main" id="{0AB940BC-3553-8C47-FA89-6D18E653C8D1}"/>
                  </a:ext>
                </a:extLst>
              </p:cNvPr>
              <p:cNvGrpSpPr/>
              <p:nvPr/>
            </p:nvGrpSpPr>
            <p:grpSpPr>
              <a:xfrm>
                <a:off x="7367774" y="4029053"/>
                <a:ext cx="1043812" cy="1036202"/>
                <a:chOff x="7405375" y="4026341"/>
                <a:chExt cx="1043812" cy="1036202"/>
              </a:xfrm>
            </p:grpSpPr>
            <p:sp>
              <p:nvSpPr>
                <p:cNvPr id="62" name="楕円 61">
                  <a:extLst>
                    <a:ext uri="{FF2B5EF4-FFF2-40B4-BE49-F238E27FC236}">
                      <a16:creationId xmlns:a16="http://schemas.microsoft.com/office/drawing/2014/main" id="{E4E34F5E-F8C2-0D55-DB8E-148274AF40D5}"/>
                    </a:ext>
                  </a:extLst>
                </p:cNvPr>
                <p:cNvSpPr/>
                <p:nvPr/>
              </p:nvSpPr>
              <p:spPr>
                <a:xfrm>
                  <a:off x="7456011" y="4047189"/>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36" name="楕円 35">
                  <a:extLst>
                    <a:ext uri="{FF2B5EF4-FFF2-40B4-BE49-F238E27FC236}">
                      <a16:creationId xmlns:a16="http://schemas.microsoft.com/office/drawing/2014/main" id="{5A58DEC1-69B0-F149-80BC-4CE5DC307D74}"/>
                    </a:ext>
                  </a:extLst>
                </p:cNvPr>
                <p:cNvSpPr/>
                <p:nvPr/>
              </p:nvSpPr>
              <p:spPr>
                <a:xfrm>
                  <a:off x="7405375" y="4026341"/>
                  <a:ext cx="993176" cy="1015354"/>
                </a:xfrm>
                <a:prstGeom prst="ellipse">
                  <a:avLst/>
                </a:prstGeom>
                <a:solidFill>
                  <a:srgbClr val="54AF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a:latin typeface="メイリオ" panose="020B0604030504040204" pitchFamily="50" charset="-128"/>
                      <a:ea typeface="メイリオ" panose="020B0604030504040204" pitchFamily="50" charset="-128"/>
                    </a:rPr>
                    <a:t>Web</a:t>
                  </a:r>
                </a:p>
              </p:txBody>
            </p:sp>
          </p:grpSp>
          <p:grpSp>
            <p:nvGrpSpPr>
              <p:cNvPr id="78" name="グループ化 77">
                <a:extLst>
                  <a:ext uri="{FF2B5EF4-FFF2-40B4-BE49-F238E27FC236}">
                    <a16:creationId xmlns:a16="http://schemas.microsoft.com/office/drawing/2014/main" id="{6ECBE647-7572-BDDA-FAB5-647EE5F412A0}"/>
                  </a:ext>
                </a:extLst>
              </p:cNvPr>
              <p:cNvGrpSpPr/>
              <p:nvPr/>
            </p:nvGrpSpPr>
            <p:grpSpPr>
              <a:xfrm>
                <a:off x="7343884" y="2850214"/>
                <a:ext cx="1091593" cy="1060230"/>
                <a:chOff x="7330173" y="2850214"/>
                <a:chExt cx="1091593" cy="1060230"/>
              </a:xfrm>
            </p:grpSpPr>
            <p:sp>
              <p:nvSpPr>
                <p:cNvPr id="52" name="楕円 51">
                  <a:extLst>
                    <a:ext uri="{FF2B5EF4-FFF2-40B4-BE49-F238E27FC236}">
                      <a16:creationId xmlns:a16="http://schemas.microsoft.com/office/drawing/2014/main" id="{DD462478-8FFB-6F4D-7717-CFBAB42F7DBA}"/>
                    </a:ext>
                  </a:extLst>
                </p:cNvPr>
                <p:cNvSpPr/>
                <p:nvPr/>
              </p:nvSpPr>
              <p:spPr>
                <a:xfrm>
                  <a:off x="7428590" y="2895090"/>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20" name="楕円 19">
                  <a:extLst>
                    <a:ext uri="{FF2B5EF4-FFF2-40B4-BE49-F238E27FC236}">
                      <a16:creationId xmlns:a16="http://schemas.microsoft.com/office/drawing/2014/main" id="{F0519A28-6175-6110-9220-A0A247CC4CC3}"/>
                    </a:ext>
                  </a:extLst>
                </p:cNvPr>
                <p:cNvSpPr/>
                <p:nvPr/>
              </p:nvSpPr>
              <p:spPr>
                <a:xfrm>
                  <a:off x="7382463" y="2850214"/>
                  <a:ext cx="993176" cy="1015354"/>
                </a:xfrm>
                <a:prstGeom prst="ellipse">
                  <a:avLst/>
                </a:prstGeom>
                <a:solidFill>
                  <a:srgbClr val="54AF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panose="020B0604030504040204" pitchFamily="50" charset="-128"/>
                    <a:ea typeface="メイリオ" panose="020B0604030504040204" pitchFamily="50" charset="-128"/>
                  </a:endParaRPr>
                </a:p>
              </p:txBody>
            </p:sp>
            <p:sp>
              <p:nvSpPr>
                <p:cNvPr id="67" name="テキスト ボックス 66">
                  <a:extLst>
                    <a:ext uri="{FF2B5EF4-FFF2-40B4-BE49-F238E27FC236}">
                      <a16:creationId xmlns:a16="http://schemas.microsoft.com/office/drawing/2014/main" id="{8E86057E-F315-706A-D211-167FF0B64300}"/>
                    </a:ext>
                  </a:extLst>
                </p:cNvPr>
                <p:cNvSpPr txBox="1"/>
                <p:nvPr/>
              </p:nvSpPr>
              <p:spPr>
                <a:xfrm>
                  <a:off x="7330173" y="3034545"/>
                  <a:ext cx="1082349" cy="523220"/>
                </a:xfrm>
                <a:prstGeom prst="rect">
                  <a:avLst/>
                </a:prstGeom>
                <a:noFill/>
              </p:spPr>
              <p:txBody>
                <a:bodyPr wrap="none" rtlCol="0">
                  <a:spAutoFit/>
                </a:bodyPr>
                <a:lstStyle/>
                <a:p>
                  <a:pPr algn="ctr"/>
                  <a:r>
                    <a:rPr kumimoji="1" lang="en-US" altLang="ja-JP" sz="1400" b="1">
                      <a:solidFill>
                        <a:schemeClr val="bg1"/>
                      </a:solidFill>
                      <a:latin typeface="メイリオ" panose="020B0604030504040204" pitchFamily="50" charset="-128"/>
                      <a:ea typeface="メイリオ" panose="020B0604030504040204" pitchFamily="50" charset="-128"/>
                    </a:rPr>
                    <a:t>XR</a:t>
                  </a:r>
                </a:p>
                <a:p>
                  <a:pPr algn="ctr"/>
                  <a:r>
                    <a:rPr lang="ja-JP" altLang="en-US" sz="1400" b="1">
                      <a:solidFill>
                        <a:schemeClr val="bg1"/>
                      </a:solidFill>
                      <a:latin typeface="メイリオ" panose="020B0604030504040204" pitchFamily="50" charset="-128"/>
                      <a:ea typeface="メイリオ" panose="020B0604030504040204" pitchFamily="50" charset="-128"/>
                    </a:rPr>
                    <a:t>アプリ開発</a:t>
                  </a:r>
                  <a:endParaRPr kumimoji="1" lang="ja-JP" altLang="en-US" sz="1400" b="1">
                    <a:solidFill>
                      <a:schemeClr val="bg1"/>
                    </a:solidFill>
                    <a:latin typeface="メイリオ" panose="020B0604030504040204" pitchFamily="50" charset="-128"/>
                    <a:ea typeface="メイリオ" panose="020B0604030504040204" pitchFamily="50" charset="-128"/>
                  </a:endParaRPr>
                </a:p>
              </p:txBody>
            </p:sp>
          </p:grpSp>
        </p:grpSp>
        <p:grpSp>
          <p:nvGrpSpPr>
            <p:cNvPr id="88" name="グループ化 87">
              <a:extLst>
                <a:ext uri="{FF2B5EF4-FFF2-40B4-BE49-F238E27FC236}">
                  <a16:creationId xmlns:a16="http://schemas.microsoft.com/office/drawing/2014/main" id="{041BFC22-5BFB-FD4F-85CE-E9B79E231F47}"/>
                </a:ext>
              </a:extLst>
            </p:cNvPr>
            <p:cNvGrpSpPr/>
            <p:nvPr/>
          </p:nvGrpSpPr>
          <p:grpSpPr>
            <a:xfrm>
              <a:off x="6335293" y="2850214"/>
              <a:ext cx="1043655" cy="2215041"/>
              <a:chOff x="6272476" y="2850214"/>
              <a:chExt cx="1043655" cy="2215041"/>
            </a:xfrm>
          </p:grpSpPr>
          <p:grpSp>
            <p:nvGrpSpPr>
              <p:cNvPr id="77" name="グループ化 76">
                <a:extLst>
                  <a:ext uri="{FF2B5EF4-FFF2-40B4-BE49-F238E27FC236}">
                    <a16:creationId xmlns:a16="http://schemas.microsoft.com/office/drawing/2014/main" id="{4B7801AF-C261-2D3B-BE56-819EECB9AD45}"/>
                  </a:ext>
                </a:extLst>
              </p:cNvPr>
              <p:cNvGrpSpPr/>
              <p:nvPr/>
            </p:nvGrpSpPr>
            <p:grpSpPr>
              <a:xfrm>
                <a:off x="6274730" y="2850214"/>
                <a:ext cx="1039146" cy="1060230"/>
                <a:chOff x="6261019" y="2850214"/>
                <a:chExt cx="1039146" cy="1060230"/>
              </a:xfrm>
            </p:grpSpPr>
            <p:sp>
              <p:nvSpPr>
                <p:cNvPr id="53" name="楕円 52">
                  <a:extLst>
                    <a:ext uri="{FF2B5EF4-FFF2-40B4-BE49-F238E27FC236}">
                      <a16:creationId xmlns:a16="http://schemas.microsoft.com/office/drawing/2014/main" id="{364B4C93-007C-B57A-EDC7-D50F99E6FD80}"/>
                    </a:ext>
                  </a:extLst>
                </p:cNvPr>
                <p:cNvSpPr/>
                <p:nvPr/>
              </p:nvSpPr>
              <p:spPr>
                <a:xfrm>
                  <a:off x="6306989" y="2895090"/>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19" name="楕円 18">
                  <a:extLst>
                    <a:ext uri="{FF2B5EF4-FFF2-40B4-BE49-F238E27FC236}">
                      <a16:creationId xmlns:a16="http://schemas.microsoft.com/office/drawing/2014/main" id="{F88B88C2-D5FD-9650-F050-BECD09B0BE54}"/>
                    </a:ext>
                  </a:extLst>
                </p:cNvPr>
                <p:cNvSpPr/>
                <p:nvPr/>
              </p:nvSpPr>
              <p:spPr>
                <a:xfrm>
                  <a:off x="6261019" y="2850214"/>
                  <a:ext cx="993176" cy="1015354"/>
                </a:xfrm>
                <a:prstGeom prst="ellipse">
                  <a:avLst/>
                </a:prstGeom>
                <a:solidFill>
                  <a:srgbClr val="3B91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68" name="テキスト ボックス 67">
                  <a:extLst>
                    <a:ext uri="{FF2B5EF4-FFF2-40B4-BE49-F238E27FC236}">
                      <a16:creationId xmlns:a16="http://schemas.microsoft.com/office/drawing/2014/main" id="{FFB531C7-C9DF-E828-D21F-C87D6C135C47}"/>
                    </a:ext>
                  </a:extLst>
                </p:cNvPr>
                <p:cNvSpPr txBox="1"/>
                <p:nvPr/>
              </p:nvSpPr>
              <p:spPr>
                <a:xfrm>
                  <a:off x="6397006" y="3106408"/>
                  <a:ext cx="723275" cy="523220"/>
                </a:xfrm>
                <a:prstGeom prst="rect">
                  <a:avLst/>
                </a:prstGeom>
                <a:noFill/>
              </p:spPr>
              <p:txBody>
                <a:bodyPr wrap="none" rtlCol="0">
                  <a:spAutoFit/>
                </a:bodyPr>
                <a:lstStyle/>
                <a:p>
                  <a:pPr algn="ctr"/>
                  <a:r>
                    <a:rPr kumimoji="1" lang="ja-JP" altLang="en-US" sz="1400" b="1">
                      <a:solidFill>
                        <a:schemeClr val="bg1"/>
                      </a:solidFill>
                      <a:latin typeface="メイリオ" panose="020B0604030504040204" pitchFamily="50" charset="-128"/>
                      <a:ea typeface="メイリオ" panose="020B0604030504040204" pitchFamily="50" charset="-128"/>
                    </a:rPr>
                    <a:t>遊技機</a:t>
                  </a:r>
                  <a:endParaRPr kumimoji="1" lang="en-US" altLang="ja-JP" sz="1400" b="1">
                    <a:solidFill>
                      <a:schemeClr val="bg1"/>
                    </a:solidFill>
                    <a:latin typeface="メイリオ" panose="020B0604030504040204" pitchFamily="50" charset="-128"/>
                    <a:ea typeface="メイリオ" panose="020B0604030504040204" pitchFamily="50" charset="-128"/>
                  </a:endParaRPr>
                </a:p>
                <a:p>
                  <a:pPr algn="ctr"/>
                  <a:r>
                    <a:rPr lang="ja-JP" altLang="en-US" sz="1400" b="1">
                      <a:solidFill>
                        <a:schemeClr val="bg1"/>
                      </a:solidFill>
                      <a:latin typeface="メイリオ" panose="020B0604030504040204" pitchFamily="50" charset="-128"/>
                      <a:ea typeface="メイリオ" panose="020B0604030504040204" pitchFamily="50" charset="-128"/>
                    </a:rPr>
                    <a:t>開発</a:t>
                  </a:r>
                  <a:endParaRPr kumimoji="1" lang="ja-JP" altLang="en-US" sz="1400" b="1">
                    <a:solidFill>
                      <a:schemeClr val="bg1"/>
                    </a:solidFill>
                    <a:latin typeface="メイリオ" panose="020B0604030504040204" pitchFamily="50" charset="-128"/>
                    <a:ea typeface="メイリオ" panose="020B0604030504040204" pitchFamily="50" charset="-128"/>
                  </a:endParaRPr>
                </a:p>
              </p:txBody>
            </p:sp>
          </p:grpSp>
          <p:grpSp>
            <p:nvGrpSpPr>
              <p:cNvPr id="38" name="グループ化 37">
                <a:extLst>
                  <a:ext uri="{FF2B5EF4-FFF2-40B4-BE49-F238E27FC236}">
                    <a16:creationId xmlns:a16="http://schemas.microsoft.com/office/drawing/2014/main" id="{01B3BE0B-2EF5-532C-D703-3D5304085713}"/>
                  </a:ext>
                </a:extLst>
              </p:cNvPr>
              <p:cNvGrpSpPr/>
              <p:nvPr/>
            </p:nvGrpSpPr>
            <p:grpSpPr>
              <a:xfrm>
                <a:off x="6272476" y="4029053"/>
                <a:ext cx="1043655" cy="1036202"/>
                <a:chOff x="6283932" y="4026341"/>
                <a:chExt cx="1043655" cy="1036202"/>
              </a:xfrm>
            </p:grpSpPr>
            <p:sp>
              <p:nvSpPr>
                <p:cNvPr id="63" name="楕円 62">
                  <a:extLst>
                    <a:ext uri="{FF2B5EF4-FFF2-40B4-BE49-F238E27FC236}">
                      <a16:creationId xmlns:a16="http://schemas.microsoft.com/office/drawing/2014/main" id="{E1FD48BC-53A2-2FA9-E524-9ADAE398DE9B}"/>
                    </a:ext>
                  </a:extLst>
                </p:cNvPr>
                <p:cNvSpPr/>
                <p:nvPr/>
              </p:nvSpPr>
              <p:spPr>
                <a:xfrm>
                  <a:off x="6334411" y="4047189"/>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35" name="楕円 34">
                  <a:extLst>
                    <a:ext uri="{FF2B5EF4-FFF2-40B4-BE49-F238E27FC236}">
                      <a16:creationId xmlns:a16="http://schemas.microsoft.com/office/drawing/2014/main" id="{962286EB-B15E-3856-6A90-86C20C1C8806}"/>
                    </a:ext>
                  </a:extLst>
                </p:cNvPr>
                <p:cNvSpPr/>
                <p:nvPr/>
              </p:nvSpPr>
              <p:spPr>
                <a:xfrm>
                  <a:off x="6283932" y="4026341"/>
                  <a:ext cx="993176" cy="1015354"/>
                </a:xfrm>
                <a:prstGeom prst="ellipse">
                  <a:avLst/>
                </a:prstGeom>
                <a:solidFill>
                  <a:srgbClr val="3B91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400" b="1">
                    <a:latin typeface="メイリオ" panose="020B0604030504040204" pitchFamily="50" charset="-128"/>
                    <a:ea typeface="メイリオ" panose="020B0604030504040204" pitchFamily="50" charset="-128"/>
                  </a:endParaRPr>
                </a:p>
              </p:txBody>
            </p:sp>
            <p:sp>
              <p:nvSpPr>
                <p:cNvPr id="69" name="テキスト ボックス 68">
                  <a:extLst>
                    <a:ext uri="{FF2B5EF4-FFF2-40B4-BE49-F238E27FC236}">
                      <a16:creationId xmlns:a16="http://schemas.microsoft.com/office/drawing/2014/main" id="{9155A6F5-A57A-7E6F-607F-13E73C0DE41A}"/>
                    </a:ext>
                  </a:extLst>
                </p:cNvPr>
                <p:cNvSpPr txBox="1"/>
                <p:nvPr/>
              </p:nvSpPr>
              <p:spPr>
                <a:xfrm>
                  <a:off x="6375576" y="4294942"/>
                  <a:ext cx="838691" cy="461665"/>
                </a:xfrm>
                <a:prstGeom prst="rect">
                  <a:avLst/>
                </a:prstGeom>
                <a:noFill/>
              </p:spPr>
              <p:txBody>
                <a:bodyPr wrap="none" rtlCol="0">
                  <a:spAutoFit/>
                </a:bodyPr>
                <a:lstStyle/>
                <a:p>
                  <a:pPr algn="ctr"/>
                  <a:r>
                    <a:rPr kumimoji="1" lang="ja-JP" altLang="en-US" sz="1200" b="1">
                      <a:solidFill>
                        <a:schemeClr val="bg1"/>
                      </a:solidFill>
                      <a:latin typeface="メイリオ" panose="020B0604030504040204" pitchFamily="50" charset="-128"/>
                      <a:ea typeface="メイリオ" panose="020B0604030504040204" pitchFamily="50" charset="-128"/>
                    </a:rPr>
                    <a:t>アニメ</a:t>
                  </a:r>
                  <a:endParaRPr kumimoji="1" lang="en-US" altLang="ja-JP" sz="1200" b="1">
                    <a:solidFill>
                      <a:schemeClr val="bg1"/>
                    </a:solidFill>
                    <a:latin typeface="メイリオ" panose="020B0604030504040204" pitchFamily="50" charset="-128"/>
                    <a:ea typeface="メイリオ" panose="020B0604030504040204" pitchFamily="50" charset="-128"/>
                  </a:endParaRPr>
                </a:p>
                <a:p>
                  <a:pPr algn="ctr"/>
                  <a:r>
                    <a:rPr lang="en-US" altLang="ja-JP" sz="1200" b="1">
                      <a:solidFill>
                        <a:schemeClr val="bg1"/>
                      </a:solidFill>
                      <a:latin typeface="メイリオ" panose="020B0604030504040204" pitchFamily="50" charset="-128"/>
                      <a:ea typeface="メイリオ" panose="020B0604030504040204" pitchFamily="50" charset="-128"/>
                    </a:rPr>
                    <a:t>AI</a:t>
                  </a:r>
                  <a:r>
                    <a:rPr lang="ja-JP" altLang="en-US" sz="1200" b="1">
                      <a:solidFill>
                        <a:schemeClr val="bg1"/>
                      </a:solidFill>
                      <a:latin typeface="メイリオ" panose="020B0604030504040204" pitchFamily="50" charset="-128"/>
                      <a:ea typeface="メイリオ" panose="020B0604030504040204" pitchFamily="50" charset="-128"/>
                    </a:rPr>
                    <a:t>アニメ</a:t>
                  </a:r>
                  <a:endParaRPr kumimoji="1" lang="ja-JP" altLang="en-US" sz="1200" b="1">
                    <a:solidFill>
                      <a:schemeClr val="bg1"/>
                    </a:solidFill>
                    <a:latin typeface="メイリオ" panose="020B0604030504040204" pitchFamily="50" charset="-128"/>
                    <a:ea typeface="メイリオ" panose="020B0604030504040204" pitchFamily="50" charset="-128"/>
                  </a:endParaRPr>
                </a:p>
              </p:txBody>
            </p:sp>
          </p:grpSp>
        </p:grpSp>
        <p:grpSp>
          <p:nvGrpSpPr>
            <p:cNvPr id="84" name="グループ化 83">
              <a:extLst>
                <a:ext uri="{FF2B5EF4-FFF2-40B4-BE49-F238E27FC236}">
                  <a16:creationId xmlns:a16="http://schemas.microsoft.com/office/drawing/2014/main" id="{452C5830-EE38-B727-F9E1-04E9525C2EFC}"/>
                </a:ext>
              </a:extLst>
            </p:cNvPr>
            <p:cNvGrpSpPr/>
            <p:nvPr/>
          </p:nvGrpSpPr>
          <p:grpSpPr>
            <a:xfrm>
              <a:off x="1784625" y="2850214"/>
              <a:ext cx="1107997" cy="2215041"/>
              <a:chOff x="1740432" y="2850214"/>
              <a:chExt cx="1107997" cy="2215041"/>
            </a:xfrm>
          </p:grpSpPr>
          <p:grpSp>
            <p:nvGrpSpPr>
              <p:cNvPr id="72" name="グループ化 71">
                <a:extLst>
                  <a:ext uri="{FF2B5EF4-FFF2-40B4-BE49-F238E27FC236}">
                    <a16:creationId xmlns:a16="http://schemas.microsoft.com/office/drawing/2014/main" id="{5B5B233B-9D61-9903-B34D-2D3A40B69F6B}"/>
                  </a:ext>
                </a:extLst>
              </p:cNvPr>
              <p:cNvGrpSpPr/>
              <p:nvPr/>
            </p:nvGrpSpPr>
            <p:grpSpPr>
              <a:xfrm>
                <a:off x="1775171" y="2850214"/>
                <a:ext cx="1038518" cy="1060230"/>
                <a:chOff x="1775245" y="2850214"/>
                <a:chExt cx="1038518" cy="1060230"/>
              </a:xfrm>
            </p:grpSpPr>
            <p:sp>
              <p:nvSpPr>
                <p:cNvPr id="48" name="楕円 47">
                  <a:extLst>
                    <a:ext uri="{FF2B5EF4-FFF2-40B4-BE49-F238E27FC236}">
                      <a16:creationId xmlns:a16="http://schemas.microsoft.com/office/drawing/2014/main" id="{99184A06-70F7-F0C3-DBD5-C8813B4B6C9A}"/>
                    </a:ext>
                  </a:extLst>
                </p:cNvPr>
                <p:cNvSpPr/>
                <p:nvPr/>
              </p:nvSpPr>
              <p:spPr>
                <a:xfrm>
                  <a:off x="1820587" y="2895090"/>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15" name="楕円 14">
                  <a:extLst>
                    <a:ext uri="{FF2B5EF4-FFF2-40B4-BE49-F238E27FC236}">
                      <a16:creationId xmlns:a16="http://schemas.microsoft.com/office/drawing/2014/main" id="{1661E521-F2FF-26A4-ED54-FA2C085F949A}"/>
                    </a:ext>
                  </a:extLst>
                </p:cNvPr>
                <p:cNvSpPr/>
                <p:nvPr/>
              </p:nvSpPr>
              <p:spPr>
                <a:xfrm>
                  <a:off x="1775245" y="2850214"/>
                  <a:ext cx="993176" cy="1015354"/>
                </a:xfrm>
                <a:prstGeom prst="ellipse">
                  <a:avLst/>
                </a:prstGeom>
                <a:solidFill>
                  <a:srgbClr val="D547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メイリオ" panose="020B0604030504040204" pitchFamily="50" charset="-128"/>
                      <a:ea typeface="メイリオ" panose="020B0604030504040204" pitchFamily="50" charset="-128"/>
                    </a:rPr>
                    <a:t>動画</a:t>
                  </a:r>
                </a:p>
              </p:txBody>
            </p:sp>
          </p:grpSp>
          <p:grpSp>
            <p:nvGrpSpPr>
              <p:cNvPr id="9" name="グループ化 8">
                <a:extLst>
                  <a:ext uri="{FF2B5EF4-FFF2-40B4-BE49-F238E27FC236}">
                    <a16:creationId xmlns:a16="http://schemas.microsoft.com/office/drawing/2014/main" id="{91B676CA-6B7B-5411-8D5B-FF18FEE498AE}"/>
                  </a:ext>
                </a:extLst>
              </p:cNvPr>
              <p:cNvGrpSpPr/>
              <p:nvPr/>
            </p:nvGrpSpPr>
            <p:grpSpPr>
              <a:xfrm>
                <a:off x="1740432" y="4029053"/>
                <a:ext cx="1107997" cy="1036202"/>
                <a:chOff x="1740432" y="4026341"/>
                <a:chExt cx="1107997" cy="1036202"/>
              </a:xfrm>
            </p:grpSpPr>
            <p:sp>
              <p:nvSpPr>
                <p:cNvPr id="58" name="楕円 57">
                  <a:extLst>
                    <a:ext uri="{FF2B5EF4-FFF2-40B4-BE49-F238E27FC236}">
                      <a16:creationId xmlns:a16="http://schemas.microsoft.com/office/drawing/2014/main" id="{ED92C145-C68C-B59D-3D45-857624C3637F}"/>
                    </a:ext>
                  </a:extLst>
                </p:cNvPr>
                <p:cNvSpPr/>
                <p:nvPr/>
              </p:nvSpPr>
              <p:spPr>
                <a:xfrm>
                  <a:off x="1848009" y="4047189"/>
                  <a:ext cx="993176" cy="1015354"/>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31" name="楕円 30">
                  <a:extLst>
                    <a:ext uri="{FF2B5EF4-FFF2-40B4-BE49-F238E27FC236}">
                      <a16:creationId xmlns:a16="http://schemas.microsoft.com/office/drawing/2014/main" id="{C6E977C5-D4F1-D14E-9713-F696BC578096}"/>
                    </a:ext>
                  </a:extLst>
                </p:cNvPr>
                <p:cNvSpPr/>
                <p:nvPr/>
              </p:nvSpPr>
              <p:spPr>
                <a:xfrm>
                  <a:off x="1798157" y="4026341"/>
                  <a:ext cx="993176" cy="1015354"/>
                </a:xfrm>
                <a:prstGeom prst="ellipse">
                  <a:avLst/>
                </a:prstGeom>
                <a:solidFill>
                  <a:srgbClr val="D547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B9B6542B-A6EF-6759-0054-4BB5FCD26715}"/>
                    </a:ext>
                  </a:extLst>
                </p:cNvPr>
                <p:cNvSpPr txBox="1"/>
                <p:nvPr/>
              </p:nvSpPr>
              <p:spPr>
                <a:xfrm>
                  <a:off x="1740432" y="4245473"/>
                  <a:ext cx="1107997" cy="461665"/>
                </a:xfrm>
                <a:prstGeom prst="rect">
                  <a:avLst/>
                </a:prstGeom>
                <a:noFill/>
              </p:spPr>
              <p:txBody>
                <a:bodyPr wrap="none" rtlCol="0">
                  <a:spAutoFit/>
                </a:bodyPr>
                <a:lstStyle/>
                <a:p>
                  <a:pPr algn="ctr"/>
                  <a:r>
                    <a:rPr kumimoji="1" lang="en-US" altLang="ja-JP" sz="1200" b="1">
                      <a:solidFill>
                        <a:schemeClr val="bg1"/>
                      </a:solidFill>
                      <a:latin typeface="メイリオ" panose="020B0604030504040204" pitchFamily="50" charset="-128"/>
                      <a:ea typeface="メイリオ" panose="020B0604030504040204" pitchFamily="50" charset="-128"/>
                    </a:rPr>
                    <a:t>IP</a:t>
                  </a:r>
                </a:p>
                <a:p>
                  <a:pPr algn="ctr"/>
                  <a:r>
                    <a:rPr lang="ja-JP" altLang="en-US" sz="1200" b="1">
                      <a:solidFill>
                        <a:schemeClr val="bg1"/>
                      </a:solidFill>
                      <a:latin typeface="メイリオ" panose="020B0604030504040204" pitchFamily="50" charset="-128"/>
                      <a:ea typeface="メイリオ" panose="020B0604030504040204" pitchFamily="50" charset="-128"/>
                    </a:rPr>
                    <a:t>プロデュース</a:t>
                  </a:r>
                  <a:endParaRPr kumimoji="1" lang="ja-JP" altLang="en-US" sz="1200" b="1">
                    <a:solidFill>
                      <a:schemeClr val="bg1"/>
                    </a:solidFill>
                    <a:latin typeface="メイリオ" panose="020B0604030504040204" pitchFamily="50" charset="-128"/>
                    <a:ea typeface="メイリオ" panose="020B0604030504040204" pitchFamily="50" charset="-128"/>
                  </a:endParaRPr>
                </a:p>
              </p:txBody>
            </p:sp>
          </p:grpSp>
        </p:grpSp>
      </p:grpSp>
    </p:spTree>
    <p:extLst>
      <p:ext uri="{BB962C8B-B14F-4D97-AF65-F5344CB8AC3E}">
        <p14:creationId xmlns:p14="http://schemas.microsoft.com/office/powerpoint/2010/main" val="1278793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A872FF4-1CCF-F666-F542-F6BB76C1666B}"/>
              </a:ext>
            </a:extLst>
          </p:cNvPr>
          <p:cNvSpPr>
            <a:spLocks noGrp="1"/>
          </p:cNvSpPr>
          <p:nvPr>
            <p:ph type="title"/>
          </p:nvPr>
        </p:nvSpPr>
        <p:spPr>
          <a:xfrm>
            <a:off x="986155" y="2420939"/>
            <a:ext cx="10219690" cy="2227262"/>
          </a:xfrm>
        </p:spPr>
        <p:txBody>
          <a:bodyPr anchor="ctr"/>
          <a:lstStyle/>
          <a:p>
            <a:pPr>
              <a:lnSpc>
                <a:spcPct val="150000"/>
              </a:lnSpc>
            </a:pPr>
            <a:r>
              <a:rPr lang="ja-JP" altLang="en-US" dirty="0"/>
              <a:t>ゲーム･ライツ事業を中心とした</a:t>
            </a:r>
            <a:br>
              <a:rPr lang="en-US" altLang="ja-JP" dirty="0"/>
            </a:br>
            <a:r>
              <a:rPr lang="ja-JP" altLang="en-US" dirty="0"/>
              <a:t>デジタルエンタテインメント領域</a:t>
            </a:r>
          </a:p>
        </p:txBody>
      </p:sp>
    </p:spTree>
    <p:extLst>
      <p:ext uri="{BB962C8B-B14F-4D97-AF65-F5344CB8AC3E}">
        <p14:creationId xmlns:p14="http://schemas.microsoft.com/office/powerpoint/2010/main" val="2336781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25F67-0B6A-FDCF-D50B-0B0D31471AF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E533B10-3A9E-6449-008D-1E28D261DDA6}"/>
              </a:ext>
            </a:extLst>
          </p:cNvPr>
          <p:cNvSpPr>
            <a:spLocks noGrp="1"/>
          </p:cNvSpPr>
          <p:nvPr>
            <p:ph type="title" idx="4294967295"/>
          </p:nvPr>
        </p:nvSpPr>
        <p:spPr>
          <a:xfrm>
            <a:off x="438831" y="79816"/>
            <a:ext cx="7734984" cy="468313"/>
          </a:xfrm>
        </p:spPr>
        <p:txBody>
          <a:bodyPr>
            <a:normAutofit fontScale="90000"/>
          </a:bodyPr>
          <a:lstStyle/>
          <a:p>
            <a:r>
              <a:rPr kumimoji="1" lang="ja-JP" altLang="en-US" sz="2800" b="1" i="0" u="none" strike="noStrike" kern="1200" cap="none" spc="0" normalizeH="0" baseline="0" noProof="0" dirty="0">
                <a:ln>
                  <a:noFill/>
                </a:ln>
                <a:effectLst/>
                <a:uLnTx/>
                <a:uFillTx/>
                <a:latin typeface="メイリオ" panose="020B0604030504040204" pitchFamily="50" charset="-128"/>
                <a:ea typeface="メイリオ" panose="020B0604030504040204" pitchFamily="50" charset="-128"/>
                <a:cs typeface="+mn-cs"/>
              </a:rPr>
              <a:t>ゲーム･ライツ事業の各種サービス領域</a:t>
            </a:r>
            <a:endParaRPr lang="ja-JP" altLang="en-US" dirty="0">
              <a:latin typeface="メイリオ" panose="020B0604030504040204" pitchFamily="50" charset="-128"/>
              <a:ea typeface="メイリオ" panose="020B0604030504040204" pitchFamily="50" charset="-128"/>
            </a:endParaRPr>
          </a:p>
        </p:txBody>
      </p:sp>
      <p:sp>
        <p:nvSpPr>
          <p:cNvPr id="37" name="テキスト ボックス 36">
            <a:extLst>
              <a:ext uri="{FF2B5EF4-FFF2-40B4-BE49-F238E27FC236}">
                <a16:creationId xmlns:a16="http://schemas.microsoft.com/office/drawing/2014/main" id="{398B96EE-9227-EA91-1F41-FD3652445EE4}"/>
              </a:ext>
            </a:extLst>
          </p:cNvPr>
          <p:cNvSpPr txBox="1"/>
          <p:nvPr/>
        </p:nvSpPr>
        <p:spPr>
          <a:xfrm>
            <a:off x="659870" y="763429"/>
            <a:ext cx="7163252" cy="738664"/>
          </a:xfrm>
          <a:prstGeom prst="rect">
            <a:avLst/>
          </a:prstGeom>
          <a:noFill/>
        </p:spPr>
        <p:txBody>
          <a:bodyPr wrap="square" lIns="0" tIns="0" rIns="0" bIns="0" rtlCol="0">
            <a:spAutoFit/>
          </a:bodyPr>
          <a:lstStyle/>
          <a:p>
            <a:pPr>
              <a:defRPr/>
            </a:pPr>
            <a:r>
              <a:rPr lang="ja-JP" altLang="en-US" sz="2400" b="1" dirty="0">
                <a:latin typeface="メイリオ"/>
                <a:ea typeface="メイリオ"/>
              </a:rPr>
              <a:t>C&amp;Rクリエイティブスタジオのゲーム、CG領域で、</a:t>
            </a:r>
            <a:endParaRPr lang="en-US" altLang="ja-JP" sz="2400" dirty="0"/>
          </a:p>
          <a:p>
            <a:pPr>
              <a:defRPr/>
            </a:pPr>
            <a:r>
              <a:rPr lang="ja-JP" altLang="en-US" sz="2400" b="1" dirty="0">
                <a:latin typeface="メイリオ"/>
                <a:ea typeface="メイリオ"/>
              </a:rPr>
              <a:t>制作開発、人材支援、ビジネス/経営支援を展開</a:t>
            </a:r>
            <a:endParaRPr lang="ja-JP" altLang="ja-JP" sz="2400" dirty="0">
              <a:latin typeface="メイリオ"/>
              <a:ea typeface="メイリオ"/>
            </a:endParaRPr>
          </a:p>
        </p:txBody>
      </p:sp>
      <p:grpSp>
        <p:nvGrpSpPr>
          <p:cNvPr id="39" name="グループ化 38">
            <a:extLst>
              <a:ext uri="{FF2B5EF4-FFF2-40B4-BE49-F238E27FC236}">
                <a16:creationId xmlns:a16="http://schemas.microsoft.com/office/drawing/2014/main" id="{AC63C706-D80B-7ACA-5628-82E823EE9A77}"/>
              </a:ext>
            </a:extLst>
          </p:cNvPr>
          <p:cNvGrpSpPr/>
          <p:nvPr/>
        </p:nvGrpSpPr>
        <p:grpSpPr>
          <a:xfrm>
            <a:off x="5484271" y="1795017"/>
            <a:ext cx="2416460" cy="569170"/>
            <a:chOff x="14582296" y="1460263"/>
            <a:chExt cx="1364503" cy="321393"/>
          </a:xfrm>
        </p:grpSpPr>
        <p:sp>
          <p:nvSpPr>
            <p:cNvPr id="44" name="テキスト ボックス 43">
              <a:extLst>
                <a:ext uri="{FF2B5EF4-FFF2-40B4-BE49-F238E27FC236}">
                  <a16:creationId xmlns:a16="http://schemas.microsoft.com/office/drawing/2014/main" id="{235E8694-3480-C8FC-CAD2-BDC441B01F51}"/>
                </a:ext>
              </a:extLst>
            </p:cNvPr>
            <p:cNvSpPr txBox="1"/>
            <p:nvPr/>
          </p:nvSpPr>
          <p:spPr>
            <a:xfrm>
              <a:off x="14653586" y="1460263"/>
              <a:ext cx="1293213" cy="156413"/>
            </a:xfrm>
            <a:prstGeom prst="rect">
              <a:avLst/>
            </a:prstGeom>
            <a:noFill/>
          </p:spPr>
          <p:txBody>
            <a:bodyPr wrap="square" lIns="0" tIns="0" rIns="0" bIns="0"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1" lang="en-US" altLang="ja-JP" b="1" i="0" u="none" strike="noStrike" kern="1200" cap="none" spc="0" normalizeH="0" baseline="0" noProof="0" dirty="0">
                  <a:ln>
                    <a:noFill/>
                  </a:ln>
                  <a:effectLst/>
                  <a:uLnTx/>
                  <a:uFillTx/>
                  <a:latin typeface="メイリオ" panose="020B0604030504040204" pitchFamily="50" charset="-128"/>
                  <a:ea typeface="メイリオ" panose="020B0604030504040204" pitchFamily="50" charset="-128"/>
                </a:rPr>
                <a:t>https://crdg.jp</a:t>
              </a:r>
              <a:endParaRPr kumimoji="1" lang="ja-JP" altLang="en-US" b="1" i="0" u="none" strike="noStrike" kern="1200" cap="none" spc="0" normalizeH="0" baseline="0" noProof="0" dirty="0">
                <a:ln>
                  <a:noFill/>
                </a:ln>
                <a:effectLst/>
                <a:uLnTx/>
                <a:uFillTx/>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1338A672-FF4E-03B8-E25E-D4789E0FFBD6}"/>
                </a:ext>
              </a:extLst>
            </p:cNvPr>
            <p:cNvSpPr txBox="1"/>
            <p:nvPr/>
          </p:nvSpPr>
          <p:spPr>
            <a:xfrm>
              <a:off x="14582296" y="1660001"/>
              <a:ext cx="1364503" cy="121655"/>
            </a:xfrm>
            <a:prstGeom prst="rect">
              <a:avLst/>
            </a:prstGeom>
            <a:noFill/>
          </p:spPr>
          <p:txBody>
            <a:bodyPr wrap="square" lIns="0" tIns="0" rIns="0" bIns="0"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制作実績も多数掲載中</a:t>
              </a:r>
            </a:p>
          </p:txBody>
        </p:sp>
      </p:grpSp>
      <p:pic>
        <p:nvPicPr>
          <p:cNvPr id="8" name="Picture 3">
            <a:extLst>
              <a:ext uri="{FF2B5EF4-FFF2-40B4-BE49-F238E27FC236}">
                <a16:creationId xmlns:a16="http://schemas.microsoft.com/office/drawing/2014/main" id="{4F800935-5195-FFEF-286E-6A72F50B21E6}"/>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t="9337" b="20230"/>
          <a:stretch/>
        </p:blipFill>
        <p:spPr bwMode="auto">
          <a:xfrm>
            <a:off x="8089226" y="705566"/>
            <a:ext cx="3442904" cy="16914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 name="グループ化 2">
            <a:extLst>
              <a:ext uri="{FF2B5EF4-FFF2-40B4-BE49-F238E27FC236}">
                <a16:creationId xmlns:a16="http://schemas.microsoft.com/office/drawing/2014/main" id="{12A25600-94B5-6139-12D0-81E973100921}"/>
              </a:ext>
            </a:extLst>
          </p:cNvPr>
          <p:cNvGrpSpPr/>
          <p:nvPr/>
        </p:nvGrpSpPr>
        <p:grpSpPr>
          <a:xfrm>
            <a:off x="517372" y="2478819"/>
            <a:ext cx="11332353" cy="4229279"/>
            <a:chOff x="415290" y="2113189"/>
            <a:chExt cx="11332353" cy="4229279"/>
          </a:xfrm>
        </p:grpSpPr>
        <p:sp>
          <p:nvSpPr>
            <p:cNvPr id="4" name="四角形: 角を丸くする 3">
              <a:extLst>
                <a:ext uri="{FF2B5EF4-FFF2-40B4-BE49-F238E27FC236}">
                  <a16:creationId xmlns:a16="http://schemas.microsoft.com/office/drawing/2014/main" id="{5428865B-CA58-7FD6-C93E-C32A4282E3A0}"/>
                </a:ext>
              </a:extLst>
            </p:cNvPr>
            <p:cNvSpPr/>
            <p:nvPr/>
          </p:nvSpPr>
          <p:spPr bwMode="auto">
            <a:xfrm>
              <a:off x="415290" y="2478518"/>
              <a:ext cx="11332353" cy="3863950"/>
            </a:xfrm>
            <a:prstGeom prst="roundRect">
              <a:avLst>
                <a:gd name="adj" fmla="val 1281"/>
              </a:avLst>
            </a:prstGeom>
            <a:noFill/>
            <a:ln w="12700" algn="ctr">
              <a:solidFill>
                <a:srgbClr val="333333"/>
              </a:solidFill>
              <a:prstDash val="solid"/>
              <a:miter lim="800000"/>
              <a:headEnd/>
              <a:tailEnd/>
            </a:ln>
            <a:effectLst/>
          </p:spPr>
          <p:txBody>
            <a:bodyPr wrap="none" lIns="90000" tIns="46800" rIns="90000" bIns="46800" rtlCol="0" anchor="ctr"/>
            <a:lstStyle/>
            <a:p>
              <a:pPr marL="0" marR="0" lvl="0" indent="0" algn="l" defTabSz="914400" eaLnBrk="1" fontAlgn="auto" latinLnBrk="0" hangingPunct="1">
                <a:lnSpc>
                  <a:spcPct val="100000"/>
                </a:lnSpc>
                <a:spcBef>
                  <a:spcPct val="50000"/>
                </a:spcBef>
                <a:spcAft>
                  <a:spcPts val="0"/>
                </a:spcAft>
                <a:buClrTx/>
                <a:buSzTx/>
                <a:buFontTx/>
                <a:buNone/>
                <a:tabLst/>
                <a:defRPr/>
              </a:pPr>
              <a:endParaRPr kumimoji="0" lang="ja-JP" altLang="en-US" sz="20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 name="角丸四角形 9">
              <a:extLst>
                <a:ext uri="{FF2B5EF4-FFF2-40B4-BE49-F238E27FC236}">
                  <a16:creationId xmlns:a16="http://schemas.microsoft.com/office/drawing/2014/main" id="{1EE3C174-1442-6CFD-9CD1-2946C3F1142B}"/>
                </a:ext>
              </a:extLst>
            </p:cNvPr>
            <p:cNvSpPr/>
            <p:nvPr/>
          </p:nvSpPr>
          <p:spPr>
            <a:xfrm>
              <a:off x="532998" y="2113189"/>
              <a:ext cx="10918699" cy="653813"/>
            </a:xfrm>
            <a:prstGeom prst="roundRect">
              <a:avLst>
                <a:gd name="adj" fmla="val 9066"/>
              </a:avLst>
            </a:prstGeom>
            <a:solidFill>
              <a:srgbClr val="333333"/>
            </a:solidFill>
            <a:ln>
              <a:noFill/>
            </a:ln>
            <a:effectLst/>
          </p:spPr>
          <p:txBody>
            <a:bodyPr lIns="91440" tIns="45720" rIns="91440" bIns="45720" rtlCol="0" anchor="ctr"/>
            <a:lstStyle/>
            <a:p>
              <a:pPr marL="0" marR="0" lvl="0" indent="0" algn="ctr" defTabSz="914400">
                <a:lnSpc>
                  <a:spcPct val="100000"/>
                </a:lnSpc>
                <a:spcBef>
                  <a:spcPts val="0"/>
                </a:spcBef>
                <a:spcAft>
                  <a:spcPts val="0"/>
                </a:spcAft>
                <a:buClrTx/>
                <a:buSzTx/>
                <a:buFontTx/>
                <a:buNone/>
                <a:tabLst/>
                <a:defRPr/>
              </a:pPr>
              <a:r>
                <a:rPr lang="ja-JP" altLang="en-US" sz="2400" b="1" kern="0" dirty="0">
                  <a:solidFill>
                    <a:schemeClr val="bg1"/>
                  </a:solidFill>
                  <a:latin typeface="メイリオ"/>
                  <a:ea typeface="メイリオ"/>
                </a:rPr>
                <a:t>ゲーム開発チーム他、専門スタジオで組織化。1,</a:t>
              </a:r>
              <a:r>
                <a:rPr lang="en-US" altLang="ja-JP" sz="2400" b="1" kern="0" dirty="0">
                  <a:solidFill>
                    <a:schemeClr val="bg1"/>
                  </a:solidFill>
                  <a:latin typeface="メイリオ"/>
                  <a:ea typeface="メイリオ"/>
                </a:rPr>
                <a:t>4</a:t>
              </a:r>
              <a:r>
                <a:rPr lang="ja-JP" altLang="en-US" sz="2400" b="1" kern="0" dirty="0">
                  <a:solidFill>
                    <a:schemeClr val="bg1"/>
                  </a:solidFill>
                  <a:latin typeface="メイリオ"/>
                  <a:ea typeface="メイリオ"/>
                </a:rPr>
                <a:t>00名体制で運営。</a:t>
              </a:r>
              <a:endParaRPr lang="ja-JP" altLang="en-US" sz="2400" b="1" i="0" u="none" strike="noStrike" kern="0" cap="none" spc="0" normalizeH="0" baseline="0" noProof="0" dirty="0">
                <a:ln>
                  <a:noFill/>
                </a:ln>
                <a:solidFill>
                  <a:schemeClr val="bg1"/>
                </a:solidFill>
                <a:effectLst/>
                <a:uLnTx/>
                <a:uFillTx/>
                <a:latin typeface="メイリオ" panose="020B0604030504040204" pitchFamily="50" charset="-128"/>
                <a:ea typeface="メイリオ" panose="020B0604030504040204" pitchFamily="50" charset="-128"/>
              </a:endParaRPr>
            </a:p>
          </p:txBody>
        </p:sp>
        <p:sp>
          <p:nvSpPr>
            <p:cNvPr id="6" name="角丸四角形 9">
              <a:extLst>
                <a:ext uri="{FF2B5EF4-FFF2-40B4-BE49-F238E27FC236}">
                  <a16:creationId xmlns:a16="http://schemas.microsoft.com/office/drawing/2014/main" id="{4334DC5C-CE05-5F58-E704-A731A46FBD72}"/>
                </a:ext>
              </a:extLst>
            </p:cNvPr>
            <p:cNvSpPr/>
            <p:nvPr/>
          </p:nvSpPr>
          <p:spPr>
            <a:xfrm>
              <a:off x="751257" y="5615004"/>
              <a:ext cx="3451574" cy="561397"/>
            </a:xfrm>
            <a:prstGeom prst="roundRect">
              <a:avLst>
                <a:gd name="adj" fmla="val 9066"/>
              </a:avLst>
            </a:prstGeom>
            <a:solidFill>
              <a:srgbClr val="333333">
                <a:lumMod val="20000"/>
                <a:lumOff val="80000"/>
              </a:srgb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600" kern="0">
                  <a:solidFill>
                    <a:srgbClr val="333333"/>
                  </a:solidFill>
                  <a:latin typeface="メイリオ" panose="020B0604030504040204" pitchFamily="50" charset="-128"/>
                  <a:ea typeface="メイリオ" panose="020B0604030504040204" pitchFamily="50" charset="-128"/>
                </a:rPr>
                <a:t>Web</a:t>
              </a:r>
              <a:r>
                <a:rPr kumimoji="0" lang="ja-JP" altLang="en-US" sz="1600" kern="0">
                  <a:solidFill>
                    <a:srgbClr val="333333"/>
                  </a:solidFill>
                  <a:latin typeface="メイリオ" panose="020B0604030504040204" pitchFamily="50" charset="-128"/>
                  <a:ea typeface="メイリオ" panose="020B0604030504040204" pitchFamily="50" charset="-128"/>
                </a:rPr>
                <a:t>制作 </a:t>
              </a:r>
              <a:r>
                <a:rPr kumimoji="0" lang="en-US" altLang="ja-JP" sz="1600" kern="0">
                  <a:solidFill>
                    <a:srgbClr val="333333"/>
                  </a:solidFill>
                  <a:latin typeface="メイリオ" panose="020B0604030504040204" pitchFamily="50" charset="-128"/>
                  <a:ea typeface="メイリオ" panose="020B0604030504040204" pitchFamily="50" charset="-128"/>
                </a:rPr>
                <a:t>/ </a:t>
              </a:r>
              <a:r>
                <a:rPr kumimoji="0" lang="en-US" altLang="ja-JP"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XR</a:t>
              </a:r>
              <a:r>
                <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開発</a:t>
              </a:r>
            </a:p>
          </p:txBody>
        </p:sp>
        <p:sp>
          <p:nvSpPr>
            <p:cNvPr id="7" name="角丸四角形 9">
              <a:extLst>
                <a:ext uri="{FF2B5EF4-FFF2-40B4-BE49-F238E27FC236}">
                  <a16:creationId xmlns:a16="http://schemas.microsoft.com/office/drawing/2014/main" id="{75A9B099-6E35-40FB-59A3-8D872596977F}"/>
                </a:ext>
              </a:extLst>
            </p:cNvPr>
            <p:cNvSpPr/>
            <p:nvPr/>
          </p:nvSpPr>
          <p:spPr>
            <a:xfrm>
              <a:off x="4328171" y="4279764"/>
              <a:ext cx="3451574" cy="561397"/>
            </a:xfrm>
            <a:prstGeom prst="roundRect">
              <a:avLst>
                <a:gd name="adj" fmla="val 9066"/>
              </a:avLst>
            </a:prstGeom>
            <a:solidFill>
              <a:srgbClr val="333333">
                <a:lumMod val="20000"/>
                <a:lumOff val="80000"/>
              </a:srgb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マンガ制作</a:t>
              </a:r>
              <a:r>
                <a:rPr kumimoji="0" lang="en-US" altLang="ja-JP"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r>
                <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電子書籍</a:t>
              </a:r>
              <a:r>
                <a:rPr kumimoji="0" lang="en-US" altLang="ja-JP"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endPar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p:txBody>
        </p:sp>
        <p:sp>
          <p:nvSpPr>
            <p:cNvPr id="9" name="角丸四角形 9">
              <a:extLst>
                <a:ext uri="{FF2B5EF4-FFF2-40B4-BE49-F238E27FC236}">
                  <a16:creationId xmlns:a16="http://schemas.microsoft.com/office/drawing/2014/main" id="{E35774A0-2E91-875A-8CA5-6D2E45E9B79B}"/>
                </a:ext>
              </a:extLst>
            </p:cNvPr>
            <p:cNvSpPr/>
            <p:nvPr/>
          </p:nvSpPr>
          <p:spPr>
            <a:xfrm>
              <a:off x="4347075" y="3617098"/>
              <a:ext cx="3451574" cy="561397"/>
            </a:xfrm>
            <a:prstGeom prst="roundRect">
              <a:avLst>
                <a:gd name="adj" fmla="val 9066"/>
              </a:avLst>
            </a:prstGeom>
            <a:solidFill>
              <a:srgbClr val="333333">
                <a:lumMod val="20000"/>
                <a:lumOff val="80000"/>
              </a:srgbClr>
            </a:solidFill>
            <a:ln>
              <a:noFill/>
            </a:ln>
            <a:effectLst/>
          </p:spPr>
          <p:txBody>
            <a:bodyPr lIns="91440" tIns="45720" rIns="91440" bIns="45720" rtlCol="0" anchor="ctr"/>
            <a:lstStyle/>
            <a:p>
              <a:pPr marL="0" marR="0" lvl="0" indent="0" defTabSz="914400">
                <a:lnSpc>
                  <a:spcPct val="100000"/>
                </a:lnSpc>
                <a:spcBef>
                  <a:spcPts val="0"/>
                </a:spcBef>
                <a:spcAft>
                  <a:spcPts val="0"/>
                </a:spcAft>
                <a:buNone/>
                <a:tabLst/>
                <a:defRPr/>
              </a:pPr>
              <a:r>
                <a:rPr kumimoji="0" lang="ja-JP" altLang="en-US" sz="1600" kern="0">
                  <a:solidFill>
                    <a:srgbClr val="333333"/>
                  </a:solidFill>
                  <a:latin typeface="Meiryo"/>
                  <a:ea typeface="Meiryo"/>
                </a:rPr>
                <a:t>ゲ</a:t>
              </a:r>
              <a:r>
                <a:rPr kumimoji="0" lang="ja-JP" sz="1600" i="0" u="none" strike="noStrike" kern="0" cap="none" spc="0" normalizeH="0" baseline="0" noProof="0">
                  <a:ln>
                    <a:noFill/>
                  </a:ln>
                  <a:solidFill>
                    <a:srgbClr val="333333"/>
                  </a:solidFill>
                  <a:effectLst/>
                  <a:uLnTx/>
                  <a:uFillTx/>
                  <a:latin typeface="Meiryo"/>
                  <a:ea typeface="Meiryo"/>
                </a:rPr>
                <a:t>ー</a:t>
              </a:r>
              <a:r>
                <a:rPr kumimoji="0" lang="ja-JP" altLang="en-US" sz="1600" kern="0">
                  <a:solidFill>
                    <a:srgbClr val="333333"/>
                  </a:solidFill>
                  <a:latin typeface="Meiryo"/>
                  <a:ea typeface="Meiryo"/>
                </a:rPr>
                <a:t>ム企画</a:t>
              </a:r>
              <a:endParaRPr lang="ja-JP" altLang="en-US" sz="1600" kern="0">
                <a:latin typeface="Meiryo"/>
                <a:ea typeface="Meiryo"/>
              </a:endParaRPr>
            </a:p>
          </p:txBody>
        </p:sp>
        <p:sp>
          <p:nvSpPr>
            <p:cNvPr id="10" name="角丸四角形 9">
              <a:extLst>
                <a:ext uri="{FF2B5EF4-FFF2-40B4-BE49-F238E27FC236}">
                  <a16:creationId xmlns:a16="http://schemas.microsoft.com/office/drawing/2014/main" id="{AEC458A2-C995-81B6-1037-429D25ECE8B0}"/>
                </a:ext>
              </a:extLst>
            </p:cNvPr>
            <p:cNvSpPr/>
            <p:nvPr/>
          </p:nvSpPr>
          <p:spPr>
            <a:xfrm>
              <a:off x="4347074" y="2944524"/>
              <a:ext cx="3451575" cy="561397"/>
            </a:xfrm>
            <a:prstGeom prst="roundRect">
              <a:avLst>
                <a:gd name="adj" fmla="val 9066"/>
              </a:avLst>
            </a:prstGeom>
            <a:solidFill>
              <a:srgbClr val="333333">
                <a:lumMod val="20000"/>
                <a:lumOff val="80000"/>
              </a:srgbClr>
            </a:solidFill>
            <a:ln>
              <a:noFill/>
            </a:ln>
            <a:effectLst/>
          </p:spPr>
          <p:txBody>
            <a:bodyPr lIns="91440" tIns="45720" rIns="91440" bIns="45720" rtlCol="0" anchor="ctr"/>
            <a:lstStyle/>
            <a:p>
              <a:pPr>
                <a:defRPr/>
              </a:pPr>
              <a:r>
                <a:rPr kumimoji="0" lang="en-US" altLang="ja-JP" sz="1400" kern="0" dirty="0">
                  <a:solidFill>
                    <a:srgbClr val="333333"/>
                  </a:solidFill>
                  <a:latin typeface="Meiryo"/>
                  <a:ea typeface="+mn-lt"/>
                </a:rPr>
                <a:t>3DCG(</a:t>
              </a:r>
              <a:r>
                <a:rPr kumimoji="0" lang="ja-JP" sz="1400" kern="0" dirty="0">
                  <a:solidFill>
                    <a:srgbClr val="333333"/>
                  </a:solidFill>
                  <a:latin typeface="Meiryo"/>
                  <a:ea typeface="Meiryo"/>
                </a:rPr>
                <a:t>モデル</a:t>
              </a:r>
              <a:r>
                <a:rPr kumimoji="0" lang="en-US" altLang="ja-JP" sz="1400" kern="0" dirty="0">
                  <a:solidFill>
                    <a:srgbClr val="333333"/>
                  </a:solidFill>
                  <a:latin typeface="Meiryo"/>
                  <a:ea typeface="+mn-lt"/>
                </a:rPr>
                <a:t>/</a:t>
              </a:r>
              <a:r>
                <a:rPr kumimoji="0" lang="ja-JP" sz="1400" kern="0" dirty="0">
                  <a:solidFill>
                    <a:srgbClr val="333333"/>
                  </a:solidFill>
                  <a:latin typeface="Meiryo"/>
                  <a:ea typeface="Meiryo"/>
                </a:rPr>
                <a:t>モーション</a:t>
              </a:r>
              <a:r>
                <a:rPr kumimoji="0" lang="en-US" altLang="ja-JP" sz="1400" kern="0" dirty="0">
                  <a:solidFill>
                    <a:srgbClr val="333333"/>
                  </a:solidFill>
                  <a:latin typeface="Meiryo"/>
                  <a:ea typeface="+mn-lt"/>
                </a:rPr>
                <a:t>/</a:t>
              </a:r>
              <a:r>
                <a:rPr kumimoji="0" lang="ja-JP" sz="1400" kern="0" dirty="0">
                  <a:solidFill>
                    <a:srgbClr val="333333"/>
                  </a:solidFill>
                  <a:latin typeface="Meiryo"/>
                  <a:ea typeface="Meiryo"/>
                </a:rPr>
                <a:t>エフェクト</a:t>
              </a:r>
              <a:r>
                <a:rPr kumimoji="0" lang="en-US" altLang="ja-JP" sz="1400" kern="0" dirty="0">
                  <a:solidFill>
                    <a:srgbClr val="333333"/>
                  </a:solidFill>
                  <a:latin typeface="Meiryo"/>
                  <a:ea typeface="+mn-lt"/>
                </a:rPr>
                <a:t>)</a:t>
              </a:r>
              <a:endParaRPr kumimoji="0" lang="ja-JP" sz="1400" kern="0" dirty="0">
                <a:solidFill>
                  <a:srgbClr val="000000"/>
                </a:solidFill>
                <a:latin typeface="Meiryo"/>
                <a:ea typeface="Meiryo"/>
              </a:endParaRPr>
            </a:p>
          </p:txBody>
        </p:sp>
        <p:sp>
          <p:nvSpPr>
            <p:cNvPr id="11" name="角丸四角形 9">
              <a:extLst>
                <a:ext uri="{FF2B5EF4-FFF2-40B4-BE49-F238E27FC236}">
                  <a16:creationId xmlns:a16="http://schemas.microsoft.com/office/drawing/2014/main" id="{2E2EC234-DD87-CE92-C902-9896B1327253}"/>
                </a:ext>
              </a:extLst>
            </p:cNvPr>
            <p:cNvSpPr/>
            <p:nvPr/>
          </p:nvSpPr>
          <p:spPr>
            <a:xfrm>
              <a:off x="751257" y="3617098"/>
              <a:ext cx="3451575" cy="561397"/>
            </a:xfrm>
            <a:prstGeom prst="roundRect">
              <a:avLst>
                <a:gd name="adj" fmla="val 9066"/>
              </a:avLst>
            </a:prstGeom>
            <a:solidFill>
              <a:srgbClr val="333333">
                <a:lumMod val="20000"/>
                <a:lumOff val="80000"/>
              </a:srgbClr>
            </a:solidFill>
            <a:ln>
              <a:noFill/>
            </a:ln>
            <a:effectLst/>
          </p:spPr>
          <p:txBody>
            <a:bodyPr lIns="91440" tIns="45720" rIns="91440" bIns="45720" rtlCol="0" anchor="ctr"/>
            <a:lstStyle/>
            <a:p>
              <a:pPr>
                <a:defRPr/>
              </a:pPr>
              <a:r>
                <a:rPr kumimoji="0" lang="ja-JP" sz="1600" i="0" u="none" strike="noStrike" kern="0" cap="none" spc="0" normalizeH="0" baseline="0" noProof="0">
                  <a:ln>
                    <a:noFill/>
                  </a:ln>
                  <a:solidFill>
                    <a:srgbClr val="333333"/>
                  </a:solidFill>
                  <a:effectLst/>
                  <a:uLnTx/>
                  <a:uFillTx/>
                  <a:latin typeface="Meiryo"/>
                  <a:ea typeface="Meiryo"/>
                </a:rPr>
                <a:t>ゲーム</a:t>
              </a:r>
              <a:r>
                <a:rPr kumimoji="0" lang="ja-JP" altLang="en-US" sz="1600" kern="0">
                  <a:solidFill>
                    <a:srgbClr val="333333"/>
                  </a:solidFill>
                  <a:latin typeface="Meiryo"/>
                  <a:ea typeface="Meiryo"/>
                </a:rPr>
                <a:t>パブリッシング</a:t>
              </a:r>
              <a:r>
                <a:rPr kumimoji="0" lang="en-US" altLang="ja-JP" sz="1600" kern="0" dirty="0">
                  <a:solidFill>
                    <a:srgbClr val="333333"/>
                  </a:solidFill>
                  <a:ea typeface="+mn-lt"/>
                </a:rPr>
                <a:t>(</a:t>
              </a:r>
              <a:r>
                <a:rPr kumimoji="0" lang="ja-JP" altLang="en-US" sz="1600" kern="0">
                  <a:solidFill>
                    <a:srgbClr val="333333"/>
                  </a:solidFill>
                  <a:latin typeface="Meiryo"/>
                  <a:ea typeface="Meiryo"/>
                </a:rPr>
                <a:t>国内・海外</a:t>
              </a:r>
              <a:r>
                <a:rPr kumimoji="0" lang="en-US" altLang="ja-JP" sz="1600" kern="0" dirty="0">
                  <a:solidFill>
                    <a:srgbClr val="333333"/>
                  </a:solidFill>
                  <a:ea typeface="+mn-lt"/>
                </a:rPr>
                <a:t>)</a:t>
              </a:r>
              <a:endParaRPr kumimoji="0" lang="ja-JP" altLang="en-US" sz="1600" kern="0" dirty="0">
                <a:solidFill>
                  <a:srgbClr val="000000"/>
                </a:solidFill>
                <a:latin typeface="Meiryo"/>
                <a:ea typeface="Meiryo"/>
              </a:endParaRPr>
            </a:p>
          </p:txBody>
        </p:sp>
        <p:sp>
          <p:nvSpPr>
            <p:cNvPr id="13" name="角丸四角形 9">
              <a:extLst>
                <a:ext uri="{FF2B5EF4-FFF2-40B4-BE49-F238E27FC236}">
                  <a16:creationId xmlns:a16="http://schemas.microsoft.com/office/drawing/2014/main" id="{90B8D541-36F9-EABD-2F95-D4580CE3DAC4}"/>
                </a:ext>
              </a:extLst>
            </p:cNvPr>
            <p:cNvSpPr/>
            <p:nvPr/>
          </p:nvSpPr>
          <p:spPr>
            <a:xfrm>
              <a:off x="4338757" y="5615004"/>
              <a:ext cx="3462438" cy="561397"/>
            </a:xfrm>
            <a:prstGeom prst="roundRect">
              <a:avLst>
                <a:gd name="adj" fmla="val 9066"/>
              </a:avLst>
            </a:prstGeom>
            <a:solidFill>
              <a:srgbClr val="333333">
                <a:lumMod val="20000"/>
                <a:lumOff val="80000"/>
              </a:srgb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60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教育事業</a:t>
              </a:r>
              <a:br>
                <a:rPr kumimoji="0" lang="en-US" altLang="ja-JP" sz="160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br>
              <a:r>
                <a:rPr kumimoji="0" lang="en-US" altLang="ja-JP" sz="160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C&amp;R</a:t>
              </a:r>
              <a:r>
                <a:rPr kumimoji="0" lang="ja-JP" altLang="en-US" sz="160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クリエイティブアカデミー</a:t>
              </a:r>
            </a:p>
          </p:txBody>
        </p:sp>
        <p:sp>
          <p:nvSpPr>
            <p:cNvPr id="14" name="角丸四角形 9">
              <a:extLst>
                <a:ext uri="{FF2B5EF4-FFF2-40B4-BE49-F238E27FC236}">
                  <a16:creationId xmlns:a16="http://schemas.microsoft.com/office/drawing/2014/main" id="{0E60EA1C-6411-BB8E-41AB-37EF9C6E2427}"/>
                </a:ext>
              </a:extLst>
            </p:cNvPr>
            <p:cNvSpPr/>
            <p:nvPr/>
          </p:nvSpPr>
          <p:spPr>
            <a:xfrm>
              <a:off x="751257" y="4279764"/>
              <a:ext cx="3451575" cy="561397"/>
            </a:xfrm>
            <a:prstGeom prst="roundRect">
              <a:avLst>
                <a:gd name="adj" fmla="val 9066"/>
              </a:avLst>
            </a:prstGeom>
            <a:solidFill>
              <a:srgbClr val="333333">
                <a:lumMod val="20000"/>
                <a:lumOff val="80000"/>
              </a:srgbClr>
            </a:solidFill>
            <a:ln>
              <a:noFill/>
            </a:ln>
            <a:effectLst/>
          </p:spPr>
          <p:txBody>
            <a:bodyPr lIns="91440" tIns="45720" rIns="91440" bIns="45720" rtlCol="0" anchor="ctr"/>
            <a:lstStyle/>
            <a:p>
              <a:pPr marL="0" marR="0" lvl="0" indent="0" defTabSz="914400">
                <a:lnSpc>
                  <a:spcPct val="100000"/>
                </a:lnSpc>
                <a:spcBef>
                  <a:spcPts val="0"/>
                </a:spcBef>
                <a:spcAft>
                  <a:spcPts val="0"/>
                </a:spcAft>
                <a:buNone/>
                <a:tabLst/>
                <a:defRPr/>
              </a:pPr>
              <a:r>
                <a:rPr kumimoji="0" lang="ja-JP" sz="1600" i="0" u="none" strike="noStrike" kern="0" cap="none" spc="0" normalizeH="0" baseline="0" noProof="0">
                  <a:ln>
                    <a:noFill/>
                  </a:ln>
                  <a:solidFill>
                    <a:srgbClr val="333333"/>
                  </a:solidFill>
                  <a:effectLst/>
                  <a:uLnTx/>
                  <a:uFillTx/>
                  <a:latin typeface="Meiryo"/>
                  <a:ea typeface="Meiryo"/>
                </a:rPr>
                <a:t>ゲーム</a:t>
              </a:r>
              <a:r>
                <a:rPr kumimoji="0" lang="ja-JP" sz="1600" kern="0">
                  <a:solidFill>
                    <a:srgbClr val="333333"/>
                  </a:solidFill>
                  <a:latin typeface="Meiryo"/>
                  <a:ea typeface="Meiryo"/>
                </a:rPr>
                <a:t>プログラミ</a:t>
              </a:r>
              <a:r>
                <a:rPr kumimoji="0" lang="ja-JP" sz="1600" i="0" u="none" strike="noStrike" kern="0" cap="none" spc="0" normalizeH="0" baseline="0" noProof="0">
                  <a:ln>
                    <a:noFill/>
                  </a:ln>
                  <a:solidFill>
                    <a:srgbClr val="333333"/>
                  </a:solidFill>
                  <a:effectLst/>
                  <a:uLnTx/>
                  <a:uFillTx/>
                  <a:latin typeface="Meiryo"/>
                  <a:ea typeface="Meiryo"/>
                </a:rPr>
                <a:t>ング</a:t>
              </a:r>
              <a:endParaRPr lang="en-US">
                <a:latin typeface="Meiryo"/>
                <a:ea typeface="Meiryo"/>
              </a:endParaRPr>
            </a:p>
          </p:txBody>
        </p:sp>
        <p:sp>
          <p:nvSpPr>
            <p:cNvPr id="15" name="角丸四角形 9">
              <a:extLst>
                <a:ext uri="{FF2B5EF4-FFF2-40B4-BE49-F238E27FC236}">
                  <a16:creationId xmlns:a16="http://schemas.microsoft.com/office/drawing/2014/main" id="{F6BBAB40-73B5-5493-7261-AAB2C02F4EBB}"/>
                </a:ext>
              </a:extLst>
            </p:cNvPr>
            <p:cNvSpPr/>
            <p:nvPr/>
          </p:nvSpPr>
          <p:spPr>
            <a:xfrm>
              <a:off x="751257" y="4951114"/>
              <a:ext cx="3451574" cy="561397"/>
            </a:xfrm>
            <a:prstGeom prst="roundRect">
              <a:avLst>
                <a:gd name="adj" fmla="val 9066"/>
              </a:avLst>
            </a:prstGeom>
            <a:solidFill>
              <a:srgbClr val="333333">
                <a:lumMod val="20000"/>
                <a:lumOff val="80000"/>
              </a:srgb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遊技機（パチンコ･パチスロ）開発</a:t>
              </a:r>
            </a:p>
          </p:txBody>
        </p:sp>
        <p:sp>
          <p:nvSpPr>
            <p:cNvPr id="17" name="角丸四角形 9">
              <a:extLst>
                <a:ext uri="{FF2B5EF4-FFF2-40B4-BE49-F238E27FC236}">
                  <a16:creationId xmlns:a16="http://schemas.microsoft.com/office/drawing/2014/main" id="{FA7801E4-0EB4-E76E-D979-427DFC04EC38}"/>
                </a:ext>
              </a:extLst>
            </p:cNvPr>
            <p:cNvSpPr/>
            <p:nvPr/>
          </p:nvSpPr>
          <p:spPr>
            <a:xfrm>
              <a:off x="7933373" y="5615004"/>
              <a:ext cx="3451574" cy="561397"/>
            </a:xfrm>
            <a:prstGeom prst="roundRect">
              <a:avLst>
                <a:gd name="adj" fmla="val 9066"/>
              </a:avLst>
            </a:prstGeom>
            <a:solidFill>
              <a:srgbClr val="333333">
                <a:lumMod val="20000"/>
                <a:lumOff val="80000"/>
              </a:srgb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60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転職オウンドメディア運営</a:t>
              </a:r>
              <a:endParaRPr kumimoji="0" lang="ja-JP" altLang="en-US" sz="120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endParaRPr>
            </a:p>
          </p:txBody>
        </p:sp>
        <p:sp>
          <p:nvSpPr>
            <p:cNvPr id="18" name="角丸四角形 9">
              <a:extLst>
                <a:ext uri="{FF2B5EF4-FFF2-40B4-BE49-F238E27FC236}">
                  <a16:creationId xmlns:a16="http://schemas.microsoft.com/office/drawing/2014/main" id="{D5FF97E4-F16F-2E42-1E8C-E00F92D667F6}"/>
                </a:ext>
              </a:extLst>
            </p:cNvPr>
            <p:cNvSpPr/>
            <p:nvPr/>
          </p:nvSpPr>
          <p:spPr>
            <a:xfrm>
              <a:off x="7938323" y="4951114"/>
              <a:ext cx="3451574" cy="561397"/>
            </a:xfrm>
            <a:prstGeom prst="roundRect">
              <a:avLst>
                <a:gd name="adj" fmla="val 9066"/>
              </a:avLst>
            </a:prstGeom>
            <a:solidFill>
              <a:srgbClr val="333333">
                <a:lumMod val="20000"/>
                <a:lumOff val="80000"/>
              </a:srgb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経営支援</a:t>
              </a:r>
            </a:p>
          </p:txBody>
        </p:sp>
        <p:sp>
          <p:nvSpPr>
            <p:cNvPr id="19" name="角丸四角形 9">
              <a:extLst>
                <a:ext uri="{FF2B5EF4-FFF2-40B4-BE49-F238E27FC236}">
                  <a16:creationId xmlns:a16="http://schemas.microsoft.com/office/drawing/2014/main" id="{C3E5DC60-C3FC-86AE-7AF4-F6CC8371D01A}"/>
                </a:ext>
              </a:extLst>
            </p:cNvPr>
            <p:cNvSpPr/>
            <p:nvPr/>
          </p:nvSpPr>
          <p:spPr>
            <a:xfrm>
              <a:off x="4338757" y="4951114"/>
              <a:ext cx="3451574" cy="561397"/>
            </a:xfrm>
            <a:prstGeom prst="roundRect">
              <a:avLst>
                <a:gd name="adj" fmla="val 9066"/>
              </a:avLst>
            </a:prstGeom>
            <a:solidFill>
              <a:srgbClr val="333333">
                <a:lumMod val="20000"/>
                <a:lumOff val="80000"/>
              </a:srgbClr>
            </a:solidFill>
            <a:ln>
              <a:noFill/>
            </a:ln>
            <a:effectLst/>
          </p:spPr>
          <p:txBody>
            <a:bodyPr rtlCol="0" anchor="ctr"/>
            <a:lstStyle/>
            <a:p>
              <a:pPr eaLnBrk="1" fontAlgn="auto" hangingPunct="1">
                <a:spcBef>
                  <a:spcPts val="0"/>
                </a:spcBef>
                <a:spcAft>
                  <a:spcPts val="0"/>
                </a:spcAft>
                <a:defRPr/>
              </a:pPr>
              <a:r>
                <a:rPr kumimoji="0" lang="ja-JP" altLang="en-US" sz="1600" kern="0">
                  <a:solidFill>
                    <a:srgbClr val="333333"/>
                  </a:solidFill>
                  <a:latin typeface="メイリオ" panose="020B0604030504040204" pitchFamily="50" charset="-128"/>
                  <a:ea typeface="メイリオ" panose="020B0604030504040204" pitchFamily="50" charset="-128"/>
                </a:rPr>
                <a:t>人材派遣</a:t>
              </a:r>
              <a:r>
                <a:rPr kumimoji="0" lang="en-US" altLang="ja-JP" sz="1600" kern="0">
                  <a:solidFill>
                    <a:srgbClr val="333333"/>
                  </a:solidFill>
                  <a:latin typeface="メイリオ" panose="020B0604030504040204" pitchFamily="50" charset="-128"/>
                  <a:ea typeface="メイリオ" panose="020B0604030504040204" pitchFamily="50" charset="-128"/>
                </a:rPr>
                <a:t>/</a:t>
              </a:r>
              <a:r>
                <a:rPr kumimoji="0" lang="ja-JP" altLang="en-US" sz="1600" kern="0">
                  <a:solidFill>
                    <a:srgbClr val="333333"/>
                  </a:solidFill>
                  <a:latin typeface="メイリオ" panose="020B0604030504040204" pitchFamily="50" charset="-128"/>
                  <a:ea typeface="メイリオ" panose="020B0604030504040204" pitchFamily="50" charset="-128"/>
                </a:rPr>
                <a:t>人材紹介</a:t>
              </a:r>
              <a:r>
                <a:rPr kumimoji="0" lang="en-US" altLang="ja-JP" sz="1600" kern="0">
                  <a:solidFill>
                    <a:srgbClr val="333333"/>
                  </a:solidFill>
                  <a:latin typeface="メイリオ" panose="020B0604030504040204" pitchFamily="50" charset="-128"/>
                  <a:ea typeface="メイリオ" panose="020B0604030504040204" pitchFamily="50" charset="-128"/>
                </a:rPr>
                <a:t>/</a:t>
              </a:r>
              <a:r>
                <a:rPr kumimoji="0" lang="ja-JP" altLang="en-US" sz="1600" kern="0">
                  <a:solidFill>
                    <a:srgbClr val="333333"/>
                  </a:solidFill>
                  <a:latin typeface="メイリオ" panose="020B0604030504040204" pitchFamily="50" charset="-128"/>
                  <a:ea typeface="メイリオ" panose="020B0604030504040204" pitchFamily="50" charset="-128"/>
                </a:rPr>
                <a:t>採用</a:t>
              </a:r>
              <a:r>
                <a:rPr kumimoji="0" lang="en-US" altLang="ja-JP" sz="1600" kern="0">
                  <a:solidFill>
                    <a:srgbClr val="333333"/>
                  </a:solidFill>
                  <a:latin typeface="メイリオ" panose="020B0604030504040204" pitchFamily="50" charset="-128"/>
                  <a:ea typeface="メイリオ" panose="020B0604030504040204" pitchFamily="50" charset="-128"/>
                </a:rPr>
                <a:t>RPO</a:t>
              </a:r>
              <a:endPar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p:txBody>
        </p:sp>
        <p:sp>
          <p:nvSpPr>
            <p:cNvPr id="20" name="角丸四角形 9">
              <a:extLst>
                <a:ext uri="{FF2B5EF4-FFF2-40B4-BE49-F238E27FC236}">
                  <a16:creationId xmlns:a16="http://schemas.microsoft.com/office/drawing/2014/main" id="{7C3D9FCD-1F2D-EC10-9609-2EEF3B5889D5}"/>
                </a:ext>
              </a:extLst>
            </p:cNvPr>
            <p:cNvSpPr/>
            <p:nvPr/>
          </p:nvSpPr>
          <p:spPr>
            <a:xfrm>
              <a:off x="751257" y="2944524"/>
              <a:ext cx="3451575" cy="561397"/>
            </a:xfrm>
            <a:prstGeom prst="roundRect">
              <a:avLst>
                <a:gd name="adj" fmla="val 9066"/>
              </a:avLst>
            </a:prstGeom>
            <a:solidFill>
              <a:srgbClr val="333333">
                <a:lumMod val="20000"/>
                <a:lumOff val="80000"/>
              </a:srgbClr>
            </a:solidFill>
            <a:ln>
              <a:noFill/>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sz="1600" kern="0" dirty="0">
                  <a:solidFill>
                    <a:srgbClr val="333333"/>
                  </a:solidFill>
                  <a:latin typeface="Meiryo"/>
                  <a:ea typeface="Meiryo"/>
                </a:rPr>
                <a:t>ゲーム総合開発・運営</a:t>
              </a:r>
              <a:endParaRPr kumimoji="0" lang="ja-JP" altLang="en-US" sz="100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endParaRPr>
            </a:p>
          </p:txBody>
        </p:sp>
        <p:sp>
          <p:nvSpPr>
            <p:cNvPr id="21" name="角丸四角形 9">
              <a:extLst>
                <a:ext uri="{FF2B5EF4-FFF2-40B4-BE49-F238E27FC236}">
                  <a16:creationId xmlns:a16="http://schemas.microsoft.com/office/drawing/2014/main" id="{B0F2CDE8-5D24-D2CC-5D64-6FBB8242210F}"/>
                </a:ext>
              </a:extLst>
            </p:cNvPr>
            <p:cNvSpPr/>
            <p:nvPr/>
          </p:nvSpPr>
          <p:spPr>
            <a:xfrm>
              <a:off x="7938322" y="3617098"/>
              <a:ext cx="3451575" cy="561397"/>
            </a:xfrm>
            <a:prstGeom prst="roundRect">
              <a:avLst>
                <a:gd name="adj" fmla="val 9066"/>
              </a:avLst>
            </a:prstGeom>
            <a:solidFill>
              <a:srgbClr val="333333">
                <a:lumMod val="20000"/>
                <a:lumOff val="80000"/>
              </a:srgbClr>
            </a:solidFill>
            <a:ln>
              <a:noFill/>
            </a:ln>
            <a:effectLst/>
          </p:spPr>
          <p:txBody>
            <a:bodyPr lIns="91440" tIns="45720" rIns="91440" bIns="45720" rtlCol="0" anchor="ctr"/>
            <a:lstStyle/>
            <a:p>
              <a:pPr marL="0" marR="0" lvl="0" indent="0" defTabSz="914400">
                <a:lnSpc>
                  <a:spcPct val="100000"/>
                </a:lnSpc>
                <a:spcBef>
                  <a:spcPts val="0"/>
                </a:spcBef>
                <a:spcAft>
                  <a:spcPts val="0"/>
                </a:spcAft>
                <a:buNone/>
                <a:tabLst/>
                <a:defRPr/>
              </a:pPr>
              <a:r>
                <a:rPr kumimoji="0" lang="ja-JP" sz="1600" kern="0">
                  <a:solidFill>
                    <a:srgbClr val="333333"/>
                  </a:solidFill>
                  <a:latin typeface="Meiryo"/>
                  <a:ea typeface="Meiryo"/>
                </a:rPr>
                <a:t>テクニカルアーティスト業務</a:t>
              </a:r>
              <a:endParaRPr lang="en-US" altLang="ja-JP"/>
            </a:p>
          </p:txBody>
        </p:sp>
        <p:sp>
          <p:nvSpPr>
            <p:cNvPr id="22" name="角丸四角形 9">
              <a:extLst>
                <a:ext uri="{FF2B5EF4-FFF2-40B4-BE49-F238E27FC236}">
                  <a16:creationId xmlns:a16="http://schemas.microsoft.com/office/drawing/2014/main" id="{F02798C3-618A-899D-C799-F50D12058311}"/>
                </a:ext>
              </a:extLst>
            </p:cNvPr>
            <p:cNvSpPr/>
            <p:nvPr/>
          </p:nvSpPr>
          <p:spPr>
            <a:xfrm>
              <a:off x="7938322" y="2944524"/>
              <a:ext cx="3451574" cy="561397"/>
            </a:xfrm>
            <a:prstGeom prst="roundRect">
              <a:avLst>
                <a:gd name="adj" fmla="val 9066"/>
              </a:avLst>
            </a:prstGeom>
            <a:solidFill>
              <a:srgbClr val="333333">
                <a:lumMod val="20000"/>
                <a:lumOff val="80000"/>
              </a:srgb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2DCG</a:t>
              </a:r>
              <a:r>
                <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0" lang="en-US" altLang="ja-JP"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UI</a:t>
              </a:r>
              <a:r>
                <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r>
                <a:rPr kumimoji="0" lang="en-US" altLang="ja-JP"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UX</a:t>
              </a:r>
              <a:r>
                <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デザイン</a:t>
              </a:r>
            </a:p>
          </p:txBody>
        </p:sp>
        <p:sp>
          <p:nvSpPr>
            <p:cNvPr id="46" name="角丸四角形 9">
              <a:extLst>
                <a:ext uri="{FF2B5EF4-FFF2-40B4-BE49-F238E27FC236}">
                  <a16:creationId xmlns:a16="http://schemas.microsoft.com/office/drawing/2014/main" id="{19EECACD-199C-3DD9-E8F3-1256BAA42A51}"/>
                </a:ext>
              </a:extLst>
            </p:cNvPr>
            <p:cNvSpPr/>
            <p:nvPr/>
          </p:nvSpPr>
          <p:spPr>
            <a:xfrm>
              <a:off x="7933373" y="4279764"/>
              <a:ext cx="3451574" cy="561397"/>
            </a:xfrm>
            <a:prstGeom prst="roundRect">
              <a:avLst>
                <a:gd name="adj" fmla="val 9066"/>
              </a:avLst>
            </a:prstGeom>
            <a:solidFill>
              <a:srgbClr val="333333">
                <a:lumMod val="20000"/>
                <a:lumOff val="80000"/>
              </a:srgb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アニメ制作 </a:t>
              </a:r>
              <a:r>
                <a:rPr kumimoji="0" lang="en-US" altLang="ja-JP"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AI</a:t>
              </a:r>
              <a:r>
                <a:rPr kumimoji="0" lang="ja-JP" altLang="en-US" sz="1600" i="0" u="none" strike="noStrike" kern="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アニメ制作</a:t>
              </a:r>
            </a:p>
          </p:txBody>
        </p:sp>
      </p:grpSp>
    </p:spTree>
    <p:extLst>
      <p:ext uri="{BB962C8B-B14F-4D97-AF65-F5344CB8AC3E}">
        <p14:creationId xmlns:p14="http://schemas.microsoft.com/office/powerpoint/2010/main" val="1075347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A178F78F-600B-C1F4-1381-6DEC28E219B6}"/>
              </a:ext>
            </a:extLst>
          </p:cNvPr>
          <p:cNvSpPr/>
          <p:nvPr/>
        </p:nvSpPr>
        <p:spPr bwMode="auto">
          <a:xfrm>
            <a:off x="2367677" y="3152300"/>
            <a:ext cx="7552267" cy="199531"/>
          </a:xfrm>
          <a:prstGeom prst="rect">
            <a:avLst/>
          </a:prstGeom>
          <a:solidFill>
            <a:schemeClr val="accent6">
              <a:lumMod val="60000"/>
              <a:lumOff val="40000"/>
              <a:alpha val="50196"/>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nvGrpSpPr>
          <p:cNvPr id="41" name="グループ化 40">
            <a:extLst>
              <a:ext uri="{FF2B5EF4-FFF2-40B4-BE49-F238E27FC236}">
                <a16:creationId xmlns:a16="http://schemas.microsoft.com/office/drawing/2014/main" id="{FDFEBC94-1B8C-DA36-7C6C-48CB2515FC98}"/>
              </a:ext>
            </a:extLst>
          </p:cNvPr>
          <p:cNvGrpSpPr/>
          <p:nvPr/>
        </p:nvGrpSpPr>
        <p:grpSpPr>
          <a:xfrm>
            <a:off x="1403563" y="1897117"/>
            <a:ext cx="696123" cy="676091"/>
            <a:chOff x="1330137" y="1896049"/>
            <a:chExt cx="696123" cy="676091"/>
          </a:xfrm>
        </p:grpSpPr>
        <p:sp>
          <p:nvSpPr>
            <p:cNvPr id="29" name="四角形: 角を丸くする 28">
              <a:extLst>
                <a:ext uri="{FF2B5EF4-FFF2-40B4-BE49-F238E27FC236}">
                  <a16:creationId xmlns:a16="http://schemas.microsoft.com/office/drawing/2014/main" id="{C391D8E4-533C-3DC3-4BD4-C95863CAEDF1}"/>
                </a:ext>
              </a:extLst>
            </p:cNvPr>
            <p:cNvSpPr/>
            <p:nvPr/>
          </p:nvSpPr>
          <p:spPr bwMode="auto">
            <a:xfrm>
              <a:off x="1562538" y="2104781"/>
              <a:ext cx="463722" cy="467359"/>
            </a:xfrm>
            <a:prstGeom prst="roundRect">
              <a:avLst/>
            </a:prstGeom>
            <a:solidFill>
              <a:schemeClr val="bg2">
                <a:alpha val="20000"/>
              </a:schemeClr>
            </a:solidFill>
            <a:ln w="38100" algn="ctr">
              <a:solidFill>
                <a:schemeClr val="bg2">
                  <a:alpha val="8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40" name="四角形: 角を丸くする 39">
              <a:extLst>
                <a:ext uri="{FF2B5EF4-FFF2-40B4-BE49-F238E27FC236}">
                  <a16:creationId xmlns:a16="http://schemas.microsoft.com/office/drawing/2014/main" id="{0973A23C-F869-E0E9-7427-23CE453F8CE3}"/>
                </a:ext>
              </a:extLst>
            </p:cNvPr>
            <p:cNvSpPr/>
            <p:nvPr/>
          </p:nvSpPr>
          <p:spPr bwMode="auto">
            <a:xfrm>
              <a:off x="1330137" y="1896049"/>
              <a:ext cx="456489" cy="399623"/>
            </a:xfrm>
            <a:prstGeom prst="roundRect">
              <a:avLst/>
            </a:prstGeom>
            <a:solidFill>
              <a:schemeClr val="bg1">
                <a:lumMod val="85000"/>
                <a:alpha val="2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grpSp>
        <p:nvGrpSpPr>
          <p:cNvPr id="39" name="グループ化 38">
            <a:extLst>
              <a:ext uri="{FF2B5EF4-FFF2-40B4-BE49-F238E27FC236}">
                <a16:creationId xmlns:a16="http://schemas.microsoft.com/office/drawing/2014/main" id="{6AE953A0-603C-4544-0AF5-12EDB98C3F35}"/>
              </a:ext>
            </a:extLst>
          </p:cNvPr>
          <p:cNvGrpSpPr/>
          <p:nvPr/>
        </p:nvGrpSpPr>
        <p:grpSpPr>
          <a:xfrm>
            <a:off x="9712614" y="1449081"/>
            <a:ext cx="1257349" cy="1124156"/>
            <a:chOff x="9816366" y="1645159"/>
            <a:chExt cx="974853" cy="871585"/>
          </a:xfrm>
        </p:grpSpPr>
        <p:grpSp>
          <p:nvGrpSpPr>
            <p:cNvPr id="32" name="グループ化 31">
              <a:extLst>
                <a:ext uri="{FF2B5EF4-FFF2-40B4-BE49-F238E27FC236}">
                  <a16:creationId xmlns:a16="http://schemas.microsoft.com/office/drawing/2014/main" id="{A4AD01F4-8F4B-48DE-42AD-43B7D565FF00}"/>
                </a:ext>
              </a:extLst>
            </p:cNvPr>
            <p:cNvGrpSpPr/>
            <p:nvPr/>
          </p:nvGrpSpPr>
          <p:grpSpPr>
            <a:xfrm>
              <a:off x="9816366" y="1645159"/>
              <a:ext cx="974853" cy="467359"/>
              <a:chOff x="1306775" y="712367"/>
              <a:chExt cx="974853" cy="467359"/>
            </a:xfrm>
          </p:grpSpPr>
          <p:sp>
            <p:nvSpPr>
              <p:cNvPr id="34" name="四角形: 角を丸くする 33">
                <a:extLst>
                  <a:ext uri="{FF2B5EF4-FFF2-40B4-BE49-F238E27FC236}">
                    <a16:creationId xmlns:a16="http://schemas.microsoft.com/office/drawing/2014/main" id="{ECBFEEDC-E416-CB42-C3CE-6AD6CD3D5D7E}"/>
                  </a:ext>
                </a:extLst>
              </p:cNvPr>
              <p:cNvSpPr/>
              <p:nvPr/>
            </p:nvSpPr>
            <p:spPr bwMode="auto">
              <a:xfrm>
                <a:off x="1306775" y="823926"/>
                <a:ext cx="265611" cy="285875"/>
              </a:xfrm>
              <a:prstGeom prst="roundRect">
                <a:avLst/>
              </a:prstGeom>
              <a:solidFill>
                <a:schemeClr val="bg1">
                  <a:lumMod val="95000"/>
                  <a:alpha val="20000"/>
                </a:schemeClr>
              </a:solidFill>
              <a:ln w="38100" algn="ctr">
                <a:solidFill>
                  <a:srgbClr val="F2F2F2">
                    <a:alpha val="80000"/>
                  </a:srgb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35" name="四角形: 角を丸くする 34">
                <a:extLst>
                  <a:ext uri="{FF2B5EF4-FFF2-40B4-BE49-F238E27FC236}">
                    <a16:creationId xmlns:a16="http://schemas.microsoft.com/office/drawing/2014/main" id="{F156FFAF-49A5-6B70-0F45-06D43A1A7CAF}"/>
                  </a:ext>
                </a:extLst>
              </p:cNvPr>
              <p:cNvSpPr/>
              <p:nvPr/>
            </p:nvSpPr>
            <p:spPr bwMode="auto">
              <a:xfrm>
                <a:off x="1747763" y="712367"/>
                <a:ext cx="533865" cy="467359"/>
              </a:xfrm>
              <a:prstGeom prst="roundRect">
                <a:avLst/>
              </a:prstGeom>
              <a:solidFill>
                <a:schemeClr val="bg1">
                  <a:lumMod val="75000"/>
                  <a:alpha val="2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sp>
          <p:nvSpPr>
            <p:cNvPr id="37" name="四角形: 角を丸くする 36">
              <a:extLst>
                <a:ext uri="{FF2B5EF4-FFF2-40B4-BE49-F238E27FC236}">
                  <a16:creationId xmlns:a16="http://schemas.microsoft.com/office/drawing/2014/main" id="{6A40875E-6883-2491-1159-700FD18C9CF6}"/>
                </a:ext>
              </a:extLst>
            </p:cNvPr>
            <p:cNvSpPr/>
            <p:nvPr/>
          </p:nvSpPr>
          <p:spPr bwMode="auto">
            <a:xfrm>
              <a:off x="10391480" y="2230869"/>
              <a:ext cx="265611" cy="285875"/>
            </a:xfrm>
            <a:prstGeom prst="roundRect">
              <a:avLst/>
            </a:prstGeom>
            <a:solidFill>
              <a:schemeClr val="bg1">
                <a:lumMod val="95000"/>
                <a:alpha val="20000"/>
              </a:schemeClr>
            </a:solidFill>
            <a:ln w="38100" algn="ctr">
              <a:solidFill>
                <a:srgbClr val="F2F2F2">
                  <a:alpha val="80000"/>
                </a:srgb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38" name="四角形: 角を丸くする 37">
              <a:extLst>
                <a:ext uri="{FF2B5EF4-FFF2-40B4-BE49-F238E27FC236}">
                  <a16:creationId xmlns:a16="http://schemas.microsoft.com/office/drawing/2014/main" id="{A45AE716-B8D7-A213-87FA-6644A42A8022}"/>
                </a:ext>
              </a:extLst>
            </p:cNvPr>
            <p:cNvSpPr/>
            <p:nvPr/>
          </p:nvSpPr>
          <p:spPr bwMode="auto">
            <a:xfrm>
              <a:off x="9969796" y="1918076"/>
              <a:ext cx="533865" cy="467359"/>
            </a:xfrm>
            <a:prstGeom prst="roundRect">
              <a:avLst/>
            </a:prstGeom>
            <a:solidFill>
              <a:schemeClr val="bg1">
                <a:lumMod val="75000"/>
                <a:alpha val="2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sp>
        <p:nvSpPr>
          <p:cNvPr id="3" name="タイトル 2">
            <a:extLst>
              <a:ext uri="{FF2B5EF4-FFF2-40B4-BE49-F238E27FC236}">
                <a16:creationId xmlns:a16="http://schemas.microsoft.com/office/drawing/2014/main" id="{C22A60D3-9624-DC8C-C212-0AA4C2057B74}"/>
              </a:ext>
            </a:extLst>
          </p:cNvPr>
          <p:cNvSpPr>
            <a:spLocks noGrp="1"/>
          </p:cNvSpPr>
          <p:nvPr>
            <p:ph type="title"/>
          </p:nvPr>
        </p:nvSpPr>
        <p:spPr/>
        <p:txBody>
          <a:bodyPr/>
          <a:lstStyle/>
          <a:p>
            <a:r>
              <a:rPr kumimoji="1" lang="ja-JP" altLang="en-US" dirty="0"/>
              <a:t>日本最大級のスタジオを選ぶ理由</a:t>
            </a:r>
          </a:p>
        </p:txBody>
      </p:sp>
      <p:sp>
        <p:nvSpPr>
          <p:cNvPr id="4" name="スライド番号プレースホルダー 3">
            <a:extLst>
              <a:ext uri="{FF2B5EF4-FFF2-40B4-BE49-F238E27FC236}">
                <a16:creationId xmlns:a16="http://schemas.microsoft.com/office/drawing/2014/main" id="{82966E13-6D53-5166-96C2-5A5F90EBC643}"/>
              </a:ext>
            </a:extLst>
          </p:cNvPr>
          <p:cNvSpPr>
            <a:spLocks noGrp="1"/>
          </p:cNvSpPr>
          <p:nvPr>
            <p:ph type="sldNum" sz="quarter" idx="11"/>
          </p:nvPr>
        </p:nvSpPr>
        <p:spPr/>
        <p:txBody>
          <a:bodyPr/>
          <a:lstStyle/>
          <a:p>
            <a:fld id="{B75FDD43-FCEC-4ECC-8189-A5C6D2E08DC6}" type="slidenum">
              <a:rPr lang="ja-JP" altLang="en-US" smtClean="0"/>
              <a:pPr/>
              <a:t>11</a:t>
            </a:fld>
            <a:endParaRPr lang="ja-JP" altLang="en-US"/>
          </a:p>
        </p:txBody>
      </p:sp>
      <p:sp>
        <p:nvSpPr>
          <p:cNvPr id="7" name="四角形: 角を丸くする 6">
            <a:extLst>
              <a:ext uri="{FF2B5EF4-FFF2-40B4-BE49-F238E27FC236}">
                <a16:creationId xmlns:a16="http://schemas.microsoft.com/office/drawing/2014/main" id="{96D94B72-95A2-1728-0916-7209A67876C8}"/>
              </a:ext>
            </a:extLst>
          </p:cNvPr>
          <p:cNvSpPr/>
          <p:nvPr/>
        </p:nvSpPr>
        <p:spPr bwMode="auto">
          <a:xfrm>
            <a:off x="788480" y="3746745"/>
            <a:ext cx="3480391" cy="2633357"/>
          </a:xfrm>
          <a:prstGeom prst="roundRect">
            <a:avLst>
              <a:gd name="adj" fmla="val 5262"/>
            </a:avLst>
          </a:prstGeom>
          <a:solidFill>
            <a:schemeClr val="accent2">
              <a:lumMod val="20000"/>
              <a:lumOff val="80000"/>
            </a:schemeClr>
          </a:solidFill>
          <a:ln w="762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F2482E07-C99A-C465-05B7-F3744375B2B0}"/>
              </a:ext>
            </a:extLst>
          </p:cNvPr>
          <p:cNvSpPr/>
          <p:nvPr/>
        </p:nvSpPr>
        <p:spPr bwMode="auto">
          <a:xfrm>
            <a:off x="8358018" y="3746745"/>
            <a:ext cx="3480391" cy="2633357"/>
          </a:xfrm>
          <a:prstGeom prst="roundRect">
            <a:avLst>
              <a:gd name="adj" fmla="val 5262"/>
            </a:avLst>
          </a:prstGeom>
          <a:solidFill>
            <a:schemeClr val="accent4">
              <a:lumMod val="20000"/>
              <a:lumOff val="80000"/>
            </a:schemeClr>
          </a:solidFill>
          <a:ln w="762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0" name="四角形: 角を丸くする 9">
            <a:extLst>
              <a:ext uri="{FF2B5EF4-FFF2-40B4-BE49-F238E27FC236}">
                <a16:creationId xmlns:a16="http://schemas.microsoft.com/office/drawing/2014/main" id="{0A2156C7-4FAE-1EDD-9802-DDBFDF7A0358}"/>
              </a:ext>
            </a:extLst>
          </p:cNvPr>
          <p:cNvSpPr/>
          <p:nvPr/>
        </p:nvSpPr>
        <p:spPr bwMode="auto">
          <a:xfrm>
            <a:off x="4583410" y="3746745"/>
            <a:ext cx="3480391" cy="2633357"/>
          </a:xfrm>
          <a:prstGeom prst="roundRect">
            <a:avLst>
              <a:gd name="adj" fmla="val 5262"/>
            </a:avLst>
          </a:prstGeom>
          <a:solidFill>
            <a:schemeClr val="accent3">
              <a:lumMod val="20000"/>
              <a:lumOff val="80000"/>
            </a:schemeClr>
          </a:solidFill>
          <a:ln w="762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E932EB96-33A9-1CAA-9AA3-2121CF2F666D}"/>
              </a:ext>
            </a:extLst>
          </p:cNvPr>
          <p:cNvSpPr txBox="1"/>
          <p:nvPr/>
        </p:nvSpPr>
        <p:spPr>
          <a:xfrm>
            <a:off x="1765635" y="904890"/>
            <a:ext cx="8660730" cy="1569660"/>
          </a:xfrm>
          <a:prstGeom prst="rect">
            <a:avLst/>
          </a:prstGeom>
          <a:noFill/>
        </p:spPr>
        <p:txBody>
          <a:bodyPr wrap="square" rtlCol="0">
            <a:spAutoFit/>
          </a:bodyPr>
          <a:lstStyle/>
          <a:p>
            <a:pPr algn="ctr">
              <a:lnSpc>
                <a:spcPct val="150000"/>
              </a:lnSpc>
            </a:pPr>
            <a:r>
              <a:rPr lang="ja-JP" altLang="en-US" b="1" dirty="0">
                <a:latin typeface="メイリオ" panose="020B0604030504040204" pitchFamily="50" charset="-128"/>
                <a:ea typeface="メイリオ" panose="020B0604030504040204" pitchFamily="50" charset="-128"/>
              </a:rPr>
              <a:t>＼　</a:t>
            </a:r>
            <a:r>
              <a:rPr kumimoji="1" lang="ja-JP" altLang="en-US" b="1" dirty="0">
                <a:latin typeface="メイリオ" panose="020B0604030504040204" pitchFamily="50" charset="-128"/>
                <a:ea typeface="メイリオ" panose="020B0604030504040204" pitchFamily="50" charset="-128"/>
              </a:rPr>
              <a:t>困っていませんか　／</a:t>
            </a:r>
            <a:endParaRPr kumimoji="1" lang="en-US" altLang="ja-JP" b="1" dirty="0">
              <a:latin typeface="メイリオ" panose="020B0604030504040204" pitchFamily="50" charset="-128"/>
              <a:ea typeface="メイリオ" panose="020B0604030504040204" pitchFamily="50" charset="-128"/>
            </a:endParaRPr>
          </a:p>
          <a:p>
            <a:pPr algn="ctr">
              <a:lnSpc>
                <a:spcPct val="150000"/>
              </a:lnSpc>
            </a:pPr>
            <a:r>
              <a:rPr kumimoji="1" lang="ja-JP" altLang="en-US" sz="2400" b="1" dirty="0">
                <a:latin typeface="メイリオ" panose="020B0604030504040204" pitchFamily="50" charset="-128"/>
                <a:ea typeface="メイリオ" panose="020B0604030504040204" pitchFamily="50" charset="-128"/>
              </a:rPr>
              <a:t>ユーザーの嗜好性</a:t>
            </a:r>
            <a:r>
              <a:rPr lang="ja-JP" altLang="en-US" sz="2400" b="1" dirty="0">
                <a:latin typeface="メイリオ" panose="020B0604030504040204" pitchFamily="50" charset="-128"/>
                <a:ea typeface="メイリオ" panose="020B0604030504040204" pitchFamily="50" charset="-128"/>
              </a:rPr>
              <a:t>が</a:t>
            </a:r>
            <a:r>
              <a:rPr kumimoji="1" lang="ja-JP" altLang="en-US" sz="2400" b="1" dirty="0">
                <a:latin typeface="メイリオ" panose="020B0604030504040204" pitchFamily="50" charset="-128"/>
                <a:ea typeface="メイリオ" panose="020B0604030504040204" pitchFamily="50" charset="-128"/>
              </a:rPr>
              <a:t>多様化するなかでの開発メンバ</a:t>
            </a:r>
            <a:r>
              <a:rPr lang="ja-JP" altLang="en-US" sz="2400" b="1" dirty="0">
                <a:latin typeface="メイリオ" panose="020B0604030504040204" pitchFamily="50" charset="-128"/>
                <a:ea typeface="メイリオ" panose="020B0604030504040204" pitchFamily="50" charset="-128"/>
              </a:rPr>
              <a:t>ー招集</a:t>
            </a:r>
            <a:endParaRPr kumimoji="1" lang="en-US" altLang="ja-JP" sz="2400" b="1" dirty="0">
              <a:latin typeface="メイリオ" panose="020B0604030504040204" pitchFamily="50" charset="-128"/>
              <a:ea typeface="メイリオ" panose="020B0604030504040204" pitchFamily="50" charset="-128"/>
            </a:endParaRPr>
          </a:p>
          <a:p>
            <a:pPr algn="ctr">
              <a:lnSpc>
                <a:spcPct val="150000"/>
              </a:lnSpc>
            </a:pPr>
            <a:r>
              <a:rPr lang="ja-JP" altLang="en-US" sz="2400" b="1" dirty="0">
                <a:latin typeface="メイリオ" panose="020B0604030504040204" pitchFamily="50" charset="-128"/>
                <a:ea typeface="メイリオ" panose="020B0604030504040204" pitchFamily="50" charset="-128"/>
              </a:rPr>
              <a:t>ニッチなプラットフォームへの参入障壁</a:t>
            </a:r>
            <a:endParaRPr kumimoji="1" lang="en-US" altLang="ja-JP" sz="24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9716DDC-F88D-388D-65B4-BCACA8DED794}"/>
              </a:ext>
            </a:extLst>
          </p:cNvPr>
          <p:cNvSpPr txBox="1"/>
          <p:nvPr/>
        </p:nvSpPr>
        <p:spPr>
          <a:xfrm>
            <a:off x="9082556" y="4004815"/>
            <a:ext cx="2031325" cy="646331"/>
          </a:xfrm>
          <a:prstGeom prst="rect">
            <a:avLst/>
          </a:prstGeom>
          <a:noFill/>
        </p:spPr>
        <p:txBody>
          <a:bodyPr wrap="none" rtlCol="0">
            <a:spAutoFit/>
          </a:bodyPr>
          <a:lstStyle/>
          <a:p>
            <a:pPr algn="ctr"/>
            <a:r>
              <a:rPr lang="ja-JP" altLang="en-US" sz="3600" b="1">
                <a:latin typeface="メイリオ" panose="020B0604030504040204" pitchFamily="50" charset="-128"/>
                <a:ea typeface="メイリオ" panose="020B0604030504040204" pitchFamily="50" charset="-128"/>
              </a:rPr>
              <a:t>人材活用</a:t>
            </a:r>
            <a:endParaRPr lang="en-US" altLang="ja-JP" sz="4000" b="1">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020B614C-87A3-0698-A1F8-C2C9473EAB44}"/>
              </a:ext>
            </a:extLst>
          </p:cNvPr>
          <p:cNvSpPr txBox="1"/>
          <p:nvPr/>
        </p:nvSpPr>
        <p:spPr>
          <a:xfrm>
            <a:off x="1513017" y="4004815"/>
            <a:ext cx="2031325" cy="646331"/>
          </a:xfrm>
          <a:prstGeom prst="rect">
            <a:avLst/>
          </a:prstGeom>
          <a:noFill/>
        </p:spPr>
        <p:txBody>
          <a:bodyPr wrap="none" rtlCol="0">
            <a:spAutoFit/>
          </a:bodyPr>
          <a:lstStyle/>
          <a:p>
            <a:pPr algn="ctr"/>
            <a:r>
              <a:rPr kumimoji="1" lang="ja-JP" altLang="en-US" sz="3600" b="1" dirty="0">
                <a:latin typeface="メイリオ" panose="020B0604030504040204" pitchFamily="50" charset="-128"/>
                <a:ea typeface="メイリオ" panose="020B0604030504040204" pitchFamily="50" charset="-128"/>
              </a:rPr>
              <a:t>制作開発</a:t>
            </a:r>
            <a:endParaRPr kumimoji="1" lang="en-US" altLang="ja-JP" sz="3600" b="1" dirty="0">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C7D965D0-27FC-DA2A-9416-1640DF00B057}"/>
              </a:ext>
            </a:extLst>
          </p:cNvPr>
          <p:cNvSpPr txBox="1"/>
          <p:nvPr/>
        </p:nvSpPr>
        <p:spPr>
          <a:xfrm>
            <a:off x="2377413" y="2769406"/>
            <a:ext cx="7686336" cy="646331"/>
          </a:xfrm>
          <a:prstGeom prst="rect">
            <a:avLst/>
          </a:prstGeom>
          <a:noFill/>
        </p:spPr>
        <p:txBody>
          <a:bodyPr wrap="none" rtlCol="0">
            <a:spAutoFit/>
          </a:bodyPr>
          <a:lstStyle/>
          <a:p>
            <a:pPr algn="ctr"/>
            <a:r>
              <a:rPr lang="en-US" altLang="ja-JP" sz="3600" b="1" dirty="0">
                <a:latin typeface="メイリオ" panose="020B0604030504040204" pitchFamily="50" charset="-128"/>
                <a:ea typeface="メイリオ" panose="020B0604030504040204" pitchFamily="50" charset="-128"/>
              </a:rPr>
              <a:t>C&amp;R</a:t>
            </a:r>
            <a:r>
              <a:rPr lang="ja-JP" altLang="en-US" sz="3600" b="1" dirty="0">
                <a:latin typeface="メイリオ" panose="020B0604030504040204" pitchFamily="50" charset="-128"/>
                <a:ea typeface="メイリオ" panose="020B0604030504040204" pitchFamily="50" charset="-128"/>
              </a:rPr>
              <a:t> </a:t>
            </a:r>
            <a:r>
              <a:rPr lang="en-US" altLang="ja-JP" sz="3600" b="1" dirty="0">
                <a:latin typeface="メイリオ" panose="020B0604030504040204" pitchFamily="50" charset="-128"/>
                <a:ea typeface="メイリオ" panose="020B0604030504040204" pitchFamily="50" charset="-128"/>
              </a:rPr>
              <a:t>Creative</a:t>
            </a:r>
            <a:r>
              <a:rPr lang="ja-JP" altLang="en-US" sz="3600" b="1" dirty="0">
                <a:latin typeface="メイリオ" panose="020B0604030504040204" pitchFamily="50" charset="-128"/>
                <a:ea typeface="メイリオ" panose="020B0604030504040204" pitchFamily="50" charset="-128"/>
              </a:rPr>
              <a:t> </a:t>
            </a:r>
            <a:r>
              <a:rPr lang="en-US" altLang="ja-JP" sz="3600" b="1" dirty="0">
                <a:latin typeface="メイリオ" panose="020B0604030504040204" pitchFamily="50" charset="-128"/>
                <a:ea typeface="メイリオ" panose="020B0604030504040204" pitchFamily="50" charset="-128"/>
              </a:rPr>
              <a:t>Studios</a:t>
            </a:r>
            <a:r>
              <a:rPr lang="ja-JP" altLang="en-US" sz="3600" b="1" dirty="0">
                <a:latin typeface="メイリオ" panose="020B0604030504040204" pitchFamily="50" charset="-128"/>
                <a:ea typeface="メイリオ" panose="020B0604030504040204" pitchFamily="50" charset="-128"/>
              </a:rPr>
              <a:t>３つの強み</a:t>
            </a:r>
            <a:endParaRPr kumimoji="1" lang="en-US" altLang="ja-JP" sz="36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3509DE81-13F6-CE71-2A1A-0DE3AE0D60F1}"/>
              </a:ext>
            </a:extLst>
          </p:cNvPr>
          <p:cNvSpPr txBox="1"/>
          <p:nvPr/>
        </p:nvSpPr>
        <p:spPr>
          <a:xfrm>
            <a:off x="5304752" y="4004815"/>
            <a:ext cx="2031325" cy="646331"/>
          </a:xfrm>
          <a:prstGeom prst="rect">
            <a:avLst/>
          </a:prstGeom>
          <a:noFill/>
        </p:spPr>
        <p:txBody>
          <a:bodyPr wrap="none" rtlCol="0">
            <a:spAutoFit/>
          </a:bodyPr>
          <a:lstStyle/>
          <a:p>
            <a:pPr algn="ctr"/>
            <a:r>
              <a:rPr lang="ja-JP" altLang="en-US" sz="3600" b="1" dirty="0">
                <a:latin typeface="メイリオ" panose="020B0604030504040204" pitchFamily="50" charset="-128"/>
                <a:ea typeface="メイリオ" panose="020B0604030504040204" pitchFamily="50" charset="-128"/>
              </a:rPr>
              <a:t>体制構築</a:t>
            </a:r>
            <a:endParaRPr lang="en-US" altLang="ja-JP" sz="3600" b="1" dirty="0">
              <a:latin typeface="メイリオ" panose="020B0604030504040204" pitchFamily="50" charset="-128"/>
              <a:ea typeface="メイリオ" panose="020B0604030504040204" pitchFamily="50" charset="-128"/>
            </a:endParaRPr>
          </a:p>
        </p:txBody>
      </p:sp>
      <p:sp>
        <p:nvSpPr>
          <p:cNvPr id="16" name="矢印: 下 15">
            <a:extLst>
              <a:ext uri="{FF2B5EF4-FFF2-40B4-BE49-F238E27FC236}">
                <a16:creationId xmlns:a16="http://schemas.microsoft.com/office/drawing/2014/main" id="{445FC7A3-1019-6A64-8A2F-11505BB486C4}"/>
              </a:ext>
            </a:extLst>
          </p:cNvPr>
          <p:cNvSpPr/>
          <p:nvPr/>
        </p:nvSpPr>
        <p:spPr bwMode="auto">
          <a:xfrm>
            <a:off x="2308068" y="4704361"/>
            <a:ext cx="599970" cy="467183"/>
          </a:xfrm>
          <a:prstGeom prst="downArrow">
            <a:avLst>
              <a:gd name="adj1" fmla="val 50000"/>
              <a:gd name="adj2" fmla="val 46371"/>
            </a:avLst>
          </a:prstGeom>
          <a:solidFill>
            <a:schemeClr val="accent5">
              <a:lumMod val="60000"/>
              <a:lumOff val="4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nvGrpSpPr>
          <p:cNvPr id="31" name="グループ化 30">
            <a:extLst>
              <a:ext uri="{FF2B5EF4-FFF2-40B4-BE49-F238E27FC236}">
                <a16:creationId xmlns:a16="http://schemas.microsoft.com/office/drawing/2014/main" id="{788474D2-E570-82A5-B00B-34FC3D256B29}"/>
              </a:ext>
            </a:extLst>
          </p:cNvPr>
          <p:cNvGrpSpPr/>
          <p:nvPr/>
        </p:nvGrpSpPr>
        <p:grpSpPr>
          <a:xfrm>
            <a:off x="1630847" y="902669"/>
            <a:ext cx="1228804" cy="892924"/>
            <a:chOff x="1460205" y="985284"/>
            <a:chExt cx="930408" cy="676091"/>
          </a:xfrm>
        </p:grpSpPr>
        <p:sp>
          <p:nvSpPr>
            <p:cNvPr id="21" name="四角形: 角を丸くする 20">
              <a:extLst>
                <a:ext uri="{FF2B5EF4-FFF2-40B4-BE49-F238E27FC236}">
                  <a16:creationId xmlns:a16="http://schemas.microsoft.com/office/drawing/2014/main" id="{F3CD6815-90DB-FFD8-92BA-2D3429C59A10}"/>
                </a:ext>
              </a:extLst>
            </p:cNvPr>
            <p:cNvSpPr/>
            <p:nvPr/>
          </p:nvSpPr>
          <p:spPr bwMode="auto">
            <a:xfrm>
              <a:off x="1460205" y="985284"/>
              <a:ext cx="533865" cy="467359"/>
            </a:xfrm>
            <a:prstGeom prst="roundRect">
              <a:avLst/>
            </a:prstGeom>
            <a:solidFill>
              <a:schemeClr val="bg1">
                <a:lumMod val="75000"/>
                <a:alpha val="2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5" name="四角形: 角を丸くする 24">
              <a:extLst>
                <a:ext uri="{FF2B5EF4-FFF2-40B4-BE49-F238E27FC236}">
                  <a16:creationId xmlns:a16="http://schemas.microsoft.com/office/drawing/2014/main" id="{3E667FC1-89F7-5868-EDF3-4CF1BFBB7A3A}"/>
                </a:ext>
              </a:extLst>
            </p:cNvPr>
            <p:cNvSpPr/>
            <p:nvPr/>
          </p:nvSpPr>
          <p:spPr bwMode="auto">
            <a:xfrm>
              <a:off x="2125002" y="1040850"/>
              <a:ext cx="265611" cy="285875"/>
            </a:xfrm>
            <a:prstGeom prst="roundRect">
              <a:avLst/>
            </a:prstGeom>
            <a:solidFill>
              <a:schemeClr val="bg1">
                <a:lumMod val="95000"/>
                <a:alpha val="20000"/>
              </a:schemeClr>
            </a:solidFill>
            <a:ln w="38100" algn="ctr">
              <a:solidFill>
                <a:srgbClr val="F2F2F2">
                  <a:alpha val="80000"/>
                </a:srgb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6" name="四角形: 角を丸くする 25">
              <a:extLst>
                <a:ext uri="{FF2B5EF4-FFF2-40B4-BE49-F238E27FC236}">
                  <a16:creationId xmlns:a16="http://schemas.microsoft.com/office/drawing/2014/main" id="{0F6410F6-53C0-EAF7-0060-97328AA8F2CD}"/>
                </a:ext>
              </a:extLst>
            </p:cNvPr>
            <p:cNvSpPr/>
            <p:nvPr/>
          </p:nvSpPr>
          <p:spPr bwMode="auto">
            <a:xfrm>
              <a:off x="1725816" y="1194016"/>
              <a:ext cx="533865" cy="467359"/>
            </a:xfrm>
            <a:prstGeom prst="roundRect">
              <a:avLst/>
            </a:prstGeom>
            <a:solidFill>
              <a:schemeClr val="bg1">
                <a:lumMod val="75000"/>
                <a:alpha val="2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sp>
        <p:nvSpPr>
          <p:cNvPr id="42" name="矢印: 下 41">
            <a:extLst>
              <a:ext uri="{FF2B5EF4-FFF2-40B4-BE49-F238E27FC236}">
                <a16:creationId xmlns:a16="http://schemas.microsoft.com/office/drawing/2014/main" id="{E11A76A0-6AC4-E99C-77F5-741F33F0D0BB}"/>
              </a:ext>
            </a:extLst>
          </p:cNvPr>
          <p:cNvSpPr/>
          <p:nvPr/>
        </p:nvSpPr>
        <p:spPr bwMode="auto">
          <a:xfrm>
            <a:off x="9798228" y="4704361"/>
            <a:ext cx="599970" cy="467183"/>
          </a:xfrm>
          <a:prstGeom prst="downArrow">
            <a:avLst>
              <a:gd name="adj1" fmla="val 50000"/>
              <a:gd name="adj2" fmla="val 46371"/>
            </a:avLst>
          </a:prstGeom>
          <a:solidFill>
            <a:schemeClr val="accent4">
              <a:lumMod val="60000"/>
              <a:lumOff val="4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43" name="矢印: 下 42">
            <a:extLst>
              <a:ext uri="{FF2B5EF4-FFF2-40B4-BE49-F238E27FC236}">
                <a16:creationId xmlns:a16="http://schemas.microsoft.com/office/drawing/2014/main" id="{83193DE8-7181-5AA7-495A-1182DEB52B4B}"/>
              </a:ext>
            </a:extLst>
          </p:cNvPr>
          <p:cNvSpPr/>
          <p:nvPr/>
        </p:nvSpPr>
        <p:spPr bwMode="auto">
          <a:xfrm>
            <a:off x="6023620" y="4694201"/>
            <a:ext cx="599970" cy="467183"/>
          </a:xfrm>
          <a:prstGeom prst="downArrow">
            <a:avLst>
              <a:gd name="adj1" fmla="val 50000"/>
              <a:gd name="adj2" fmla="val 46371"/>
            </a:avLst>
          </a:prstGeom>
          <a:solidFill>
            <a:schemeClr val="accent3">
              <a:lumMod val="60000"/>
              <a:lumOff val="4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63D09431-CCAF-3AEB-0B42-16FB4D07E217}"/>
              </a:ext>
            </a:extLst>
          </p:cNvPr>
          <p:cNvSpPr txBox="1"/>
          <p:nvPr/>
        </p:nvSpPr>
        <p:spPr>
          <a:xfrm>
            <a:off x="1063097" y="5313961"/>
            <a:ext cx="2964273" cy="830997"/>
          </a:xfrm>
          <a:prstGeom prst="rect">
            <a:avLst/>
          </a:prstGeom>
          <a:noFill/>
        </p:spPr>
        <p:txBody>
          <a:bodyPr wrap="none" rtlCol="0">
            <a:spAutoFit/>
          </a:bodyPr>
          <a:lstStyle/>
          <a:p>
            <a:pPr algn="ctr"/>
            <a:r>
              <a:rPr kumimoji="1" lang="ja-JP" altLang="en-US" sz="2400" b="1">
                <a:latin typeface="メイリオ" panose="020B0604030504040204" pitchFamily="50" charset="-128"/>
                <a:ea typeface="メイリオ" panose="020B0604030504040204" pitchFamily="50" charset="-128"/>
              </a:rPr>
              <a:t>年間</a:t>
            </a:r>
            <a:r>
              <a:rPr kumimoji="1" lang="en-US" altLang="ja-JP" sz="2400" b="1">
                <a:latin typeface="メイリオ" panose="020B0604030504040204" pitchFamily="50" charset="-128"/>
                <a:ea typeface="メイリオ" panose="020B0604030504040204" pitchFamily="50" charset="-128"/>
              </a:rPr>
              <a:t>100</a:t>
            </a:r>
            <a:r>
              <a:rPr kumimoji="1" lang="ja-JP" altLang="en-US" sz="2400" b="1">
                <a:latin typeface="メイリオ" panose="020B0604030504040204" pitchFamily="50" charset="-128"/>
                <a:ea typeface="メイリオ" panose="020B0604030504040204" pitchFamily="50" charset="-128"/>
              </a:rPr>
              <a:t>件を超える</a:t>
            </a:r>
            <a:endParaRPr kumimoji="1" lang="en-US" altLang="ja-JP" sz="2400" b="1">
              <a:latin typeface="メイリオ" panose="020B0604030504040204" pitchFamily="50" charset="-128"/>
              <a:ea typeface="メイリオ" panose="020B0604030504040204" pitchFamily="50" charset="-128"/>
            </a:endParaRPr>
          </a:p>
          <a:p>
            <a:pPr algn="ctr"/>
            <a:r>
              <a:rPr lang="ja-JP" altLang="en-US" sz="2400" b="1">
                <a:latin typeface="メイリオ" panose="020B0604030504040204" pitchFamily="50" charset="-128"/>
                <a:ea typeface="メイリオ" panose="020B0604030504040204" pitchFamily="50" charset="-128"/>
              </a:rPr>
              <a:t>受託実績</a:t>
            </a:r>
            <a:endParaRPr kumimoji="1" lang="en-US" altLang="ja-JP" sz="2400" b="1">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7A9DCDD-DBE2-496B-F3B9-0D09B714123C}"/>
              </a:ext>
            </a:extLst>
          </p:cNvPr>
          <p:cNvSpPr txBox="1"/>
          <p:nvPr/>
        </p:nvSpPr>
        <p:spPr>
          <a:xfrm>
            <a:off x="5000442" y="5313961"/>
            <a:ext cx="2664512" cy="830997"/>
          </a:xfrm>
          <a:prstGeom prst="rect">
            <a:avLst/>
          </a:prstGeom>
          <a:noFill/>
        </p:spPr>
        <p:txBody>
          <a:bodyPr wrap="none" rtlCol="0">
            <a:spAutoFit/>
          </a:bodyPr>
          <a:lstStyle/>
          <a:p>
            <a:pPr algn="ctr"/>
            <a:r>
              <a:rPr lang="ja-JP" altLang="en-US" sz="2400" b="1" dirty="0">
                <a:latin typeface="メイリオ" panose="020B0604030504040204" pitchFamily="50" charset="-128"/>
                <a:ea typeface="メイリオ" panose="020B0604030504040204" pitchFamily="50" charset="-128"/>
              </a:rPr>
              <a:t>スタジオ</a:t>
            </a:r>
            <a:r>
              <a:rPr lang="en-US" altLang="ja-JP" sz="2400" b="1" dirty="0">
                <a:latin typeface="メイリオ" panose="020B0604030504040204" pitchFamily="50" charset="-128"/>
                <a:ea typeface="メイリオ" panose="020B0604030504040204" pitchFamily="50" charset="-128"/>
              </a:rPr>
              <a:t>2,000</a:t>
            </a:r>
            <a:r>
              <a:rPr lang="ja-JP" altLang="en-US" sz="2400" b="1" dirty="0">
                <a:latin typeface="メイリオ" panose="020B0604030504040204" pitchFamily="50" charset="-128"/>
                <a:ea typeface="メイリオ" panose="020B0604030504040204" pitchFamily="50" charset="-128"/>
              </a:rPr>
              <a:t>名</a:t>
            </a:r>
            <a:endParaRPr lang="en-US" altLang="ja-JP" sz="2400" b="1" dirty="0">
              <a:latin typeface="メイリオ" panose="020B0604030504040204" pitchFamily="50" charset="-128"/>
              <a:ea typeface="メイリオ" panose="020B0604030504040204" pitchFamily="50" charset="-128"/>
            </a:endParaRPr>
          </a:p>
          <a:p>
            <a:pPr algn="ctr"/>
            <a:r>
              <a:rPr lang="ja-JP" altLang="en-US" sz="2400" b="1" dirty="0">
                <a:latin typeface="メイリオ" panose="020B0604030504040204" pitchFamily="50" charset="-128"/>
                <a:ea typeface="メイリオ" panose="020B0604030504040204" pitchFamily="50" charset="-128"/>
              </a:rPr>
              <a:t>から最適アサイン</a:t>
            </a:r>
            <a:endParaRPr lang="en-US" altLang="ja-JP" sz="2400" b="1"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DE47C9B9-E592-C4E9-8FC5-C808FA0C77C5}"/>
              </a:ext>
            </a:extLst>
          </p:cNvPr>
          <p:cNvSpPr txBox="1"/>
          <p:nvPr/>
        </p:nvSpPr>
        <p:spPr>
          <a:xfrm>
            <a:off x="8620885" y="5393849"/>
            <a:ext cx="2954655" cy="830997"/>
          </a:xfrm>
          <a:prstGeom prst="rect">
            <a:avLst/>
          </a:prstGeom>
          <a:noFill/>
        </p:spPr>
        <p:txBody>
          <a:bodyPr wrap="none" rtlCol="0">
            <a:spAutoFit/>
          </a:bodyPr>
          <a:lstStyle/>
          <a:p>
            <a:pPr algn="ctr"/>
            <a:r>
              <a:rPr lang="ja-JP" altLang="en-US" sz="2400" b="1">
                <a:latin typeface="メイリオ" panose="020B0604030504040204" pitchFamily="50" charset="-128"/>
                <a:ea typeface="メイリオ" panose="020B0604030504040204" pitchFamily="50" charset="-128"/>
              </a:rPr>
              <a:t>待機人員の活躍機会</a:t>
            </a:r>
            <a:endParaRPr lang="en-US" altLang="ja-JP" sz="2400" b="1">
              <a:latin typeface="メイリオ" panose="020B0604030504040204" pitchFamily="50" charset="-128"/>
              <a:ea typeface="メイリオ" panose="020B0604030504040204" pitchFamily="50" charset="-128"/>
            </a:endParaRPr>
          </a:p>
          <a:p>
            <a:pPr algn="ctr"/>
            <a:r>
              <a:rPr lang="ja-JP" altLang="en-US" sz="2400" b="1">
                <a:latin typeface="メイリオ" panose="020B0604030504040204" pitchFamily="50" charset="-128"/>
                <a:ea typeface="メイリオ" panose="020B0604030504040204" pitchFamily="50" charset="-128"/>
              </a:rPr>
              <a:t>創出と転職支援</a:t>
            </a:r>
            <a:endParaRPr lang="en-US" altLang="ja-JP" sz="2400" b="1">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71534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5D7E8768-628D-158D-D3AA-D0785C17A056}"/>
              </a:ext>
            </a:extLst>
          </p:cNvPr>
          <p:cNvSpPr>
            <a:spLocks noGrp="1"/>
          </p:cNvSpPr>
          <p:nvPr>
            <p:ph type="title"/>
          </p:nvPr>
        </p:nvSpPr>
        <p:spPr/>
        <p:txBody>
          <a:bodyPr/>
          <a:lstStyle/>
          <a:p>
            <a:r>
              <a:rPr lang="ja-JP" altLang="en-US" dirty="0"/>
              <a:t>日本最大級のスタジオを選ぶ理由１：制作開発（</a:t>
            </a:r>
            <a:r>
              <a:rPr lang="en-US" altLang="ja-JP" dirty="0"/>
              <a:t>Games</a:t>
            </a:r>
            <a:r>
              <a:rPr lang="ja-JP" altLang="en-US" dirty="0"/>
              <a:t>）</a:t>
            </a:r>
            <a:endParaRPr lang="ja-JP" altLang="en-US" dirty="0">
              <a:latin typeface="+mn-lt"/>
            </a:endParaRPr>
          </a:p>
        </p:txBody>
      </p:sp>
      <p:sp>
        <p:nvSpPr>
          <p:cNvPr id="4" name="テキスト ボックス 3">
            <a:extLst>
              <a:ext uri="{FF2B5EF4-FFF2-40B4-BE49-F238E27FC236}">
                <a16:creationId xmlns:a16="http://schemas.microsoft.com/office/drawing/2014/main" id="{6AD5A481-5102-D1FA-66D5-F02CE5B98C96}"/>
              </a:ext>
            </a:extLst>
          </p:cNvPr>
          <p:cNvSpPr txBox="1"/>
          <p:nvPr/>
        </p:nvSpPr>
        <p:spPr>
          <a:xfrm>
            <a:off x="7630336" y="669682"/>
            <a:ext cx="4340772" cy="307777"/>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dirty="0">
                <a:ln>
                  <a:noFill/>
                </a:ln>
                <a:effectLst/>
                <a:uLnTx/>
                <a:uFillTx/>
                <a:latin typeface="メイリオ" panose="020B0604030504040204" pitchFamily="50" charset="-128"/>
                <a:ea typeface="メイリオ" panose="020B0604030504040204" pitchFamily="50" charset="-128"/>
              </a:rPr>
              <a:t>引用：</a:t>
            </a:r>
            <a:r>
              <a:rPr kumimoji="1" lang="en-US" altLang="ja-JP" sz="1000" b="0" i="0" u="none" strike="noStrike" kern="1200" cap="none" spc="0" normalizeH="0" baseline="0" noProof="0" dirty="0">
                <a:ln>
                  <a:noFill/>
                </a:ln>
                <a:effectLst/>
                <a:uLnTx/>
                <a:uFillTx/>
                <a:latin typeface="メイリオ" panose="020B0604030504040204" pitchFamily="50" charset="-128"/>
                <a:ea typeface="メイリオ" panose="020B0604030504040204" pitchFamily="50" charset="-128"/>
              </a:rPr>
              <a:t>C&amp;R</a:t>
            </a:r>
            <a:r>
              <a:rPr kumimoji="1" lang="ja-JP" altLang="en-US" sz="1000" b="0" i="0" u="none" strike="noStrike" kern="1200" cap="none" spc="0" normalizeH="0" baseline="0" noProof="0" dirty="0">
                <a:ln>
                  <a:noFill/>
                </a:ln>
                <a:effectLst/>
                <a:uLnTx/>
                <a:uFillTx/>
                <a:latin typeface="メイリオ" panose="020B0604030504040204" pitchFamily="50" charset="-128"/>
                <a:ea typeface="メイリオ" panose="020B0604030504040204" pitchFamily="50" charset="-128"/>
              </a:rPr>
              <a:t>クリエイティブスタジオ公式サイトより抜粋</a:t>
            </a:r>
            <a:endParaRPr kumimoji="1" lang="en-US" altLang="ja-JP" sz="1000" b="0" i="0" u="none" strike="noStrike" kern="1200" cap="none" spc="0" normalizeH="0" baseline="0" noProof="0" dirty="0">
              <a:ln>
                <a:noFill/>
              </a:ln>
              <a:effectLst/>
              <a:uLnTx/>
              <a:uFillTx/>
              <a:latin typeface="メイリオ" panose="020B0604030504040204" pitchFamily="50" charset="-128"/>
              <a:ea typeface="メイリオ" panose="020B0604030504040204" pitchFamily="50" charset="-128"/>
            </a:endParaRPr>
          </a:p>
          <a:p>
            <a:pPr lvl="0" algn="r" eaLnBrk="0" fontAlgn="base" hangingPunct="0">
              <a:spcBef>
                <a:spcPct val="0"/>
              </a:spcBef>
              <a:spcAft>
                <a:spcPct val="0"/>
              </a:spcAft>
              <a:defRPr/>
            </a:pPr>
            <a:r>
              <a:rPr lang="en-US" altLang="ja-JP" sz="1000" dirty="0">
                <a:solidFill>
                  <a:schemeClr val="accent4">
                    <a:lumMod val="75000"/>
                  </a:schemeClr>
                </a:solidFill>
                <a:latin typeface="メイリオ" panose="020B0604030504040204" pitchFamily="50" charset="-128"/>
                <a:ea typeface="メイリオ" panose="020B0604030504040204" pitchFamily="50" charset="-128"/>
              </a:rPr>
              <a:t>https://crdg.jp/games/</a:t>
            </a:r>
            <a:endParaRPr kumimoji="1" lang="en-US" altLang="ja-JP" sz="1000" b="0" i="0" u="none" strike="noStrike" kern="1200" cap="none" spc="0" normalizeH="0" baseline="0" noProof="0" dirty="0">
              <a:ln>
                <a:noFill/>
              </a:ln>
              <a:solidFill>
                <a:schemeClr val="accent4">
                  <a:lumMod val="75000"/>
                </a:schemeClr>
              </a:solidFill>
              <a:effectLst/>
              <a:uLnTx/>
              <a:uFillTx/>
              <a:latin typeface="メイリオ" panose="020B0604030504040204" pitchFamily="50" charset="-128"/>
              <a:ea typeface="メイリオ" panose="020B0604030504040204" pitchFamily="50" charset="-128"/>
            </a:endParaRPr>
          </a:p>
        </p:txBody>
      </p:sp>
      <p:sp>
        <p:nvSpPr>
          <p:cNvPr id="5" name="コンテンツ プレースホルダー 1">
            <a:extLst>
              <a:ext uri="{FF2B5EF4-FFF2-40B4-BE49-F238E27FC236}">
                <a16:creationId xmlns:a16="http://schemas.microsoft.com/office/drawing/2014/main" id="{84C25D98-DC8F-E8A1-57C0-D1BB2959D408}"/>
              </a:ext>
            </a:extLst>
          </p:cNvPr>
          <p:cNvSpPr>
            <a:spLocks noGrp="1"/>
          </p:cNvSpPr>
          <p:nvPr>
            <p:ph idx="10"/>
          </p:nvPr>
        </p:nvSpPr>
        <p:spPr>
          <a:xfrm>
            <a:off x="653802" y="652081"/>
            <a:ext cx="11086078" cy="461665"/>
          </a:xfrm>
        </p:spPr>
        <p:txBody>
          <a:bodyPr>
            <a:normAutofit/>
          </a:bodyPr>
          <a:lstStyle/>
          <a:p>
            <a:r>
              <a:rPr lang="en-US" altLang="ja-JP" dirty="0"/>
              <a:t>Unreal Engine</a:t>
            </a:r>
            <a:r>
              <a:rPr kumimoji="1" lang="ja-JP" altLang="en-US" dirty="0"/>
              <a:t>、</a:t>
            </a:r>
            <a:r>
              <a:rPr kumimoji="1" lang="en-US" altLang="ja-JP" dirty="0"/>
              <a:t>Unity</a:t>
            </a:r>
            <a:r>
              <a:rPr lang="ja-JP" altLang="en-US" dirty="0"/>
              <a:t>での開発</a:t>
            </a:r>
            <a:r>
              <a:rPr kumimoji="1" lang="ja-JP" altLang="en-US" dirty="0"/>
              <a:t>、パブリッシングなど実績多数。</a:t>
            </a:r>
            <a:endParaRPr kumimoji="1" lang="en-US" altLang="ja-JP" dirty="0"/>
          </a:p>
        </p:txBody>
      </p:sp>
      <p:pic>
        <p:nvPicPr>
          <p:cNvPr id="7" name="図 6" descr="男性の写真のコラージュ&#10;&#10;AI 生成コンテンツは誤りを含む可能性があります。">
            <a:extLst>
              <a:ext uri="{FF2B5EF4-FFF2-40B4-BE49-F238E27FC236}">
                <a16:creationId xmlns:a16="http://schemas.microsoft.com/office/drawing/2014/main" id="{D6D37AAB-ABE8-629C-7DE8-B7690131F994}"/>
              </a:ext>
            </a:extLst>
          </p:cNvPr>
          <p:cNvPicPr>
            <a:picLocks noChangeAspect="1"/>
          </p:cNvPicPr>
          <p:nvPr/>
        </p:nvPicPr>
        <p:blipFill>
          <a:blip r:embed="rId3"/>
          <a:stretch>
            <a:fillRect/>
          </a:stretch>
        </p:blipFill>
        <p:spPr>
          <a:xfrm>
            <a:off x="639207" y="1044817"/>
            <a:ext cx="5557634" cy="5760190"/>
          </a:xfrm>
          <a:prstGeom prst="rect">
            <a:avLst/>
          </a:prstGeom>
        </p:spPr>
      </p:pic>
      <p:pic>
        <p:nvPicPr>
          <p:cNvPr id="13" name="図 12" descr="カラフルな写真のコラージュ&#10;&#10;AI 生成コンテンツは誤りを含む可能性があります。">
            <a:extLst>
              <a:ext uri="{FF2B5EF4-FFF2-40B4-BE49-F238E27FC236}">
                <a16:creationId xmlns:a16="http://schemas.microsoft.com/office/drawing/2014/main" id="{7D60C676-2DBC-C7EF-40D2-0E742834B9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3488" y="1028217"/>
            <a:ext cx="5597620" cy="5744254"/>
          </a:xfrm>
          <a:prstGeom prst="rect">
            <a:avLst/>
          </a:prstGeom>
        </p:spPr>
      </p:pic>
      <p:sp>
        <p:nvSpPr>
          <p:cNvPr id="15" name="小波 14">
            <a:extLst>
              <a:ext uri="{FF2B5EF4-FFF2-40B4-BE49-F238E27FC236}">
                <a16:creationId xmlns:a16="http://schemas.microsoft.com/office/drawing/2014/main" id="{6D9776EE-3EF7-5B0B-248E-01D2BF6709FC}"/>
              </a:ext>
            </a:extLst>
          </p:cNvPr>
          <p:cNvSpPr/>
          <p:nvPr/>
        </p:nvSpPr>
        <p:spPr bwMode="auto">
          <a:xfrm>
            <a:off x="538188" y="6661202"/>
            <a:ext cx="5658654" cy="143805"/>
          </a:xfrm>
          <a:prstGeom prst="doubleWave">
            <a:avLst/>
          </a:prstGeom>
          <a:solidFill>
            <a:schemeClr val="bg1"/>
          </a:solidFill>
          <a:ln w="3175" algn="ctr">
            <a:solidFill>
              <a:schemeClr val="tx1"/>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6" name="小波 15">
            <a:extLst>
              <a:ext uri="{FF2B5EF4-FFF2-40B4-BE49-F238E27FC236}">
                <a16:creationId xmlns:a16="http://schemas.microsoft.com/office/drawing/2014/main" id="{E9761137-93B1-EEAB-8706-BC7C4E1620EC}"/>
              </a:ext>
            </a:extLst>
          </p:cNvPr>
          <p:cNvSpPr/>
          <p:nvPr/>
        </p:nvSpPr>
        <p:spPr bwMode="auto">
          <a:xfrm>
            <a:off x="6297860" y="6661202"/>
            <a:ext cx="5658654" cy="143805"/>
          </a:xfrm>
          <a:prstGeom prst="doubleWave">
            <a:avLst/>
          </a:prstGeom>
          <a:solidFill>
            <a:schemeClr val="bg1"/>
          </a:solidFill>
          <a:ln w="3175" algn="ctr">
            <a:solidFill>
              <a:schemeClr val="tx1"/>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6539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7EBE18A-5669-2697-17A6-CE316516B800}"/>
              </a:ext>
            </a:extLst>
          </p:cNvPr>
          <p:cNvSpPr>
            <a:spLocks noGrp="1"/>
          </p:cNvSpPr>
          <p:nvPr>
            <p:ph type="sldNum" sz="quarter" idx="10"/>
          </p:nvPr>
        </p:nvSpPr>
        <p:spPr/>
        <p:txBody>
          <a:bodyPr/>
          <a:lstStyle/>
          <a:p>
            <a:fld id="{B75FDD43-FCEC-4ECC-8189-A5C6D2E08DC6}" type="slidenum">
              <a:rPr lang="ja-JP" altLang="en-US" smtClean="0"/>
              <a:pPr/>
              <a:t>13</a:t>
            </a:fld>
            <a:endParaRPr lang="ja-JP" altLang="en-US"/>
          </a:p>
        </p:txBody>
      </p:sp>
      <p:sp>
        <p:nvSpPr>
          <p:cNvPr id="5" name="タイトル 2">
            <a:extLst>
              <a:ext uri="{FF2B5EF4-FFF2-40B4-BE49-F238E27FC236}">
                <a16:creationId xmlns:a16="http://schemas.microsoft.com/office/drawing/2014/main" id="{BEDDF79B-8BBE-0421-757D-51BC2ED74B78}"/>
              </a:ext>
            </a:extLst>
          </p:cNvPr>
          <p:cNvSpPr txBox="1">
            <a:spLocks/>
          </p:cNvSpPr>
          <p:nvPr/>
        </p:nvSpPr>
        <p:spPr>
          <a:xfrm>
            <a:off x="653801" y="92360"/>
            <a:ext cx="9015461" cy="467359"/>
          </a:xfrm>
          <a:prstGeom prst="rect">
            <a:avLst/>
          </a:prstGeom>
        </p:spPr>
        <p:txBody>
          <a:bodyPr/>
          <a:lstStyle>
            <a:lvl1pPr algn="l" defTabSz="914400" rtl="0" eaLnBrk="1" latinLnBrk="0" hangingPunct="1">
              <a:lnSpc>
                <a:spcPct val="90000"/>
              </a:lnSpc>
              <a:spcBef>
                <a:spcPct val="0"/>
              </a:spcBef>
              <a:buNone/>
              <a:defRPr kumimoji="1" sz="2800" b="1" kern="1200">
                <a:solidFill>
                  <a:schemeClr val="tx1"/>
                </a:solidFill>
                <a:latin typeface="+mj-lt"/>
                <a:ea typeface="Noto Sans JP" panose="020B0200000000000000" pitchFamily="50" charset="-128"/>
                <a:cs typeface="+mj-cs"/>
              </a:defRPr>
            </a:lvl1pPr>
          </a:lstStyle>
          <a:p>
            <a:r>
              <a:rPr lang="ja-JP" altLang="en-US" dirty="0"/>
              <a:t>ゲーム受託開発・</a:t>
            </a:r>
            <a:r>
              <a:rPr lang="en-US" altLang="ja-JP" dirty="0"/>
              <a:t>CG</a:t>
            </a:r>
            <a:r>
              <a:rPr lang="ja-JP" altLang="en-US" dirty="0"/>
              <a:t>アセット制作</a:t>
            </a:r>
            <a:endParaRPr lang="ja-JP" altLang="en-US" dirty="0">
              <a:latin typeface="+mn-lt"/>
            </a:endParaRPr>
          </a:p>
        </p:txBody>
      </p:sp>
      <p:pic>
        <p:nvPicPr>
          <p:cNvPr id="4" name="図 3" descr="本を読んでいる人のイラスト&#10;&#10;AI 生成コンテンツは誤りを含む可能性があります。">
            <a:extLst>
              <a:ext uri="{FF2B5EF4-FFF2-40B4-BE49-F238E27FC236}">
                <a16:creationId xmlns:a16="http://schemas.microsoft.com/office/drawing/2014/main" id="{489FC8C7-2E7B-A70F-6779-7B384C0545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801" y="902760"/>
            <a:ext cx="5412085" cy="4635351"/>
          </a:xfrm>
          <a:prstGeom prst="rect">
            <a:avLst/>
          </a:prstGeom>
        </p:spPr>
      </p:pic>
      <p:pic>
        <p:nvPicPr>
          <p:cNvPr id="7" name="図 6" descr="グラフィカル ユーザー インターフェイス, ダイアグラム, Web サイト&#10;&#10;AI 生成コンテンツは誤りを含む可能性があります。">
            <a:extLst>
              <a:ext uri="{FF2B5EF4-FFF2-40B4-BE49-F238E27FC236}">
                <a16:creationId xmlns:a16="http://schemas.microsoft.com/office/drawing/2014/main" id="{3498B8A0-A5ED-5426-64E7-1316023357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2653" y="902760"/>
            <a:ext cx="5403935" cy="5328880"/>
          </a:xfrm>
          <a:prstGeom prst="rect">
            <a:avLst/>
          </a:prstGeom>
        </p:spPr>
      </p:pic>
    </p:spTree>
    <p:extLst>
      <p:ext uri="{BB962C8B-B14F-4D97-AF65-F5344CB8AC3E}">
        <p14:creationId xmlns:p14="http://schemas.microsoft.com/office/powerpoint/2010/main" val="2768673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88AA7-2316-BDDA-2644-6D60619BADD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3A55530-8CCB-ED59-AEE8-90717C59EE32}"/>
              </a:ext>
            </a:extLst>
          </p:cNvPr>
          <p:cNvSpPr>
            <a:spLocks noGrp="1"/>
          </p:cNvSpPr>
          <p:nvPr>
            <p:ph type="sldNum" sz="quarter" idx="10"/>
          </p:nvPr>
        </p:nvSpPr>
        <p:spPr/>
        <p:txBody>
          <a:bodyPr/>
          <a:lstStyle/>
          <a:p>
            <a:fld id="{B75FDD43-FCEC-4ECC-8189-A5C6D2E08DC6}" type="slidenum">
              <a:rPr lang="ja-JP" altLang="en-US" smtClean="0"/>
              <a:pPr/>
              <a:t>14</a:t>
            </a:fld>
            <a:endParaRPr lang="ja-JP" altLang="en-US"/>
          </a:p>
        </p:txBody>
      </p:sp>
      <p:sp>
        <p:nvSpPr>
          <p:cNvPr id="5" name="タイトル 2">
            <a:extLst>
              <a:ext uri="{FF2B5EF4-FFF2-40B4-BE49-F238E27FC236}">
                <a16:creationId xmlns:a16="http://schemas.microsoft.com/office/drawing/2014/main" id="{EC4989F7-DE4C-ED3D-EF84-3C6F7820BFC8}"/>
              </a:ext>
            </a:extLst>
          </p:cNvPr>
          <p:cNvSpPr txBox="1">
            <a:spLocks/>
          </p:cNvSpPr>
          <p:nvPr/>
        </p:nvSpPr>
        <p:spPr>
          <a:xfrm>
            <a:off x="653801" y="92360"/>
            <a:ext cx="9015461" cy="467359"/>
          </a:xfrm>
          <a:prstGeom prst="rect">
            <a:avLst/>
          </a:prstGeom>
        </p:spPr>
        <p:txBody>
          <a:bodyPr/>
          <a:lstStyle>
            <a:lvl1pPr algn="l" defTabSz="914400" rtl="0" eaLnBrk="1" latinLnBrk="0" hangingPunct="1">
              <a:lnSpc>
                <a:spcPct val="90000"/>
              </a:lnSpc>
              <a:spcBef>
                <a:spcPct val="0"/>
              </a:spcBef>
              <a:buNone/>
              <a:defRPr kumimoji="1" sz="2800" b="1" kern="1200">
                <a:solidFill>
                  <a:schemeClr val="tx1"/>
                </a:solidFill>
                <a:latin typeface="+mj-lt"/>
                <a:ea typeface="Noto Sans JP" panose="020B0200000000000000" pitchFamily="50" charset="-128"/>
                <a:cs typeface="+mj-cs"/>
              </a:defRPr>
            </a:lvl1pPr>
          </a:lstStyle>
          <a:p>
            <a:r>
              <a:rPr lang="ja-JP" altLang="en-US" dirty="0"/>
              <a:t>パチンコ受託開発</a:t>
            </a:r>
            <a:endParaRPr lang="ja-JP" altLang="en-US" dirty="0">
              <a:latin typeface="+mn-lt"/>
            </a:endParaRPr>
          </a:p>
        </p:txBody>
      </p:sp>
      <p:pic>
        <p:nvPicPr>
          <p:cNvPr id="4" name="図 3" descr="テキスト が含まれている画像&#10;&#10;AI 生成コンテンツは誤りを含む可能性があります。">
            <a:extLst>
              <a:ext uri="{FF2B5EF4-FFF2-40B4-BE49-F238E27FC236}">
                <a16:creationId xmlns:a16="http://schemas.microsoft.com/office/drawing/2014/main" id="{51C35A17-0845-1919-E9FA-2D7BBEADA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897" y="1183784"/>
            <a:ext cx="5421900" cy="4643757"/>
          </a:xfrm>
          <a:prstGeom prst="rect">
            <a:avLst/>
          </a:prstGeom>
        </p:spPr>
      </p:pic>
      <p:pic>
        <p:nvPicPr>
          <p:cNvPr id="3" name="図 2" descr="グラフィカル ユーザー インターフェイス&#10;&#10;AI 生成コンテンツは誤りを含む可能性があります。">
            <a:extLst>
              <a:ext uri="{FF2B5EF4-FFF2-40B4-BE49-F238E27FC236}">
                <a16:creationId xmlns:a16="http://schemas.microsoft.com/office/drawing/2014/main" id="{0E361446-FF2A-FC9F-66D0-94B9C6C182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6056" y="1106067"/>
            <a:ext cx="5410202" cy="4643757"/>
          </a:xfrm>
          <a:prstGeom prst="rect">
            <a:avLst/>
          </a:prstGeom>
        </p:spPr>
      </p:pic>
    </p:spTree>
    <p:extLst>
      <p:ext uri="{BB962C8B-B14F-4D97-AF65-F5344CB8AC3E}">
        <p14:creationId xmlns:p14="http://schemas.microsoft.com/office/powerpoint/2010/main" val="621460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ECB25-6780-8094-6B81-65F6A594DFF4}"/>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105EEBA-FF23-4CB2-BE3A-B8E654B12B97}"/>
              </a:ext>
            </a:extLst>
          </p:cNvPr>
          <p:cNvSpPr>
            <a:spLocks noGrp="1"/>
          </p:cNvSpPr>
          <p:nvPr>
            <p:ph type="sldNum" sz="quarter" idx="10"/>
          </p:nvPr>
        </p:nvSpPr>
        <p:spPr/>
        <p:txBody>
          <a:bodyPr/>
          <a:lstStyle/>
          <a:p>
            <a:fld id="{B75FDD43-FCEC-4ECC-8189-A5C6D2E08DC6}" type="slidenum">
              <a:rPr lang="ja-JP" altLang="en-US" smtClean="0"/>
              <a:pPr/>
              <a:t>15</a:t>
            </a:fld>
            <a:endParaRPr lang="ja-JP" altLang="en-US"/>
          </a:p>
        </p:txBody>
      </p:sp>
      <p:pic>
        <p:nvPicPr>
          <p:cNvPr id="3" name="図 2" descr="グラフィカル ユーザー インターフェイス&#10;&#10;AI 生成コンテンツは誤りを含む可能性があります。">
            <a:extLst>
              <a:ext uri="{FF2B5EF4-FFF2-40B4-BE49-F238E27FC236}">
                <a16:creationId xmlns:a16="http://schemas.microsoft.com/office/drawing/2014/main" id="{F9B49237-1AF0-DA5A-9315-D4FFE8ECB2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526" y="969943"/>
            <a:ext cx="5230565" cy="5443663"/>
          </a:xfrm>
          <a:prstGeom prst="rect">
            <a:avLst/>
          </a:prstGeom>
        </p:spPr>
      </p:pic>
      <p:sp>
        <p:nvSpPr>
          <p:cNvPr id="5" name="タイトル 2">
            <a:extLst>
              <a:ext uri="{FF2B5EF4-FFF2-40B4-BE49-F238E27FC236}">
                <a16:creationId xmlns:a16="http://schemas.microsoft.com/office/drawing/2014/main" id="{343DF50D-487C-E0B5-E295-1BC9EC1D0CE3}"/>
              </a:ext>
            </a:extLst>
          </p:cNvPr>
          <p:cNvSpPr txBox="1">
            <a:spLocks/>
          </p:cNvSpPr>
          <p:nvPr/>
        </p:nvSpPr>
        <p:spPr>
          <a:xfrm>
            <a:off x="653801" y="92360"/>
            <a:ext cx="9015461" cy="467359"/>
          </a:xfrm>
          <a:prstGeom prst="rect">
            <a:avLst/>
          </a:prstGeom>
        </p:spPr>
        <p:txBody>
          <a:bodyPr/>
          <a:lstStyle>
            <a:lvl1pPr algn="l" defTabSz="914400" rtl="0" eaLnBrk="1" latinLnBrk="0" hangingPunct="1">
              <a:lnSpc>
                <a:spcPct val="90000"/>
              </a:lnSpc>
              <a:spcBef>
                <a:spcPct val="0"/>
              </a:spcBef>
              <a:buNone/>
              <a:defRPr kumimoji="1" sz="2800" b="1" kern="1200">
                <a:solidFill>
                  <a:schemeClr val="tx1"/>
                </a:solidFill>
                <a:latin typeface="+mj-lt"/>
                <a:ea typeface="Noto Sans JP" panose="020B0200000000000000" pitchFamily="50" charset="-128"/>
                <a:cs typeface="+mj-cs"/>
              </a:defRPr>
            </a:lvl1pPr>
          </a:lstStyle>
          <a:p>
            <a:r>
              <a:rPr lang="ja-JP" altLang="en-US" dirty="0"/>
              <a:t>ゲーム受託開発・</a:t>
            </a:r>
            <a:r>
              <a:rPr lang="en-US" altLang="ja-JP" dirty="0"/>
              <a:t>CG</a:t>
            </a:r>
            <a:r>
              <a:rPr lang="ja-JP" altLang="en-US" dirty="0"/>
              <a:t>アセット制作</a:t>
            </a:r>
            <a:endParaRPr lang="ja-JP" altLang="en-US" dirty="0">
              <a:latin typeface="+mn-lt"/>
            </a:endParaRPr>
          </a:p>
        </p:txBody>
      </p:sp>
      <p:pic>
        <p:nvPicPr>
          <p:cNvPr id="6" name="図 5" descr="グラフィカル ユーザー インターフェイス, アプリケーション&#10;&#10;AI 生成コンテンツは誤りを含む可能性があります。">
            <a:extLst>
              <a:ext uri="{FF2B5EF4-FFF2-40B4-BE49-F238E27FC236}">
                <a16:creationId xmlns:a16="http://schemas.microsoft.com/office/drawing/2014/main" id="{863E7096-4C70-D9F6-241E-5D8BB5C71C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909601"/>
            <a:ext cx="5631290" cy="5038798"/>
          </a:xfrm>
          <a:prstGeom prst="rect">
            <a:avLst/>
          </a:prstGeom>
        </p:spPr>
      </p:pic>
    </p:spTree>
    <p:extLst>
      <p:ext uri="{BB962C8B-B14F-4D97-AF65-F5344CB8AC3E}">
        <p14:creationId xmlns:p14="http://schemas.microsoft.com/office/powerpoint/2010/main" val="652504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80AC4-95AF-3E74-316F-5AE661A4F4B8}"/>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8E57B96A-3F0B-8964-9635-2BCE7D467696}"/>
              </a:ext>
            </a:extLst>
          </p:cNvPr>
          <p:cNvSpPr>
            <a:spLocks noGrp="1"/>
          </p:cNvSpPr>
          <p:nvPr>
            <p:ph type="title"/>
          </p:nvPr>
        </p:nvSpPr>
        <p:spPr/>
        <p:txBody>
          <a:bodyPr/>
          <a:lstStyle/>
          <a:p>
            <a:r>
              <a:rPr lang="ja-JP" altLang="en-US"/>
              <a:t>ゲーム受託開発</a:t>
            </a:r>
            <a:endParaRPr lang="ja-JP" altLang="en-US">
              <a:latin typeface="+mn-lt"/>
            </a:endParaRPr>
          </a:p>
        </p:txBody>
      </p:sp>
      <p:sp>
        <p:nvSpPr>
          <p:cNvPr id="2" name="スライド番号プレースホルダー 1">
            <a:extLst>
              <a:ext uri="{FF2B5EF4-FFF2-40B4-BE49-F238E27FC236}">
                <a16:creationId xmlns:a16="http://schemas.microsoft.com/office/drawing/2014/main" id="{CA80CED7-E2E2-9E4C-CF11-89CA0D3A987A}"/>
              </a:ext>
            </a:extLst>
          </p:cNvPr>
          <p:cNvSpPr>
            <a:spLocks noGrp="1"/>
          </p:cNvSpPr>
          <p:nvPr>
            <p:ph type="sldNum" sz="quarter" idx="11"/>
          </p:nvPr>
        </p:nvSpPr>
        <p:spPr/>
        <p:txBody>
          <a:bodyPr/>
          <a:lstStyle/>
          <a:p>
            <a:fld id="{B75FDD43-FCEC-4ECC-8189-A5C6D2E08DC6}" type="slidenum">
              <a:rPr lang="ja-JP" altLang="en-US" smtClean="0"/>
              <a:pPr/>
              <a:t>16</a:t>
            </a:fld>
            <a:endParaRPr lang="ja-JP" altLang="en-US"/>
          </a:p>
        </p:txBody>
      </p:sp>
      <p:sp>
        <p:nvSpPr>
          <p:cNvPr id="12" name="テキスト ボックス 11">
            <a:extLst>
              <a:ext uri="{FF2B5EF4-FFF2-40B4-BE49-F238E27FC236}">
                <a16:creationId xmlns:a16="http://schemas.microsoft.com/office/drawing/2014/main" id="{250E73E8-3445-BFFE-51B8-2D0487567431}"/>
              </a:ext>
            </a:extLst>
          </p:cNvPr>
          <p:cNvSpPr txBox="1"/>
          <p:nvPr/>
        </p:nvSpPr>
        <p:spPr>
          <a:xfrm>
            <a:off x="4218356" y="6331236"/>
            <a:ext cx="7007937" cy="369332"/>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引用：</a:t>
            </a:r>
            <a:r>
              <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C&amp;R</a:t>
            </a: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クリエイティブスタジオ　ゲーム･デジタルエンタテインメント関連紹介サイトより抜粋</a:t>
            </a:r>
            <a:endPar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r" defTabSz="914400" rtl="0" eaLnBrk="0" fontAlgn="base" latinLnBrk="0" hangingPunct="0">
              <a:spcBef>
                <a:spcPct val="0"/>
              </a:spcBef>
              <a:spcAft>
                <a:spcPct val="0"/>
              </a:spcAft>
              <a:buClrTx/>
              <a:buSzTx/>
              <a:buFontTx/>
              <a:buNone/>
              <a:tabLst/>
              <a:defRPr/>
            </a:pPr>
            <a:r>
              <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hlinkClick r:id="rId3">
                  <a:extLst>
                    <a:ext uri="{A12FA001-AC4F-418D-AE19-62706E023703}">
                      <ahyp:hlinkClr xmlns:ahyp="http://schemas.microsoft.com/office/drawing/2018/hyperlinkcolor" val="tx"/>
                    </a:ext>
                  </a:extLst>
                </a:hlinkClick>
              </a:rPr>
              <a:t>https://crdg.jp/achievements/</a:t>
            </a:r>
            <a:endPar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endParaRPr>
          </a:p>
        </p:txBody>
      </p:sp>
      <p:pic>
        <p:nvPicPr>
          <p:cNvPr id="8" name="図 7" descr="グラフィカル ユーザー インターフェイス, Web サイト&#10;&#10;AI によって生成されたコンテンツは間違っている可能性があります。">
            <a:extLst>
              <a:ext uri="{FF2B5EF4-FFF2-40B4-BE49-F238E27FC236}">
                <a16:creationId xmlns:a16="http://schemas.microsoft.com/office/drawing/2014/main" id="{C13B0B2F-3091-E17D-011C-A0078ED47F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758" y="977246"/>
            <a:ext cx="5438482" cy="4539634"/>
          </a:xfrm>
          <a:prstGeom prst="rect">
            <a:avLst/>
          </a:prstGeom>
        </p:spPr>
      </p:pic>
      <p:pic>
        <p:nvPicPr>
          <p:cNvPr id="10" name="図 9" descr="グラフィカル ユーザー インターフェイス, Web サイト&#10;&#10;AI によって生成されたコンテンツは間違っている可能性があります。">
            <a:extLst>
              <a:ext uri="{FF2B5EF4-FFF2-40B4-BE49-F238E27FC236}">
                <a16:creationId xmlns:a16="http://schemas.microsoft.com/office/drawing/2014/main" id="{2D19FB32-8D33-EA77-EE99-E7E1381CAD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69240" y="977246"/>
            <a:ext cx="5515960" cy="4539723"/>
          </a:xfrm>
          <a:prstGeom prst="rect">
            <a:avLst/>
          </a:prstGeom>
        </p:spPr>
      </p:pic>
    </p:spTree>
    <p:extLst>
      <p:ext uri="{BB962C8B-B14F-4D97-AF65-F5344CB8AC3E}">
        <p14:creationId xmlns:p14="http://schemas.microsoft.com/office/powerpoint/2010/main" val="2401612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475F5-F5AC-A5D0-3802-32F5DAA93E12}"/>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BF2B6CDF-9652-950A-C00D-2E6C895B989A}"/>
              </a:ext>
            </a:extLst>
          </p:cNvPr>
          <p:cNvSpPr>
            <a:spLocks noGrp="1"/>
          </p:cNvSpPr>
          <p:nvPr>
            <p:ph type="title"/>
          </p:nvPr>
        </p:nvSpPr>
        <p:spPr/>
        <p:txBody>
          <a:bodyPr>
            <a:normAutofit/>
          </a:bodyPr>
          <a:lstStyle/>
          <a:p>
            <a:r>
              <a:rPr lang="ja-JP" altLang="en-US"/>
              <a:t>パブリッシング支援</a:t>
            </a:r>
            <a:endParaRPr lang="ja-JP" altLang="en-US">
              <a:latin typeface="+mn-lt"/>
            </a:endParaRPr>
          </a:p>
        </p:txBody>
      </p:sp>
      <p:sp>
        <p:nvSpPr>
          <p:cNvPr id="2" name="スライド番号プレースホルダー 1">
            <a:extLst>
              <a:ext uri="{FF2B5EF4-FFF2-40B4-BE49-F238E27FC236}">
                <a16:creationId xmlns:a16="http://schemas.microsoft.com/office/drawing/2014/main" id="{91DC7ED2-CD5D-69F3-48E7-F83D829DF598}"/>
              </a:ext>
            </a:extLst>
          </p:cNvPr>
          <p:cNvSpPr>
            <a:spLocks noGrp="1"/>
          </p:cNvSpPr>
          <p:nvPr>
            <p:ph type="sldNum" sz="quarter" idx="11"/>
          </p:nvPr>
        </p:nvSpPr>
        <p:spPr/>
        <p:txBody>
          <a:bodyPr/>
          <a:lstStyle/>
          <a:p>
            <a:fld id="{B75FDD43-FCEC-4ECC-8189-A5C6D2E08DC6}" type="slidenum">
              <a:rPr lang="ja-JP" altLang="en-US" smtClean="0"/>
              <a:pPr/>
              <a:t>17</a:t>
            </a:fld>
            <a:endParaRPr lang="ja-JP" altLang="en-US"/>
          </a:p>
        </p:txBody>
      </p:sp>
      <p:sp>
        <p:nvSpPr>
          <p:cNvPr id="12" name="テキスト ボックス 11">
            <a:extLst>
              <a:ext uri="{FF2B5EF4-FFF2-40B4-BE49-F238E27FC236}">
                <a16:creationId xmlns:a16="http://schemas.microsoft.com/office/drawing/2014/main" id="{A42CB81E-E9C5-C49E-FBCA-6B14F010E526}"/>
              </a:ext>
            </a:extLst>
          </p:cNvPr>
          <p:cNvSpPr txBox="1"/>
          <p:nvPr/>
        </p:nvSpPr>
        <p:spPr>
          <a:xfrm>
            <a:off x="4218356" y="6331236"/>
            <a:ext cx="7007937" cy="369332"/>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引用：</a:t>
            </a:r>
            <a:r>
              <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C&amp;R</a:t>
            </a: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クリエイティブスタジオ　ゲーム･デジタルエンタテインメント関連紹介サイトより抜粋</a:t>
            </a:r>
            <a:endPar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r" defTabSz="914400" rtl="0" eaLnBrk="0" fontAlgn="base" latinLnBrk="0" hangingPunct="0">
              <a:spcBef>
                <a:spcPct val="0"/>
              </a:spcBef>
              <a:spcAft>
                <a:spcPct val="0"/>
              </a:spcAft>
              <a:buClrTx/>
              <a:buSzTx/>
              <a:buFontTx/>
              <a:buNone/>
              <a:tabLst/>
              <a:defRPr/>
            </a:pPr>
            <a:r>
              <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hlinkClick r:id="rId3">
                  <a:extLst>
                    <a:ext uri="{A12FA001-AC4F-418D-AE19-62706E023703}">
                      <ahyp:hlinkClr xmlns:ahyp="http://schemas.microsoft.com/office/drawing/2018/hyperlinkcolor" val="tx"/>
                    </a:ext>
                  </a:extLst>
                </a:hlinkClick>
              </a:rPr>
              <a:t>https://crdg.jp/achievements/</a:t>
            </a:r>
            <a:endPar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endParaRPr>
          </a:p>
        </p:txBody>
      </p:sp>
      <p:pic>
        <p:nvPicPr>
          <p:cNvPr id="7" name="図 6" descr="テキスト&#10;&#10;AI によって生成されたコンテンツは間違っている可能性があります。">
            <a:extLst>
              <a:ext uri="{FF2B5EF4-FFF2-40B4-BE49-F238E27FC236}">
                <a16:creationId xmlns:a16="http://schemas.microsoft.com/office/drawing/2014/main" id="{41E838E9-8E40-6D76-2DD9-DE426DE942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917" y="844515"/>
            <a:ext cx="5534083" cy="3471135"/>
          </a:xfrm>
          <a:prstGeom prst="rect">
            <a:avLst/>
          </a:prstGeom>
        </p:spPr>
      </p:pic>
      <p:pic>
        <p:nvPicPr>
          <p:cNvPr id="10" name="図 9" descr="グラフィカル ユーザー インターフェイス, アプリケーション, Teams&#10;&#10;AI によって生成されたコンテンツは間違っている可能性があります。">
            <a:extLst>
              <a:ext uri="{FF2B5EF4-FFF2-40B4-BE49-F238E27FC236}">
                <a16:creationId xmlns:a16="http://schemas.microsoft.com/office/drawing/2014/main" id="{0D8F5CAA-5CB8-9FCA-5BF6-987D1FCF0D8C}"/>
              </a:ext>
            </a:extLst>
          </p:cNvPr>
          <p:cNvPicPr>
            <a:picLocks noChangeAspect="1"/>
          </p:cNvPicPr>
          <p:nvPr/>
        </p:nvPicPr>
        <p:blipFill>
          <a:blip r:embed="rId5">
            <a:extLst>
              <a:ext uri="{28A0092B-C50C-407E-A947-70E740481C1C}">
                <a14:useLocalDpi xmlns:a14="http://schemas.microsoft.com/office/drawing/2010/main" val="0"/>
              </a:ext>
            </a:extLst>
          </a:blip>
          <a:srcRect l="1" r="12587"/>
          <a:stretch/>
        </p:blipFill>
        <p:spPr>
          <a:xfrm>
            <a:off x="815147" y="4315650"/>
            <a:ext cx="5637273" cy="1383882"/>
          </a:xfrm>
          <a:prstGeom prst="rect">
            <a:avLst/>
          </a:prstGeom>
        </p:spPr>
      </p:pic>
      <p:sp>
        <p:nvSpPr>
          <p:cNvPr id="4" name="テキスト ボックス 3">
            <a:extLst>
              <a:ext uri="{FF2B5EF4-FFF2-40B4-BE49-F238E27FC236}">
                <a16:creationId xmlns:a16="http://schemas.microsoft.com/office/drawing/2014/main" id="{C3B5F754-BAE0-8E5C-FE55-5E95D2560D22}"/>
              </a:ext>
            </a:extLst>
          </p:cNvPr>
          <p:cNvSpPr txBox="1"/>
          <p:nvPr/>
        </p:nvSpPr>
        <p:spPr>
          <a:xfrm>
            <a:off x="6856234" y="1029840"/>
            <a:ext cx="2436532" cy="161583"/>
          </a:xfrm>
          <a:prstGeom prst="rect">
            <a:avLst/>
          </a:prstGeom>
          <a:noFill/>
        </p:spPr>
        <p:txBody>
          <a:bodyPr wrap="square" lIns="0" tIns="0" rIns="0" bIns="0" rtlCol="0">
            <a:spAutoFit/>
          </a:bodyPr>
          <a:lstStyle/>
          <a:p>
            <a:pPr marL="0" marR="0" lvl="0" indent="0" defTabSz="914400" rtl="0" eaLnBrk="0" fontAlgn="base" latinLnBrk="0" hangingPunct="0">
              <a:spcBef>
                <a:spcPct val="0"/>
              </a:spcBef>
              <a:spcAft>
                <a:spcPct val="0"/>
              </a:spcAft>
              <a:buClrTx/>
              <a:buSzTx/>
              <a:buFontTx/>
              <a:buNone/>
              <a:tabLst/>
              <a:defRPr/>
            </a:pPr>
            <a:r>
              <a:rPr kumimoji="1" lang="en-US" altLang="ja-JP" sz="1050" b="1" i="0" u="none" strike="noStrike" kern="1200" cap="none" spc="0" normalizeH="0" baseline="0" noProof="0">
                <a:ln>
                  <a:noFill/>
                </a:ln>
                <a:effectLst/>
                <a:uLnTx/>
                <a:uFillTx/>
                <a:cs typeface="+mn-cs"/>
              </a:rPr>
              <a:t>CRUELTY</a:t>
            </a:r>
          </a:p>
        </p:txBody>
      </p:sp>
      <p:pic>
        <p:nvPicPr>
          <p:cNvPr id="8" name="図 7">
            <a:extLst>
              <a:ext uri="{FF2B5EF4-FFF2-40B4-BE49-F238E27FC236}">
                <a16:creationId xmlns:a16="http://schemas.microsoft.com/office/drawing/2014/main" id="{3F2CC73B-D619-E2D5-E6B9-A059381C6AE9}"/>
              </a:ext>
            </a:extLst>
          </p:cNvPr>
          <p:cNvPicPr>
            <a:picLocks noChangeAspect="1"/>
          </p:cNvPicPr>
          <p:nvPr/>
        </p:nvPicPr>
        <p:blipFill>
          <a:blip r:embed="rId6">
            <a:extLst>
              <a:ext uri="{28A0092B-C50C-407E-A947-70E740481C1C}">
                <a14:useLocalDpi xmlns:a14="http://schemas.microsoft.com/office/drawing/2010/main" val="0"/>
              </a:ext>
            </a:extLst>
          </a:blip>
          <a:srcRect r="69624"/>
          <a:stretch/>
        </p:blipFill>
        <p:spPr>
          <a:xfrm>
            <a:off x="6886652" y="1191423"/>
            <a:ext cx="835672" cy="297206"/>
          </a:xfrm>
          <a:prstGeom prst="rect">
            <a:avLst/>
          </a:prstGeom>
        </p:spPr>
      </p:pic>
      <p:pic>
        <p:nvPicPr>
          <p:cNvPr id="9" name="図 8">
            <a:extLst>
              <a:ext uri="{FF2B5EF4-FFF2-40B4-BE49-F238E27FC236}">
                <a16:creationId xmlns:a16="http://schemas.microsoft.com/office/drawing/2014/main" id="{F330671D-0E75-F229-FFE0-F9209B805CEB}"/>
              </a:ext>
            </a:extLst>
          </p:cNvPr>
          <p:cNvPicPr>
            <a:picLocks noChangeAspect="1"/>
          </p:cNvPicPr>
          <p:nvPr/>
        </p:nvPicPr>
        <p:blipFill>
          <a:blip r:embed="rId6">
            <a:extLst>
              <a:ext uri="{28A0092B-C50C-407E-A947-70E740481C1C}">
                <a14:useLocalDpi xmlns:a14="http://schemas.microsoft.com/office/drawing/2010/main" val="0"/>
              </a:ext>
            </a:extLst>
          </a:blip>
          <a:srcRect l="48318" t="1" r="33937" b="15747"/>
          <a:stretch/>
        </p:blipFill>
        <p:spPr>
          <a:xfrm>
            <a:off x="7722324" y="1191423"/>
            <a:ext cx="488196" cy="250404"/>
          </a:xfrm>
          <a:prstGeom prst="rect">
            <a:avLst/>
          </a:prstGeom>
        </p:spPr>
      </p:pic>
      <p:pic>
        <p:nvPicPr>
          <p:cNvPr id="11" name="図 10">
            <a:extLst>
              <a:ext uri="{FF2B5EF4-FFF2-40B4-BE49-F238E27FC236}">
                <a16:creationId xmlns:a16="http://schemas.microsoft.com/office/drawing/2014/main" id="{62F92147-BD6D-56AD-B328-38D8801078EC}"/>
              </a:ext>
            </a:extLst>
          </p:cNvPr>
          <p:cNvPicPr>
            <a:picLocks noChangeAspect="1"/>
          </p:cNvPicPr>
          <p:nvPr/>
        </p:nvPicPr>
        <p:blipFill>
          <a:blip r:embed="rId6">
            <a:extLst>
              <a:ext uri="{28A0092B-C50C-407E-A947-70E740481C1C}">
                <a14:useLocalDpi xmlns:a14="http://schemas.microsoft.com/office/drawing/2010/main" val="0"/>
              </a:ext>
            </a:extLst>
          </a:blip>
          <a:srcRect l="82516" r="-261" b="369"/>
          <a:stretch/>
        </p:blipFill>
        <p:spPr>
          <a:xfrm>
            <a:off x="8210520" y="1193007"/>
            <a:ext cx="488197" cy="296107"/>
          </a:xfrm>
          <a:prstGeom prst="rect">
            <a:avLst/>
          </a:prstGeom>
        </p:spPr>
      </p:pic>
      <p:pic>
        <p:nvPicPr>
          <p:cNvPr id="14" name="図 13" descr="落書きされた壁&#10;&#10;AI によって生成されたコンテンツは間違っている可能性があります。">
            <a:extLst>
              <a:ext uri="{FF2B5EF4-FFF2-40B4-BE49-F238E27FC236}">
                <a16:creationId xmlns:a16="http://schemas.microsoft.com/office/drawing/2014/main" id="{898D1B3B-801D-6362-F158-B1B726D5790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12717" y="1603410"/>
            <a:ext cx="4644366" cy="2612456"/>
          </a:xfrm>
          <a:prstGeom prst="rect">
            <a:avLst/>
          </a:prstGeom>
        </p:spPr>
      </p:pic>
      <p:sp>
        <p:nvSpPr>
          <p:cNvPr id="15" name="テキスト ボックス 14">
            <a:extLst>
              <a:ext uri="{FF2B5EF4-FFF2-40B4-BE49-F238E27FC236}">
                <a16:creationId xmlns:a16="http://schemas.microsoft.com/office/drawing/2014/main" id="{81EB829A-DD33-AAAB-07CE-9C9213DCE291}"/>
              </a:ext>
            </a:extLst>
          </p:cNvPr>
          <p:cNvSpPr txBox="1"/>
          <p:nvPr/>
        </p:nvSpPr>
        <p:spPr>
          <a:xfrm>
            <a:off x="9945648" y="4363754"/>
            <a:ext cx="1511435" cy="138499"/>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en-US" altLang="ja-JP" sz="900" b="0" i="0" u="none" strike="noStrike" kern="1200" cap="none" spc="0" normalizeH="0" baseline="0" noProof="0">
                <a:ln>
                  <a:noFill/>
                </a:ln>
                <a:effectLst/>
                <a:uLnTx/>
                <a:uFillTx/>
                <a:cs typeface="+mn-cs"/>
              </a:rPr>
              <a:t>2025</a:t>
            </a:r>
            <a:r>
              <a:rPr kumimoji="1" lang="ja-JP" altLang="en-US" sz="900" b="0" i="0" u="none" strike="noStrike" kern="1200" cap="none" spc="0" normalizeH="0" baseline="0" noProof="0">
                <a:ln>
                  <a:noFill/>
                </a:ln>
                <a:effectLst/>
                <a:uLnTx/>
                <a:uFillTx/>
                <a:cs typeface="+mn-cs"/>
              </a:rPr>
              <a:t>年発売予定</a:t>
            </a:r>
            <a:endParaRPr kumimoji="1" lang="en-US" altLang="ja-JP" sz="900" b="0" i="0" u="none" strike="noStrike" kern="1200" cap="none" spc="0" normalizeH="0" baseline="0" noProof="0">
              <a:ln>
                <a:noFill/>
              </a:ln>
              <a:solidFill>
                <a:schemeClr val="accent4">
                  <a:lumMod val="75000"/>
                </a:schemeClr>
              </a:solidFill>
              <a:effectLst/>
              <a:uLnTx/>
              <a:uFillTx/>
              <a:cs typeface="+mn-cs"/>
            </a:endParaRPr>
          </a:p>
        </p:txBody>
      </p:sp>
    </p:spTree>
    <p:extLst>
      <p:ext uri="{BB962C8B-B14F-4D97-AF65-F5344CB8AC3E}">
        <p14:creationId xmlns:p14="http://schemas.microsoft.com/office/powerpoint/2010/main" val="1232518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20C0B-B7BF-0D84-6E44-A3FE567C7BC0}"/>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0CFED04-5133-3474-7F70-EC3F56EA54EF}"/>
              </a:ext>
            </a:extLst>
          </p:cNvPr>
          <p:cNvSpPr>
            <a:spLocks noGrp="1"/>
          </p:cNvSpPr>
          <p:nvPr>
            <p:ph type="sldNum" sz="quarter" idx="10"/>
          </p:nvPr>
        </p:nvSpPr>
        <p:spPr/>
        <p:txBody>
          <a:bodyPr/>
          <a:lstStyle/>
          <a:p>
            <a:fld id="{B75FDD43-FCEC-4ECC-8189-A5C6D2E08DC6}" type="slidenum">
              <a:rPr lang="ja-JP" altLang="en-US" smtClean="0"/>
              <a:pPr/>
              <a:t>18</a:t>
            </a:fld>
            <a:endParaRPr lang="ja-JP" altLang="en-US"/>
          </a:p>
        </p:txBody>
      </p:sp>
      <p:pic>
        <p:nvPicPr>
          <p:cNvPr id="7" name="図 6" descr="グラフィカル ユーザー インターフェイス, Web サイト&#10;&#10;AI 生成コンテンツは誤りを含む可能性があります。">
            <a:extLst>
              <a:ext uri="{FF2B5EF4-FFF2-40B4-BE49-F238E27FC236}">
                <a16:creationId xmlns:a16="http://schemas.microsoft.com/office/drawing/2014/main" id="{B0DBC31A-EF63-C35D-0124-05E541F88A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9249" y="1251866"/>
            <a:ext cx="5312985" cy="4747250"/>
          </a:xfrm>
          <a:prstGeom prst="rect">
            <a:avLst/>
          </a:prstGeom>
        </p:spPr>
      </p:pic>
      <p:sp>
        <p:nvSpPr>
          <p:cNvPr id="3" name="タイトル 2">
            <a:extLst>
              <a:ext uri="{FF2B5EF4-FFF2-40B4-BE49-F238E27FC236}">
                <a16:creationId xmlns:a16="http://schemas.microsoft.com/office/drawing/2014/main" id="{7F580FE1-35AD-9C19-27B3-AA37AA12EE6C}"/>
              </a:ext>
            </a:extLst>
          </p:cNvPr>
          <p:cNvSpPr txBox="1">
            <a:spLocks/>
          </p:cNvSpPr>
          <p:nvPr/>
        </p:nvSpPr>
        <p:spPr>
          <a:xfrm>
            <a:off x="653801" y="92360"/>
            <a:ext cx="9015461" cy="467359"/>
          </a:xfrm>
          <a:prstGeom prst="rect">
            <a:avLst/>
          </a:prstGeom>
        </p:spPr>
        <p:txBody>
          <a:bodyPr/>
          <a:lstStyle>
            <a:lvl1pPr algn="l" defTabSz="914400" rtl="0" eaLnBrk="1" latinLnBrk="0" hangingPunct="1">
              <a:lnSpc>
                <a:spcPct val="90000"/>
              </a:lnSpc>
              <a:spcBef>
                <a:spcPct val="0"/>
              </a:spcBef>
              <a:buNone/>
              <a:defRPr kumimoji="1" sz="2800" b="1" kern="1200">
                <a:solidFill>
                  <a:schemeClr val="tx1"/>
                </a:solidFill>
                <a:latin typeface="+mj-lt"/>
                <a:ea typeface="Noto Sans JP" panose="020B0200000000000000" pitchFamily="50" charset="-128"/>
                <a:cs typeface="+mj-cs"/>
              </a:defRPr>
            </a:lvl1pPr>
          </a:lstStyle>
          <a:p>
            <a:r>
              <a:rPr lang="en-US" altLang="ja-JP"/>
              <a:t>CG</a:t>
            </a:r>
            <a:r>
              <a:rPr lang="ja-JP" altLang="en-US"/>
              <a:t>アセット制作</a:t>
            </a:r>
            <a:endParaRPr lang="ja-JP" altLang="en-US" dirty="0">
              <a:latin typeface="+mn-lt"/>
            </a:endParaRPr>
          </a:p>
        </p:txBody>
      </p:sp>
      <p:pic>
        <p:nvPicPr>
          <p:cNvPr id="4" name="図 3" descr="テキスト, Web サイト&#10;&#10;AI 生成コンテンツは誤りを含む可能性があります。">
            <a:extLst>
              <a:ext uri="{FF2B5EF4-FFF2-40B4-BE49-F238E27FC236}">
                <a16:creationId xmlns:a16="http://schemas.microsoft.com/office/drawing/2014/main" id="{DB5FC65A-B380-D5BC-1AB9-0A2114DB87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801" y="1200529"/>
            <a:ext cx="5662612" cy="4849923"/>
          </a:xfrm>
          <a:prstGeom prst="rect">
            <a:avLst/>
          </a:prstGeom>
        </p:spPr>
      </p:pic>
    </p:spTree>
    <p:extLst>
      <p:ext uri="{BB962C8B-B14F-4D97-AF65-F5344CB8AC3E}">
        <p14:creationId xmlns:p14="http://schemas.microsoft.com/office/powerpoint/2010/main" val="1063937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F7EF5-C701-4119-83C9-95A3FD087EF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14950AF-6BA1-8357-B18A-3D483C947888}"/>
              </a:ext>
            </a:extLst>
          </p:cNvPr>
          <p:cNvSpPr>
            <a:spLocks noGrp="1"/>
          </p:cNvSpPr>
          <p:nvPr>
            <p:ph type="sldNum" sz="quarter" idx="10"/>
          </p:nvPr>
        </p:nvSpPr>
        <p:spPr/>
        <p:txBody>
          <a:bodyPr/>
          <a:lstStyle/>
          <a:p>
            <a:fld id="{B75FDD43-FCEC-4ECC-8189-A5C6D2E08DC6}" type="slidenum">
              <a:rPr lang="ja-JP" altLang="en-US" smtClean="0"/>
              <a:pPr/>
              <a:t>19</a:t>
            </a:fld>
            <a:endParaRPr lang="ja-JP" altLang="en-US"/>
          </a:p>
        </p:txBody>
      </p:sp>
      <p:sp>
        <p:nvSpPr>
          <p:cNvPr id="3" name="タイトル 2">
            <a:extLst>
              <a:ext uri="{FF2B5EF4-FFF2-40B4-BE49-F238E27FC236}">
                <a16:creationId xmlns:a16="http://schemas.microsoft.com/office/drawing/2014/main" id="{7F4F8A3B-2BB9-88FB-7623-5F382F00F172}"/>
              </a:ext>
            </a:extLst>
          </p:cNvPr>
          <p:cNvSpPr txBox="1">
            <a:spLocks/>
          </p:cNvSpPr>
          <p:nvPr/>
        </p:nvSpPr>
        <p:spPr>
          <a:xfrm>
            <a:off x="653801" y="92360"/>
            <a:ext cx="9015461" cy="467359"/>
          </a:xfrm>
          <a:prstGeom prst="rect">
            <a:avLst/>
          </a:prstGeom>
        </p:spPr>
        <p:txBody>
          <a:bodyPr/>
          <a:lstStyle>
            <a:lvl1pPr algn="l" defTabSz="914400" rtl="0" eaLnBrk="1" latinLnBrk="0" hangingPunct="1">
              <a:lnSpc>
                <a:spcPct val="90000"/>
              </a:lnSpc>
              <a:spcBef>
                <a:spcPct val="0"/>
              </a:spcBef>
              <a:buNone/>
              <a:defRPr kumimoji="1" sz="2800" b="1" kern="1200">
                <a:solidFill>
                  <a:schemeClr val="tx1"/>
                </a:solidFill>
                <a:latin typeface="+mj-lt"/>
                <a:ea typeface="Noto Sans JP" panose="020B0200000000000000" pitchFamily="50" charset="-128"/>
                <a:cs typeface="+mj-cs"/>
              </a:defRPr>
            </a:lvl1pPr>
          </a:lstStyle>
          <a:p>
            <a:r>
              <a:rPr lang="en-US" altLang="ja-JP" dirty="0"/>
              <a:t>CG</a:t>
            </a:r>
            <a:r>
              <a:rPr lang="ja-JP" altLang="en-US" dirty="0"/>
              <a:t>アセット制作</a:t>
            </a:r>
            <a:endParaRPr lang="ja-JP" altLang="en-US" dirty="0">
              <a:latin typeface="+mn-lt"/>
            </a:endParaRPr>
          </a:p>
        </p:txBody>
      </p:sp>
      <p:pic>
        <p:nvPicPr>
          <p:cNvPr id="5" name="図 4" descr="グラフィカル ユーザー インターフェイス, Web サイト&#10;&#10;AI 生成コンテンツは誤りを含む可能性があります。">
            <a:extLst>
              <a:ext uri="{FF2B5EF4-FFF2-40B4-BE49-F238E27FC236}">
                <a16:creationId xmlns:a16="http://schemas.microsoft.com/office/drawing/2014/main" id="{3B22C8B4-3BD1-AE2D-2B51-8C7134D00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389" y="775885"/>
            <a:ext cx="6070685" cy="5306229"/>
          </a:xfrm>
          <a:prstGeom prst="rect">
            <a:avLst/>
          </a:prstGeom>
        </p:spPr>
      </p:pic>
    </p:spTree>
    <p:extLst>
      <p:ext uri="{BB962C8B-B14F-4D97-AF65-F5344CB8AC3E}">
        <p14:creationId xmlns:p14="http://schemas.microsoft.com/office/powerpoint/2010/main" val="2825081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208E7-38A7-E630-788D-EFA05CE173E3}"/>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BBF1432-475A-9B86-7E5A-1D9FF346EF1D}"/>
              </a:ext>
            </a:extLst>
          </p:cNvPr>
          <p:cNvSpPr>
            <a:spLocks noGrp="1"/>
          </p:cNvSpPr>
          <p:nvPr>
            <p:ph type="title"/>
          </p:nvPr>
        </p:nvSpPr>
        <p:spPr/>
        <p:txBody>
          <a:bodyPr/>
          <a:lstStyle/>
          <a:p>
            <a:r>
              <a:rPr lang="en-US" altLang="ja-JP"/>
              <a:t>CG</a:t>
            </a:r>
            <a:r>
              <a:rPr lang="ja-JP" altLang="en-US"/>
              <a:t>アセット制作および</a:t>
            </a:r>
            <a:r>
              <a:rPr lang="en-US" altLang="ja-JP"/>
              <a:t>CG</a:t>
            </a:r>
            <a:r>
              <a:rPr lang="ja-JP" altLang="en-US"/>
              <a:t>テクニカルサポート</a:t>
            </a:r>
            <a:endParaRPr lang="ja-JP" altLang="en-US">
              <a:latin typeface="+mn-lt"/>
            </a:endParaRPr>
          </a:p>
        </p:txBody>
      </p:sp>
      <p:sp>
        <p:nvSpPr>
          <p:cNvPr id="2" name="スライド番号プレースホルダー 1">
            <a:extLst>
              <a:ext uri="{FF2B5EF4-FFF2-40B4-BE49-F238E27FC236}">
                <a16:creationId xmlns:a16="http://schemas.microsoft.com/office/drawing/2014/main" id="{A9C4E91D-433C-347C-6497-E2CDD0D95987}"/>
              </a:ext>
            </a:extLst>
          </p:cNvPr>
          <p:cNvSpPr>
            <a:spLocks noGrp="1"/>
          </p:cNvSpPr>
          <p:nvPr>
            <p:ph type="sldNum" sz="quarter" idx="11"/>
          </p:nvPr>
        </p:nvSpPr>
        <p:spPr/>
        <p:txBody>
          <a:bodyPr/>
          <a:lstStyle/>
          <a:p>
            <a:fld id="{B75FDD43-FCEC-4ECC-8189-A5C6D2E08DC6}" type="slidenum">
              <a:rPr lang="ja-JP" altLang="en-US" smtClean="0"/>
              <a:pPr/>
              <a:t>20</a:t>
            </a:fld>
            <a:endParaRPr lang="ja-JP" altLang="en-US"/>
          </a:p>
        </p:txBody>
      </p:sp>
      <p:sp>
        <p:nvSpPr>
          <p:cNvPr id="10" name="テキスト ボックス 9">
            <a:extLst>
              <a:ext uri="{FF2B5EF4-FFF2-40B4-BE49-F238E27FC236}">
                <a16:creationId xmlns:a16="http://schemas.microsoft.com/office/drawing/2014/main" id="{D79F7001-48B4-F5F0-D391-A442C7E4CA9C}"/>
              </a:ext>
            </a:extLst>
          </p:cNvPr>
          <p:cNvSpPr txBox="1"/>
          <p:nvPr/>
        </p:nvSpPr>
        <p:spPr>
          <a:xfrm>
            <a:off x="4218356" y="6331236"/>
            <a:ext cx="7007937" cy="369332"/>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引用：</a:t>
            </a:r>
            <a:r>
              <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C&amp;R</a:t>
            </a: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クリエイティブスタジオ　ゲーム･デジタルエンタテインメント関連紹介サイトより抜粋</a:t>
            </a:r>
            <a:endPar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r" defTabSz="914400" rtl="0" eaLnBrk="0" fontAlgn="base" latinLnBrk="0" hangingPunct="0">
              <a:spcBef>
                <a:spcPct val="0"/>
              </a:spcBef>
              <a:spcAft>
                <a:spcPct val="0"/>
              </a:spcAft>
              <a:buClrTx/>
              <a:buSzTx/>
              <a:buFontTx/>
              <a:buNone/>
              <a:tabLst/>
              <a:defRPr/>
            </a:pPr>
            <a:r>
              <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hlinkClick r:id="rId3">
                  <a:extLst>
                    <a:ext uri="{A12FA001-AC4F-418D-AE19-62706E023703}">
                      <ahyp:hlinkClr xmlns:ahyp="http://schemas.microsoft.com/office/drawing/2018/hyperlinkcolor" val="tx"/>
                    </a:ext>
                  </a:extLst>
                </a:hlinkClick>
              </a:rPr>
              <a:t>https://crdg.jp/achievements/</a:t>
            </a:r>
            <a:endPar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endParaRPr>
          </a:p>
        </p:txBody>
      </p:sp>
      <p:pic>
        <p:nvPicPr>
          <p:cNvPr id="6" name="図 5" descr="グラフィカル ユーザー インターフェイス, Web サイト&#10;&#10;AI 生成コンテンツは誤りを含む可能性があります。">
            <a:extLst>
              <a:ext uri="{FF2B5EF4-FFF2-40B4-BE49-F238E27FC236}">
                <a16:creationId xmlns:a16="http://schemas.microsoft.com/office/drawing/2014/main" id="{6FD23304-25ED-1313-7FD3-39CBFFD566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354" y="1059564"/>
            <a:ext cx="5814540" cy="4771827"/>
          </a:xfrm>
          <a:prstGeom prst="rect">
            <a:avLst/>
          </a:prstGeom>
        </p:spPr>
      </p:pic>
      <p:pic>
        <p:nvPicPr>
          <p:cNvPr id="4" name="図 3">
            <a:extLst>
              <a:ext uri="{FF2B5EF4-FFF2-40B4-BE49-F238E27FC236}">
                <a16:creationId xmlns:a16="http://schemas.microsoft.com/office/drawing/2014/main" id="{F4CB7633-4F2F-7DDB-4899-0EC2EF0A3073}"/>
              </a:ext>
            </a:extLst>
          </p:cNvPr>
          <p:cNvPicPr>
            <a:picLocks noChangeAspect="1"/>
          </p:cNvPicPr>
          <p:nvPr/>
        </p:nvPicPr>
        <p:blipFill>
          <a:blip r:embed="rId5"/>
          <a:stretch>
            <a:fillRect/>
          </a:stretch>
        </p:blipFill>
        <p:spPr>
          <a:xfrm>
            <a:off x="6285239" y="1188200"/>
            <a:ext cx="5614646" cy="4886637"/>
          </a:xfrm>
          <a:prstGeom prst="rect">
            <a:avLst/>
          </a:prstGeom>
        </p:spPr>
      </p:pic>
    </p:spTree>
    <p:extLst>
      <p:ext uri="{BB962C8B-B14F-4D97-AF65-F5344CB8AC3E}">
        <p14:creationId xmlns:p14="http://schemas.microsoft.com/office/powerpoint/2010/main" val="3221001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311DA-F528-7F57-1144-0CF3C3E7C2E2}"/>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E87EE1AF-E902-B817-1E83-09E8E9C9ACA0}"/>
              </a:ext>
            </a:extLst>
          </p:cNvPr>
          <p:cNvSpPr>
            <a:spLocks noGrp="1"/>
          </p:cNvSpPr>
          <p:nvPr>
            <p:ph type="title"/>
          </p:nvPr>
        </p:nvSpPr>
        <p:spPr/>
        <p:txBody>
          <a:bodyPr/>
          <a:lstStyle/>
          <a:p>
            <a:r>
              <a:rPr lang="en-US" altLang="ja-JP"/>
              <a:t>CG</a:t>
            </a:r>
            <a:r>
              <a:rPr lang="ja-JP" altLang="en-US"/>
              <a:t>アセット制作</a:t>
            </a:r>
            <a:endParaRPr lang="ja-JP" altLang="en-US">
              <a:latin typeface="+mn-lt"/>
            </a:endParaRPr>
          </a:p>
        </p:txBody>
      </p:sp>
      <p:sp>
        <p:nvSpPr>
          <p:cNvPr id="2" name="スライド番号プレースホルダー 1">
            <a:extLst>
              <a:ext uri="{FF2B5EF4-FFF2-40B4-BE49-F238E27FC236}">
                <a16:creationId xmlns:a16="http://schemas.microsoft.com/office/drawing/2014/main" id="{2B9FE720-7F6E-BE34-69D1-36B2B69F48A8}"/>
              </a:ext>
            </a:extLst>
          </p:cNvPr>
          <p:cNvSpPr>
            <a:spLocks noGrp="1"/>
          </p:cNvSpPr>
          <p:nvPr>
            <p:ph type="sldNum" sz="quarter" idx="11"/>
          </p:nvPr>
        </p:nvSpPr>
        <p:spPr/>
        <p:txBody>
          <a:bodyPr/>
          <a:lstStyle/>
          <a:p>
            <a:fld id="{B75FDD43-FCEC-4ECC-8189-A5C6D2E08DC6}" type="slidenum">
              <a:rPr lang="ja-JP" altLang="en-US" smtClean="0"/>
              <a:pPr/>
              <a:t>21</a:t>
            </a:fld>
            <a:endParaRPr lang="ja-JP" altLang="en-US"/>
          </a:p>
        </p:txBody>
      </p:sp>
      <p:sp>
        <p:nvSpPr>
          <p:cNvPr id="10" name="テキスト ボックス 9">
            <a:extLst>
              <a:ext uri="{FF2B5EF4-FFF2-40B4-BE49-F238E27FC236}">
                <a16:creationId xmlns:a16="http://schemas.microsoft.com/office/drawing/2014/main" id="{94E154FC-FF8C-2C8F-90B7-D518DF8C7F6E}"/>
              </a:ext>
            </a:extLst>
          </p:cNvPr>
          <p:cNvSpPr txBox="1"/>
          <p:nvPr/>
        </p:nvSpPr>
        <p:spPr>
          <a:xfrm>
            <a:off x="4218356" y="6331236"/>
            <a:ext cx="7007937" cy="369332"/>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引用：</a:t>
            </a:r>
            <a:r>
              <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C&amp;R</a:t>
            </a: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クリエイティブスタジオ　ゲーム･デジタルエンタテインメント関連紹介サイトより抜粋</a:t>
            </a:r>
            <a:endPar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r" defTabSz="914400" rtl="0" eaLnBrk="0" fontAlgn="base" latinLnBrk="0" hangingPunct="0">
              <a:spcBef>
                <a:spcPct val="0"/>
              </a:spcBef>
              <a:spcAft>
                <a:spcPct val="0"/>
              </a:spcAft>
              <a:buClrTx/>
              <a:buSzTx/>
              <a:buFontTx/>
              <a:buNone/>
              <a:tabLst/>
              <a:defRPr/>
            </a:pPr>
            <a:r>
              <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hlinkClick r:id="rId3">
                  <a:extLst>
                    <a:ext uri="{A12FA001-AC4F-418D-AE19-62706E023703}">
                      <ahyp:hlinkClr xmlns:ahyp="http://schemas.microsoft.com/office/drawing/2018/hyperlinkcolor" val="tx"/>
                    </a:ext>
                  </a:extLst>
                </a:hlinkClick>
              </a:rPr>
              <a:t>https://crdg.jp/achievements/</a:t>
            </a:r>
            <a:endPar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endParaRPr>
          </a:p>
        </p:txBody>
      </p:sp>
      <p:pic>
        <p:nvPicPr>
          <p:cNvPr id="5" name="図 4" descr="ダイアグラム&#10;&#10;AI 生成コンテンツは誤りを含む可能性があります。">
            <a:extLst>
              <a:ext uri="{FF2B5EF4-FFF2-40B4-BE49-F238E27FC236}">
                <a16:creationId xmlns:a16="http://schemas.microsoft.com/office/drawing/2014/main" id="{B9F14025-0777-C611-FD78-EC50981A2D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801" y="787785"/>
            <a:ext cx="5575671" cy="5079615"/>
          </a:xfrm>
          <a:prstGeom prst="rect">
            <a:avLst/>
          </a:prstGeom>
        </p:spPr>
      </p:pic>
      <p:pic>
        <p:nvPicPr>
          <p:cNvPr id="6" name="図 5" descr="グラフィカル ユーザー インターフェイス&#10;&#10;AI 生成コンテンツは誤りを含む可能性があります。">
            <a:extLst>
              <a:ext uri="{FF2B5EF4-FFF2-40B4-BE49-F238E27FC236}">
                <a16:creationId xmlns:a16="http://schemas.microsoft.com/office/drawing/2014/main" id="{E28F0388-4E60-695E-B940-567DA4FDF88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05672" y="787785"/>
            <a:ext cx="5613889" cy="4695614"/>
          </a:xfrm>
          <a:prstGeom prst="rect">
            <a:avLst/>
          </a:prstGeom>
        </p:spPr>
      </p:pic>
    </p:spTree>
    <p:extLst>
      <p:ext uri="{BB962C8B-B14F-4D97-AF65-F5344CB8AC3E}">
        <p14:creationId xmlns:p14="http://schemas.microsoft.com/office/powerpoint/2010/main" val="3115743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EF5F9-D9A1-746E-4EA3-F789A7E15738}"/>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ADC3F9DD-E349-401F-670C-C4A310E914F1}"/>
              </a:ext>
            </a:extLst>
          </p:cNvPr>
          <p:cNvSpPr>
            <a:spLocks noGrp="1"/>
          </p:cNvSpPr>
          <p:nvPr>
            <p:ph type="title"/>
          </p:nvPr>
        </p:nvSpPr>
        <p:spPr/>
        <p:txBody>
          <a:bodyPr/>
          <a:lstStyle/>
          <a:p>
            <a:r>
              <a:rPr lang="en-US" altLang="ja-JP"/>
              <a:t>CG</a:t>
            </a:r>
            <a:r>
              <a:rPr lang="ja-JP" altLang="en-US"/>
              <a:t>アセット制作</a:t>
            </a:r>
            <a:r>
              <a:rPr lang="ja-JP" altLang="en-US">
                <a:latin typeface="+mn-lt"/>
              </a:rPr>
              <a:t>および映像制作</a:t>
            </a:r>
          </a:p>
        </p:txBody>
      </p:sp>
      <p:sp>
        <p:nvSpPr>
          <p:cNvPr id="2" name="スライド番号プレースホルダー 1">
            <a:extLst>
              <a:ext uri="{FF2B5EF4-FFF2-40B4-BE49-F238E27FC236}">
                <a16:creationId xmlns:a16="http://schemas.microsoft.com/office/drawing/2014/main" id="{9C612CD8-A9FD-E6E3-12C3-5ED8029C7D34}"/>
              </a:ext>
            </a:extLst>
          </p:cNvPr>
          <p:cNvSpPr>
            <a:spLocks noGrp="1"/>
          </p:cNvSpPr>
          <p:nvPr>
            <p:ph type="sldNum" sz="quarter" idx="11"/>
          </p:nvPr>
        </p:nvSpPr>
        <p:spPr/>
        <p:txBody>
          <a:bodyPr/>
          <a:lstStyle/>
          <a:p>
            <a:fld id="{B75FDD43-FCEC-4ECC-8189-A5C6D2E08DC6}" type="slidenum">
              <a:rPr lang="ja-JP" altLang="en-US" smtClean="0"/>
              <a:pPr/>
              <a:t>22</a:t>
            </a:fld>
            <a:endParaRPr lang="ja-JP" altLang="en-US"/>
          </a:p>
        </p:txBody>
      </p:sp>
      <p:sp>
        <p:nvSpPr>
          <p:cNvPr id="10" name="テキスト ボックス 9">
            <a:extLst>
              <a:ext uri="{FF2B5EF4-FFF2-40B4-BE49-F238E27FC236}">
                <a16:creationId xmlns:a16="http://schemas.microsoft.com/office/drawing/2014/main" id="{32C22EF5-CB30-7766-91F1-9EB876451BE4}"/>
              </a:ext>
            </a:extLst>
          </p:cNvPr>
          <p:cNvSpPr txBox="1"/>
          <p:nvPr/>
        </p:nvSpPr>
        <p:spPr>
          <a:xfrm>
            <a:off x="4218356" y="6331236"/>
            <a:ext cx="7007937" cy="369332"/>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引用：</a:t>
            </a:r>
            <a:r>
              <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C&amp;R</a:t>
            </a: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クリエイティブスタジオ　ゲーム･デジタルエンタテインメント関連紹介サイトより抜粋</a:t>
            </a:r>
            <a:endPar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r" defTabSz="914400" rtl="0" eaLnBrk="0" fontAlgn="base" latinLnBrk="0" hangingPunct="0">
              <a:spcBef>
                <a:spcPct val="0"/>
              </a:spcBef>
              <a:spcAft>
                <a:spcPct val="0"/>
              </a:spcAft>
              <a:buClrTx/>
              <a:buSzTx/>
              <a:buFontTx/>
              <a:buNone/>
              <a:tabLst/>
              <a:defRPr/>
            </a:pPr>
            <a:r>
              <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hlinkClick r:id="rId3">
                  <a:extLst>
                    <a:ext uri="{A12FA001-AC4F-418D-AE19-62706E023703}">
                      <ahyp:hlinkClr xmlns:ahyp="http://schemas.microsoft.com/office/drawing/2018/hyperlinkcolor" val="tx"/>
                    </a:ext>
                  </a:extLst>
                </a:hlinkClick>
              </a:rPr>
              <a:t>https://crdg.jp/achievements/</a:t>
            </a:r>
            <a:endPar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F9A09951-5135-F754-AFE9-531E0D029307}"/>
              </a:ext>
            </a:extLst>
          </p:cNvPr>
          <p:cNvPicPr>
            <a:picLocks noChangeAspect="1"/>
          </p:cNvPicPr>
          <p:nvPr/>
        </p:nvPicPr>
        <p:blipFill>
          <a:blip r:embed="rId4"/>
          <a:stretch>
            <a:fillRect/>
          </a:stretch>
        </p:blipFill>
        <p:spPr>
          <a:xfrm>
            <a:off x="492782" y="925186"/>
            <a:ext cx="5520160" cy="3577064"/>
          </a:xfrm>
          <a:prstGeom prst="rect">
            <a:avLst/>
          </a:prstGeom>
        </p:spPr>
      </p:pic>
      <p:pic>
        <p:nvPicPr>
          <p:cNvPr id="4" name="図 3">
            <a:extLst>
              <a:ext uri="{FF2B5EF4-FFF2-40B4-BE49-F238E27FC236}">
                <a16:creationId xmlns:a16="http://schemas.microsoft.com/office/drawing/2014/main" id="{8F6D2077-3036-54BA-150C-89CD5760485D}"/>
              </a:ext>
            </a:extLst>
          </p:cNvPr>
          <p:cNvPicPr>
            <a:picLocks noChangeAspect="1"/>
          </p:cNvPicPr>
          <p:nvPr/>
        </p:nvPicPr>
        <p:blipFill>
          <a:blip r:embed="rId5"/>
          <a:stretch>
            <a:fillRect/>
          </a:stretch>
        </p:blipFill>
        <p:spPr>
          <a:xfrm>
            <a:off x="6331737" y="995318"/>
            <a:ext cx="5285236" cy="4295138"/>
          </a:xfrm>
          <a:prstGeom prst="rect">
            <a:avLst/>
          </a:prstGeom>
        </p:spPr>
      </p:pic>
      <p:pic>
        <p:nvPicPr>
          <p:cNvPr id="8" name="図 7" descr="グラフィカル ユーザー インターフェイス&#10;&#10;AI 生成コンテンツは誤りを含む可能性があります。">
            <a:extLst>
              <a:ext uri="{FF2B5EF4-FFF2-40B4-BE49-F238E27FC236}">
                <a16:creationId xmlns:a16="http://schemas.microsoft.com/office/drawing/2014/main" id="{1EAA5648-C42B-B39F-39E4-922F399452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3801" y="4627814"/>
            <a:ext cx="5359141" cy="729599"/>
          </a:xfrm>
          <a:prstGeom prst="rect">
            <a:avLst/>
          </a:prstGeom>
        </p:spPr>
      </p:pic>
    </p:spTree>
    <p:extLst>
      <p:ext uri="{BB962C8B-B14F-4D97-AF65-F5344CB8AC3E}">
        <p14:creationId xmlns:p14="http://schemas.microsoft.com/office/powerpoint/2010/main" val="2608125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68DAB-D595-6658-D6AE-AB46EDEFC18A}"/>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5F4FAB0C-D490-091C-5B06-63C7534C7DFC}"/>
              </a:ext>
            </a:extLst>
          </p:cNvPr>
          <p:cNvSpPr>
            <a:spLocks noGrp="1"/>
          </p:cNvSpPr>
          <p:nvPr>
            <p:ph type="title"/>
          </p:nvPr>
        </p:nvSpPr>
        <p:spPr/>
        <p:txBody>
          <a:bodyPr/>
          <a:lstStyle/>
          <a:p>
            <a:r>
              <a:rPr lang="ja-JP" altLang="en-US" dirty="0">
                <a:latin typeface="+mn-lt"/>
              </a:rPr>
              <a:t>映像制作</a:t>
            </a:r>
          </a:p>
        </p:txBody>
      </p:sp>
      <p:sp>
        <p:nvSpPr>
          <p:cNvPr id="2" name="スライド番号プレースホルダー 1">
            <a:extLst>
              <a:ext uri="{FF2B5EF4-FFF2-40B4-BE49-F238E27FC236}">
                <a16:creationId xmlns:a16="http://schemas.microsoft.com/office/drawing/2014/main" id="{FC167D40-A0E7-D2BE-6996-C0E626713B18}"/>
              </a:ext>
            </a:extLst>
          </p:cNvPr>
          <p:cNvSpPr>
            <a:spLocks noGrp="1"/>
          </p:cNvSpPr>
          <p:nvPr>
            <p:ph type="sldNum" sz="quarter" idx="11"/>
          </p:nvPr>
        </p:nvSpPr>
        <p:spPr/>
        <p:txBody>
          <a:bodyPr/>
          <a:lstStyle/>
          <a:p>
            <a:fld id="{B75FDD43-FCEC-4ECC-8189-A5C6D2E08DC6}" type="slidenum">
              <a:rPr lang="ja-JP" altLang="en-US" smtClean="0"/>
              <a:pPr/>
              <a:t>23</a:t>
            </a:fld>
            <a:endParaRPr lang="ja-JP" altLang="en-US"/>
          </a:p>
        </p:txBody>
      </p:sp>
      <p:sp>
        <p:nvSpPr>
          <p:cNvPr id="10" name="テキスト ボックス 9">
            <a:extLst>
              <a:ext uri="{FF2B5EF4-FFF2-40B4-BE49-F238E27FC236}">
                <a16:creationId xmlns:a16="http://schemas.microsoft.com/office/drawing/2014/main" id="{6770B571-6029-0F99-3F9B-735161B99207}"/>
              </a:ext>
            </a:extLst>
          </p:cNvPr>
          <p:cNvSpPr txBox="1"/>
          <p:nvPr/>
        </p:nvSpPr>
        <p:spPr>
          <a:xfrm>
            <a:off x="4218356" y="6331236"/>
            <a:ext cx="7007937" cy="369332"/>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引用：</a:t>
            </a:r>
            <a:r>
              <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C&amp;R</a:t>
            </a: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クリエイティブスタジオ　ゲーム･デジタルエンタテインメント関連紹介サイトより抜粋</a:t>
            </a:r>
            <a:endPar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r" defTabSz="914400" rtl="0" eaLnBrk="0" fontAlgn="base" latinLnBrk="0" hangingPunct="0">
              <a:spcBef>
                <a:spcPct val="0"/>
              </a:spcBef>
              <a:spcAft>
                <a:spcPct val="0"/>
              </a:spcAft>
              <a:buClrTx/>
              <a:buSzTx/>
              <a:buFontTx/>
              <a:buNone/>
              <a:tabLst/>
              <a:defRPr/>
            </a:pPr>
            <a:r>
              <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hlinkClick r:id="rId3">
                  <a:extLst>
                    <a:ext uri="{A12FA001-AC4F-418D-AE19-62706E023703}">
                      <ahyp:hlinkClr xmlns:ahyp="http://schemas.microsoft.com/office/drawing/2018/hyperlinkcolor" val="tx"/>
                    </a:ext>
                  </a:extLst>
                </a:hlinkClick>
              </a:rPr>
              <a:t>https://crdg.jp/achievements/</a:t>
            </a:r>
            <a:endPar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endParaRPr>
          </a:p>
        </p:txBody>
      </p:sp>
      <p:pic>
        <p:nvPicPr>
          <p:cNvPr id="5" name="図 4" descr="グラフィカル ユーザー インターフェイス, Web サイト&#10;&#10;AI 生成コンテンツは誤りを含む可能性があります。">
            <a:extLst>
              <a:ext uri="{FF2B5EF4-FFF2-40B4-BE49-F238E27FC236}">
                <a16:creationId xmlns:a16="http://schemas.microsoft.com/office/drawing/2014/main" id="{EF1C5562-2CF1-7351-9880-729CC40B0E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2213" y="862539"/>
            <a:ext cx="5539524" cy="4672691"/>
          </a:xfrm>
          <a:prstGeom prst="rect">
            <a:avLst/>
          </a:prstGeom>
        </p:spPr>
      </p:pic>
    </p:spTree>
    <p:extLst>
      <p:ext uri="{BB962C8B-B14F-4D97-AF65-F5344CB8AC3E}">
        <p14:creationId xmlns:p14="http://schemas.microsoft.com/office/powerpoint/2010/main" val="58943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66D2B-7FF0-4167-3F05-BD4CA0485DF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E35B480B-3A5D-06AB-7A05-FF33661EFED3}"/>
              </a:ext>
            </a:extLst>
          </p:cNvPr>
          <p:cNvSpPr>
            <a:spLocks noGrp="1"/>
          </p:cNvSpPr>
          <p:nvPr>
            <p:ph type="title"/>
          </p:nvPr>
        </p:nvSpPr>
        <p:spPr/>
        <p:txBody>
          <a:bodyPr/>
          <a:lstStyle/>
          <a:p>
            <a:r>
              <a:rPr lang="en-US" altLang="ja-JP" dirty="0"/>
              <a:t>CG</a:t>
            </a:r>
            <a:r>
              <a:rPr lang="ja-JP" altLang="en-US" dirty="0"/>
              <a:t>アセット制作</a:t>
            </a:r>
            <a:endParaRPr lang="ja-JP" altLang="en-US" dirty="0">
              <a:latin typeface="+mn-lt"/>
            </a:endParaRPr>
          </a:p>
        </p:txBody>
      </p:sp>
      <p:sp>
        <p:nvSpPr>
          <p:cNvPr id="2" name="スライド番号プレースホルダー 1">
            <a:extLst>
              <a:ext uri="{FF2B5EF4-FFF2-40B4-BE49-F238E27FC236}">
                <a16:creationId xmlns:a16="http://schemas.microsoft.com/office/drawing/2014/main" id="{42D6A8B3-A5E9-9219-96D1-5890994E4402}"/>
              </a:ext>
            </a:extLst>
          </p:cNvPr>
          <p:cNvSpPr>
            <a:spLocks noGrp="1"/>
          </p:cNvSpPr>
          <p:nvPr>
            <p:ph type="sldNum" sz="quarter" idx="11"/>
          </p:nvPr>
        </p:nvSpPr>
        <p:spPr/>
        <p:txBody>
          <a:bodyPr/>
          <a:lstStyle/>
          <a:p>
            <a:fld id="{B75FDD43-FCEC-4ECC-8189-A5C6D2E08DC6}" type="slidenum">
              <a:rPr lang="ja-JP" altLang="en-US" smtClean="0"/>
              <a:pPr/>
              <a:t>24</a:t>
            </a:fld>
            <a:endParaRPr lang="ja-JP" altLang="en-US"/>
          </a:p>
        </p:txBody>
      </p:sp>
      <p:sp>
        <p:nvSpPr>
          <p:cNvPr id="10" name="テキスト ボックス 9">
            <a:extLst>
              <a:ext uri="{FF2B5EF4-FFF2-40B4-BE49-F238E27FC236}">
                <a16:creationId xmlns:a16="http://schemas.microsoft.com/office/drawing/2014/main" id="{78CAB909-3661-11AA-C01C-3B5156FD159A}"/>
              </a:ext>
            </a:extLst>
          </p:cNvPr>
          <p:cNvSpPr txBox="1"/>
          <p:nvPr/>
        </p:nvSpPr>
        <p:spPr>
          <a:xfrm>
            <a:off x="4218356" y="6331236"/>
            <a:ext cx="7007937" cy="369332"/>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引用：</a:t>
            </a:r>
            <a:r>
              <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C&amp;R</a:t>
            </a: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クリエイティブスタジオ　ゲーム・デジタルエンタテインメント関連紹介サイトより抜粋</a:t>
            </a:r>
            <a:endPar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r" defTabSz="914400" rtl="0" eaLnBrk="0" fontAlgn="base" latinLnBrk="0" hangingPunct="0">
              <a:spcBef>
                <a:spcPct val="0"/>
              </a:spcBef>
              <a:spcAft>
                <a:spcPct val="0"/>
              </a:spcAft>
              <a:buClrTx/>
              <a:buSzTx/>
              <a:buFontTx/>
              <a:buNone/>
              <a:tabLst/>
              <a:defRPr/>
            </a:pPr>
            <a:r>
              <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hlinkClick r:id="rId3">
                  <a:extLst>
                    <a:ext uri="{A12FA001-AC4F-418D-AE19-62706E023703}">
                      <ahyp:hlinkClr xmlns:ahyp="http://schemas.microsoft.com/office/drawing/2018/hyperlinkcolor" val="tx"/>
                    </a:ext>
                  </a:extLst>
                </a:hlinkClick>
              </a:rPr>
              <a:t>https://crdg.jp/achievements/</a:t>
            </a:r>
            <a:endPar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endParaRPr>
          </a:p>
        </p:txBody>
      </p:sp>
      <p:pic>
        <p:nvPicPr>
          <p:cNvPr id="7" name="図 6" descr="グラフィカル ユーザー インターフェイス, Web サイト&#10;&#10;AI によって生成されたコンテンツは間違っている可能性があります。">
            <a:extLst>
              <a:ext uri="{FF2B5EF4-FFF2-40B4-BE49-F238E27FC236}">
                <a16:creationId xmlns:a16="http://schemas.microsoft.com/office/drawing/2014/main" id="{E91387D6-544F-B076-8D15-A8FD0184A4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0433" y="986051"/>
            <a:ext cx="5478549" cy="4409700"/>
          </a:xfrm>
          <a:prstGeom prst="rect">
            <a:avLst/>
          </a:prstGeom>
        </p:spPr>
      </p:pic>
      <p:pic>
        <p:nvPicPr>
          <p:cNvPr id="12" name="図 11" descr="テキスト が含まれている画像&#10;&#10;AI によって生成されたコンテンツは間違っている可能性があります。">
            <a:extLst>
              <a:ext uri="{FF2B5EF4-FFF2-40B4-BE49-F238E27FC236}">
                <a16:creationId xmlns:a16="http://schemas.microsoft.com/office/drawing/2014/main" id="{FE4B5CA4-98A7-8947-3B0D-9FA658DDF8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4240" y="986051"/>
            <a:ext cx="4944255" cy="4551301"/>
          </a:xfrm>
          <a:prstGeom prst="rect">
            <a:avLst/>
          </a:prstGeom>
        </p:spPr>
      </p:pic>
    </p:spTree>
    <p:extLst>
      <p:ext uri="{BB962C8B-B14F-4D97-AF65-F5344CB8AC3E}">
        <p14:creationId xmlns:p14="http://schemas.microsoft.com/office/powerpoint/2010/main" val="129960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FB6E6-D6B6-1574-863E-CE59B5855C40}"/>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8121148D-FDAD-416A-712D-8479DF74E5ED}"/>
              </a:ext>
            </a:extLst>
          </p:cNvPr>
          <p:cNvSpPr>
            <a:spLocks noGrp="1"/>
          </p:cNvSpPr>
          <p:nvPr>
            <p:ph type="title"/>
          </p:nvPr>
        </p:nvSpPr>
        <p:spPr/>
        <p:txBody>
          <a:bodyPr/>
          <a:lstStyle/>
          <a:p>
            <a:r>
              <a:rPr lang="ja-JP" altLang="en-US" dirty="0"/>
              <a:t>日本最大級のスタジオを選ぶ理由１：制作開発（</a:t>
            </a:r>
            <a:r>
              <a:rPr lang="en-US" altLang="ja-JP" dirty="0"/>
              <a:t>Web</a:t>
            </a:r>
            <a:r>
              <a:rPr lang="ja-JP" altLang="en-US" dirty="0"/>
              <a:t>）</a:t>
            </a:r>
            <a:endParaRPr lang="ja-JP" altLang="en-US" dirty="0">
              <a:latin typeface="+mn-lt"/>
            </a:endParaRPr>
          </a:p>
        </p:txBody>
      </p:sp>
      <p:sp>
        <p:nvSpPr>
          <p:cNvPr id="4" name="テキスト ボックス 3">
            <a:extLst>
              <a:ext uri="{FF2B5EF4-FFF2-40B4-BE49-F238E27FC236}">
                <a16:creationId xmlns:a16="http://schemas.microsoft.com/office/drawing/2014/main" id="{94F39B9F-0CE3-C006-1D37-60C683BF08D4}"/>
              </a:ext>
            </a:extLst>
          </p:cNvPr>
          <p:cNvSpPr txBox="1"/>
          <p:nvPr/>
        </p:nvSpPr>
        <p:spPr>
          <a:xfrm>
            <a:off x="7630336" y="669682"/>
            <a:ext cx="4340772" cy="307777"/>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ja-JP" altLang="en-US" sz="1000" b="0" i="0" u="none" strike="noStrike" kern="1200" cap="none" spc="0" normalizeH="0" baseline="0" noProof="0" dirty="0">
                <a:ln>
                  <a:noFill/>
                </a:ln>
                <a:effectLst/>
                <a:uLnTx/>
                <a:uFillTx/>
                <a:latin typeface="メイリオ" panose="020B0604030504040204" pitchFamily="50" charset="-128"/>
                <a:ea typeface="メイリオ" panose="020B0604030504040204" pitchFamily="50" charset="-128"/>
              </a:rPr>
              <a:t>引用：</a:t>
            </a:r>
            <a:r>
              <a:rPr kumimoji="1" lang="en-US" altLang="ja-JP" sz="1000" b="0" i="0" u="none" strike="noStrike" kern="1200" cap="none" spc="0" normalizeH="0" baseline="0" noProof="0" dirty="0">
                <a:ln>
                  <a:noFill/>
                </a:ln>
                <a:effectLst/>
                <a:uLnTx/>
                <a:uFillTx/>
                <a:latin typeface="メイリオ" panose="020B0604030504040204" pitchFamily="50" charset="-128"/>
                <a:ea typeface="メイリオ" panose="020B0604030504040204" pitchFamily="50" charset="-128"/>
              </a:rPr>
              <a:t>C&amp;R</a:t>
            </a:r>
            <a:r>
              <a:rPr kumimoji="1" lang="ja-JP" altLang="en-US" sz="1000" b="0" i="0" u="none" strike="noStrike" kern="1200" cap="none" spc="0" normalizeH="0" baseline="0" noProof="0" dirty="0">
                <a:ln>
                  <a:noFill/>
                </a:ln>
                <a:effectLst/>
                <a:uLnTx/>
                <a:uFillTx/>
                <a:latin typeface="メイリオ" panose="020B0604030504040204" pitchFamily="50" charset="-128"/>
                <a:ea typeface="メイリオ" panose="020B0604030504040204" pitchFamily="50" charset="-128"/>
              </a:rPr>
              <a:t>クリエイティブスタジオ公式サイトより抜粋</a:t>
            </a:r>
            <a:endParaRPr kumimoji="1" lang="en-US" altLang="ja-JP" sz="1000" b="0" i="0" u="none" strike="noStrike" kern="1200" cap="none" spc="0" normalizeH="0" baseline="0" noProof="0" dirty="0">
              <a:ln>
                <a:noFill/>
              </a:ln>
              <a:effectLst/>
              <a:uLnTx/>
              <a:uFillTx/>
              <a:latin typeface="メイリオ" panose="020B0604030504040204" pitchFamily="50" charset="-128"/>
              <a:ea typeface="メイリオ" panose="020B0604030504040204" pitchFamily="50" charset="-128"/>
            </a:endParaRPr>
          </a:p>
          <a:p>
            <a:pPr lvl="0" algn="r" eaLnBrk="0" fontAlgn="base" hangingPunct="0">
              <a:spcBef>
                <a:spcPct val="0"/>
              </a:spcBef>
              <a:spcAft>
                <a:spcPct val="0"/>
              </a:spcAft>
              <a:defRPr/>
            </a:pPr>
            <a:r>
              <a:rPr lang="en-US" altLang="ja-JP" sz="1000" dirty="0">
                <a:solidFill>
                  <a:schemeClr val="accent4">
                    <a:lumMod val="75000"/>
                  </a:schemeClr>
                </a:solidFill>
                <a:latin typeface="メイリオ" panose="020B0604030504040204" pitchFamily="50" charset="-128"/>
                <a:ea typeface="メイリオ" panose="020B0604030504040204" pitchFamily="50" charset="-128"/>
              </a:rPr>
              <a:t>https://crdg.jp/web/</a:t>
            </a:r>
            <a:endParaRPr kumimoji="1" lang="en-US" altLang="ja-JP" sz="1000" b="0" i="0" u="none" strike="noStrike" kern="1200" cap="none" spc="0" normalizeH="0" baseline="0" noProof="0" dirty="0">
              <a:ln>
                <a:noFill/>
              </a:ln>
              <a:solidFill>
                <a:schemeClr val="accent4">
                  <a:lumMod val="75000"/>
                </a:schemeClr>
              </a:solidFill>
              <a:effectLst/>
              <a:uLnTx/>
              <a:uFillTx/>
              <a:latin typeface="メイリオ" panose="020B0604030504040204" pitchFamily="50" charset="-128"/>
              <a:ea typeface="メイリオ" panose="020B0604030504040204" pitchFamily="50" charset="-128"/>
            </a:endParaRPr>
          </a:p>
        </p:txBody>
      </p:sp>
      <p:sp>
        <p:nvSpPr>
          <p:cNvPr id="5" name="コンテンツ プレースホルダー 1">
            <a:extLst>
              <a:ext uri="{FF2B5EF4-FFF2-40B4-BE49-F238E27FC236}">
                <a16:creationId xmlns:a16="http://schemas.microsoft.com/office/drawing/2014/main" id="{7ADCAFF6-7AC3-E8FB-3C0C-7D4C352FAA8F}"/>
              </a:ext>
            </a:extLst>
          </p:cNvPr>
          <p:cNvSpPr>
            <a:spLocks noGrp="1"/>
          </p:cNvSpPr>
          <p:nvPr>
            <p:ph idx="10"/>
          </p:nvPr>
        </p:nvSpPr>
        <p:spPr>
          <a:xfrm>
            <a:off x="6428069" y="1043115"/>
            <a:ext cx="5658655" cy="955859"/>
          </a:xfrm>
        </p:spPr>
        <p:txBody>
          <a:bodyPr>
            <a:normAutofit/>
          </a:bodyPr>
          <a:lstStyle/>
          <a:p>
            <a:r>
              <a:rPr lang="ja-JP" altLang="en-US" dirty="0"/>
              <a:t>コーポレートサイト、サービスサイト、採用サイト、</a:t>
            </a:r>
            <a:r>
              <a:rPr lang="en-US" altLang="ja-JP" dirty="0"/>
              <a:t>EC</a:t>
            </a:r>
            <a:r>
              <a:rPr lang="ja-JP" altLang="en-US" dirty="0"/>
              <a:t>サイト、</a:t>
            </a:r>
            <a:r>
              <a:rPr lang="en-US" altLang="ja-JP" dirty="0"/>
              <a:t>LP</a:t>
            </a:r>
            <a:r>
              <a:rPr lang="ja-JP" altLang="en-US" dirty="0"/>
              <a:t>など多様な</a:t>
            </a:r>
            <a:r>
              <a:rPr lang="en-US" altLang="ja-JP" dirty="0"/>
              <a:t>Web</a:t>
            </a:r>
            <a:r>
              <a:rPr lang="ja-JP" altLang="en-US" dirty="0"/>
              <a:t>サイト制作に対応しています。</a:t>
            </a:r>
            <a:endParaRPr kumimoji="1" lang="en-US" altLang="ja-JP" dirty="0"/>
          </a:p>
        </p:txBody>
      </p:sp>
      <p:pic>
        <p:nvPicPr>
          <p:cNvPr id="6" name="図 5" descr="グラフィカル ユーザー インターフェイス, Web サイト&#10;&#10;AI 生成コンテンツは誤りを含む可能性があります。">
            <a:extLst>
              <a:ext uri="{FF2B5EF4-FFF2-40B4-BE49-F238E27FC236}">
                <a16:creationId xmlns:a16="http://schemas.microsoft.com/office/drawing/2014/main" id="{405250A6-EBAC-D8AE-61CF-0B11BE5887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801" y="938677"/>
            <a:ext cx="5658655" cy="5761307"/>
          </a:xfrm>
          <a:prstGeom prst="rect">
            <a:avLst/>
          </a:prstGeom>
        </p:spPr>
      </p:pic>
      <p:sp>
        <p:nvSpPr>
          <p:cNvPr id="11" name="小波 10">
            <a:extLst>
              <a:ext uri="{FF2B5EF4-FFF2-40B4-BE49-F238E27FC236}">
                <a16:creationId xmlns:a16="http://schemas.microsoft.com/office/drawing/2014/main" id="{26323170-D934-3361-2B59-365B4E005262}"/>
              </a:ext>
            </a:extLst>
          </p:cNvPr>
          <p:cNvSpPr/>
          <p:nvPr/>
        </p:nvSpPr>
        <p:spPr bwMode="auto">
          <a:xfrm>
            <a:off x="538188" y="6661202"/>
            <a:ext cx="5658654" cy="143805"/>
          </a:xfrm>
          <a:prstGeom prst="doubleWave">
            <a:avLst/>
          </a:prstGeom>
          <a:solidFill>
            <a:schemeClr val="bg1"/>
          </a:solidFill>
          <a:ln w="3175" algn="ctr">
            <a:solidFill>
              <a:schemeClr val="tx1"/>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pic>
        <p:nvPicPr>
          <p:cNvPr id="14" name="図 13" descr="テキスト&#10;&#10;AI 生成コンテンツは誤りを含む可能性があります。">
            <a:extLst>
              <a:ext uri="{FF2B5EF4-FFF2-40B4-BE49-F238E27FC236}">
                <a16:creationId xmlns:a16="http://schemas.microsoft.com/office/drawing/2014/main" id="{76CF3FE1-A70E-29F9-BBD6-446ED37FDB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2640" y="1950718"/>
            <a:ext cx="4252431" cy="2416492"/>
          </a:xfrm>
          <a:prstGeom prst="rect">
            <a:avLst/>
          </a:prstGeom>
        </p:spPr>
      </p:pic>
      <p:pic>
        <p:nvPicPr>
          <p:cNvPr id="18" name="図 17"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17B300F1-4712-3DDC-EDFA-4FF59E1B8EB9}"/>
              </a:ext>
            </a:extLst>
          </p:cNvPr>
          <p:cNvPicPr>
            <a:picLocks noChangeAspect="1"/>
          </p:cNvPicPr>
          <p:nvPr/>
        </p:nvPicPr>
        <p:blipFill>
          <a:blip r:embed="rId5"/>
          <a:stretch>
            <a:fillRect/>
          </a:stretch>
        </p:blipFill>
        <p:spPr>
          <a:xfrm>
            <a:off x="7784728" y="4367210"/>
            <a:ext cx="4252431" cy="2398430"/>
          </a:xfrm>
          <a:prstGeom prst="rect">
            <a:avLst/>
          </a:prstGeom>
        </p:spPr>
      </p:pic>
    </p:spTree>
    <p:extLst>
      <p:ext uri="{BB962C8B-B14F-4D97-AF65-F5344CB8AC3E}">
        <p14:creationId xmlns:p14="http://schemas.microsoft.com/office/powerpoint/2010/main" val="380095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560EC-5C83-74EC-689C-CBDB76FB156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B0509DD-D321-DD54-6006-DE91309623EC}"/>
              </a:ext>
            </a:extLst>
          </p:cNvPr>
          <p:cNvSpPr>
            <a:spLocks noGrp="1"/>
          </p:cNvSpPr>
          <p:nvPr>
            <p:ph type="sldNum" sz="quarter" idx="10"/>
          </p:nvPr>
        </p:nvSpPr>
        <p:spPr/>
        <p:txBody>
          <a:bodyPr/>
          <a:lstStyle/>
          <a:p>
            <a:fld id="{B75FDD43-FCEC-4ECC-8189-A5C6D2E08DC6}" type="slidenum">
              <a:rPr lang="ja-JP" altLang="en-US" smtClean="0"/>
              <a:pPr/>
              <a:t>26</a:t>
            </a:fld>
            <a:endParaRPr lang="ja-JP" altLang="en-US"/>
          </a:p>
        </p:txBody>
      </p:sp>
      <p:pic>
        <p:nvPicPr>
          <p:cNvPr id="3" name="図 2" descr="グラフィカル ユーザー インターフェイス&#10;&#10;AI 生成コンテンツは誤りを含む可能性があります。">
            <a:extLst>
              <a:ext uri="{FF2B5EF4-FFF2-40B4-BE49-F238E27FC236}">
                <a16:creationId xmlns:a16="http://schemas.microsoft.com/office/drawing/2014/main" id="{9C7D7EEE-9035-821A-BC30-96BF86B8A1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092" y="1440873"/>
            <a:ext cx="5812655" cy="4757766"/>
          </a:xfrm>
          <a:prstGeom prst="rect">
            <a:avLst/>
          </a:prstGeom>
        </p:spPr>
      </p:pic>
      <p:sp>
        <p:nvSpPr>
          <p:cNvPr id="4" name="タイトル 2">
            <a:extLst>
              <a:ext uri="{FF2B5EF4-FFF2-40B4-BE49-F238E27FC236}">
                <a16:creationId xmlns:a16="http://schemas.microsoft.com/office/drawing/2014/main" id="{408B1A88-1EC3-BA70-B506-0A54A81D3E9A}"/>
              </a:ext>
            </a:extLst>
          </p:cNvPr>
          <p:cNvSpPr txBox="1">
            <a:spLocks/>
          </p:cNvSpPr>
          <p:nvPr/>
        </p:nvSpPr>
        <p:spPr>
          <a:xfrm>
            <a:off x="653801" y="92360"/>
            <a:ext cx="9015461" cy="467359"/>
          </a:xfrm>
          <a:prstGeom prst="rect">
            <a:avLst/>
          </a:prstGeom>
        </p:spPr>
        <p:txBody>
          <a:bodyPr/>
          <a:lstStyle>
            <a:lvl1pPr algn="l" defTabSz="914400" rtl="0" eaLnBrk="1" latinLnBrk="0" hangingPunct="1">
              <a:lnSpc>
                <a:spcPct val="90000"/>
              </a:lnSpc>
              <a:spcBef>
                <a:spcPct val="0"/>
              </a:spcBef>
              <a:buNone/>
              <a:defRPr kumimoji="1" sz="2800" b="1" kern="1200">
                <a:solidFill>
                  <a:schemeClr val="tx1"/>
                </a:solidFill>
                <a:latin typeface="+mj-lt"/>
                <a:ea typeface="Noto Sans JP" panose="020B0200000000000000" pitchFamily="50" charset="-128"/>
                <a:cs typeface="+mj-cs"/>
              </a:defRPr>
            </a:lvl1pPr>
          </a:lstStyle>
          <a:p>
            <a:r>
              <a:rPr lang="en-US" altLang="ja-JP" dirty="0"/>
              <a:t>Web</a:t>
            </a:r>
            <a:r>
              <a:rPr lang="ja-JP" altLang="en-US" dirty="0"/>
              <a:t>サイト制作</a:t>
            </a:r>
            <a:endParaRPr lang="ja-JP" altLang="en-US" dirty="0">
              <a:latin typeface="+mn-lt"/>
            </a:endParaRPr>
          </a:p>
        </p:txBody>
      </p:sp>
    </p:spTree>
    <p:extLst>
      <p:ext uri="{BB962C8B-B14F-4D97-AF65-F5344CB8AC3E}">
        <p14:creationId xmlns:p14="http://schemas.microsoft.com/office/powerpoint/2010/main" val="4067670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5D7E8768-628D-158D-D3AA-D0785C17A056}"/>
              </a:ext>
            </a:extLst>
          </p:cNvPr>
          <p:cNvSpPr>
            <a:spLocks noGrp="1"/>
          </p:cNvSpPr>
          <p:nvPr>
            <p:ph type="title"/>
          </p:nvPr>
        </p:nvSpPr>
        <p:spPr/>
        <p:txBody>
          <a:bodyPr/>
          <a:lstStyle/>
          <a:p>
            <a:r>
              <a:rPr lang="ja-JP" altLang="en-US">
                <a:latin typeface="+mn-lt"/>
              </a:rPr>
              <a:t>取引先一覧（順不同、一部抜粋）</a:t>
            </a:r>
          </a:p>
        </p:txBody>
      </p:sp>
      <p:sp>
        <p:nvSpPr>
          <p:cNvPr id="2" name="スライド番号プレースホルダー 1">
            <a:extLst>
              <a:ext uri="{FF2B5EF4-FFF2-40B4-BE49-F238E27FC236}">
                <a16:creationId xmlns:a16="http://schemas.microsoft.com/office/drawing/2014/main" id="{91A307FC-A414-8DC4-4C45-9AC7DA198393}"/>
              </a:ext>
            </a:extLst>
          </p:cNvPr>
          <p:cNvSpPr>
            <a:spLocks noGrp="1"/>
          </p:cNvSpPr>
          <p:nvPr>
            <p:ph type="sldNum" sz="quarter" idx="11"/>
          </p:nvPr>
        </p:nvSpPr>
        <p:spPr/>
        <p:txBody>
          <a:bodyPr/>
          <a:lstStyle/>
          <a:p>
            <a:fld id="{B75FDD43-FCEC-4ECC-8189-A5C6D2E08DC6}" type="slidenum">
              <a:rPr lang="ja-JP" altLang="en-US" smtClean="0"/>
              <a:pPr/>
              <a:t>27</a:t>
            </a:fld>
            <a:endParaRPr lang="ja-JP" altLang="en-US"/>
          </a:p>
        </p:txBody>
      </p:sp>
      <p:sp>
        <p:nvSpPr>
          <p:cNvPr id="169" name="コンテンツ プレースホルダー 1">
            <a:extLst>
              <a:ext uri="{FF2B5EF4-FFF2-40B4-BE49-F238E27FC236}">
                <a16:creationId xmlns:a16="http://schemas.microsoft.com/office/drawing/2014/main" id="{92583034-D582-8DD5-2123-07474403B08D}"/>
              </a:ext>
            </a:extLst>
          </p:cNvPr>
          <p:cNvSpPr>
            <a:spLocks noGrp="1"/>
          </p:cNvSpPr>
          <p:nvPr>
            <p:ph idx="10"/>
          </p:nvPr>
        </p:nvSpPr>
        <p:spPr>
          <a:xfrm>
            <a:off x="7810987" y="5168406"/>
            <a:ext cx="4098498" cy="801217"/>
          </a:xfrm>
        </p:spPr>
        <p:txBody>
          <a:bodyPr>
            <a:normAutofit/>
          </a:bodyPr>
          <a:lstStyle/>
          <a:p>
            <a:pPr algn="r"/>
            <a:r>
              <a:rPr kumimoji="1" lang="ja-JP" altLang="en-US" sz="1600"/>
              <a:t>その他、クライアント企業との実績多数</a:t>
            </a:r>
            <a:endParaRPr kumimoji="1" lang="en-US" altLang="ja-JP" sz="1600"/>
          </a:p>
        </p:txBody>
      </p:sp>
      <p:grpSp>
        <p:nvGrpSpPr>
          <p:cNvPr id="19" name="グループ化 18">
            <a:extLst>
              <a:ext uri="{FF2B5EF4-FFF2-40B4-BE49-F238E27FC236}">
                <a16:creationId xmlns:a16="http://schemas.microsoft.com/office/drawing/2014/main" id="{202AA4A0-1F67-70D4-F8E7-B9D0C24B13CC}"/>
              </a:ext>
            </a:extLst>
          </p:cNvPr>
          <p:cNvGrpSpPr/>
          <p:nvPr/>
        </p:nvGrpSpPr>
        <p:grpSpPr>
          <a:xfrm>
            <a:off x="491723" y="559719"/>
            <a:ext cx="11578802" cy="5761898"/>
            <a:chOff x="491723" y="559719"/>
            <a:chExt cx="11578802" cy="5761898"/>
          </a:xfrm>
        </p:grpSpPr>
        <p:grpSp>
          <p:nvGrpSpPr>
            <p:cNvPr id="18" name="グループ化 17">
              <a:extLst>
                <a:ext uri="{FF2B5EF4-FFF2-40B4-BE49-F238E27FC236}">
                  <a16:creationId xmlns:a16="http://schemas.microsoft.com/office/drawing/2014/main" id="{5E6BC389-8A4A-8121-8A41-C93303EC64E3}"/>
                </a:ext>
              </a:extLst>
            </p:cNvPr>
            <p:cNvGrpSpPr/>
            <p:nvPr/>
          </p:nvGrpSpPr>
          <p:grpSpPr>
            <a:xfrm>
              <a:off x="491723" y="559719"/>
              <a:ext cx="11578802" cy="5761898"/>
              <a:chOff x="541601" y="559719"/>
              <a:chExt cx="11578802" cy="5761898"/>
            </a:xfrm>
          </p:grpSpPr>
          <p:grpSp>
            <p:nvGrpSpPr>
              <p:cNvPr id="9" name="グループ化 8">
                <a:extLst>
                  <a:ext uri="{FF2B5EF4-FFF2-40B4-BE49-F238E27FC236}">
                    <a16:creationId xmlns:a16="http://schemas.microsoft.com/office/drawing/2014/main" id="{0BA54418-9755-6F53-1C3F-829B28CE85F4}"/>
                  </a:ext>
                </a:extLst>
              </p:cNvPr>
              <p:cNvGrpSpPr/>
              <p:nvPr/>
            </p:nvGrpSpPr>
            <p:grpSpPr>
              <a:xfrm>
                <a:off x="541601" y="559719"/>
                <a:ext cx="11558039" cy="5761898"/>
                <a:chOff x="351446" y="671945"/>
                <a:chExt cx="11840554" cy="5902737"/>
              </a:xfrm>
            </p:grpSpPr>
            <p:pic>
              <p:nvPicPr>
                <p:cNvPr id="5" name="図 4">
                  <a:extLst>
                    <a:ext uri="{FF2B5EF4-FFF2-40B4-BE49-F238E27FC236}">
                      <a16:creationId xmlns:a16="http://schemas.microsoft.com/office/drawing/2014/main" id="{F723AA8F-F090-BA47-45BC-EFAF92D20CAC}"/>
                    </a:ext>
                  </a:extLst>
                </p:cNvPr>
                <p:cNvPicPr>
                  <a:picLocks noChangeAspect="1"/>
                </p:cNvPicPr>
                <p:nvPr/>
              </p:nvPicPr>
              <p:blipFill>
                <a:blip r:embed="rId3"/>
                <a:stretch>
                  <a:fillRect/>
                </a:stretch>
              </p:blipFill>
              <p:spPr>
                <a:xfrm>
                  <a:off x="351446" y="671945"/>
                  <a:ext cx="5962533" cy="5902737"/>
                </a:xfrm>
                <a:prstGeom prst="rect">
                  <a:avLst/>
                </a:prstGeom>
              </p:spPr>
            </p:pic>
            <p:pic>
              <p:nvPicPr>
                <p:cNvPr id="7" name="図 6">
                  <a:extLst>
                    <a:ext uri="{FF2B5EF4-FFF2-40B4-BE49-F238E27FC236}">
                      <a16:creationId xmlns:a16="http://schemas.microsoft.com/office/drawing/2014/main" id="{C0D041DF-A8BA-1931-78DA-1BAF799689A0}"/>
                    </a:ext>
                  </a:extLst>
                </p:cNvPr>
                <p:cNvPicPr>
                  <a:picLocks noChangeAspect="1"/>
                </p:cNvPicPr>
                <p:nvPr/>
              </p:nvPicPr>
              <p:blipFill>
                <a:blip r:embed="rId4"/>
                <a:stretch>
                  <a:fillRect/>
                </a:stretch>
              </p:blipFill>
              <p:spPr>
                <a:xfrm>
                  <a:off x="6313980" y="808662"/>
                  <a:ext cx="5878020" cy="1611578"/>
                </a:xfrm>
                <a:prstGeom prst="rect">
                  <a:avLst/>
                </a:prstGeom>
              </p:spPr>
            </p:pic>
          </p:grpSp>
          <p:pic>
            <p:nvPicPr>
              <p:cNvPr id="11" name="図 10">
                <a:extLst>
                  <a:ext uri="{FF2B5EF4-FFF2-40B4-BE49-F238E27FC236}">
                    <a16:creationId xmlns:a16="http://schemas.microsoft.com/office/drawing/2014/main" id="{F9AC031C-FF77-6B9E-AE32-71195BB8189E}"/>
                  </a:ext>
                </a:extLst>
              </p:cNvPr>
              <p:cNvPicPr>
                <a:picLocks noChangeAspect="1"/>
              </p:cNvPicPr>
              <p:nvPr/>
            </p:nvPicPr>
            <p:blipFill>
              <a:blip r:embed="rId5"/>
              <a:stretch>
                <a:fillRect/>
              </a:stretch>
            </p:blipFill>
            <p:spPr>
              <a:xfrm>
                <a:off x="6397751" y="2333252"/>
                <a:ext cx="4383856" cy="2380526"/>
              </a:xfrm>
              <a:prstGeom prst="rect">
                <a:avLst/>
              </a:prstGeom>
            </p:spPr>
          </p:pic>
          <p:pic>
            <p:nvPicPr>
              <p:cNvPr id="17" name="図 16">
                <a:extLst>
                  <a:ext uri="{FF2B5EF4-FFF2-40B4-BE49-F238E27FC236}">
                    <a16:creationId xmlns:a16="http://schemas.microsoft.com/office/drawing/2014/main" id="{360E1186-8C15-224D-A6AD-28CEDB4AEC1E}"/>
                  </a:ext>
                </a:extLst>
              </p:cNvPr>
              <p:cNvPicPr>
                <a:picLocks noChangeAspect="1"/>
              </p:cNvPicPr>
              <p:nvPr/>
            </p:nvPicPr>
            <p:blipFill>
              <a:blip r:embed="rId6"/>
              <a:stretch>
                <a:fillRect/>
              </a:stretch>
            </p:blipFill>
            <p:spPr>
              <a:xfrm>
                <a:off x="10728040" y="2340948"/>
                <a:ext cx="1392363" cy="1545283"/>
              </a:xfrm>
              <a:prstGeom prst="rect">
                <a:avLst/>
              </a:prstGeom>
            </p:spPr>
          </p:pic>
        </p:grpSp>
        <p:pic>
          <p:nvPicPr>
            <p:cNvPr id="15" name="図 14">
              <a:extLst>
                <a:ext uri="{FF2B5EF4-FFF2-40B4-BE49-F238E27FC236}">
                  <a16:creationId xmlns:a16="http://schemas.microsoft.com/office/drawing/2014/main" id="{B5D7FA63-240A-677B-5470-13B0ACD6C231}"/>
                </a:ext>
              </a:extLst>
            </p:cNvPr>
            <p:cNvPicPr>
              <a:picLocks noChangeAspect="1"/>
            </p:cNvPicPr>
            <p:nvPr/>
          </p:nvPicPr>
          <p:blipFill>
            <a:blip r:embed="rId7"/>
            <a:stretch>
              <a:fillRect/>
            </a:stretch>
          </p:blipFill>
          <p:spPr>
            <a:xfrm>
              <a:off x="9191479" y="3130657"/>
              <a:ext cx="1489725" cy="1523016"/>
            </a:xfrm>
            <a:prstGeom prst="rect">
              <a:avLst/>
            </a:prstGeom>
          </p:spPr>
        </p:pic>
      </p:grpSp>
    </p:spTree>
    <p:extLst>
      <p:ext uri="{BB962C8B-B14F-4D97-AF65-F5344CB8AC3E}">
        <p14:creationId xmlns:p14="http://schemas.microsoft.com/office/powerpoint/2010/main" val="1822048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グループ化 37">
            <a:extLst>
              <a:ext uri="{FF2B5EF4-FFF2-40B4-BE49-F238E27FC236}">
                <a16:creationId xmlns:a16="http://schemas.microsoft.com/office/drawing/2014/main" id="{AE950A34-2B79-80BA-B301-A7139C63EDA1}"/>
              </a:ext>
            </a:extLst>
          </p:cNvPr>
          <p:cNvGrpSpPr/>
          <p:nvPr/>
        </p:nvGrpSpPr>
        <p:grpSpPr>
          <a:xfrm>
            <a:off x="1948492" y="5538083"/>
            <a:ext cx="9741199" cy="299970"/>
            <a:chOff x="1948492" y="5475841"/>
            <a:chExt cx="9603071" cy="322267"/>
          </a:xfrm>
          <a:solidFill>
            <a:schemeClr val="accent1">
              <a:lumMod val="20000"/>
              <a:lumOff val="80000"/>
            </a:schemeClr>
          </a:solidFill>
        </p:grpSpPr>
        <p:sp>
          <p:nvSpPr>
            <p:cNvPr id="44" name="正方形/長方形 43">
              <a:extLst>
                <a:ext uri="{FF2B5EF4-FFF2-40B4-BE49-F238E27FC236}">
                  <a16:creationId xmlns:a16="http://schemas.microsoft.com/office/drawing/2014/main" id="{682AA2F7-C820-BEC5-FC1F-8321BB025F63}"/>
                </a:ext>
              </a:extLst>
            </p:cNvPr>
            <p:cNvSpPr/>
            <p:nvPr/>
          </p:nvSpPr>
          <p:spPr bwMode="auto">
            <a:xfrm>
              <a:off x="1948492" y="5475841"/>
              <a:ext cx="9603071" cy="322267"/>
            </a:xfrm>
            <a:prstGeom prst="rect">
              <a:avLst/>
            </a:prstGeom>
            <a:grp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29" name="テキスト ボックス 128">
              <a:extLst>
                <a:ext uri="{FF2B5EF4-FFF2-40B4-BE49-F238E27FC236}">
                  <a16:creationId xmlns:a16="http://schemas.microsoft.com/office/drawing/2014/main" id="{8904594A-C962-1E73-2BF5-FC8970C5BD98}"/>
                </a:ext>
              </a:extLst>
            </p:cNvPr>
            <p:cNvSpPr txBox="1"/>
            <p:nvPr/>
          </p:nvSpPr>
          <p:spPr>
            <a:xfrm>
              <a:off x="3474575" y="5496796"/>
              <a:ext cx="5600193" cy="281056"/>
            </a:xfrm>
            <a:prstGeom prst="rect">
              <a:avLst/>
            </a:prstGeom>
            <a:grpFill/>
            <a:ln>
              <a:noFill/>
            </a:ln>
          </p:spPr>
          <p:txBody>
            <a:bodyPr wrap="square" rtlCol="0">
              <a:spAutoFit/>
            </a:bodyPr>
            <a:lstStyle/>
            <a:p>
              <a:pPr algn="ctr"/>
              <a:r>
                <a:rPr lang="en-US" altLang="ja-JP" sz="1100" b="1">
                  <a:latin typeface="メイリオ" panose="020B0604030504040204" pitchFamily="50" charset="-128"/>
                  <a:ea typeface="メイリオ" panose="020B0604030504040204" pitchFamily="50" charset="-128"/>
                </a:rPr>
                <a:t>XR</a:t>
              </a:r>
              <a:r>
                <a:rPr lang="ja-JP" altLang="en-US" sz="1100" b="1">
                  <a:latin typeface="メイリオ" panose="020B0604030504040204" pitchFamily="50" charset="-128"/>
                  <a:ea typeface="メイリオ" panose="020B0604030504040204" pitchFamily="50" charset="-128"/>
                </a:rPr>
                <a:t>ソリューション（</a:t>
              </a:r>
              <a:r>
                <a:rPr lang="en-US" altLang="ja-JP" sz="1100" b="1">
                  <a:latin typeface="メイリオ" panose="020B0604030504040204" pitchFamily="50" charset="-128"/>
                  <a:ea typeface="メイリオ" panose="020B0604030504040204" pitchFamily="50" charset="-128"/>
                </a:rPr>
                <a:t>VR/MR/AR</a:t>
              </a:r>
              <a:r>
                <a:rPr lang="ja-JP" altLang="en-US" sz="1100" b="1">
                  <a:latin typeface="メイリオ" panose="020B0604030504040204" pitchFamily="50" charset="-128"/>
                  <a:ea typeface="メイリオ" panose="020B0604030504040204" pitchFamily="50" charset="-128"/>
                </a:rPr>
                <a:t>）開発、エンタープライズ</a:t>
              </a:r>
              <a:r>
                <a:rPr lang="en-US" altLang="ja-JP" sz="1100" b="1">
                  <a:latin typeface="メイリオ" panose="020B0604030504040204" pitchFamily="50" charset="-128"/>
                  <a:ea typeface="メイリオ" panose="020B0604030504040204" pitchFamily="50" charset="-128"/>
                </a:rPr>
                <a:t>App</a:t>
              </a:r>
              <a:r>
                <a:rPr lang="ja-JP" altLang="en-US" sz="1100" b="1">
                  <a:latin typeface="メイリオ" panose="020B0604030504040204" pitchFamily="50" charset="-128"/>
                  <a:ea typeface="メイリオ" panose="020B0604030504040204" pitchFamily="50" charset="-128"/>
                </a:rPr>
                <a:t>開発</a:t>
              </a:r>
              <a:endParaRPr kumimoji="1" lang="en-US" altLang="ja-JP" sz="1100" b="1">
                <a:latin typeface="メイリオ" panose="020B0604030504040204" pitchFamily="50" charset="-128"/>
                <a:ea typeface="メイリオ" panose="020B0604030504040204" pitchFamily="50" charset="-128"/>
              </a:endParaRPr>
            </a:p>
          </p:txBody>
        </p:sp>
      </p:grpSp>
      <p:sp>
        <p:nvSpPr>
          <p:cNvPr id="85" name="矢印: 五方向 84">
            <a:extLst>
              <a:ext uri="{FF2B5EF4-FFF2-40B4-BE49-F238E27FC236}">
                <a16:creationId xmlns:a16="http://schemas.microsoft.com/office/drawing/2014/main" id="{E5D04062-03F0-8507-82F3-BEC29855A227}"/>
              </a:ext>
            </a:extLst>
          </p:cNvPr>
          <p:cNvSpPr/>
          <p:nvPr/>
        </p:nvSpPr>
        <p:spPr bwMode="auto">
          <a:xfrm>
            <a:off x="867578" y="3504976"/>
            <a:ext cx="11159321" cy="163202"/>
          </a:xfrm>
          <a:prstGeom prst="homePlate">
            <a:avLst>
              <a:gd name="adj" fmla="val 42218"/>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a typeface="Meiryo UI" panose="020B0604030504040204" pitchFamily="50" charset="-128"/>
            </a:endParaRPr>
          </a:p>
        </p:txBody>
      </p:sp>
      <p:grpSp>
        <p:nvGrpSpPr>
          <p:cNvPr id="77" name="グループ化 76">
            <a:extLst>
              <a:ext uri="{FF2B5EF4-FFF2-40B4-BE49-F238E27FC236}">
                <a16:creationId xmlns:a16="http://schemas.microsoft.com/office/drawing/2014/main" id="{2AEF81BC-A3F8-B198-AC88-2B9B9EA898D4}"/>
              </a:ext>
            </a:extLst>
          </p:cNvPr>
          <p:cNvGrpSpPr/>
          <p:nvPr/>
        </p:nvGrpSpPr>
        <p:grpSpPr>
          <a:xfrm>
            <a:off x="10677593" y="1937274"/>
            <a:ext cx="1200706" cy="1502478"/>
            <a:chOff x="10730345" y="1919690"/>
            <a:chExt cx="1200706" cy="1502478"/>
          </a:xfrm>
        </p:grpSpPr>
        <p:grpSp>
          <p:nvGrpSpPr>
            <p:cNvPr id="45" name="グループ化 44">
              <a:extLst>
                <a:ext uri="{FF2B5EF4-FFF2-40B4-BE49-F238E27FC236}">
                  <a16:creationId xmlns:a16="http://schemas.microsoft.com/office/drawing/2014/main" id="{13E2363B-2E7A-8EB2-9A1F-34F312500CE9}"/>
                </a:ext>
              </a:extLst>
            </p:cNvPr>
            <p:cNvGrpSpPr/>
            <p:nvPr/>
          </p:nvGrpSpPr>
          <p:grpSpPr>
            <a:xfrm>
              <a:off x="10730345" y="1919690"/>
              <a:ext cx="1200706" cy="1502478"/>
              <a:chOff x="954669" y="1926522"/>
              <a:chExt cx="1144799" cy="1502478"/>
            </a:xfrm>
          </p:grpSpPr>
          <p:sp>
            <p:nvSpPr>
              <p:cNvPr id="46" name="正方形/長方形 45">
                <a:extLst>
                  <a:ext uri="{FF2B5EF4-FFF2-40B4-BE49-F238E27FC236}">
                    <a16:creationId xmlns:a16="http://schemas.microsoft.com/office/drawing/2014/main" id="{216BE70C-3847-121D-2E82-9C038233A16E}"/>
                  </a:ext>
                </a:extLst>
              </p:cNvPr>
              <p:cNvSpPr/>
              <p:nvPr/>
            </p:nvSpPr>
            <p:spPr bwMode="auto">
              <a:xfrm>
                <a:off x="954669" y="1926522"/>
                <a:ext cx="961384" cy="1502478"/>
              </a:xfrm>
              <a:prstGeom prst="rect">
                <a:avLst/>
              </a:prstGeom>
              <a:solidFill>
                <a:schemeClr val="accent4">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47" name="二等辺三角形 46">
                <a:extLst>
                  <a:ext uri="{FF2B5EF4-FFF2-40B4-BE49-F238E27FC236}">
                    <a16:creationId xmlns:a16="http://schemas.microsoft.com/office/drawing/2014/main" id="{3D3BE5E8-A531-9615-CC9D-5FB03A6B011C}"/>
                  </a:ext>
                </a:extLst>
              </p:cNvPr>
              <p:cNvSpPr/>
              <p:nvPr/>
            </p:nvSpPr>
            <p:spPr bwMode="auto">
              <a:xfrm rot="5400000">
                <a:off x="1699543" y="2586053"/>
                <a:ext cx="616434" cy="183416"/>
              </a:xfrm>
              <a:prstGeom prst="triangle">
                <a:avLst/>
              </a:prstGeom>
              <a:solidFill>
                <a:schemeClr val="accent4"/>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sp>
          <p:nvSpPr>
            <p:cNvPr id="52" name="テキスト ボックス 51">
              <a:extLst>
                <a:ext uri="{FF2B5EF4-FFF2-40B4-BE49-F238E27FC236}">
                  <a16:creationId xmlns:a16="http://schemas.microsoft.com/office/drawing/2014/main" id="{7DC417DC-BAF4-76CB-C947-3344E3E0473E}"/>
                </a:ext>
              </a:extLst>
            </p:cNvPr>
            <p:cNvSpPr txBox="1"/>
            <p:nvPr/>
          </p:nvSpPr>
          <p:spPr>
            <a:xfrm>
              <a:off x="10794417" y="1975304"/>
              <a:ext cx="898740" cy="274493"/>
            </a:xfrm>
            <a:prstGeom prst="rect">
              <a:avLst/>
            </a:prstGeom>
            <a:noFill/>
          </p:spPr>
          <p:txBody>
            <a:bodyPr wrap="square" rtlCol="0">
              <a:spAutoFit/>
            </a:bodyPr>
            <a:lstStyle/>
            <a:p>
              <a:pPr algn="ctr"/>
              <a:r>
                <a:rPr lang="ja-JP" altLang="en-US" sz="1200" b="1">
                  <a:latin typeface="メイリオ" panose="020B0604030504040204" pitchFamily="50" charset="-128"/>
                  <a:ea typeface="メイリオ" panose="020B0604030504040204" pitchFamily="50" charset="-128"/>
                </a:rPr>
                <a:t>顧客管理</a:t>
              </a:r>
              <a:endParaRPr lang="en-US" altLang="ja-JP" sz="1200" b="1">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B21321B0-7314-8778-6BB1-D832DC1CA1B9}"/>
                </a:ext>
              </a:extLst>
            </p:cNvPr>
            <p:cNvSpPr/>
            <p:nvPr/>
          </p:nvSpPr>
          <p:spPr bwMode="auto">
            <a:xfrm>
              <a:off x="10794417" y="2305411"/>
              <a:ext cx="860092" cy="104298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・マーケティング</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a:t>
              </a:r>
              <a:r>
                <a:rPr lang="en-US" altLang="ja-JP" sz="900" b="1">
                  <a:latin typeface="メイリオ" panose="020B0604030504040204" pitchFamily="50" charset="-128"/>
                  <a:ea typeface="メイリオ" panose="020B0604030504040204" pitchFamily="50" charset="-128"/>
                </a:rPr>
                <a:t>CRM</a:t>
              </a:r>
              <a:r>
                <a:rPr lang="ja-JP" altLang="en-US" sz="900" b="1">
                  <a:latin typeface="メイリオ" panose="020B0604030504040204" pitchFamily="50" charset="-128"/>
                  <a:ea typeface="メイリオ" panose="020B0604030504040204" pitchFamily="50" charset="-128"/>
                </a:rPr>
                <a:t>、</a:t>
              </a:r>
              <a:r>
                <a:rPr lang="en-US" altLang="ja-JP" sz="900" b="1">
                  <a:latin typeface="メイリオ" panose="020B0604030504040204" pitchFamily="50" charset="-128"/>
                  <a:ea typeface="メイリオ" panose="020B0604030504040204" pitchFamily="50" charset="-128"/>
                </a:rPr>
                <a:t>CS</a:t>
              </a: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・広告</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・プロモーション</a:t>
              </a:r>
              <a:endParaRPr lang="en-US" altLang="ja-JP" sz="900" b="1">
                <a:latin typeface="メイリオ" panose="020B0604030504040204" pitchFamily="50" charset="-128"/>
                <a:ea typeface="メイリオ" panose="020B0604030504040204" pitchFamily="50" charset="-128"/>
              </a:endParaRPr>
            </a:p>
          </p:txBody>
        </p:sp>
      </p:grpSp>
      <p:grpSp>
        <p:nvGrpSpPr>
          <p:cNvPr id="49" name="グループ化 48">
            <a:extLst>
              <a:ext uri="{FF2B5EF4-FFF2-40B4-BE49-F238E27FC236}">
                <a16:creationId xmlns:a16="http://schemas.microsoft.com/office/drawing/2014/main" id="{72EE6DD9-0136-AD8C-0145-8CB1AED5103A}"/>
              </a:ext>
            </a:extLst>
          </p:cNvPr>
          <p:cNvGrpSpPr/>
          <p:nvPr/>
        </p:nvGrpSpPr>
        <p:grpSpPr>
          <a:xfrm>
            <a:off x="9559670" y="1942793"/>
            <a:ext cx="1200706" cy="1502478"/>
            <a:chOff x="954669" y="1926522"/>
            <a:chExt cx="1144799" cy="1502478"/>
          </a:xfrm>
        </p:grpSpPr>
        <p:sp>
          <p:nvSpPr>
            <p:cNvPr id="50" name="正方形/長方形 49">
              <a:extLst>
                <a:ext uri="{FF2B5EF4-FFF2-40B4-BE49-F238E27FC236}">
                  <a16:creationId xmlns:a16="http://schemas.microsoft.com/office/drawing/2014/main" id="{30939C87-0BF8-3B75-8725-BB9E4C0654F4}"/>
                </a:ext>
              </a:extLst>
            </p:cNvPr>
            <p:cNvSpPr/>
            <p:nvPr/>
          </p:nvSpPr>
          <p:spPr bwMode="auto">
            <a:xfrm>
              <a:off x="954669" y="1926522"/>
              <a:ext cx="961384" cy="1502478"/>
            </a:xfrm>
            <a:prstGeom prst="rect">
              <a:avLst/>
            </a:prstGeom>
            <a:solidFill>
              <a:schemeClr val="accent4">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51" name="二等辺三角形 50">
              <a:extLst>
                <a:ext uri="{FF2B5EF4-FFF2-40B4-BE49-F238E27FC236}">
                  <a16:creationId xmlns:a16="http://schemas.microsoft.com/office/drawing/2014/main" id="{BFCBF99C-DFB4-A7EB-A661-58F1DDB1588D}"/>
                </a:ext>
              </a:extLst>
            </p:cNvPr>
            <p:cNvSpPr/>
            <p:nvPr/>
          </p:nvSpPr>
          <p:spPr bwMode="auto">
            <a:xfrm rot="5400000">
              <a:off x="1699543" y="2586053"/>
              <a:ext cx="616434" cy="183416"/>
            </a:xfrm>
            <a:prstGeom prst="triangle">
              <a:avLst/>
            </a:prstGeom>
            <a:solidFill>
              <a:schemeClr val="accent4"/>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sp>
        <p:nvSpPr>
          <p:cNvPr id="106" name="正方形/長方形 105">
            <a:extLst>
              <a:ext uri="{FF2B5EF4-FFF2-40B4-BE49-F238E27FC236}">
                <a16:creationId xmlns:a16="http://schemas.microsoft.com/office/drawing/2014/main" id="{E0C6A75D-BBDF-301B-DF52-5D03D03A797A}"/>
              </a:ext>
            </a:extLst>
          </p:cNvPr>
          <p:cNvSpPr/>
          <p:nvPr/>
        </p:nvSpPr>
        <p:spPr bwMode="auto">
          <a:xfrm>
            <a:off x="9621020" y="2295136"/>
            <a:ext cx="888947" cy="104298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・サービス運営</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・売上管理</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・イベント企画</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・商品管理</a:t>
            </a:r>
            <a:endParaRPr lang="en-US" altLang="ja-JP" sz="900" b="1">
              <a:latin typeface="メイリオ" panose="020B0604030504040204" pitchFamily="50" charset="-128"/>
              <a:ea typeface="メイリオ" panose="020B0604030504040204" pitchFamily="50" charset="-128"/>
            </a:endParaRPr>
          </a:p>
        </p:txBody>
      </p:sp>
      <p:grpSp>
        <p:nvGrpSpPr>
          <p:cNvPr id="41" name="グループ化 40">
            <a:extLst>
              <a:ext uri="{FF2B5EF4-FFF2-40B4-BE49-F238E27FC236}">
                <a16:creationId xmlns:a16="http://schemas.microsoft.com/office/drawing/2014/main" id="{0EAD40B3-67D9-88D5-E427-D3E26B2F53C4}"/>
              </a:ext>
            </a:extLst>
          </p:cNvPr>
          <p:cNvGrpSpPr/>
          <p:nvPr/>
        </p:nvGrpSpPr>
        <p:grpSpPr>
          <a:xfrm>
            <a:off x="8143098" y="1919690"/>
            <a:ext cx="1515467" cy="1502478"/>
            <a:chOff x="692744" y="1926522"/>
            <a:chExt cx="1406724" cy="1502478"/>
          </a:xfrm>
        </p:grpSpPr>
        <p:sp>
          <p:nvSpPr>
            <p:cNvPr id="42" name="正方形/長方形 41">
              <a:extLst>
                <a:ext uri="{FF2B5EF4-FFF2-40B4-BE49-F238E27FC236}">
                  <a16:creationId xmlns:a16="http://schemas.microsoft.com/office/drawing/2014/main" id="{447C2256-C654-E604-F9FB-64BE39055053}"/>
                </a:ext>
              </a:extLst>
            </p:cNvPr>
            <p:cNvSpPr/>
            <p:nvPr/>
          </p:nvSpPr>
          <p:spPr bwMode="auto">
            <a:xfrm>
              <a:off x="692744" y="1926522"/>
              <a:ext cx="1223308" cy="1502478"/>
            </a:xfrm>
            <a:prstGeom prst="rect">
              <a:avLst/>
            </a:prstGeom>
            <a:solidFill>
              <a:schemeClr val="accent4">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43" name="二等辺三角形 42">
              <a:extLst>
                <a:ext uri="{FF2B5EF4-FFF2-40B4-BE49-F238E27FC236}">
                  <a16:creationId xmlns:a16="http://schemas.microsoft.com/office/drawing/2014/main" id="{B50DDAA1-1789-5909-9757-20C0CA27BB59}"/>
                </a:ext>
              </a:extLst>
            </p:cNvPr>
            <p:cNvSpPr/>
            <p:nvPr/>
          </p:nvSpPr>
          <p:spPr bwMode="auto">
            <a:xfrm rot="5400000">
              <a:off x="1699543" y="2586053"/>
              <a:ext cx="616434" cy="183416"/>
            </a:xfrm>
            <a:prstGeom prst="triangle">
              <a:avLst/>
            </a:prstGeom>
            <a:solidFill>
              <a:schemeClr val="accent4"/>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sp>
        <p:nvSpPr>
          <p:cNvPr id="100" name="テキスト ボックス 99">
            <a:extLst>
              <a:ext uri="{FF2B5EF4-FFF2-40B4-BE49-F238E27FC236}">
                <a16:creationId xmlns:a16="http://schemas.microsoft.com/office/drawing/2014/main" id="{7582AB7C-DB38-C998-295E-F6DCAC01AB22}"/>
              </a:ext>
            </a:extLst>
          </p:cNvPr>
          <p:cNvSpPr txBox="1"/>
          <p:nvPr/>
        </p:nvSpPr>
        <p:spPr>
          <a:xfrm>
            <a:off x="8122909" y="1983640"/>
            <a:ext cx="1282540" cy="276999"/>
          </a:xfrm>
          <a:prstGeom prst="rect">
            <a:avLst/>
          </a:prstGeom>
          <a:noFill/>
        </p:spPr>
        <p:txBody>
          <a:bodyPr wrap="square" rtlCol="0">
            <a:spAutoFit/>
          </a:bodyPr>
          <a:lstStyle/>
          <a:p>
            <a:pPr algn="ctr"/>
            <a:r>
              <a:rPr lang="ja-JP" altLang="en-US" sz="1200" b="1">
                <a:latin typeface="メイリオ" panose="020B0604030504040204" pitchFamily="50" charset="-128"/>
                <a:ea typeface="メイリオ" panose="020B0604030504040204" pitchFamily="50" charset="-128"/>
              </a:rPr>
              <a:t>品質･言語管理</a:t>
            </a:r>
            <a:endParaRPr lang="en-US" altLang="ja-JP" sz="1200" b="1">
              <a:latin typeface="メイリオ" panose="020B0604030504040204" pitchFamily="50" charset="-128"/>
              <a:ea typeface="メイリオ" panose="020B0604030504040204" pitchFamily="50" charset="-128"/>
            </a:endParaRPr>
          </a:p>
        </p:txBody>
      </p:sp>
      <p:sp>
        <p:nvSpPr>
          <p:cNvPr id="101" name="正方形/長方形 100">
            <a:extLst>
              <a:ext uri="{FF2B5EF4-FFF2-40B4-BE49-F238E27FC236}">
                <a16:creationId xmlns:a16="http://schemas.microsoft.com/office/drawing/2014/main" id="{7F165DE3-2418-3153-E9CC-FB028B0701A8}"/>
              </a:ext>
            </a:extLst>
          </p:cNvPr>
          <p:cNvSpPr/>
          <p:nvPr/>
        </p:nvSpPr>
        <p:spPr bwMode="auto">
          <a:xfrm>
            <a:off x="8216492" y="2295136"/>
            <a:ext cx="1145672" cy="104298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・デバック、</a:t>
            </a:r>
            <a:r>
              <a:rPr lang="en-US" altLang="ja-JP" sz="900" b="1">
                <a:latin typeface="メイリオ" panose="020B0604030504040204" pitchFamily="50" charset="-128"/>
                <a:ea typeface="メイリオ" panose="020B0604030504040204" pitchFamily="50" charset="-128"/>
              </a:rPr>
              <a:t>QA</a:t>
            </a: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・ローカライズ</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・テキスト翻訳</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・キャスティング</a:t>
            </a:r>
            <a:r>
              <a:rPr lang="en-US" altLang="ja-JP" sz="900" b="1">
                <a:latin typeface="メイリオ" panose="020B0604030504040204" pitchFamily="50" charset="-128"/>
                <a:ea typeface="メイリオ" panose="020B0604030504040204" pitchFamily="50" charset="-128"/>
              </a:rPr>
              <a:t>/</a:t>
            </a:r>
            <a:r>
              <a:rPr lang="ja-JP" altLang="en-US" sz="900" b="1">
                <a:latin typeface="メイリオ" panose="020B0604030504040204" pitchFamily="50" charset="-128"/>
                <a:ea typeface="メイリオ" panose="020B0604030504040204" pitchFamily="50" charset="-128"/>
              </a:rPr>
              <a:t>音声</a:t>
            </a:r>
            <a:endParaRPr lang="en-US" altLang="ja-JP" sz="900" b="1">
              <a:latin typeface="メイリオ" panose="020B0604030504040204" pitchFamily="50" charset="-128"/>
              <a:ea typeface="メイリオ" panose="020B0604030504040204" pitchFamily="50" charset="-128"/>
            </a:endParaRPr>
          </a:p>
        </p:txBody>
      </p:sp>
      <p:grpSp>
        <p:nvGrpSpPr>
          <p:cNvPr id="35" name="グループ化 34">
            <a:extLst>
              <a:ext uri="{FF2B5EF4-FFF2-40B4-BE49-F238E27FC236}">
                <a16:creationId xmlns:a16="http://schemas.microsoft.com/office/drawing/2014/main" id="{472895C3-A121-FD0C-74A4-797CD72C0B3D}"/>
              </a:ext>
            </a:extLst>
          </p:cNvPr>
          <p:cNvGrpSpPr/>
          <p:nvPr/>
        </p:nvGrpSpPr>
        <p:grpSpPr>
          <a:xfrm>
            <a:off x="5317853" y="1919690"/>
            <a:ext cx="2945553" cy="1502478"/>
            <a:chOff x="-634726" y="1926522"/>
            <a:chExt cx="2734194" cy="1502478"/>
          </a:xfrm>
        </p:grpSpPr>
        <p:sp>
          <p:nvSpPr>
            <p:cNvPr id="36" name="正方形/長方形 35">
              <a:extLst>
                <a:ext uri="{FF2B5EF4-FFF2-40B4-BE49-F238E27FC236}">
                  <a16:creationId xmlns:a16="http://schemas.microsoft.com/office/drawing/2014/main" id="{B54356AD-C7D6-7925-CC92-E693BC542953}"/>
                </a:ext>
              </a:extLst>
            </p:cNvPr>
            <p:cNvSpPr/>
            <p:nvPr/>
          </p:nvSpPr>
          <p:spPr bwMode="auto">
            <a:xfrm>
              <a:off x="-634726" y="1926522"/>
              <a:ext cx="2550778" cy="1502478"/>
            </a:xfrm>
            <a:prstGeom prst="rect">
              <a:avLst/>
            </a:prstGeom>
            <a:solidFill>
              <a:schemeClr val="accent4">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7" name="二等辺三角形 36">
              <a:extLst>
                <a:ext uri="{FF2B5EF4-FFF2-40B4-BE49-F238E27FC236}">
                  <a16:creationId xmlns:a16="http://schemas.microsoft.com/office/drawing/2014/main" id="{367AA539-2AD6-A42E-A2EE-E5DE220682F9}"/>
                </a:ext>
              </a:extLst>
            </p:cNvPr>
            <p:cNvSpPr/>
            <p:nvPr/>
          </p:nvSpPr>
          <p:spPr bwMode="auto">
            <a:xfrm rot="5400000">
              <a:off x="1699543" y="2586053"/>
              <a:ext cx="616434" cy="183416"/>
            </a:xfrm>
            <a:prstGeom prst="triangle">
              <a:avLst/>
            </a:prstGeom>
            <a:solidFill>
              <a:schemeClr val="accent4"/>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sp>
        <p:nvSpPr>
          <p:cNvPr id="92" name="テキスト ボックス 91">
            <a:extLst>
              <a:ext uri="{FF2B5EF4-FFF2-40B4-BE49-F238E27FC236}">
                <a16:creationId xmlns:a16="http://schemas.microsoft.com/office/drawing/2014/main" id="{7C92FAAD-59A2-BB1E-1399-7FE950771125}"/>
              </a:ext>
            </a:extLst>
          </p:cNvPr>
          <p:cNvSpPr txBox="1"/>
          <p:nvPr/>
        </p:nvSpPr>
        <p:spPr>
          <a:xfrm>
            <a:off x="5438912" y="1983640"/>
            <a:ext cx="2585196" cy="276999"/>
          </a:xfrm>
          <a:prstGeom prst="rect">
            <a:avLst/>
          </a:prstGeom>
          <a:noFill/>
        </p:spPr>
        <p:txBody>
          <a:bodyPr wrap="square" rtlCol="0">
            <a:spAutoFit/>
          </a:bodyPr>
          <a:lstStyle/>
          <a:p>
            <a:pPr algn="ctr"/>
            <a:r>
              <a:rPr lang="ja-JP" altLang="en-US" sz="1200" b="1">
                <a:latin typeface="メイリオ" panose="020B0604030504040204" pitchFamily="50" charset="-128"/>
                <a:ea typeface="メイリオ" panose="020B0604030504040204" pitchFamily="50" charset="-128"/>
              </a:rPr>
              <a:t>制作管理</a:t>
            </a:r>
            <a:endParaRPr lang="en-US" altLang="ja-JP" sz="1200" b="1">
              <a:latin typeface="メイリオ" panose="020B0604030504040204" pitchFamily="50" charset="-128"/>
              <a:ea typeface="メイリオ" panose="020B0604030504040204" pitchFamily="50" charset="-128"/>
            </a:endParaRPr>
          </a:p>
        </p:txBody>
      </p:sp>
      <p:sp>
        <p:nvSpPr>
          <p:cNvPr id="94" name="正方形/長方形 93">
            <a:extLst>
              <a:ext uri="{FF2B5EF4-FFF2-40B4-BE49-F238E27FC236}">
                <a16:creationId xmlns:a16="http://schemas.microsoft.com/office/drawing/2014/main" id="{15CA986F-6198-A60F-2E66-BF750322EE00}"/>
              </a:ext>
            </a:extLst>
          </p:cNvPr>
          <p:cNvSpPr/>
          <p:nvPr/>
        </p:nvSpPr>
        <p:spPr bwMode="auto">
          <a:xfrm>
            <a:off x="5395627" y="2295136"/>
            <a:ext cx="2585196" cy="104298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・キャラクター</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・背景</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a:t>
            </a:r>
            <a:r>
              <a:rPr lang="en-US" altLang="ja-JP" sz="900" b="1">
                <a:latin typeface="メイリオ" panose="020B0604030504040204" pitchFamily="50" charset="-128"/>
                <a:ea typeface="メイリオ" panose="020B0604030504040204" pitchFamily="50" charset="-128"/>
              </a:rPr>
              <a:t>CG</a:t>
            </a:r>
            <a:r>
              <a:rPr lang="ja-JP" altLang="en-US" sz="900" b="1">
                <a:latin typeface="メイリオ" panose="020B0604030504040204" pitchFamily="50" charset="-128"/>
                <a:ea typeface="メイリオ" panose="020B0604030504040204" pitchFamily="50" charset="-128"/>
              </a:rPr>
              <a:t>テクニカルサポート</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kumimoji="1" lang="ja-JP" altLang="en-US" sz="900" b="1" noProof="0">
                <a:latin typeface="メイリオ" panose="020B0604030504040204" pitchFamily="50" charset="-128"/>
                <a:ea typeface="メイリオ" panose="020B0604030504040204" pitchFamily="50" charset="-128"/>
              </a:rPr>
              <a:t>・</a:t>
            </a:r>
            <a:r>
              <a:rPr lang="ja-JP" altLang="en-US" sz="900" b="1">
                <a:latin typeface="メイリオ" panose="020B0604030504040204" pitchFamily="50" charset="-128"/>
                <a:ea typeface="メイリオ" panose="020B0604030504040204" pitchFamily="50" charset="-128"/>
              </a:rPr>
              <a:t>グラフィックデザイン</a:t>
            </a:r>
            <a:endParaRPr lang="en-US" altLang="ja-JP" sz="900" b="1">
              <a:latin typeface="メイリオ" panose="020B0604030504040204" pitchFamily="50" charset="-128"/>
              <a:ea typeface="メイリオ" panose="020B0604030504040204" pitchFamily="50" charset="-128"/>
            </a:endParaRPr>
          </a:p>
        </p:txBody>
      </p:sp>
      <p:grpSp>
        <p:nvGrpSpPr>
          <p:cNvPr id="32" name="グループ化 31">
            <a:extLst>
              <a:ext uri="{FF2B5EF4-FFF2-40B4-BE49-F238E27FC236}">
                <a16:creationId xmlns:a16="http://schemas.microsoft.com/office/drawing/2014/main" id="{5396D1EB-3E5E-8D26-3EA8-14D52B6E8790}"/>
              </a:ext>
            </a:extLst>
          </p:cNvPr>
          <p:cNvGrpSpPr/>
          <p:nvPr/>
        </p:nvGrpSpPr>
        <p:grpSpPr>
          <a:xfrm>
            <a:off x="3915413" y="1919690"/>
            <a:ext cx="1515467" cy="1502478"/>
            <a:chOff x="692744" y="1926522"/>
            <a:chExt cx="1406724" cy="1502478"/>
          </a:xfrm>
        </p:grpSpPr>
        <p:sp>
          <p:nvSpPr>
            <p:cNvPr id="33" name="正方形/長方形 32">
              <a:extLst>
                <a:ext uri="{FF2B5EF4-FFF2-40B4-BE49-F238E27FC236}">
                  <a16:creationId xmlns:a16="http://schemas.microsoft.com/office/drawing/2014/main" id="{402C40EA-AB4F-E4DA-559F-F0766A352260}"/>
                </a:ext>
              </a:extLst>
            </p:cNvPr>
            <p:cNvSpPr/>
            <p:nvPr/>
          </p:nvSpPr>
          <p:spPr bwMode="auto">
            <a:xfrm>
              <a:off x="692744" y="1926522"/>
              <a:ext cx="1223308" cy="1502478"/>
            </a:xfrm>
            <a:prstGeom prst="rect">
              <a:avLst/>
            </a:prstGeom>
            <a:solidFill>
              <a:schemeClr val="accent4">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4" name="二等辺三角形 33">
              <a:extLst>
                <a:ext uri="{FF2B5EF4-FFF2-40B4-BE49-F238E27FC236}">
                  <a16:creationId xmlns:a16="http://schemas.microsoft.com/office/drawing/2014/main" id="{6451EF9D-09AA-B127-CF8B-DF7E731C9184}"/>
                </a:ext>
              </a:extLst>
            </p:cNvPr>
            <p:cNvSpPr/>
            <p:nvPr/>
          </p:nvSpPr>
          <p:spPr bwMode="auto">
            <a:xfrm rot="5400000">
              <a:off x="1699543" y="2586053"/>
              <a:ext cx="616434" cy="183416"/>
            </a:xfrm>
            <a:prstGeom prst="triangle">
              <a:avLst/>
            </a:prstGeom>
            <a:solidFill>
              <a:schemeClr val="accent4"/>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sp>
        <p:nvSpPr>
          <p:cNvPr id="2" name="コンテンツ プレースホルダー 1">
            <a:extLst>
              <a:ext uri="{FF2B5EF4-FFF2-40B4-BE49-F238E27FC236}">
                <a16:creationId xmlns:a16="http://schemas.microsoft.com/office/drawing/2014/main" id="{BDAC9433-ED96-6B14-F38C-7124B9B01C35}"/>
              </a:ext>
            </a:extLst>
          </p:cNvPr>
          <p:cNvSpPr>
            <a:spLocks noGrp="1"/>
          </p:cNvSpPr>
          <p:nvPr>
            <p:ph idx="10"/>
          </p:nvPr>
        </p:nvSpPr>
        <p:spPr>
          <a:xfrm>
            <a:off x="653802" y="652081"/>
            <a:ext cx="11086078" cy="461665"/>
          </a:xfrm>
        </p:spPr>
        <p:txBody>
          <a:bodyPr>
            <a:normAutofit/>
          </a:bodyPr>
          <a:lstStyle/>
          <a:p>
            <a:r>
              <a:rPr kumimoji="1" lang="ja-JP" altLang="en-US"/>
              <a:t>経営課題から企画･開発･運営まで、上流工程から幅広くご支援が可能です。</a:t>
            </a:r>
            <a:endParaRPr kumimoji="1" lang="en-US" altLang="ja-JP"/>
          </a:p>
        </p:txBody>
      </p:sp>
      <p:grpSp>
        <p:nvGrpSpPr>
          <p:cNvPr id="12" name="グループ化 11">
            <a:extLst>
              <a:ext uri="{FF2B5EF4-FFF2-40B4-BE49-F238E27FC236}">
                <a16:creationId xmlns:a16="http://schemas.microsoft.com/office/drawing/2014/main" id="{9A6F432A-3095-F730-BAD0-DB2A967B8977}"/>
              </a:ext>
            </a:extLst>
          </p:cNvPr>
          <p:cNvGrpSpPr/>
          <p:nvPr/>
        </p:nvGrpSpPr>
        <p:grpSpPr>
          <a:xfrm>
            <a:off x="626249" y="1541155"/>
            <a:ext cx="11193584" cy="309389"/>
            <a:chOff x="653801" y="1343176"/>
            <a:chExt cx="11258740" cy="309389"/>
          </a:xfrm>
        </p:grpSpPr>
        <p:sp>
          <p:nvSpPr>
            <p:cNvPr id="8" name="平行四辺形 7">
              <a:extLst>
                <a:ext uri="{FF2B5EF4-FFF2-40B4-BE49-F238E27FC236}">
                  <a16:creationId xmlns:a16="http://schemas.microsoft.com/office/drawing/2014/main" id="{E558DA51-6A38-14A4-7625-733550CF76E8}"/>
                </a:ext>
              </a:extLst>
            </p:cNvPr>
            <p:cNvSpPr/>
            <p:nvPr/>
          </p:nvSpPr>
          <p:spPr bwMode="auto">
            <a:xfrm>
              <a:off x="653801" y="1344788"/>
              <a:ext cx="1296899" cy="307777"/>
            </a:xfrm>
            <a:prstGeom prst="parallelogram">
              <a:avLst/>
            </a:prstGeom>
            <a:solidFill>
              <a:schemeClr val="accent4"/>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400" b="1" noProof="0">
                  <a:solidFill>
                    <a:schemeClr val="bg1"/>
                  </a:solidFill>
                  <a:latin typeface="メイリオ" panose="020B0604030504040204" pitchFamily="50" charset="-128"/>
                  <a:ea typeface="メイリオ" panose="020B0604030504040204" pitchFamily="50" charset="-128"/>
                </a:rPr>
                <a:t>経営</a:t>
              </a:r>
            </a:p>
          </p:txBody>
        </p:sp>
        <p:sp>
          <p:nvSpPr>
            <p:cNvPr id="9" name="平行四辺形 8">
              <a:extLst>
                <a:ext uri="{FF2B5EF4-FFF2-40B4-BE49-F238E27FC236}">
                  <a16:creationId xmlns:a16="http://schemas.microsoft.com/office/drawing/2014/main" id="{4A1B58CA-35D3-CF15-5117-375EBDAA4323}"/>
                </a:ext>
              </a:extLst>
            </p:cNvPr>
            <p:cNvSpPr/>
            <p:nvPr/>
          </p:nvSpPr>
          <p:spPr bwMode="auto">
            <a:xfrm>
              <a:off x="1950700" y="1344788"/>
              <a:ext cx="2014027" cy="307777"/>
            </a:xfrm>
            <a:prstGeom prst="parallelogram">
              <a:avLst/>
            </a:prstGeom>
            <a:solidFill>
              <a:schemeClr val="accent4"/>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400" b="1" noProof="0">
                  <a:solidFill>
                    <a:schemeClr val="bg1"/>
                  </a:solidFill>
                  <a:latin typeface="メイリオ" panose="020B0604030504040204" pitchFamily="50" charset="-128"/>
                  <a:ea typeface="メイリオ" panose="020B0604030504040204" pitchFamily="50" charset="-128"/>
                </a:rPr>
                <a:t>プロデュース</a:t>
              </a:r>
            </a:p>
          </p:txBody>
        </p:sp>
        <p:sp>
          <p:nvSpPr>
            <p:cNvPr id="10" name="平行四辺形 9">
              <a:extLst>
                <a:ext uri="{FF2B5EF4-FFF2-40B4-BE49-F238E27FC236}">
                  <a16:creationId xmlns:a16="http://schemas.microsoft.com/office/drawing/2014/main" id="{77758035-A7F0-CB30-030C-EAEA4F425313}"/>
                </a:ext>
              </a:extLst>
            </p:cNvPr>
            <p:cNvSpPr/>
            <p:nvPr/>
          </p:nvSpPr>
          <p:spPr bwMode="auto">
            <a:xfrm>
              <a:off x="3964727" y="1343982"/>
              <a:ext cx="5653923" cy="307777"/>
            </a:xfrm>
            <a:prstGeom prst="parallelogram">
              <a:avLst/>
            </a:prstGeom>
            <a:solidFill>
              <a:schemeClr val="accent4"/>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400" b="1" noProof="0">
                  <a:solidFill>
                    <a:schemeClr val="bg1"/>
                  </a:solidFill>
                  <a:latin typeface="メイリオ" panose="020B0604030504040204" pitchFamily="50" charset="-128"/>
                  <a:ea typeface="メイリオ" panose="020B0604030504040204" pitchFamily="50" charset="-128"/>
                </a:rPr>
                <a:t>制作・サービス構築</a:t>
              </a:r>
            </a:p>
          </p:txBody>
        </p:sp>
        <p:sp>
          <p:nvSpPr>
            <p:cNvPr id="11" name="平行四辺形 10">
              <a:extLst>
                <a:ext uri="{FF2B5EF4-FFF2-40B4-BE49-F238E27FC236}">
                  <a16:creationId xmlns:a16="http://schemas.microsoft.com/office/drawing/2014/main" id="{C6B73925-B637-4D03-88FD-7BFD9438F12C}"/>
                </a:ext>
              </a:extLst>
            </p:cNvPr>
            <p:cNvSpPr/>
            <p:nvPr/>
          </p:nvSpPr>
          <p:spPr bwMode="auto">
            <a:xfrm>
              <a:off x="9618650" y="1343176"/>
              <a:ext cx="2293891" cy="307777"/>
            </a:xfrm>
            <a:prstGeom prst="parallelogram">
              <a:avLst/>
            </a:prstGeom>
            <a:solidFill>
              <a:schemeClr val="accent4"/>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400" b="1" noProof="0">
                  <a:solidFill>
                    <a:schemeClr val="bg1"/>
                  </a:solidFill>
                  <a:latin typeface="メイリオ" panose="020B0604030504040204" pitchFamily="50" charset="-128"/>
                  <a:ea typeface="メイリオ" panose="020B0604030504040204" pitchFamily="50" charset="-128"/>
                </a:rPr>
                <a:t>運営・集客</a:t>
              </a:r>
            </a:p>
          </p:txBody>
        </p:sp>
      </p:grpSp>
      <p:sp>
        <p:nvSpPr>
          <p:cNvPr id="15" name="テキスト ボックス 14">
            <a:extLst>
              <a:ext uri="{FF2B5EF4-FFF2-40B4-BE49-F238E27FC236}">
                <a16:creationId xmlns:a16="http://schemas.microsoft.com/office/drawing/2014/main" id="{8A0D4192-8607-3F19-6767-29DE20780E64}"/>
              </a:ext>
            </a:extLst>
          </p:cNvPr>
          <p:cNvSpPr txBox="1"/>
          <p:nvPr/>
        </p:nvSpPr>
        <p:spPr>
          <a:xfrm>
            <a:off x="5540002" y="1234956"/>
            <a:ext cx="3186806" cy="230832"/>
          </a:xfrm>
          <a:prstGeom prst="rect">
            <a:avLst/>
          </a:prstGeom>
          <a:noFill/>
        </p:spPr>
        <p:txBody>
          <a:bodyPr wrap="square" rtlCol="0">
            <a:spAutoFit/>
          </a:bodyPr>
          <a:lstStyle/>
          <a:p>
            <a:pPr algn="ctr"/>
            <a:r>
              <a:rPr lang="ja-JP" altLang="en-US" sz="900" b="1">
                <a:solidFill>
                  <a:schemeClr val="accent4">
                    <a:lumMod val="75000"/>
                  </a:schemeClr>
                </a:solidFill>
                <a:latin typeface="メイリオ" panose="020B0604030504040204" pitchFamily="50" charset="-128"/>
                <a:ea typeface="メイリオ" panose="020B0604030504040204" pitchFamily="50" charset="-128"/>
              </a:rPr>
              <a:t>カスタマーリレーション･</a:t>
            </a:r>
            <a:r>
              <a:rPr lang="en-US" altLang="ja-JP" sz="900" b="1">
                <a:solidFill>
                  <a:schemeClr val="accent4">
                    <a:lumMod val="75000"/>
                  </a:schemeClr>
                </a:solidFill>
                <a:latin typeface="メイリオ" panose="020B0604030504040204" pitchFamily="50" charset="-128"/>
                <a:ea typeface="メイリオ" panose="020B0604030504040204" pitchFamily="50" charset="-128"/>
              </a:rPr>
              <a:t>UX</a:t>
            </a:r>
            <a:r>
              <a:rPr lang="ja-JP" altLang="en-US" sz="900" b="1">
                <a:solidFill>
                  <a:schemeClr val="accent4">
                    <a:lumMod val="75000"/>
                  </a:schemeClr>
                </a:solidFill>
                <a:latin typeface="メイリオ" panose="020B0604030504040204" pitchFamily="50" charset="-128"/>
                <a:ea typeface="メイリオ" panose="020B0604030504040204" pitchFamily="50" charset="-128"/>
              </a:rPr>
              <a:t>デザイン</a:t>
            </a:r>
            <a:endParaRPr lang="en-US" altLang="ja-JP" sz="900" b="1">
              <a:solidFill>
                <a:schemeClr val="accent4">
                  <a:lumMod val="75000"/>
                </a:schemeClr>
              </a:solidFill>
              <a:latin typeface="メイリオ" panose="020B0604030504040204" pitchFamily="50" charset="-128"/>
              <a:ea typeface="メイリオ" panose="020B0604030504040204" pitchFamily="50" charset="-128"/>
            </a:endParaRPr>
          </a:p>
        </p:txBody>
      </p:sp>
      <p:sp>
        <p:nvSpPr>
          <p:cNvPr id="16" name="平行四辺形 15">
            <a:extLst>
              <a:ext uri="{FF2B5EF4-FFF2-40B4-BE49-F238E27FC236}">
                <a16:creationId xmlns:a16="http://schemas.microsoft.com/office/drawing/2014/main" id="{116DA89C-4AD6-1999-D151-11EB2776B6DC}"/>
              </a:ext>
            </a:extLst>
          </p:cNvPr>
          <p:cNvSpPr/>
          <p:nvPr/>
        </p:nvSpPr>
        <p:spPr bwMode="auto">
          <a:xfrm>
            <a:off x="723362" y="1165650"/>
            <a:ext cx="300754" cy="307777"/>
          </a:xfrm>
          <a:prstGeom prst="parallelogram">
            <a:avLst/>
          </a:prstGeom>
          <a:solidFill>
            <a:schemeClr val="accent4"/>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endParaRPr kumimoji="1" lang="ja-JP" altLang="en-US" sz="1600" b="1" noProof="0">
              <a:solidFill>
                <a:schemeClr val="bg1"/>
              </a:solidFill>
              <a:latin typeface="Meiryo UI" panose="020B0604030504040204" pitchFamily="50" charset="-128"/>
              <a:ea typeface="Meiryo UI" panose="020B0604030504040204" pitchFamily="50" charset="-128"/>
            </a:endParaRPr>
          </a:p>
        </p:txBody>
      </p:sp>
      <p:sp>
        <p:nvSpPr>
          <p:cNvPr id="55" name="テキスト ボックス 54">
            <a:extLst>
              <a:ext uri="{FF2B5EF4-FFF2-40B4-BE49-F238E27FC236}">
                <a16:creationId xmlns:a16="http://schemas.microsoft.com/office/drawing/2014/main" id="{663A11DD-DA7A-46FA-9C8A-6508E0896C97}"/>
              </a:ext>
            </a:extLst>
          </p:cNvPr>
          <p:cNvSpPr txBox="1"/>
          <p:nvPr/>
        </p:nvSpPr>
        <p:spPr>
          <a:xfrm>
            <a:off x="3906397" y="1983640"/>
            <a:ext cx="1282540" cy="276999"/>
          </a:xfrm>
          <a:prstGeom prst="rect">
            <a:avLst/>
          </a:prstGeom>
          <a:noFill/>
        </p:spPr>
        <p:txBody>
          <a:bodyPr wrap="square" rtlCol="0">
            <a:spAutoFit/>
          </a:bodyPr>
          <a:lstStyle/>
          <a:p>
            <a:pPr algn="ctr"/>
            <a:r>
              <a:rPr lang="ja-JP" altLang="en-US" sz="1200" b="1">
                <a:latin typeface="メイリオ" panose="020B0604030504040204" pitchFamily="50" charset="-128"/>
                <a:ea typeface="メイリオ" panose="020B0604030504040204" pitchFamily="50" charset="-128"/>
              </a:rPr>
              <a:t>開発管理</a:t>
            </a:r>
            <a:endParaRPr lang="en-US" altLang="ja-JP" sz="1200" b="1">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B9797F41-CECF-DC10-CAD0-667703F90C0A}"/>
              </a:ext>
            </a:extLst>
          </p:cNvPr>
          <p:cNvSpPr/>
          <p:nvPr/>
        </p:nvSpPr>
        <p:spPr bwMode="auto">
          <a:xfrm>
            <a:off x="3999980" y="2295136"/>
            <a:ext cx="1145672" cy="104298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・プロトタイプ</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・システム設計</a:t>
            </a:r>
            <a:r>
              <a:rPr lang="en-US" altLang="ja-JP" sz="900" b="1">
                <a:latin typeface="メイリオ" panose="020B0604030504040204" pitchFamily="50" charset="-128"/>
                <a:ea typeface="メイリオ" panose="020B0604030504040204" pitchFamily="50" charset="-128"/>
              </a:rPr>
              <a:t>/</a:t>
            </a:r>
            <a:r>
              <a:rPr lang="ja-JP" altLang="en-US" sz="900" b="1">
                <a:latin typeface="メイリオ" panose="020B0604030504040204" pitchFamily="50" charset="-128"/>
                <a:ea typeface="メイリオ" panose="020B0604030504040204" pitchFamily="50" charset="-128"/>
              </a:rPr>
              <a:t>仕様</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a:t>
            </a:r>
            <a:r>
              <a:rPr lang="en-US" altLang="ja-JP" sz="900" b="1">
                <a:latin typeface="メイリオ" panose="020B0604030504040204" pitchFamily="50" charset="-128"/>
                <a:ea typeface="メイリオ" panose="020B0604030504040204" pitchFamily="50" charset="-128"/>
              </a:rPr>
              <a:t>α</a:t>
            </a:r>
            <a:r>
              <a:rPr lang="ja-JP" altLang="en-US" sz="900" b="1">
                <a:latin typeface="メイリオ" panose="020B0604030504040204" pitchFamily="50" charset="-128"/>
                <a:ea typeface="メイリオ" panose="020B0604030504040204" pitchFamily="50" charset="-128"/>
              </a:rPr>
              <a:t>開発、</a:t>
            </a:r>
            <a:r>
              <a:rPr lang="en-US" altLang="ja-JP" sz="900" b="1">
                <a:latin typeface="メイリオ" panose="020B0604030504040204" pitchFamily="50" charset="-128"/>
                <a:ea typeface="メイリオ" panose="020B0604030504040204" pitchFamily="50" charset="-128"/>
              </a:rPr>
              <a:t>β</a:t>
            </a:r>
            <a:r>
              <a:rPr lang="ja-JP" altLang="en-US" sz="900" b="1">
                <a:latin typeface="メイリオ" panose="020B0604030504040204" pitchFamily="50" charset="-128"/>
                <a:ea typeface="メイリオ" panose="020B0604030504040204" pitchFamily="50" charset="-128"/>
              </a:rPr>
              <a:t>開発</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a:t>
            </a:r>
            <a:r>
              <a:rPr kumimoji="1" lang="en-US" altLang="ja-JP" sz="900" b="1" noProof="0">
                <a:latin typeface="メイリオ" panose="020B0604030504040204" pitchFamily="50" charset="-128"/>
                <a:ea typeface="メイリオ" panose="020B0604030504040204" pitchFamily="50" charset="-128"/>
              </a:rPr>
              <a:t>UI</a:t>
            </a:r>
            <a:r>
              <a:rPr kumimoji="1" lang="ja-JP" altLang="en-US" sz="900" b="1" noProof="0">
                <a:latin typeface="メイリオ" panose="020B0604030504040204" pitchFamily="50" charset="-128"/>
                <a:ea typeface="メイリオ" panose="020B0604030504040204" pitchFamily="50" charset="-128"/>
              </a:rPr>
              <a:t>デザイン</a:t>
            </a:r>
          </a:p>
        </p:txBody>
      </p:sp>
      <p:grpSp>
        <p:nvGrpSpPr>
          <p:cNvPr id="66" name="グループ化 65">
            <a:extLst>
              <a:ext uri="{FF2B5EF4-FFF2-40B4-BE49-F238E27FC236}">
                <a16:creationId xmlns:a16="http://schemas.microsoft.com/office/drawing/2014/main" id="{2C4E2A7B-609D-57D6-80CB-C1E4A67E5156}"/>
              </a:ext>
            </a:extLst>
          </p:cNvPr>
          <p:cNvGrpSpPr/>
          <p:nvPr/>
        </p:nvGrpSpPr>
        <p:grpSpPr>
          <a:xfrm>
            <a:off x="1915644" y="1926522"/>
            <a:ext cx="2106822" cy="1502478"/>
            <a:chOff x="90743" y="1926522"/>
            <a:chExt cx="2008725" cy="1502478"/>
          </a:xfrm>
        </p:grpSpPr>
        <p:sp>
          <p:nvSpPr>
            <p:cNvPr id="67" name="正方形/長方形 66">
              <a:extLst>
                <a:ext uri="{FF2B5EF4-FFF2-40B4-BE49-F238E27FC236}">
                  <a16:creationId xmlns:a16="http://schemas.microsoft.com/office/drawing/2014/main" id="{CC1B6F69-85E8-BAFA-BE5C-6CE7D2BEBF84}"/>
                </a:ext>
              </a:extLst>
            </p:cNvPr>
            <p:cNvSpPr/>
            <p:nvPr/>
          </p:nvSpPr>
          <p:spPr bwMode="auto">
            <a:xfrm>
              <a:off x="90743" y="1926522"/>
              <a:ext cx="1825309" cy="1502478"/>
            </a:xfrm>
            <a:prstGeom prst="rect">
              <a:avLst/>
            </a:prstGeom>
            <a:solidFill>
              <a:schemeClr val="accent4">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68" name="二等辺三角形 67">
              <a:extLst>
                <a:ext uri="{FF2B5EF4-FFF2-40B4-BE49-F238E27FC236}">
                  <a16:creationId xmlns:a16="http://schemas.microsoft.com/office/drawing/2014/main" id="{0E8A1D6D-1761-2CE0-37DD-C16488707AD3}"/>
                </a:ext>
              </a:extLst>
            </p:cNvPr>
            <p:cNvSpPr/>
            <p:nvPr/>
          </p:nvSpPr>
          <p:spPr bwMode="auto">
            <a:xfrm rot="5400000">
              <a:off x="1699543" y="2586053"/>
              <a:ext cx="616434" cy="183416"/>
            </a:xfrm>
            <a:prstGeom prst="triangle">
              <a:avLst/>
            </a:prstGeom>
            <a:solidFill>
              <a:schemeClr val="accent4"/>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sp>
        <p:nvSpPr>
          <p:cNvPr id="69" name="正方形/長方形 68">
            <a:extLst>
              <a:ext uri="{FF2B5EF4-FFF2-40B4-BE49-F238E27FC236}">
                <a16:creationId xmlns:a16="http://schemas.microsoft.com/office/drawing/2014/main" id="{A8B15011-3A02-8301-DF6C-9B1197FFA4A5}"/>
              </a:ext>
            </a:extLst>
          </p:cNvPr>
          <p:cNvSpPr/>
          <p:nvPr/>
        </p:nvSpPr>
        <p:spPr bwMode="auto">
          <a:xfrm>
            <a:off x="1991948" y="2295136"/>
            <a:ext cx="1759898" cy="1042988"/>
          </a:xfrm>
          <a:prstGeom prst="rect">
            <a:avLst/>
          </a:prstGeom>
          <a:solidFill>
            <a:schemeClr val="bg1"/>
          </a:solidFill>
          <a:ln w="38100" algn="ctr">
            <a:noFill/>
            <a:miter lim="800000"/>
            <a:headEnd/>
            <a:tailEnd/>
          </a:ln>
          <a:effectLst/>
        </p:spPr>
        <p:txBody>
          <a:bodyPr wrap="none" lIns="90000" tIns="46800" rIns="90000" bIns="46800" rtlCol="0" anchor="ctr"/>
          <a:lstStyle/>
          <a:p>
            <a:pPr fontAlgn="base">
              <a:spcBef>
                <a:spcPct val="50000"/>
              </a:spcBef>
              <a:spcAft>
                <a:spcPct val="0"/>
              </a:spcAft>
            </a:pPr>
            <a:r>
              <a:rPr kumimoji="1" lang="ja-JP" altLang="en-US" sz="900" b="1" noProof="0">
                <a:latin typeface="メイリオ" panose="020B0604030504040204" pitchFamily="50" charset="-128"/>
                <a:ea typeface="メイリオ" panose="020B0604030504040204" pitchFamily="50" charset="-128"/>
              </a:rPr>
              <a:t>・予算策定（体制提案）</a:t>
            </a:r>
            <a:endParaRPr kumimoji="1" lang="en-US" altLang="ja-JP" sz="900" b="1" noProof="0">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・コンセプト設計</a:t>
            </a:r>
            <a:r>
              <a:rPr lang="en-US" altLang="ja-JP" sz="900" b="1">
                <a:latin typeface="メイリオ" panose="020B0604030504040204" pitchFamily="50" charset="-128"/>
                <a:ea typeface="メイリオ" panose="020B0604030504040204" pitchFamily="50" charset="-128"/>
              </a:rPr>
              <a:t>/</a:t>
            </a:r>
            <a:r>
              <a:rPr lang="ja-JP" altLang="en-US" sz="900" b="1">
                <a:latin typeface="メイリオ" panose="020B0604030504040204" pitchFamily="50" charset="-128"/>
                <a:ea typeface="メイリオ" panose="020B0604030504040204" pitchFamily="50" charset="-128"/>
              </a:rPr>
              <a:t>アート</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・プロダクトデザイン</a:t>
            </a:r>
            <a:r>
              <a:rPr lang="en-US" altLang="ja-JP" sz="900" b="1">
                <a:latin typeface="メイリオ" panose="020B0604030504040204" pitchFamily="50" charset="-128"/>
                <a:ea typeface="メイリオ" panose="020B0604030504040204" pitchFamily="50" charset="-128"/>
              </a:rPr>
              <a:t>/</a:t>
            </a:r>
            <a:r>
              <a:rPr lang="ja-JP" altLang="en-US" sz="900" b="1">
                <a:latin typeface="メイリオ" panose="020B0604030504040204" pitchFamily="50" charset="-128"/>
                <a:ea typeface="メイリオ" panose="020B0604030504040204" pitchFamily="50" charset="-128"/>
              </a:rPr>
              <a:t>仕様</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・シナリオ作成</a:t>
            </a:r>
            <a:endParaRPr kumimoji="1" lang="ja-JP" altLang="en-US" sz="900" b="1" noProof="0">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97873B53-3416-1E78-9079-862A05CAAB42}"/>
              </a:ext>
            </a:extLst>
          </p:cNvPr>
          <p:cNvSpPr txBox="1"/>
          <p:nvPr/>
        </p:nvSpPr>
        <p:spPr>
          <a:xfrm>
            <a:off x="2085530" y="1983640"/>
            <a:ext cx="1552190" cy="276999"/>
          </a:xfrm>
          <a:prstGeom prst="rect">
            <a:avLst/>
          </a:prstGeom>
          <a:noFill/>
        </p:spPr>
        <p:txBody>
          <a:bodyPr wrap="square" rtlCol="0">
            <a:spAutoFit/>
          </a:bodyPr>
          <a:lstStyle/>
          <a:p>
            <a:pPr algn="ctr"/>
            <a:r>
              <a:rPr lang="ja-JP" altLang="en-US" sz="1200" b="1">
                <a:latin typeface="メイリオ" panose="020B0604030504040204" pitchFamily="50" charset="-128"/>
                <a:ea typeface="メイリオ" panose="020B0604030504040204" pitchFamily="50" charset="-128"/>
              </a:rPr>
              <a:t>企画･設計</a:t>
            </a:r>
            <a:endParaRPr lang="en-US" altLang="ja-JP" sz="1200" b="1">
              <a:latin typeface="メイリオ" panose="020B0604030504040204" pitchFamily="50" charset="-128"/>
              <a:ea typeface="メイリオ" panose="020B0604030504040204" pitchFamily="50" charset="-128"/>
            </a:endParaRPr>
          </a:p>
        </p:txBody>
      </p:sp>
      <p:grpSp>
        <p:nvGrpSpPr>
          <p:cNvPr id="76" name="グループ化 75">
            <a:extLst>
              <a:ext uri="{FF2B5EF4-FFF2-40B4-BE49-F238E27FC236}">
                <a16:creationId xmlns:a16="http://schemas.microsoft.com/office/drawing/2014/main" id="{AD52DFD4-3165-AC93-C580-C01B5B36327B}"/>
              </a:ext>
            </a:extLst>
          </p:cNvPr>
          <p:cNvGrpSpPr/>
          <p:nvPr/>
        </p:nvGrpSpPr>
        <p:grpSpPr>
          <a:xfrm>
            <a:off x="626249" y="1926522"/>
            <a:ext cx="1387491" cy="1502478"/>
            <a:chOff x="711977" y="1926522"/>
            <a:chExt cx="1387491" cy="1502478"/>
          </a:xfrm>
        </p:grpSpPr>
        <p:sp>
          <p:nvSpPr>
            <p:cNvPr id="83" name="正方形/長方形 82">
              <a:extLst>
                <a:ext uri="{FF2B5EF4-FFF2-40B4-BE49-F238E27FC236}">
                  <a16:creationId xmlns:a16="http://schemas.microsoft.com/office/drawing/2014/main" id="{FA552191-564E-6830-376A-C4A66477CC8E}"/>
                </a:ext>
              </a:extLst>
            </p:cNvPr>
            <p:cNvSpPr/>
            <p:nvPr/>
          </p:nvSpPr>
          <p:spPr bwMode="auto">
            <a:xfrm>
              <a:off x="711977" y="1926522"/>
              <a:ext cx="1204075" cy="1502478"/>
            </a:xfrm>
            <a:prstGeom prst="rect">
              <a:avLst/>
            </a:prstGeom>
            <a:solidFill>
              <a:schemeClr val="accent4">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86" name="二等辺三角形 85">
              <a:extLst>
                <a:ext uri="{FF2B5EF4-FFF2-40B4-BE49-F238E27FC236}">
                  <a16:creationId xmlns:a16="http://schemas.microsoft.com/office/drawing/2014/main" id="{677D6395-D46A-BB5A-5BCB-4C8236D90D7C}"/>
                </a:ext>
              </a:extLst>
            </p:cNvPr>
            <p:cNvSpPr/>
            <p:nvPr/>
          </p:nvSpPr>
          <p:spPr bwMode="auto">
            <a:xfrm rot="5400000">
              <a:off x="1699543" y="2586053"/>
              <a:ext cx="616434" cy="183416"/>
            </a:xfrm>
            <a:prstGeom prst="triangle">
              <a:avLst/>
            </a:prstGeom>
            <a:solidFill>
              <a:schemeClr val="accent4"/>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sp>
        <p:nvSpPr>
          <p:cNvPr id="88" name="正方形/長方形 87">
            <a:extLst>
              <a:ext uri="{FF2B5EF4-FFF2-40B4-BE49-F238E27FC236}">
                <a16:creationId xmlns:a16="http://schemas.microsoft.com/office/drawing/2014/main" id="{8900FE38-336E-BE3A-FC2C-5A834309BB9B}"/>
              </a:ext>
            </a:extLst>
          </p:cNvPr>
          <p:cNvSpPr/>
          <p:nvPr/>
        </p:nvSpPr>
        <p:spPr bwMode="auto">
          <a:xfrm>
            <a:off x="702664" y="2295136"/>
            <a:ext cx="1045810" cy="1042988"/>
          </a:xfrm>
          <a:prstGeom prst="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・コンサルティング</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kumimoji="1" lang="ja-JP" altLang="en-US" sz="900" b="1" noProof="0">
                <a:latin typeface="メイリオ" panose="020B0604030504040204" pitchFamily="50" charset="-128"/>
                <a:ea typeface="メイリオ" panose="020B0604030504040204" pitchFamily="50" charset="-128"/>
              </a:rPr>
              <a:t>・戦略</a:t>
            </a:r>
            <a:r>
              <a:rPr kumimoji="1" lang="en-US" altLang="ja-JP" sz="900" b="1" noProof="0">
                <a:latin typeface="メイリオ" panose="020B0604030504040204" pitchFamily="50" charset="-128"/>
                <a:ea typeface="メイリオ" panose="020B0604030504040204" pitchFamily="50" charset="-128"/>
              </a:rPr>
              <a:t>/</a:t>
            </a:r>
            <a:r>
              <a:rPr kumimoji="1" lang="ja-JP" altLang="en-US" sz="900" b="1" noProof="0">
                <a:latin typeface="メイリオ" panose="020B0604030504040204" pitchFamily="50" charset="-128"/>
                <a:ea typeface="メイリオ" panose="020B0604030504040204" pitchFamily="50" charset="-128"/>
              </a:rPr>
              <a:t>事業計画</a:t>
            </a:r>
            <a:endParaRPr kumimoji="1" lang="en-US" altLang="ja-JP" sz="900" b="1" noProof="0">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a:t>
            </a:r>
            <a:r>
              <a:rPr lang="en-US" altLang="ja-JP" sz="900" b="1">
                <a:latin typeface="メイリオ" panose="020B0604030504040204" pitchFamily="50" charset="-128"/>
                <a:ea typeface="メイリオ" panose="020B0604030504040204" pitchFamily="50" charset="-128"/>
              </a:rPr>
              <a:t>M&amp;A</a:t>
            </a:r>
          </a:p>
          <a:p>
            <a:pPr algn="l" defTabSz="914400" fontAlgn="base">
              <a:spcBef>
                <a:spcPct val="50000"/>
              </a:spcBef>
              <a:spcAft>
                <a:spcPct val="0"/>
              </a:spcAft>
            </a:pPr>
            <a:r>
              <a:rPr kumimoji="1" lang="ja-JP" altLang="en-US" sz="900" b="1" noProof="0">
                <a:latin typeface="メイリオ" panose="020B0604030504040204" pitchFamily="50" charset="-128"/>
                <a:ea typeface="メイリオ" panose="020B0604030504040204" pitchFamily="50" charset="-128"/>
              </a:rPr>
              <a:t>・海外</a:t>
            </a:r>
          </a:p>
        </p:txBody>
      </p:sp>
      <p:sp>
        <p:nvSpPr>
          <p:cNvPr id="91" name="テキスト ボックス 90">
            <a:extLst>
              <a:ext uri="{FF2B5EF4-FFF2-40B4-BE49-F238E27FC236}">
                <a16:creationId xmlns:a16="http://schemas.microsoft.com/office/drawing/2014/main" id="{8ECE430D-E9A3-ADB5-EF14-7028507BEAF7}"/>
              </a:ext>
            </a:extLst>
          </p:cNvPr>
          <p:cNvSpPr txBox="1"/>
          <p:nvPr/>
        </p:nvSpPr>
        <p:spPr>
          <a:xfrm>
            <a:off x="743635" y="1983640"/>
            <a:ext cx="963869" cy="276999"/>
          </a:xfrm>
          <a:prstGeom prst="rect">
            <a:avLst/>
          </a:prstGeom>
          <a:noFill/>
        </p:spPr>
        <p:txBody>
          <a:bodyPr wrap="square" rtlCol="0">
            <a:spAutoFit/>
          </a:bodyPr>
          <a:lstStyle/>
          <a:p>
            <a:pPr algn="ctr"/>
            <a:r>
              <a:rPr lang="ja-JP" altLang="en-US" sz="1200" b="1">
                <a:latin typeface="メイリオ" panose="020B0604030504040204" pitchFamily="50" charset="-128"/>
                <a:ea typeface="メイリオ" panose="020B0604030504040204" pitchFamily="50" charset="-128"/>
              </a:rPr>
              <a:t>経営支援</a:t>
            </a:r>
            <a:endParaRPr lang="en-US" altLang="ja-JP" sz="1200" b="1">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9F9BBC24-0DD0-951B-8BC8-19233A948D71}"/>
              </a:ext>
            </a:extLst>
          </p:cNvPr>
          <p:cNvSpPr txBox="1"/>
          <p:nvPr/>
        </p:nvSpPr>
        <p:spPr>
          <a:xfrm>
            <a:off x="9534365" y="1983641"/>
            <a:ext cx="1033638" cy="275582"/>
          </a:xfrm>
          <a:prstGeom prst="rect">
            <a:avLst/>
          </a:prstGeom>
          <a:noFill/>
        </p:spPr>
        <p:txBody>
          <a:bodyPr wrap="square" rtlCol="0">
            <a:spAutoFit/>
          </a:bodyPr>
          <a:lstStyle/>
          <a:p>
            <a:pPr algn="ctr"/>
            <a:r>
              <a:rPr lang="ja-JP" altLang="en-US" sz="1200" b="1">
                <a:latin typeface="メイリオ" panose="020B0604030504040204" pitchFamily="50" charset="-128"/>
                <a:ea typeface="メイリオ" panose="020B0604030504040204" pitchFamily="50" charset="-128"/>
              </a:rPr>
              <a:t>運営管理</a:t>
            </a:r>
            <a:endParaRPr lang="en-US" altLang="ja-JP" sz="1200" b="1">
              <a:latin typeface="メイリオ" panose="020B0604030504040204" pitchFamily="50" charset="-128"/>
              <a:ea typeface="メイリオ" panose="020B0604030504040204" pitchFamily="50" charset="-128"/>
            </a:endParaRPr>
          </a:p>
        </p:txBody>
      </p:sp>
      <p:cxnSp>
        <p:nvCxnSpPr>
          <p:cNvPr id="112" name="コネクタ: カギ線 111">
            <a:extLst>
              <a:ext uri="{FF2B5EF4-FFF2-40B4-BE49-F238E27FC236}">
                <a16:creationId xmlns:a16="http://schemas.microsoft.com/office/drawing/2014/main" id="{EAA52770-0E80-1974-AB4D-2057B66E8011}"/>
              </a:ext>
            </a:extLst>
          </p:cNvPr>
          <p:cNvCxnSpPr>
            <a:cxnSpLocks/>
            <a:stCxn id="47" idx="0"/>
            <a:endCxn id="9" idx="0"/>
          </p:cNvCxnSpPr>
          <p:nvPr/>
        </p:nvCxnSpPr>
        <p:spPr>
          <a:xfrm flipH="1" flipV="1">
            <a:off x="2916829" y="1542767"/>
            <a:ext cx="8961470" cy="1145746"/>
          </a:xfrm>
          <a:prstGeom prst="bentConnector4">
            <a:avLst>
              <a:gd name="adj1" fmla="val -1568"/>
              <a:gd name="adj2" fmla="val 138229"/>
            </a:avLst>
          </a:prstGeom>
          <a:ln w="57150">
            <a:solidFill>
              <a:schemeClr val="accent4"/>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7" name="テキスト ボックス 116">
            <a:extLst>
              <a:ext uri="{FF2B5EF4-FFF2-40B4-BE49-F238E27FC236}">
                <a16:creationId xmlns:a16="http://schemas.microsoft.com/office/drawing/2014/main" id="{C73ECC1B-456C-31DA-262B-A937808264D0}"/>
              </a:ext>
            </a:extLst>
          </p:cNvPr>
          <p:cNvSpPr txBox="1"/>
          <p:nvPr/>
        </p:nvSpPr>
        <p:spPr>
          <a:xfrm>
            <a:off x="1024116" y="1164525"/>
            <a:ext cx="1848753" cy="307777"/>
          </a:xfrm>
          <a:prstGeom prst="rect">
            <a:avLst/>
          </a:prstGeom>
          <a:noFill/>
        </p:spPr>
        <p:txBody>
          <a:bodyPr wrap="square" rtlCol="0">
            <a:spAutoFit/>
          </a:bodyPr>
          <a:lstStyle/>
          <a:p>
            <a:r>
              <a:rPr lang="ja-JP" altLang="en-US" sz="1400" b="1">
                <a:solidFill>
                  <a:schemeClr val="accent4">
                    <a:lumMod val="75000"/>
                  </a:schemeClr>
                </a:solidFill>
                <a:latin typeface="メイリオ" panose="020B0604030504040204" pitchFamily="50" charset="-128"/>
                <a:ea typeface="メイリオ" panose="020B0604030504040204" pitchFamily="50" charset="-128"/>
              </a:rPr>
              <a:t>バリューチェーン</a:t>
            </a:r>
            <a:endParaRPr lang="en-US" altLang="ja-JP" sz="1400" b="1">
              <a:solidFill>
                <a:schemeClr val="accent4">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7662E6A-4074-1581-FF4B-3A96FB30A282}"/>
              </a:ext>
            </a:extLst>
          </p:cNvPr>
          <p:cNvSpPr txBox="1"/>
          <p:nvPr/>
        </p:nvSpPr>
        <p:spPr>
          <a:xfrm rot="5400000">
            <a:off x="-670812" y="5061960"/>
            <a:ext cx="2611125" cy="923330"/>
          </a:xfrm>
          <a:prstGeom prst="rect">
            <a:avLst/>
          </a:prstGeom>
          <a:noFill/>
        </p:spPr>
        <p:txBody>
          <a:bodyPr wrap="square" rtlCol="0">
            <a:spAutoFit/>
          </a:bodyPr>
          <a:lstStyle/>
          <a:p>
            <a:r>
              <a:rPr kumimoji="1" lang="en-US" altLang="ja-JP" sz="5400">
                <a:solidFill>
                  <a:schemeClr val="bg2"/>
                </a:solidFill>
                <a:latin typeface="Barlow Black" panose="00000A00000000000000" pitchFamily="2" charset="0"/>
              </a:rPr>
              <a:t>service</a:t>
            </a:r>
            <a:endParaRPr kumimoji="1" lang="ja-JP" altLang="en-US" sz="5400">
              <a:solidFill>
                <a:schemeClr val="bg2"/>
              </a:solidFill>
              <a:latin typeface="Barlow Black" panose="00000A00000000000000" pitchFamily="2" charset="0"/>
            </a:endParaRPr>
          </a:p>
        </p:txBody>
      </p:sp>
      <p:sp>
        <p:nvSpPr>
          <p:cNvPr id="72" name="正方形/長方形 71">
            <a:extLst>
              <a:ext uri="{FF2B5EF4-FFF2-40B4-BE49-F238E27FC236}">
                <a16:creationId xmlns:a16="http://schemas.microsoft.com/office/drawing/2014/main" id="{5DFF03C3-1F22-FB46-AEF3-0F7F3250562E}"/>
              </a:ext>
            </a:extLst>
          </p:cNvPr>
          <p:cNvSpPr/>
          <p:nvPr/>
        </p:nvSpPr>
        <p:spPr bwMode="auto">
          <a:xfrm>
            <a:off x="6776143" y="2371429"/>
            <a:ext cx="1256191" cy="879284"/>
          </a:xfrm>
          <a:prstGeom prst="rect">
            <a:avLst/>
          </a:prstGeom>
          <a:no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・動画編集</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lang="ja-JP" altLang="en-US" sz="900" b="1">
                <a:latin typeface="メイリオ" panose="020B0604030504040204" pitchFamily="50" charset="-128"/>
                <a:ea typeface="メイリオ" panose="020B0604030504040204" pitchFamily="50" charset="-128"/>
              </a:rPr>
              <a:t>・アニメーション</a:t>
            </a:r>
            <a:endParaRPr lang="en-US" altLang="ja-JP" sz="900" b="1">
              <a:latin typeface="メイリオ" panose="020B0604030504040204" pitchFamily="50" charset="-128"/>
              <a:ea typeface="メイリオ" panose="020B0604030504040204" pitchFamily="50" charset="-128"/>
            </a:endParaRPr>
          </a:p>
          <a:p>
            <a:pPr algn="l" defTabSz="914400" fontAlgn="base">
              <a:spcBef>
                <a:spcPct val="50000"/>
              </a:spcBef>
              <a:spcAft>
                <a:spcPct val="0"/>
              </a:spcAft>
            </a:pPr>
            <a:r>
              <a:rPr kumimoji="1" lang="ja-JP" altLang="en-US" sz="900" b="1" noProof="0">
                <a:latin typeface="メイリオ" panose="020B0604030504040204" pitchFamily="50" charset="-128"/>
                <a:ea typeface="メイリオ" panose="020B0604030504040204" pitchFamily="50" charset="-128"/>
              </a:rPr>
              <a:t>・エフェクト</a:t>
            </a:r>
            <a:endParaRPr kumimoji="1" lang="en-US" altLang="ja-JP" sz="900" b="1" noProof="0">
              <a:latin typeface="メイリオ" panose="020B0604030504040204" pitchFamily="50" charset="-128"/>
              <a:ea typeface="メイリオ" panose="020B0604030504040204" pitchFamily="50" charset="-128"/>
            </a:endParaRPr>
          </a:p>
        </p:txBody>
      </p:sp>
      <p:grpSp>
        <p:nvGrpSpPr>
          <p:cNvPr id="23" name="グループ化 22">
            <a:extLst>
              <a:ext uri="{FF2B5EF4-FFF2-40B4-BE49-F238E27FC236}">
                <a16:creationId xmlns:a16="http://schemas.microsoft.com/office/drawing/2014/main" id="{679E142F-0BB3-BB5F-E38E-56620861DD1A}"/>
              </a:ext>
            </a:extLst>
          </p:cNvPr>
          <p:cNvGrpSpPr/>
          <p:nvPr/>
        </p:nvGrpSpPr>
        <p:grpSpPr>
          <a:xfrm>
            <a:off x="1294515" y="3734362"/>
            <a:ext cx="292650" cy="1756388"/>
            <a:chOff x="1405508" y="3684266"/>
            <a:chExt cx="290312" cy="1892487"/>
          </a:xfrm>
        </p:grpSpPr>
        <p:sp>
          <p:nvSpPr>
            <p:cNvPr id="99" name="正方形/長方形 98">
              <a:extLst>
                <a:ext uri="{FF2B5EF4-FFF2-40B4-BE49-F238E27FC236}">
                  <a16:creationId xmlns:a16="http://schemas.microsoft.com/office/drawing/2014/main" id="{3E36BF09-BC1A-9886-1AE3-0D862CE3E902}"/>
                </a:ext>
              </a:extLst>
            </p:cNvPr>
            <p:cNvSpPr/>
            <p:nvPr/>
          </p:nvSpPr>
          <p:spPr bwMode="auto">
            <a:xfrm>
              <a:off x="1405508" y="3684266"/>
              <a:ext cx="290312" cy="1892487"/>
            </a:xfrm>
            <a:prstGeom prst="rect">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82" name="テキスト ボックス 81">
              <a:extLst>
                <a:ext uri="{FF2B5EF4-FFF2-40B4-BE49-F238E27FC236}">
                  <a16:creationId xmlns:a16="http://schemas.microsoft.com/office/drawing/2014/main" id="{E3246193-CC69-1395-BBE3-B1B16B4EFE41}"/>
                </a:ext>
              </a:extLst>
            </p:cNvPr>
            <p:cNvSpPr txBox="1"/>
            <p:nvPr/>
          </p:nvSpPr>
          <p:spPr>
            <a:xfrm rot="5400000">
              <a:off x="719139" y="4488886"/>
              <a:ext cx="1671360" cy="261610"/>
            </a:xfrm>
            <a:prstGeom prst="rect">
              <a:avLst/>
            </a:prstGeom>
            <a:noFill/>
          </p:spPr>
          <p:txBody>
            <a:bodyPr wrap="square" rtlCol="0">
              <a:spAutoFit/>
            </a:bodyPr>
            <a:lstStyle/>
            <a:p>
              <a:r>
                <a:rPr lang="en-US" altLang="ja-JP" sz="1100" b="1">
                  <a:solidFill>
                    <a:schemeClr val="bg1">
                      <a:lumMod val="95000"/>
                    </a:schemeClr>
                  </a:solidFill>
                  <a:latin typeface="Barlow Black" panose="00000A00000000000000" pitchFamily="2" charset="0"/>
                </a:rPr>
                <a:t>Game/Entertainment</a:t>
              </a:r>
              <a:endParaRPr kumimoji="1" lang="ja-JP" altLang="en-US" sz="1100" b="1">
                <a:solidFill>
                  <a:schemeClr val="bg1">
                    <a:lumMod val="95000"/>
                  </a:schemeClr>
                </a:solidFill>
                <a:latin typeface="Barlow Black" panose="00000A00000000000000" pitchFamily="2" charset="0"/>
              </a:endParaRPr>
            </a:p>
          </p:txBody>
        </p:sp>
      </p:grpSp>
      <p:grpSp>
        <p:nvGrpSpPr>
          <p:cNvPr id="22" name="グループ化 21">
            <a:extLst>
              <a:ext uri="{FF2B5EF4-FFF2-40B4-BE49-F238E27FC236}">
                <a16:creationId xmlns:a16="http://schemas.microsoft.com/office/drawing/2014/main" id="{5A87F3AD-659E-2C33-BFAE-1D1D307BBB76}"/>
              </a:ext>
            </a:extLst>
          </p:cNvPr>
          <p:cNvGrpSpPr/>
          <p:nvPr/>
        </p:nvGrpSpPr>
        <p:grpSpPr>
          <a:xfrm>
            <a:off x="1294515" y="5497599"/>
            <a:ext cx="292651" cy="736306"/>
            <a:chOff x="1407856" y="5398856"/>
            <a:chExt cx="292651" cy="736306"/>
          </a:xfrm>
        </p:grpSpPr>
        <p:sp>
          <p:nvSpPr>
            <p:cNvPr id="103" name="正方形/長方形 102">
              <a:extLst>
                <a:ext uri="{FF2B5EF4-FFF2-40B4-BE49-F238E27FC236}">
                  <a16:creationId xmlns:a16="http://schemas.microsoft.com/office/drawing/2014/main" id="{37DEDA64-8ABD-4524-0CFB-0CBAA1B22621}"/>
                </a:ext>
              </a:extLst>
            </p:cNvPr>
            <p:cNvSpPr/>
            <p:nvPr/>
          </p:nvSpPr>
          <p:spPr bwMode="auto">
            <a:xfrm>
              <a:off x="1407856" y="5423575"/>
              <a:ext cx="292651" cy="680019"/>
            </a:xfrm>
            <a:prstGeom prst="rect">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08" name="テキスト ボックス 107">
              <a:extLst>
                <a:ext uri="{FF2B5EF4-FFF2-40B4-BE49-F238E27FC236}">
                  <a16:creationId xmlns:a16="http://schemas.microsoft.com/office/drawing/2014/main" id="{20395D25-EB13-7F0A-7CD2-F21D0484C4D5}"/>
                </a:ext>
              </a:extLst>
            </p:cNvPr>
            <p:cNvSpPr txBox="1"/>
            <p:nvPr/>
          </p:nvSpPr>
          <p:spPr>
            <a:xfrm rot="5400000">
              <a:off x="1184618" y="5636204"/>
              <a:ext cx="736306" cy="261610"/>
            </a:xfrm>
            <a:prstGeom prst="rect">
              <a:avLst/>
            </a:prstGeom>
            <a:noFill/>
          </p:spPr>
          <p:txBody>
            <a:bodyPr wrap="square" rtlCol="0">
              <a:spAutoFit/>
            </a:bodyPr>
            <a:lstStyle/>
            <a:p>
              <a:r>
                <a:rPr kumimoji="1" lang="en-US" altLang="ja-JP" sz="1100" b="1">
                  <a:solidFill>
                    <a:schemeClr val="bg1">
                      <a:lumMod val="95000"/>
                    </a:schemeClr>
                  </a:solidFill>
                  <a:latin typeface="Barlow Black" panose="00000A00000000000000" pitchFamily="2" charset="0"/>
                </a:rPr>
                <a:t>XR/Web</a:t>
              </a:r>
              <a:endParaRPr kumimoji="1" lang="ja-JP" altLang="en-US" sz="1100" b="1">
                <a:solidFill>
                  <a:schemeClr val="bg1">
                    <a:lumMod val="95000"/>
                  </a:schemeClr>
                </a:solidFill>
                <a:latin typeface="Barlow Black" panose="00000A00000000000000" pitchFamily="2" charset="0"/>
              </a:endParaRPr>
            </a:p>
          </p:txBody>
        </p:sp>
      </p:grpSp>
      <p:grpSp>
        <p:nvGrpSpPr>
          <p:cNvPr id="59" name="グループ化 58">
            <a:extLst>
              <a:ext uri="{FF2B5EF4-FFF2-40B4-BE49-F238E27FC236}">
                <a16:creationId xmlns:a16="http://schemas.microsoft.com/office/drawing/2014/main" id="{3B1CDA09-114D-C6BD-43E5-BA4D94796AA3}"/>
              </a:ext>
            </a:extLst>
          </p:cNvPr>
          <p:cNvGrpSpPr/>
          <p:nvPr/>
        </p:nvGrpSpPr>
        <p:grpSpPr>
          <a:xfrm>
            <a:off x="1948492" y="4740305"/>
            <a:ext cx="8641117" cy="299970"/>
            <a:chOff x="1922032" y="3646014"/>
            <a:chExt cx="8641117" cy="299970"/>
          </a:xfrm>
          <a:solidFill>
            <a:schemeClr val="accent3">
              <a:lumMod val="40000"/>
              <a:lumOff val="60000"/>
            </a:schemeClr>
          </a:solidFill>
        </p:grpSpPr>
        <p:sp>
          <p:nvSpPr>
            <p:cNvPr id="97" name="正方形/長方形 96">
              <a:extLst>
                <a:ext uri="{FF2B5EF4-FFF2-40B4-BE49-F238E27FC236}">
                  <a16:creationId xmlns:a16="http://schemas.microsoft.com/office/drawing/2014/main" id="{561EAF84-51BF-B7BB-A966-60BCD3A34CFC}"/>
                </a:ext>
              </a:extLst>
            </p:cNvPr>
            <p:cNvSpPr/>
            <p:nvPr/>
          </p:nvSpPr>
          <p:spPr bwMode="auto">
            <a:xfrm>
              <a:off x="1922032" y="3646014"/>
              <a:ext cx="8641117" cy="299970"/>
            </a:xfrm>
            <a:prstGeom prst="rect">
              <a:avLst/>
            </a:prstGeom>
            <a:grp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09" name="テキスト ボックス 108">
              <a:extLst>
                <a:ext uri="{FF2B5EF4-FFF2-40B4-BE49-F238E27FC236}">
                  <a16:creationId xmlns:a16="http://schemas.microsoft.com/office/drawing/2014/main" id="{804CF3CB-5C94-04B6-3EDB-82986CD8A13D}"/>
                </a:ext>
              </a:extLst>
            </p:cNvPr>
            <p:cNvSpPr txBox="1"/>
            <p:nvPr/>
          </p:nvSpPr>
          <p:spPr>
            <a:xfrm>
              <a:off x="5113938" y="3665194"/>
              <a:ext cx="2491321" cy="261610"/>
            </a:xfrm>
            <a:prstGeom prst="rect">
              <a:avLst/>
            </a:prstGeom>
            <a:grpFill/>
            <a:ln>
              <a:noFill/>
            </a:ln>
          </p:spPr>
          <p:txBody>
            <a:bodyPr wrap="square" rtlCol="0">
              <a:spAutoFit/>
            </a:bodyPr>
            <a:lstStyle/>
            <a:p>
              <a:pPr algn="ctr"/>
              <a:r>
                <a:rPr kumimoji="1" lang="ja-JP" altLang="en-US" sz="1100" b="1">
                  <a:latin typeface="メイリオ" panose="020B0604030504040204" pitchFamily="50" charset="-128"/>
                  <a:ea typeface="メイリオ" panose="020B0604030504040204" pitchFamily="50" charset="-128"/>
                </a:rPr>
                <a:t>ゲーム総合開発</a:t>
              </a:r>
              <a:r>
                <a:rPr kumimoji="1" lang="en-US" altLang="ja-JP" sz="1100" b="1">
                  <a:latin typeface="メイリオ" panose="020B0604030504040204" pitchFamily="50" charset="-128"/>
                  <a:ea typeface="メイリオ" panose="020B0604030504040204" pitchFamily="50" charset="-128"/>
                </a:rPr>
                <a:t>/</a:t>
              </a:r>
              <a:r>
                <a:rPr kumimoji="1" lang="ja-JP" altLang="en-US" sz="1100" b="1">
                  <a:latin typeface="メイリオ" panose="020B0604030504040204" pitchFamily="50" charset="-128"/>
                  <a:ea typeface="メイリオ" panose="020B0604030504040204" pitchFamily="50" charset="-128"/>
                </a:rPr>
                <a:t>運営（運営移管）</a:t>
              </a:r>
              <a:endParaRPr kumimoji="1" lang="en-US" altLang="ja-JP" sz="1100" b="1">
                <a:latin typeface="メイリオ" panose="020B0604030504040204" pitchFamily="50" charset="-128"/>
                <a:ea typeface="メイリオ" panose="020B0604030504040204" pitchFamily="50" charset="-128"/>
              </a:endParaRPr>
            </a:p>
          </p:txBody>
        </p:sp>
      </p:grpSp>
      <p:grpSp>
        <p:nvGrpSpPr>
          <p:cNvPr id="40" name="グループ化 39">
            <a:extLst>
              <a:ext uri="{FF2B5EF4-FFF2-40B4-BE49-F238E27FC236}">
                <a16:creationId xmlns:a16="http://schemas.microsoft.com/office/drawing/2014/main" id="{4FC0455D-9856-45F3-86A1-68FAF7C808ED}"/>
              </a:ext>
            </a:extLst>
          </p:cNvPr>
          <p:cNvGrpSpPr/>
          <p:nvPr/>
        </p:nvGrpSpPr>
        <p:grpSpPr>
          <a:xfrm>
            <a:off x="1942749" y="3746969"/>
            <a:ext cx="1795984" cy="908981"/>
            <a:chOff x="1933351" y="4124415"/>
            <a:chExt cx="1637877" cy="908981"/>
          </a:xfrm>
          <a:solidFill>
            <a:schemeClr val="accent3">
              <a:lumMod val="40000"/>
              <a:lumOff val="60000"/>
            </a:schemeClr>
          </a:solidFill>
        </p:grpSpPr>
        <p:sp>
          <p:nvSpPr>
            <p:cNvPr id="24" name="正方形/長方形 23">
              <a:extLst>
                <a:ext uri="{FF2B5EF4-FFF2-40B4-BE49-F238E27FC236}">
                  <a16:creationId xmlns:a16="http://schemas.microsoft.com/office/drawing/2014/main" id="{255D9D0C-645F-B636-253D-C906DBF082E1}"/>
                </a:ext>
              </a:extLst>
            </p:cNvPr>
            <p:cNvSpPr/>
            <p:nvPr/>
          </p:nvSpPr>
          <p:spPr bwMode="auto">
            <a:xfrm>
              <a:off x="1933351" y="4124415"/>
              <a:ext cx="1637877" cy="908981"/>
            </a:xfrm>
            <a:prstGeom prst="rect">
              <a:avLst/>
            </a:prstGeom>
            <a:grp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F79A0AA0-D8D4-F5D5-2D9B-E3FD67EC4757}"/>
                </a:ext>
              </a:extLst>
            </p:cNvPr>
            <p:cNvSpPr txBox="1"/>
            <p:nvPr/>
          </p:nvSpPr>
          <p:spPr>
            <a:xfrm>
              <a:off x="2277035" y="4333433"/>
              <a:ext cx="1021867" cy="430887"/>
            </a:xfrm>
            <a:prstGeom prst="rect">
              <a:avLst/>
            </a:prstGeom>
            <a:grpFill/>
            <a:ln>
              <a:noFill/>
            </a:ln>
          </p:spPr>
          <p:txBody>
            <a:bodyPr wrap="square" rtlCol="0">
              <a:spAutoFit/>
            </a:bodyPr>
            <a:lstStyle/>
            <a:p>
              <a:pPr algn="ctr"/>
              <a:r>
                <a:rPr kumimoji="1" lang="ja-JP" altLang="en-US" sz="1100" b="1">
                  <a:latin typeface="メイリオ" panose="020B0604030504040204" pitchFamily="50" charset="-128"/>
                  <a:ea typeface="メイリオ" panose="020B0604030504040204" pitchFamily="50" charset="-128"/>
                </a:rPr>
                <a:t>ゲーム企画</a:t>
              </a:r>
              <a:r>
                <a:rPr kumimoji="1" lang="en-US" altLang="ja-JP" sz="1100" b="1">
                  <a:latin typeface="メイリオ" panose="020B0604030504040204" pitchFamily="50" charset="-128"/>
                  <a:ea typeface="メイリオ" panose="020B0604030504040204" pitchFamily="50" charset="-128"/>
                </a:rPr>
                <a:t>/</a:t>
              </a:r>
            </a:p>
            <a:p>
              <a:pPr algn="ctr"/>
              <a:r>
                <a:rPr kumimoji="1" lang="ja-JP" altLang="en-US" sz="1100" b="1">
                  <a:latin typeface="メイリオ" panose="020B0604030504040204" pitchFamily="50" charset="-128"/>
                  <a:ea typeface="メイリオ" panose="020B0604030504040204" pitchFamily="50" charset="-128"/>
                </a:rPr>
                <a:t>プロデュース</a:t>
              </a:r>
              <a:endParaRPr kumimoji="1" lang="en-US" altLang="ja-JP" sz="1100" b="1">
                <a:latin typeface="メイリオ" panose="020B0604030504040204" pitchFamily="50" charset="-128"/>
                <a:ea typeface="メイリオ" panose="020B0604030504040204" pitchFamily="50" charset="-128"/>
              </a:endParaRPr>
            </a:p>
          </p:txBody>
        </p:sp>
      </p:grpSp>
      <p:grpSp>
        <p:nvGrpSpPr>
          <p:cNvPr id="93" name="グループ化 92">
            <a:extLst>
              <a:ext uri="{FF2B5EF4-FFF2-40B4-BE49-F238E27FC236}">
                <a16:creationId xmlns:a16="http://schemas.microsoft.com/office/drawing/2014/main" id="{252377EB-E07A-2FF2-B352-E179C28F4253}"/>
              </a:ext>
            </a:extLst>
          </p:cNvPr>
          <p:cNvGrpSpPr/>
          <p:nvPr/>
        </p:nvGrpSpPr>
        <p:grpSpPr>
          <a:xfrm>
            <a:off x="3833752" y="3746969"/>
            <a:ext cx="4185083" cy="426573"/>
            <a:chOff x="3880729" y="4085235"/>
            <a:chExt cx="4185083" cy="451899"/>
          </a:xfrm>
          <a:solidFill>
            <a:schemeClr val="accent3">
              <a:lumMod val="40000"/>
              <a:lumOff val="60000"/>
            </a:schemeClr>
          </a:solidFill>
        </p:grpSpPr>
        <p:grpSp>
          <p:nvGrpSpPr>
            <p:cNvPr id="65" name="グループ化 64">
              <a:extLst>
                <a:ext uri="{FF2B5EF4-FFF2-40B4-BE49-F238E27FC236}">
                  <a16:creationId xmlns:a16="http://schemas.microsoft.com/office/drawing/2014/main" id="{356470CD-9496-F9F0-556F-A74BBD757AE7}"/>
                </a:ext>
              </a:extLst>
            </p:cNvPr>
            <p:cNvGrpSpPr/>
            <p:nvPr/>
          </p:nvGrpSpPr>
          <p:grpSpPr>
            <a:xfrm>
              <a:off x="5643685" y="4086319"/>
              <a:ext cx="1308503" cy="448703"/>
              <a:chOff x="5616925" y="4000879"/>
              <a:chExt cx="1308503" cy="435678"/>
            </a:xfrm>
            <a:grpFill/>
          </p:grpSpPr>
          <p:sp>
            <p:nvSpPr>
              <p:cNvPr id="29" name="正方形/長方形 28">
                <a:extLst>
                  <a:ext uri="{FF2B5EF4-FFF2-40B4-BE49-F238E27FC236}">
                    <a16:creationId xmlns:a16="http://schemas.microsoft.com/office/drawing/2014/main" id="{B5F8F214-A44C-8CC6-6FC6-47EF116175C6}"/>
                  </a:ext>
                </a:extLst>
              </p:cNvPr>
              <p:cNvSpPr/>
              <p:nvPr/>
            </p:nvSpPr>
            <p:spPr bwMode="auto">
              <a:xfrm>
                <a:off x="5616925" y="4000879"/>
                <a:ext cx="1308503" cy="435678"/>
              </a:xfrm>
              <a:prstGeom prst="rect">
                <a:avLst/>
              </a:prstGeom>
              <a:grp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13" name="テキスト ボックス 112">
                <a:extLst>
                  <a:ext uri="{FF2B5EF4-FFF2-40B4-BE49-F238E27FC236}">
                    <a16:creationId xmlns:a16="http://schemas.microsoft.com/office/drawing/2014/main" id="{D598DDEA-F99C-9301-0F3B-555320E87228}"/>
                  </a:ext>
                </a:extLst>
              </p:cNvPr>
              <p:cNvSpPr txBox="1"/>
              <p:nvPr/>
            </p:nvSpPr>
            <p:spPr>
              <a:xfrm>
                <a:off x="5971526" y="4078634"/>
                <a:ext cx="634601" cy="284927"/>
              </a:xfrm>
              <a:prstGeom prst="rect">
                <a:avLst/>
              </a:prstGeom>
              <a:grpFill/>
              <a:ln>
                <a:noFill/>
              </a:ln>
            </p:spPr>
            <p:txBody>
              <a:bodyPr wrap="square" rtlCol="0">
                <a:spAutoFit/>
              </a:bodyPr>
              <a:lstStyle/>
              <a:p>
                <a:r>
                  <a:rPr kumimoji="1" lang="en-US" altLang="ja-JP" sz="1200" b="1">
                    <a:latin typeface="メイリオ" panose="020B0604030504040204" pitchFamily="50" charset="-128"/>
                    <a:ea typeface="メイリオ" panose="020B0604030504040204" pitchFamily="50" charset="-128"/>
                  </a:rPr>
                  <a:t>3DCG</a:t>
                </a:r>
              </a:p>
            </p:txBody>
          </p:sp>
        </p:grpSp>
        <p:grpSp>
          <p:nvGrpSpPr>
            <p:cNvPr id="70" name="グループ化 69">
              <a:extLst>
                <a:ext uri="{FF2B5EF4-FFF2-40B4-BE49-F238E27FC236}">
                  <a16:creationId xmlns:a16="http://schemas.microsoft.com/office/drawing/2014/main" id="{9EA8996F-4632-240E-8133-454598D2F5C2}"/>
                </a:ext>
              </a:extLst>
            </p:cNvPr>
            <p:cNvGrpSpPr/>
            <p:nvPr/>
          </p:nvGrpSpPr>
          <p:grpSpPr>
            <a:xfrm>
              <a:off x="7043944" y="4088361"/>
              <a:ext cx="1021868" cy="444896"/>
              <a:chOff x="7029972" y="3999151"/>
              <a:chExt cx="1021868" cy="435678"/>
            </a:xfrm>
            <a:grpFill/>
          </p:grpSpPr>
          <p:sp>
            <p:nvSpPr>
              <p:cNvPr id="73" name="正方形/長方形 72">
                <a:extLst>
                  <a:ext uri="{FF2B5EF4-FFF2-40B4-BE49-F238E27FC236}">
                    <a16:creationId xmlns:a16="http://schemas.microsoft.com/office/drawing/2014/main" id="{154D4C93-7079-DC47-3FF0-5581C2924FA0}"/>
                  </a:ext>
                </a:extLst>
              </p:cNvPr>
              <p:cNvSpPr/>
              <p:nvPr/>
            </p:nvSpPr>
            <p:spPr bwMode="auto">
              <a:xfrm>
                <a:off x="7029972" y="3999151"/>
                <a:ext cx="1021868" cy="435678"/>
              </a:xfrm>
              <a:prstGeom prst="rect">
                <a:avLst/>
              </a:prstGeom>
              <a:grp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30C63CDF-F514-3C93-D9A9-5C292B02DA6A}"/>
                  </a:ext>
                </a:extLst>
              </p:cNvPr>
              <p:cNvSpPr txBox="1"/>
              <p:nvPr/>
            </p:nvSpPr>
            <p:spPr>
              <a:xfrm>
                <a:off x="7080527" y="4086049"/>
                <a:ext cx="920188" cy="271400"/>
              </a:xfrm>
              <a:prstGeom prst="rect">
                <a:avLst/>
              </a:prstGeom>
              <a:grpFill/>
              <a:ln>
                <a:noFill/>
              </a:ln>
            </p:spPr>
            <p:txBody>
              <a:bodyPr wrap="square" rtlCol="0">
                <a:spAutoFit/>
              </a:bodyPr>
              <a:lstStyle/>
              <a:p>
                <a:r>
                  <a:rPr kumimoji="1" lang="ja-JP" altLang="en-US" sz="1100" b="1">
                    <a:latin typeface="メイリオ" panose="020B0604030504040204" pitchFamily="50" charset="-128"/>
                    <a:ea typeface="メイリオ" panose="020B0604030504040204" pitchFamily="50" charset="-128"/>
                  </a:rPr>
                  <a:t>エフェクト</a:t>
                </a:r>
                <a:endParaRPr kumimoji="1" lang="en-US" altLang="ja-JP" sz="1100" b="1">
                  <a:latin typeface="メイリオ" panose="020B0604030504040204" pitchFamily="50" charset="-128"/>
                  <a:ea typeface="メイリオ" panose="020B0604030504040204" pitchFamily="50" charset="-128"/>
                </a:endParaRPr>
              </a:p>
            </p:txBody>
          </p:sp>
        </p:grpSp>
        <p:grpSp>
          <p:nvGrpSpPr>
            <p:cNvPr id="60" name="グループ化 59">
              <a:extLst>
                <a:ext uri="{FF2B5EF4-FFF2-40B4-BE49-F238E27FC236}">
                  <a16:creationId xmlns:a16="http://schemas.microsoft.com/office/drawing/2014/main" id="{989E4FBE-545E-F21D-150E-1D20589B7FE3}"/>
                </a:ext>
              </a:extLst>
            </p:cNvPr>
            <p:cNvGrpSpPr/>
            <p:nvPr/>
          </p:nvGrpSpPr>
          <p:grpSpPr>
            <a:xfrm>
              <a:off x="3880729" y="4085235"/>
              <a:ext cx="1659273" cy="451899"/>
              <a:chOff x="3839494" y="3995234"/>
              <a:chExt cx="1659273" cy="451899"/>
            </a:xfrm>
            <a:grpFill/>
          </p:grpSpPr>
          <p:sp>
            <p:nvSpPr>
              <p:cNvPr id="30" name="正方形/長方形 29">
                <a:extLst>
                  <a:ext uri="{FF2B5EF4-FFF2-40B4-BE49-F238E27FC236}">
                    <a16:creationId xmlns:a16="http://schemas.microsoft.com/office/drawing/2014/main" id="{9CA56971-6500-AD7F-45B5-965204C638E9}"/>
                  </a:ext>
                </a:extLst>
              </p:cNvPr>
              <p:cNvSpPr/>
              <p:nvPr/>
            </p:nvSpPr>
            <p:spPr bwMode="auto">
              <a:xfrm>
                <a:off x="3839494" y="3995234"/>
                <a:ext cx="1659273" cy="451899"/>
              </a:xfrm>
              <a:prstGeom prst="rect">
                <a:avLst/>
              </a:prstGeom>
              <a:grp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349A5D04-D3A3-D8E7-5F38-0412F1CD5734}"/>
                  </a:ext>
                </a:extLst>
              </p:cNvPr>
              <p:cNvSpPr txBox="1"/>
              <p:nvPr/>
            </p:nvSpPr>
            <p:spPr>
              <a:xfrm>
                <a:off x="4367110" y="4079465"/>
                <a:ext cx="634601" cy="293445"/>
              </a:xfrm>
              <a:prstGeom prst="rect">
                <a:avLst/>
              </a:prstGeom>
              <a:grpFill/>
              <a:ln>
                <a:noFill/>
              </a:ln>
            </p:spPr>
            <p:txBody>
              <a:bodyPr wrap="square" rtlCol="0">
                <a:spAutoFit/>
              </a:bodyPr>
              <a:lstStyle/>
              <a:p>
                <a:r>
                  <a:rPr lang="en-US" altLang="ja-JP" sz="1200" b="1">
                    <a:latin typeface="メイリオ" panose="020B0604030504040204" pitchFamily="50" charset="-128"/>
                    <a:ea typeface="メイリオ" panose="020B0604030504040204" pitchFamily="50" charset="-128"/>
                  </a:rPr>
                  <a:t>2</a:t>
                </a:r>
                <a:r>
                  <a:rPr kumimoji="1" lang="en-US" altLang="ja-JP" sz="1200" b="1">
                    <a:latin typeface="メイリオ" panose="020B0604030504040204" pitchFamily="50" charset="-128"/>
                    <a:ea typeface="メイリオ" panose="020B0604030504040204" pitchFamily="50" charset="-128"/>
                  </a:rPr>
                  <a:t>DCG</a:t>
                </a:r>
              </a:p>
            </p:txBody>
          </p:sp>
        </p:grpSp>
      </p:grpSp>
      <p:grpSp>
        <p:nvGrpSpPr>
          <p:cNvPr id="39" name="グループ化 38">
            <a:extLst>
              <a:ext uri="{FF2B5EF4-FFF2-40B4-BE49-F238E27FC236}">
                <a16:creationId xmlns:a16="http://schemas.microsoft.com/office/drawing/2014/main" id="{F0F35DBA-A8EF-5046-5B44-D86B3973CC3B}"/>
              </a:ext>
            </a:extLst>
          </p:cNvPr>
          <p:cNvGrpSpPr/>
          <p:nvPr/>
        </p:nvGrpSpPr>
        <p:grpSpPr>
          <a:xfrm>
            <a:off x="1948492" y="5123270"/>
            <a:ext cx="7519037" cy="322897"/>
            <a:chOff x="1915642" y="5122002"/>
            <a:chExt cx="7519037" cy="322897"/>
          </a:xfrm>
          <a:solidFill>
            <a:schemeClr val="accent2">
              <a:lumMod val="40000"/>
              <a:lumOff val="60000"/>
            </a:schemeClr>
          </a:solidFill>
        </p:grpSpPr>
        <p:sp>
          <p:nvSpPr>
            <p:cNvPr id="7" name="正方形/長方形 6">
              <a:extLst>
                <a:ext uri="{FF2B5EF4-FFF2-40B4-BE49-F238E27FC236}">
                  <a16:creationId xmlns:a16="http://schemas.microsoft.com/office/drawing/2014/main" id="{1837CFDE-DE81-7970-98A1-43AE5E352CEA}"/>
                </a:ext>
              </a:extLst>
            </p:cNvPr>
            <p:cNvSpPr/>
            <p:nvPr/>
          </p:nvSpPr>
          <p:spPr bwMode="auto">
            <a:xfrm>
              <a:off x="1915642" y="5122002"/>
              <a:ext cx="7519037" cy="322897"/>
            </a:xfrm>
            <a:prstGeom prst="rect">
              <a:avLst/>
            </a:prstGeom>
            <a:grp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E591CF51-EC07-6840-2273-63AEED5CE070}"/>
                </a:ext>
              </a:extLst>
            </p:cNvPr>
            <p:cNvSpPr txBox="1"/>
            <p:nvPr/>
          </p:nvSpPr>
          <p:spPr>
            <a:xfrm>
              <a:off x="3111201" y="5158262"/>
              <a:ext cx="5127918" cy="266446"/>
            </a:xfrm>
            <a:prstGeom prst="rect">
              <a:avLst/>
            </a:prstGeom>
            <a:grpFill/>
            <a:ln>
              <a:noFill/>
            </a:ln>
          </p:spPr>
          <p:txBody>
            <a:bodyPr wrap="square" rtlCol="0">
              <a:spAutoFit/>
            </a:bodyPr>
            <a:lstStyle/>
            <a:p>
              <a:pPr algn="ctr"/>
              <a:r>
                <a:rPr lang="ja-JP" altLang="en-US" sz="1100" b="1">
                  <a:latin typeface="メイリオ" panose="020B0604030504040204" pitchFamily="50" charset="-128"/>
                  <a:ea typeface="メイリオ" panose="020B0604030504040204" pitchFamily="50" charset="-128"/>
                </a:rPr>
                <a:t>遊技機開発</a:t>
              </a:r>
              <a:r>
                <a:rPr lang="en-US" altLang="ja-JP" sz="1100" b="1">
                  <a:latin typeface="メイリオ" panose="020B0604030504040204" pitchFamily="50" charset="-128"/>
                  <a:ea typeface="メイリオ" panose="020B0604030504040204" pitchFamily="50" charset="-128"/>
                </a:rPr>
                <a:t>/</a:t>
              </a:r>
              <a:r>
                <a:rPr lang="ja-JP" altLang="en-US" sz="1100" b="1">
                  <a:latin typeface="メイリオ" panose="020B0604030504040204" pitchFamily="50" charset="-128"/>
                  <a:ea typeface="メイリオ" panose="020B0604030504040204" pitchFamily="50" charset="-128"/>
                </a:rPr>
                <a:t>動画制作</a:t>
              </a:r>
              <a:endParaRPr kumimoji="1" lang="en-US" altLang="ja-JP" sz="1100" b="1">
                <a:latin typeface="メイリオ" panose="020B0604030504040204" pitchFamily="50" charset="-128"/>
                <a:ea typeface="メイリオ" panose="020B0604030504040204" pitchFamily="50" charset="-128"/>
              </a:endParaRPr>
            </a:p>
          </p:txBody>
        </p:sp>
      </p:grpSp>
      <p:grpSp>
        <p:nvGrpSpPr>
          <p:cNvPr id="71" name="グループ化 70">
            <a:extLst>
              <a:ext uri="{FF2B5EF4-FFF2-40B4-BE49-F238E27FC236}">
                <a16:creationId xmlns:a16="http://schemas.microsoft.com/office/drawing/2014/main" id="{4FFA7E64-0A7E-B53F-321C-22015866F603}"/>
              </a:ext>
            </a:extLst>
          </p:cNvPr>
          <p:cNvGrpSpPr/>
          <p:nvPr/>
        </p:nvGrpSpPr>
        <p:grpSpPr>
          <a:xfrm>
            <a:off x="9559670" y="3763291"/>
            <a:ext cx="2191715" cy="914416"/>
            <a:chOff x="9261763" y="4020920"/>
            <a:chExt cx="1981201" cy="914416"/>
          </a:xfrm>
          <a:solidFill>
            <a:schemeClr val="accent5">
              <a:lumMod val="20000"/>
              <a:lumOff val="80000"/>
            </a:schemeClr>
          </a:solidFill>
        </p:grpSpPr>
        <p:sp>
          <p:nvSpPr>
            <p:cNvPr id="54" name="正方形/長方形 53">
              <a:extLst>
                <a:ext uri="{FF2B5EF4-FFF2-40B4-BE49-F238E27FC236}">
                  <a16:creationId xmlns:a16="http://schemas.microsoft.com/office/drawing/2014/main" id="{1C4F9959-6F2E-7B1B-B6B0-AC96E3C6BEA0}"/>
                </a:ext>
              </a:extLst>
            </p:cNvPr>
            <p:cNvSpPr/>
            <p:nvPr/>
          </p:nvSpPr>
          <p:spPr bwMode="auto">
            <a:xfrm>
              <a:off x="9261763" y="4020920"/>
              <a:ext cx="1981201" cy="914416"/>
            </a:xfrm>
            <a:prstGeom prst="rect">
              <a:avLst/>
            </a:prstGeom>
            <a:grp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1F2E9DE7-9479-9880-5615-A29F5F16083D}"/>
                </a:ext>
              </a:extLst>
            </p:cNvPr>
            <p:cNvSpPr txBox="1"/>
            <p:nvPr/>
          </p:nvSpPr>
          <p:spPr>
            <a:xfrm>
              <a:off x="9522665" y="4340296"/>
              <a:ext cx="1459396" cy="261610"/>
            </a:xfrm>
            <a:prstGeom prst="rect">
              <a:avLst/>
            </a:prstGeom>
            <a:grpFill/>
            <a:ln>
              <a:noFill/>
            </a:ln>
          </p:spPr>
          <p:txBody>
            <a:bodyPr wrap="square" rtlCol="0">
              <a:spAutoFit/>
            </a:bodyPr>
            <a:lstStyle/>
            <a:p>
              <a:pPr algn="ctr"/>
              <a:r>
                <a:rPr lang="en-US" altLang="ja-JP" sz="1100" b="1">
                  <a:latin typeface="メイリオ" panose="020B0604030504040204" pitchFamily="50" charset="-128"/>
                  <a:ea typeface="メイリオ" panose="020B0604030504040204" pitchFamily="50" charset="-128"/>
                </a:rPr>
                <a:t>IP</a:t>
              </a:r>
              <a:r>
                <a:rPr lang="ja-JP" altLang="en-US" sz="1100" b="1">
                  <a:latin typeface="メイリオ" panose="020B0604030504040204" pitchFamily="50" charset="-128"/>
                  <a:ea typeface="メイリオ" panose="020B0604030504040204" pitchFamily="50" charset="-128"/>
                </a:rPr>
                <a:t>プロデュース</a:t>
              </a:r>
              <a:endParaRPr kumimoji="1" lang="en-US" altLang="ja-JP" sz="1100" b="1">
                <a:latin typeface="メイリオ" panose="020B0604030504040204" pitchFamily="50" charset="-128"/>
                <a:ea typeface="メイリオ" panose="020B0604030504040204" pitchFamily="50" charset="-128"/>
              </a:endParaRPr>
            </a:p>
          </p:txBody>
        </p:sp>
      </p:grpSp>
      <p:grpSp>
        <p:nvGrpSpPr>
          <p:cNvPr id="21" name="グループ化 20">
            <a:extLst>
              <a:ext uri="{FF2B5EF4-FFF2-40B4-BE49-F238E27FC236}">
                <a16:creationId xmlns:a16="http://schemas.microsoft.com/office/drawing/2014/main" id="{E16FB4B1-4153-BD05-7D26-DBE2385E116F}"/>
              </a:ext>
            </a:extLst>
          </p:cNvPr>
          <p:cNvGrpSpPr/>
          <p:nvPr/>
        </p:nvGrpSpPr>
        <p:grpSpPr>
          <a:xfrm>
            <a:off x="1948492" y="5929556"/>
            <a:ext cx="9741199" cy="275348"/>
            <a:chOff x="3115486" y="5758483"/>
            <a:chExt cx="8136321" cy="275348"/>
          </a:xfrm>
          <a:solidFill>
            <a:schemeClr val="accent1">
              <a:lumMod val="20000"/>
              <a:lumOff val="80000"/>
            </a:schemeClr>
          </a:solidFill>
        </p:grpSpPr>
        <p:sp>
          <p:nvSpPr>
            <p:cNvPr id="125" name="正方形/長方形 124">
              <a:extLst>
                <a:ext uri="{FF2B5EF4-FFF2-40B4-BE49-F238E27FC236}">
                  <a16:creationId xmlns:a16="http://schemas.microsoft.com/office/drawing/2014/main" id="{4BF7326A-0EEB-EAAE-B172-3AE92B120A4B}"/>
                </a:ext>
              </a:extLst>
            </p:cNvPr>
            <p:cNvSpPr/>
            <p:nvPr/>
          </p:nvSpPr>
          <p:spPr bwMode="auto">
            <a:xfrm>
              <a:off x="3115486" y="5758483"/>
              <a:ext cx="8136321" cy="273052"/>
            </a:xfrm>
            <a:prstGeom prst="rect">
              <a:avLst/>
            </a:prstGeom>
            <a:grp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30" name="テキスト ボックス 129">
              <a:extLst>
                <a:ext uri="{FF2B5EF4-FFF2-40B4-BE49-F238E27FC236}">
                  <a16:creationId xmlns:a16="http://schemas.microsoft.com/office/drawing/2014/main" id="{C3BDA6D8-82EB-52D7-9F8A-A479817E1A26}"/>
                </a:ext>
              </a:extLst>
            </p:cNvPr>
            <p:cNvSpPr txBox="1"/>
            <p:nvPr/>
          </p:nvSpPr>
          <p:spPr>
            <a:xfrm>
              <a:off x="5190330" y="5772221"/>
              <a:ext cx="3986633" cy="261610"/>
            </a:xfrm>
            <a:prstGeom prst="rect">
              <a:avLst/>
            </a:prstGeom>
            <a:grpFill/>
            <a:ln>
              <a:noFill/>
            </a:ln>
          </p:spPr>
          <p:txBody>
            <a:bodyPr wrap="square" rtlCol="0">
              <a:spAutoFit/>
            </a:bodyPr>
            <a:lstStyle/>
            <a:p>
              <a:pPr algn="ctr"/>
              <a:r>
                <a:rPr lang="en-US" altLang="ja-JP" sz="1100" b="1">
                  <a:latin typeface="メイリオ" panose="020B0604030504040204" pitchFamily="50" charset="-128"/>
                  <a:ea typeface="メイリオ" panose="020B0604030504040204" pitchFamily="50" charset="-128"/>
                </a:rPr>
                <a:t>Web</a:t>
              </a:r>
              <a:r>
                <a:rPr lang="ja-JP" altLang="en-US" sz="1100" b="1">
                  <a:latin typeface="メイリオ" panose="020B0604030504040204" pitchFamily="50" charset="-128"/>
                  <a:ea typeface="メイリオ" panose="020B0604030504040204" pitchFamily="50" charset="-128"/>
                </a:rPr>
                <a:t>プロデュース</a:t>
              </a:r>
              <a:r>
                <a:rPr lang="en-US" altLang="ja-JP" sz="1100" b="1">
                  <a:latin typeface="メイリオ" panose="020B0604030504040204" pitchFamily="50" charset="-128"/>
                  <a:ea typeface="メイリオ" panose="020B0604030504040204" pitchFamily="50" charset="-128"/>
                </a:rPr>
                <a:t>/</a:t>
              </a:r>
              <a:r>
                <a:rPr lang="ja-JP" altLang="en-US" sz="1100" b="1">
                  <a:latin typeface="メイリオ" panose="020B0604030504040204" pitchFamily="50" charset="-128"/>
                  <a:ea typeface="メイリオ" panose="020B0604030504040204" pitchFamily="50" charset="-128"/>
                </a:rPr>
                <a:t>制作</a:t>
              </a:r>
              <a:endParaRPr kumimoji="1" lang="en-US" altLang="ja-JP" sz="1100" b="1">
                <a:latin typeface="メイリオ" panose="020B0604030504040204" pitchFamily="50" charset="-128"/>
                <a:ea typeface="メイリオ" panose="020B0604030504040204" pitchFamily="50" charset="-128"/>
              </a:endParaRPr>
            </a:p>
          </p:txBody>
        </p:sp>
      </p:grpSp>
      <p:sp>
        <p:nvSpPr>
          <p:cNvPr id="5" name="正方形/長方形 4">
            <a:extLst>
              <a:ext uri="{FF2B5EF4-FFF2-40B4-BE49-F238E27FC236}">
                <a16:creationId xmlns:a16="http://schemas.microsoft.com/office/drawing/2014/main" id="{B191F039-B611-9F22-3BCA-F31A9BECAC97}"/>
              </a:ext>
            </a:extLst>
          </p:cNvPr>
          <p:cNvSpPr/>
          <p:nvPr/>
        </p:nvSpPr>
        <p:spPr bwMode="auto">
          <a:xfrm>
            <a:off x="1707504" y="6291929"/>
            <a:ext cx="9982187" cy="382725"/>
          </a:xfrm>
          <a:prstGeom prst="rect">
            <a:avLst/>
          </a:prstGeom>
          <a:solidFill>
            <a:schemeClr val="accent6">
              <a:lumMod val="20000"/>
              <a:lumOff val="80000"/>
            </a:schemeClr>
          </a:solidFill>
          <a:ln w="28575" algn="ctr">
            <a:noFill/>
            <a:miter lim="800000"/>
            <a:headEnd/>
            <a:tailEnd/>
          </a:ln>
          <a:effectLst/>
        </p:spPr>
        <p:txBody>
          <a:bodyPr vert="horz" wrap="none" lIns="90000" tIns="46800" rIns="90000" bIns="46800" rtlCol="0" anchor="ctr"/>
          <a:lstStyle/>
          <a:p>
            <a:pPr algn="ctr" defTabSz="914400" fontAlgn="base">
              <a:spcBef>
                <a:spcPct val="50000"/>
              </a:spcBef>
              <a:spcAft>
                <a:spcPct val="0"/>
              </a:spcAft>
            </a:pPr>
            <a:r>
              <a:rPr lang="ja-JP" altLang="en-US" sz="1200" b="1">
                <a:latin typeface="メイリオ" panose="020B0604030504040204" pitchFamily="50" charset="-128"/>
                <a:ea typeface="メイリオ" panose="020B0604030504040204" pitchFamily="50" charset="-128"/>
              </a:rPr>
              <a:t>経営支援、要員</a:t>
            </a:r>
            <a:r>
              <a:rPr kumimoji="1" lang="ja-JP" altLang="en-US" sz="1200" b="1" noProof="0">
                <a:latin typeface="メイリオ" panose="020B0604030504040204" pitchFamily="50" charset="-128"/>
                <a:ea typeface="メイリオ" panose="020B0604030504040204" pitchFamily="50" charset="-128"/>
              </a:rPr>
              <a:t>計画</a:t>
            </a:r>
            <a:r>
              <a:rPr lang="ja-JP" altLang="en-US" sz="1200" b="1">
                <a:latin typeface="メイリオ" panose="020B0604030504040204" pitchFamily="50" charset="-128"/>
                <a:ea typeface="メイリオ" panose="020B0604030504040204" pitchFamily="50" charset="-128"/>
              </a:rPr>
              <a:t>（</a:t>
            </a:r>
            <a:r>
              <a:rPr kumimoji="1" lang="ja-JP" altLang="en-US" sz="1200" b="1" noProof="0">
                <a:latin typeface="メイリオ" panose="020B0604030504040204" pitchFamily="50" charset="-128"/>
                <a:ea typeface="メイリオ" panose="020B0604030504040204" pitchFamily="50" charset="-128"/>
              </a:rPr>
              <a:t>人材紹介、アカデミーによる教育、リスキリング、採用代行）</a:t>
            </a:r>
          </a:p>
        </p:txBody>
      </p:sp>
      <p:grpSp>
        <p:nvGrpSpPr>
          <p:cNvPr id="95" name="グループ化 94">
            <a:extLst>
              <a:ext uri="{FF2B5EF4-FFF2-40B4-BE49-F238E27FC236}">
                <a16:creationId xmlns:a16="http://schemas.microsoft.com/office/drawing/2014/main" id="{7A9AE4FD-431A-8AA3-B582-2727FD33862A}"/>
              </a:ext>
            </a:extLst>
          </p:cNvPr>
          <p:cNvGrpSpPr/>
          <p:nvPr/>
        </p:nvGrpSpPr>
        <p:grpSpPr>
          <a:xfrm>
            <a:off x="3833752" y="4245364"/>
            <a:ext cx="4191400" cy="420248"/>
            <a:chOff x="3880729" y="4584014"/>
            <a:chExt cx="4191400" cy="445198"/>
          </a:xfrm>
          <a:solidFill>
            <a:schemeClr val="accent3">
              <a:lumMod val="40000"/>
              <a:lumOff val="60000"/>
            </a:schemeClr>
          </a:solidFill>
        </p:grpSpPr>
        <p:grpSp>
          <p:nvGrpSpPr>
            <p:cNvPr id="61" name="グループ化 60">
              <a:extLst>
                <a:ext uri="{FF2B5EF4-FFF2-40B4-BE49-F238E27FC236}">
                  <a16:creationId xmlns:a16="http://schemas.microsoft.com/office/drawing/2014/main" id="{4CF79BFB-B26D-A3F7-28F1-1E5E60DBE626}"/>
                </a:ext>
              </a:extLst>
            </p:cNvPr>
            <p:cNvGrpSpPr/>
            <p:nvPr/>
          </p:nvGrpSpPr>
          <p:grpSpPr>
            <a:xfrm>
              <a:off x="3880729" y="4586817"/>
              <a:ext cx="1202445" cy="435678"/>
              <a:chOff x="3824332" y="4488954"/>
              <a:chExt cx="1202445" cy="435678"/>
            </a:xfrm>
            <a:grpFill/>
          </p:grpSpPr>
          <p:sp>
            <p:nvSpPr>
              <p:cNvPr id="28" name="正方形/長方形 27">
                <a:extLst>
                  <a:ext uri="{FF2B5EF4-FFF2-40B4-BE49-F238E27FC236}">
                    <a16:creationId xmlns:a16="http://schemas.microsoft.com/office/drawing/2014/main" id="{27439EF5-59E1-979B-6397-1972FF0F04D9}"/>
                  </a:ext>
                </a:extLst>
              </p:cNvPr>
              <p:cNvSpPr/>
              <p:nvPr/>
            </p:nvSpPr>
            <p:spPr bwMode="auto">
              <a:xfrm>
                <a:off x="3824332" y="4488954"/>
                <a:ext cx="1202445" cy="435678"/>
              </a:xfrm>
              <a:prstGeom prst="rect">
                <a:avLst/>
              </a:prstGeom>
              <a:grp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11" name="テキスト ボックス 110">
                <a:extLst>
                  <a:ext uri="{FF2B5EF4-FFF2-40B4-BE49-F238E27FC236}">
                    <a16:creationId xmlns:a16="http://schemas.microsoft.com/office/drawing/2014/main" id="{AACC7ECD-186E-7860-BE89-253036BB465B}"/>
                  </a:ext>
                </a:extLst>
              </p:cNvPr>
              <p:cNvSpPr txBox="1"/>
              <p:nvPr/>
            </p:nvSpPr>
            <p:spPr>
              <a:xfrm>
                <a:off x="3829445" y="4591377"/>
                <a:ext cx="1149651" cy="260839"/>
              </a:xfrm>
              <a:prstGeom prst="rect">
                <a:avLst/>
              </a:prstGeom>
              <a:grpFill/>
              <a:ln>
                <a:noFill/>
              </a:ln>
            </p:spPr>
            <p:txBody>
              <a:bodyPr wrap="square" rtlCol="0">
                <a:spAutoFit/>
              </a:bodyPr>
              <a:lstStyle/>
              <a:p>
                <a:pPr algn="ctr"/>
                <a:r>
                  <a:rPr kumimoji="1" lang="ja-JP" altLang="en-US" sz="1000" b="1">
                    <a:latin typeface="メイリオ" panose="020B0604030504040204" pitchFamily="50" charset="-128"/>
                    <a:ea typeface="メイリオ" panose="020B0604030504040204" pitchFamily="50" charset="-128"/>
                  </a:rPr>
                  <a:t>プログラミング</a:t>
                </a:r>
                <a:endParaRPr kumimoji="1" lang="en-US" altLang="ja-JP" sz="1000" b="1">
                  <a:latin typeface="メイリオ" panose="020B0604030504040204" pitchFamily="50" charset="-128"/>
                  <a:ea typeface="メイリオ" panose="020B0604030504040204" pitchFamily="50" charset="-128"/>
                </a:endParaRPr>
              </a:p>
            </p:txBody>
          </p:sp>
        </p:grpSp>
        <p:grpSp>
          <p:nvGrpSpPr>
            <p:cNvPr id="62" name="グループ化 61">
              <a:extLst>
                <a:ext uri="{FF2B5EF4-FFF2-40B4-BE49-F238E27FC236}">
                  <a16:creationId xmlns:a16="http://schemas.microsoft.com/office/drawing/2014/main" id="{9FDFAF4A-B34E-A41F-8552-F36DA66AE3CA}"/>
                </a:ext>
              </a:extLst>
            </p:cNvPr>
            <p:cNvGrpSpPr/>
            <p:nvPr/>
          </p:nvGrpSpPr>
          <p:grpSpPr>
            <a:xfrm>
              <a:off x="5171475" y="4584014"/>
              <a:ext cx="2900654" cy="445198"/>
              <a:chOff x="5115692" y="4486151"/>
              <a:chExt cx="2942842" cy="445198"/>
            </a:xfrm>
            <a:grpFill/>
          </p:grpSpPr>
          <p:sp>
            <p:nvSpPr>
              <p:cNvPr id="14" name="正方形/長方形 13">
                <a:extLst>
                  <a:ext uri="{FF2B5EF4-FFF2-40B4-BE49-F238E27FC236}">
                    <a16:creationId xmlns:a16="http://schemas.microsoft.com/office/drawing/2014/main" id="{AD69F80E-6A0D-A5A2-9609-2C3DCCA4A646}"/>
                  </a:ext>
                </a:extLst>
              </p:cNvPr>
              <p:cNvSpPr/>
              <p:nvPr/>
            </p:nvSpPr>
            <p:spPr bwMode="auto">
              <a:xfrm>
                <a:off x="5115692" y="4486151"/>
                <a:ext cx="2942842" cy="445198"/>
              </a:xfrm>
              <a:prstGeom prst="rect">
                <a:avLst/>
              </a:prstGeom>
              <a:grp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84D46AC4-7BB5-B9FE-639B-016391361B51}"/>
                  </a:ext>
                </a:extLst>
              </p:cNvPr>
              <p:cNvSpPr txBox="1"/>
              <p:nvPr/>
            </p:nvSpPr>
            <p:spPr>
              <a:xfrm>
                <a:off x="5504113" y="4580880"/>
                <a:ext cx="2149439" cy="260839"/>
              </a:xfrm>
              <a:prstGeom prst="rect">
                <a:avLst/>
              </a:prstGeom>
              <a:grpFill/>
              <a:ln>
                <a:noFill/>
              </a:ln>
            </p:spPr>
            <p:txBody>
              <a:bodyPr wrap="square" rtlCol="0">
                <a:spAutoFit/>
              </a:bodyPr>
              <a:lstStyle/>
              <a:p>
                <a:pPr algn="ctr"/>
                <a:r>
                  <a:rPr kumimoji="1" lang="en-US" altLang="ja-JP" sz="1000" b="1">
                    <a:latin typeface="メイリオ" panose="020B0604030504040204" pitchFamily="50" charset="-128"/>
                    <a:ea typeface="メイリオ" panose="020B0604030504040204" pitchFamily="50" charset="-128"/>
                  </a:rPr>
                  <a:t>CG</a:t>
                </a:r>
                <a:r>
                  <a:rPr kumimoji="1" lang="ja-JP" altLang="en-US" sz="1000" b="1">
                    <a:latin typeface="メイリオ" panose="020B0604030504040204" pitchFamily="50" charset="-128"/>
                    <a:ea typeface="メイリオ" panose="020B0604030504040204" pitchFamily="50" charset="-128"/>
                  </a:rPr>
                  <a:t>テクニカルサポート（</a:t>
                </a:r>
                <a:r>
                  <a:rPr kumimoji="1" lang="en-US" altLang="ja-JP" sz="1000" b="1">
                    <a:latin typeface="メイリオ" panose="020B0604030504040204" pitchFamily="50" charset="-128"/>
                    <a:ea typeface="メイリオ" panose="020B0604030504040204" pitchFamily="50" charset="-128"/>
                  </a:rPr>
                  <a:t>TA</a:t>
                </a:r>
                <a:r>
                  <a:rPr kumimoji="1" lang="ja-JP" altLang="en-US" sz="1000" b="1">
                    <a:latin typeface="メイリオ" panose="020B0604030504040204" pitchFamily="50" charset="-128"/>
                    <a:ea typeface="メイリオ" panose="020B0604030504040204" pitchFamily="50" charset="-128"/>
                  </a:rPr>
                  <a:t>）</a:t>
                </a:r>
                <a:endParaRPr kumimoji="1" lang="en-US" altLang="ja-JP" sz="1000" b="1">
                  <a:latin typeface="メイリオ" panose="020B0604030504040204" pitchFamily="50" charset="-128"/>
                  <a:ea typeface="メイリオ" panose="020B0604030504040204" pitchFamily="50" charset="-128"/>
                </a:endParaRPr>
              </a:p>
            </p:txBody>
          </p:sp>
        </p:grpSp>
      </p:grpSp>
      <p:sp>
        <p:nvSpPr>
          <p:cNvPr id="19" name="正方形/長方形 18">
            <a:extLst>
              <a:ext uri="{FF2B5EF4-FFF2-40B4-BE49-F238E27FC236}">
                <a16:creationId xmlns:a16="http://schemas.microsoft.com/office/drawing/2014/main" id="{CA7B1FB6-0CBF-A374-E013-9AD99340F60B}"/>
              </a:ext>
            </a:extLst>
          </p:cNvPr>
          <p:cNvSpPr/>
          <p:nvPr/>
        </p:nvSpPr>
        <p:spPr bwMode="auto">
          <a:xfrm>
            <a:off x="867580" y="3735413"/>
            <a:ext cx="398044" cy="2466923"/>
          </a:xfrm>
          <a:prstGeom prst="rect">
            <a:avLst/>
          </a:prstGeom>
          <a:solidFill>
            <a:schemeClr val="tx1"/>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050" b="1" noProof="0">
                <a:solidFill>
                  <a:schemeClr val="bg2"/>
                </a:solidFill>
                <a:latin typeface="メイリオ" panose="020B0604030504040204" pitchFamily="50" charset="-128"/>
                <a:ea typeface="メイリオ" panose="020B0604030504040204" pitchFamily="50" charset="-128"/>
              </a:rPr>
              <a:t>主な</a:t>
            </a:r>
            <a:br>
              <a:rPr kumimoji="1" lang="en-US" altLang="ja-JP" sz="1050" b="1" noProof="0">
                <a:solidFill>
                  <a:schemeClr val="bg2"/>
                </a:solidFill>
                <a:latin typeface="メイリオ" panose="020B0604030504040204" pitchFamily="50" charset="-128"/>
                <a:ea typeface="メイリオ" panose="020B0604030504040204" pitchFamily="50" charset="-128"/>
              </a:rPr>
            </a:br>
            <a:r>
              <a:rPr kumimoji="1" lang="ja-JP" altLang="en-US" sz="1050" b="1" noProof="0">
                <a:solidFill>
                  <a:schemeClr val="bg2"/>
                </a:solidFill>
                <a:latin typeface="メイリオ" panose="020B0604030504040204" pitchFamily="50" charset="-128"/>
                <a:ea typeface="メイリオ" panose="020B0604030504040204" pitchFamily="50" charset="-128"/>
              </a:rPr>
              <a:t>活動</a:t>
            </a:r>
          </a:p>
        </p:txBody>
      </p:sp>
      <p:sp>
        <p:nvSpPr>
          <p:cNvPr id="20" name="正方形/長方形 19">
            <a:extLst>
              <a:ext uri="{FF2B5EF4-FFF2-40B4-BE49-F238E27FC236}">
                <a16:creationId xmlns:a16="http://schemas.microsoft.com/office/drawing/2014/main" id="{57AF42D5-F5BB-99C2-082A-FC6EBE17EEB9}"/>
              </a:ext>
            </a:extLst>
          </p:cNvPr>
          <p:cNvSpPr/>
          <p:nvPr/>
        </p:nvSpPr>
        <p:spPr bwMode="auto">
          <a:xfrm>
            <a:off x="867579" y="6291929"/>
            <a:ext cx="713541" cy="382726"/>
          </a:xfrm>
          <a:prstGeom prst="rect">
            <a:avLst/>
          </a:prstGeom>
          <a:solidFill>
            <a:schemeClr val="tx1"/>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050" b="1" noProof="0">
                <a:solidFill>
                  <a:schemeClr val="bg1"/>
                </a:solidFill>
                <a:latin typeface="メイリオ" panose="020B0604030504040204" pitchFamily="50" charset="-128"/>
                <a:ea typeface="メイリオ" panose="020B0604030504040204" pitchFamily="50" charset="-128"/>
              </a:rPr>
              <a:t>支援</a:t>
            </a:r>
            <a:br>
              <a:rPr lang="en-US" altLang="ja-JP" sz="1050" b="1">
                <a:solidFill>
                  <a:schemeClr val="bg1"/>
                </a:solidFill>
                <a:latin typeface="メイリオ" panose="020B0604030504040204" pitchFamily="50" charset="-128"/>
                <a:ea typeface="メイリオ" panose="020B0604030504040204" pitchFamily="50" charset="-128"/>
              </a:rPr>
            </a:br>
            <a:r>
              <a:rPr kumimoji="1" lang="ja-JP" altLang="en-US" sz="1050" b="1" noProof="0">
                <a:solidFill>
                  <a:schemeClr val="bg1"/>
                </a:solidFill>
                <a:latin typeface="メイリオ" panose="020B0604030504040204" pitchFamily="50" charset="-128"/>
                <a:ea typeface="メイリオ" panose="020B0604030504040204" pitchFamily="50" charset="-128"/>
              </a:rPr>
              <a:t>活動</a:t>
            </a:r>
          </a:p>
        </p:txBody>
      </p:sp>
      <p:sp>
        <p:nvSpPr>
          <p:cNvPr id="78" name="テキスト ボックス 77">
            <a:extLst>
              <a:ext uri="{FF2B5EF4-FFF2-40B4-BE49-F238E27FC236}">
                <a16:creationId xmlns:a16="http://schemas.microsoft.com/office/drawing/2014/main" id="{9AF5A864-8B2A-1442-E6B2-44AEEEC3C0D9}"/>
              </a:ext>
            </a:extLst>
          </p:cNvPr>
          <p:cNvSpPr txBox="1"/>
          <p:nvPr/>
        </p:nvSpPr>
        <p:spPr>
          <a:xfrm>
            <a:off x="721273" y="3478811"/>
            <a:ext cx="3186806" cy="230832"/>
          </a:xfrm>
          <a:prstGeom prst="rect">
            <a:avLst/>
          </a:prstGeom>
          <a:noFill/>
        </p:spPr>
        <p:txBody>
          <a:bodyPr wrap="square" rtlCol="0">
            <a:spAutoFit/>
          </a:bodyPr>
          <a:lstStyle/>
          <a:p>
            <a:pPr algn="ctr"/>
            <a:r>
              <a:rPr lang="en-US" altLang="ja-JP" sz="900" b="1">
                <a:solidFill>
                  <a:schemeClr val="bg1"/>
                </a:solidFill>
                <a:latin typeface="メイリオ" panose="020B0604030504040204" pitchFamily="50" charset="-128"/>
                <a:ea typeface="メイリオ" panose="020B0604030504040204" pitchFamily="50" charset="-128"/>
              </a:rPr>
              <a:t>C&amp;R</a:t>
            </a:r>
            <a:r>
              <a:rPr lang="ja-JP" altLang="en-US" sz="900" b="1">
                <a:solidFill>
                  <a:schemeClr val="bg1"/>
                </a:solidFill>
                <a:latin typeface="メイリオ" panose="020B0604030504040204" pitchFamily="50" charset="-128"/>
                <a:ea typeface="メイリオ" panose="020B0604030504040204" pitchFamily="50" charset="-128"/>
              </a:rPr>
              <a:t> </a:t>
            </a:r>
            <a:r>
              <a:rPr lang="en-US" altLang="ja-JP" sz="900" b="1">
                <a:solidFill>
                  <a:schemeClr val="bg1"/>
                </a:solidFill>
                <a:latin typeface="メイリオ" panose="020B0604030504040204" pitchFamily="50" charset="-128"/>
                <a:ea typeface="メイリオ" panose="020B0604030504040204" pitchFamily="50" charset="-128"/>
              </a:rPr>
              <a:t>Creative Studios </a:t>
            </a:r>
            <a:r>
              <a:rPr lang="ja-JP" altLang="en-US" sz="900" b="1">
                <a:solidFill>
                  <a:schemeClr val="bg1"/>
                </a:solidFill>
                <a:latin typeface="メイリオ" panose="020B0604030504040204" pitchFamily="50" charset="-128"/>
                <a:ea typeface="メイリオ" panose="020B0604030504040204" pitchFamily="50" charset="-128"/>
              </a:rPr>
              <a:t>が専門スタジオを有する領域</a:t>
            </a:r>
            <a:endParaRPr lang="en-US" altLang="ja-JP" sz="900" b="1">
              <a:solidFill>
                <a:schemeClr val="bg1"/>
              </a:solidFill>
              <a:latin typeface="メイリオ" panose="020B0604030504040204" pitchFamily="50" charset="-128"/>
              <a:ea typeface="メイリオ" panose="020B0604030504040204" pitchFamily="50" charset="-128"/>
            </a:endParaRPr>
          </a:p>
        </p:txBody>
      </p:sp>
      <p:sp>
        <p:nvSpPr>
          <p:cNvPr id="89" name="タイトル 88">
            <a:extLst>
              <a:ext uri="{FF2B5EF4-FFF2-40B4-BE49-F238E27FC236}">
                <a16:creationId xmlns:a16="http://schemas.microsoft.com/office/drawing/2014/main" id="{43CDA12D-E006-7160-5677-BC8DF38446A4}"/>
              </a:ext>
            </a:extLst>
          </p:cNvPr>
          <p:cNvSpPr>
            <a:spLocks noGrp="1"/>
          </p:cNvSpPr>
          <p:nvPr>
            <p:ph type="title"/>
          </p:nvPr>
        </p:nvSpPr>
        <p:spPr/>
        <p:txBody>
          <a:bodyPr>
            <a:normAutofit/>
          </a:bodyPr>
          <a:lstStyle/>
          <a:p>
            <a:r>
              <a:rPr lang="ja-JP" altLang="en-US"/>
              <a:t>日本最大級のスタジオを選ぶ理由２：体制構築</a:t>
            </a:r>
          </a:p>
        </p:txBody>
      </p:sp>
      <p:sp>
        <p:nvSpPr>
          <p:cNvPr id="96" name="正方形/長方形 95">
            <a:extLst>
              <a:ext uri="{FF2B5EF4-FFF2-40B4-BE49-F238E27FC236}">
                <a16:creationId xmlns:a16="http://schemas.microsoft.com/office/drawing/2014/main" id="{EF15F850-70E6-3731-4553-44C4C140AC00}"/>
              </a:ext>
            </a:extLst>
          </p:cNvPr>
          <p:cNvSpPr/>
          <p:nvPr/>
        </p:nvSpPr>
        <p:spPr bwMode="auto">
          <a:xfrm>
            <a:off x="1615514" y="3737922"/>
            <a:ext cx="298614" cy="419961"/>
          </a:xfrm>
          <a:prstGeom prst="rect">
            <a:avLst/>
          </a:prstGeom>
          <a:solidFill>
            <a:schemeClr val="tx1">
              <a:lumMod val="60000"/>
              <a:lumOff val="40000"/>
            </a:schemeClr>
          </a:solidFill>
          <a:ln w="38100" algn="ctr">
            <a:noFill/>
            <a:miter lim="800000"/>
            <a:headEnd/>
            <a:tailEnd/>
          </a:ln>
          <a:effectLst/>
        </p:spPr>
        <p:txBody>
          <a:bodyPr vert="eaVert" wrap="none" lIns="90000" tIns="46800" rIns="90000" bIns="46800" rtlCol="0" anchor="ctr"/>
          <a:lstStyle/>
          <a:p>
            <a:pPr algn="ctr" defTabSz="914400" fontAlgn="base">
              <a:spcBef>
                <a:spcPct val="50000"/>
              </a:spcBef>
              <a:spcAft>
                <a:spcPct val="0"/>
              </a:spcAft>
            </a:pPr>
            <a:r>
              <a:rPr kumimoji="1" lang="ja-JP" altLang="en-US" sz="1050" b="1" noProof="0">
                <a:solidFill>
                  <a:schemeClr val="bg2"/>
                </a:solidFill>
                <a:latin typeface="メイリオ" panose="020B0604030504040204" pitchFamily="50" charset="-128"/>
                <a:ea typeface="メイリオ" panose="020B0604030504040204" pitchFamily="50" charset="-128"/>
              </a:rPr>
              <a:t>制作</a:t>
            </a:r>
          </a:p>
        </p:txBody>
      </p:sp>
      <p:sp>
        <p:nvSpPr>
          <p:cNvPr id="102" name="正方形/長方形 101">
            <a:extLst>
              <a:ext uri="{FF2B5EF4-FFF2-40B4-BE49-F238E27FC236}">
                <a16:creationId xmlns:a16="http://schemas.microsoft.com/office/drawing/2014/main" id="{248AE39F-E209-B4D7-6551-59D10E1D92FE}"/>
              </a:ext>
            </a:extLst>
          </p:cNvPr>
          <p:cNvSpPr/>
          <p:nvPr/>
        </p:nvSpPr>
        <p:spPr bwMode="auto">
          <a:xfrm>
            <a:off x="1615514" y="4201996"/>
            <a:ext cx="298614" cy="838279"/>
          </a:xfrm>
          <a:prstGeom prst="rect">
            <a:avLst/>
          </a:prstGeom>
          <a:solidFill>
            <a:schemeClr val="tx1">
              <a:lumMod val="60000"/>
              <a:lumOff val="40000"/>
            </a:schemeClr>
          </a:solidFill>
          <a:ln w="38100" algn="ctr">
            <a:noFill/>
            <a:miter lim="800000"/>
            <a:headEnd/>
            <a:tailEnd/>
          </a:ln>
          <a:effectLst/>
        </p:spPr>
        <p:txBody>
          <a:bodyPr vert="eaVert" wrap="none" lIns="90000" tIns="46800" rIns="90000" bIns="46800" rtlCol="0" anchor="ctr"/>
          <a:lstStyle/>
          <a:p>
            <a:pPr algn="ctr" defTabSz="914400" fontAlgn="base">
              <a:spcBef>
                <a:spcPct val="50000"/>
              </a:spcBef>
              <a:spcAft>
                <a:spcPct val="0"/>
              </a:spcAft>
            </a:pPr>
            <a:r>
              <a:rPr kumimoji="1" lang="ja-JP" altLang="en-US" sz="1050" b="1" noProof="0">
                <a:solidFill>
                  <a:schemeClr val="bg2"/>
                </a:solidFill>
                <a:latin typeface="メイリオ" panose="020B0604030504040204" pitchFamily="50" charset="-128"/>
                <a:ea typeface="メイリオ" panose="020B0604030504040204" pitchFamily="50" charset="-128"/>
              </a:rPr>
              <a:t>開発</a:t>
            </a:r>
          </a:p>
        </p:txBody>
      </p:sp>
      <p:sp>
        <p:nvSpPr>
          <p:cNvPr id="107" name="正方形/長方形 106">
            <a:extLst>
              <a:ext uri="{FF2B5EF4-FFF2-40B4-BE49-F238E27FC236}">
                <a16:creationId xmlns:a16="http://schemas.microsoft.com/office/drawing/2014/main" id="{5E57F855-9543-2D14-62BA-3428FEA94947}"/>
              </a:ext>
            </a:extLst>
          </p:cNvPr>
          <p:cNvSpPr/>
          <p:nvPr/>
        </p:nvSpPr>
        <p:spPr bwMode="auto">
          <a:xfrm>
            <a:off x="1606797" y="5103178"/>
            <a:ext cx="298614" cy="1099158"/>
          </a:xfrm>
          <a:prstGeom prst="rect">
            <a:avLst/>
          </a:prstGeom>
          <a:solidFill>
            <a:schemeClr val="tx1">
              <a:lumMod val="60000"/>
              <a:lumOff val="40000"/>
            </a:schemeClr>
          </a:solidFill>
          <a:ln w="38100" algn="ctr">
            <a:noFill/>
            <a:miter lim="800000"/>
            <a:headEnd/>
            <a:tailEnd/>
          </a:ln>
          <a:effectLst/>
        </p:spPr>
        <p:txBody>
          <a:bodyPr vert="eaVert" wrap="none" lIns="90000" tIns="46800" rIns="90000" bIns="46800" rtlCol="0" anchor="ctr"/>
          <a:lstStyle/>
          <a:p>
            <a:pPr algn="ctr" defTabSz="914400" fontAlgn="base">
              <a:spcBef>
                <a:spcPct val="50000"/>
              </a:spcBef>
              <a:spcAft>
                <a:spcPct val="0"/>
              </a:spcAft>
            </a:pPr>
            <a:r>
              <a:rPr kumimoji="1" lang="ja-JP" altLang="en-US" sz="1050" b="1" noProof="0">
                <a:solidFill>
                  <a:schemeClr val="bg2"/>
                </a:solidFill>
                <a:latin typeface="メイリオ" panose="020B0604030504040204" pitchFamily="50" charset="-128"/>
                <a:ea typeface="メイリオ" panose="020B0604030504040204" pitchFamily="50" charset="-128"/>
              </a:rPr>
              <a:t>制作＋開発</a:t>
            </a:r>
          </a:p>
        </p:txBody>
      </p:sp>
    </p:spTree>
    <p:extLst>
      <p:ext uri="{BB962C8B-B14F-4D97-AF65-F5344CB8AC3E}">
        <p14:creationId xmlns:p14="http://schemas.microsoft.com/office/powerpoint/2010/main" val="231380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正方形/長方形 56">
            <a:extLst>
              <a:ext uri="{FF2B5EF4-FFF2-40B4-BE49-F238E27FC236}">
                <a16:creationId xmlns:a16="http://schemas.microsoft.com/office/drawing/2014/main" id="{5F9A7FF7-7AD6-4DC0-62E9-EC6E736CF7B1}"/>
              </a:ext>
            </a:extLst>
          </p:cNvPr>
          <p:cNvSpPr/>
          <p:nvPr/>
        </p:nvSpPr>
        <p:spPr bwMode="auto">
          <a:xfrm>
            <a:off x="4328488" y="1156163"/>
            <a:ext cx="4207934" cy="917795"/>
          </a:xfrm>
          <a:prstGeom prst="rect">
            <a:avLst/>
          </a:prstGeom>
          <a:solidFill>
            <a:schemeClr val="bg1">
              <a:lumMod val="8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5" name="コンテンツ プレースホルダー 1">
            <a:extLst>
              <a:ext uri="{FF2B5EF4-FFF2-40B4-BE49-F238E27FC236}">
                <a16:creationId xmlns:a16="http://schemas.microsoft.com/office/drawing/2014/main" id="{C109219B-50A1-8D12-2572-B9B09841B18A}"/>
              </a:ext>
            </a:extLst>
          </p:cNvPr>
          <p:cNvSpPr>
            <a:spLocks noGrp="1"/>
          </p:cNvSpPr>
          <p:nvPr>
            <p:ph idx="10"/>
          </p:nvPr>
        </p:nvSpPr>
        <p:spPr/>
        <p:txBody>
          <a:bodyPr>
            <a:normAutofit/>
          </a:bodyPr>
          <a:lstStyle/>
          <a:p>
            <a:r>
              <a:rPr lang="ja-JP" altLang="en-US"/>
              <a:t>常時</a:t>
            </a:r>
            <a:r>
              <a:rPr lang="en-US" altLang="ja-JP" dirty="0"/>
              <a:t>100</a:t>
            </a:r>
            <a:r>
              <a:rPr lang="ja-JP" altLang="en-US"/>
              <a:t>を超えるプロジェクトが稼働中。</a:t>
            </a:r>
            <a:r>
              <a:rPr kumimoji="1" lang="ja-JP" altLang="en-US"/>
              <a:t>今欲しいポジションにぴったりの人材をご提案可能です。</a:t>
            </a:r>
            <a:endParaRPr kumimoji="1" lang="en-US" altLang="ja-JP"/>
          </a:p>
        </p:txBody>
      </p:sp>
      <p:sp>
        <p:nvSpPr>
          <p:cNvPr id="3" name="タイトル 2">
            <a:extLst>
              <a:ext uri="{FF2B5EF4-FFF2-40B4-BE49-F238E27FC236}">
                <a16:creationId xmlns:a16="http://schemas.microsoft.com/office/drawing/2014/main" id="{A3FCA9B1-AED8-97CD-7A8E-8D372FA8EF36}"/>
              </a:ext>
            </a:extLst>
          </p:cNvPr>
          <p:cNvSpPr>
            <a:spLocks noGrp="1"/>
          </p:cNvSpPr>
          <p:nvPr>
            <p:ph type="title"/>
          </p:nvPr>
        </p:nvSpPr>
        <p:spPr/>
        <p:txBody>
          <a:bodyPr/>
          <a:lstStyle/>
          <a:p>
            <a:r>
              <a:rPr lang="ja-JP" altLang="en-US"/>
              <a:t>日本最大級のスタジオを選ぶ理由２：盤石の制作･開発体制</a:t>
            </a:r>
          </a:p>
        </p:txBody>
      </p:sp>
      <p:sp>
        <p:nvSpPr>
          <p:cNvPr id="2" name="スライド番号プレースホルダー 1">
            <a:extLst>
              <a:ext uri="{FF2B5EF4-FFF2-40B4-BE49-F238E27FC236}">
                <a16:creationId xmlns:a16="http://schemas.microsoft.com/office/drawing/2014/main" id="{91868741-6704-51EC-30FC-0A88DF366FDD}"/>
              </a:ext>
            </a:extLst>
          </p:cNvPr>
          <p:cNvSpPr>
            <a:spLocks noGrp="1"/>
          </p:cNvSpPr>
          <p:nvPr>
            <p:ph type="sldNum" sz="quarter" idx="11"/>
          </p:nvPr>
        </p:nvSpPr>
        <p:spPr/>
        <p:txBody>
          <a:bodyPr/>
          <a:lstStyle/>
          <a:p>
            <a:fld id="{B75FDD43-FCEC-4ECC-8189-A5C6D2E08DC6}" type="slidenum">
              <a:rPr lang="ja-JP" altLang="en-US" smtClean="0"/>
              <a:pPr/>
              <a:t>29</a:t>
            </a:fld>
            <a:endParaRPr lang="ja-JP" altLang="en-US"/>
          </a:p>
        </p:txBody>
      </p:sp>
      <p:sp>
        <p:nvSpPr>
          <p:cNvPr id="6" name="四角形: 角を丸くする 5">
            <a:extLst>
              <a:ext uri="{FF2B5EF4-FFF2-40B4-BE49-F238E27FC236}">
                <a16:creationId xmlns:a16="http://schemas.microsoft.com/office/drawing/2014/main" id="{C482507C-E66D-7D2B-6D48-44C5B9C6C71F}"/>
              </a:ext>
            </a:extLst>
          </p:cNvPr>
          <p:cNvSpPr/>
          <p:nvPr/>
        </p:nvSpPr>
        <p:spPr bwMode="auto">
          <a:xfrm>
            <a:off x="4513080" y="1312367"/>
            <a:ext cx="1641763"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プロデューサー</a:t>
            </a:r>
            <a:endParaRPr kumimoji="1" lang="en-US" altLang="ja-JP" sz="1100" b="1" noProof="0">
              <a:latin typeface="メイリオ" panose="020B0604030504040204" pitchFamily="50" charset="-128"/>
              <a:ea typeface="メイリオ" panose="020B0604030504040204" pitchFamily="50" charset="-128"/>
            </a:endParaRPr>
          </a:p>
          <a:p>
            <a:pPr algn="ctr"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企画・開発責任者</a:t>
            </a:r>
            <a:endParaRPr kumimoji="1" lang="ja-JP" altLang="en-US" sz="1100" b="1" noProof="0">
              <a:latin typeface="メイリオ" panose="020B0604030504040204" pitchFamily="50" charset="-128"/>
              <a:ea typeface="メイリオ" panose="020B0604030504040204" pitchFamily="50" charset="-128"/>
            </a:endParaRPr>
          </a:p>
        </p:txBody>
      </p:sp>
      <p:sp>
        <p:nvSpPr>
          <p:cNvPr id="7" name="四角形: 角を丸くする 6">
            <a:extLst>
              <a:ext uri="{FF2B5EF4-FFF2-40B4-BE49-F238E27FC236}">
                <a16:creationId xmlns:a16="http://schemas.microsoft.com/office/drawing/2014/main" id="{81B67009-6F62-07BD-7796-15F3E5ED2E35}"/>
              </a:ext>
            </a:extLst>
          </p:cNvPr>
          <p:cNvSpPr/>
          <p:nvPr/>
        </p:nvSpPr>
        <p:spPr bwMode="auto">
          <a:xfrm>
            <a:off x="6643738" y="1312366"/>
            <a:ext cx="1641763"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プロジェクト</a:t>
            </a:r>
            <a:endParaRPr kumimoji="1" lang="en-US" altLang="ja-JP" sz="1100" b="1" noProof="0">
              <a:latin typeface="メイリオ" panose="020B0604030504040204" pitchFamily="50" charset="-128"/>
              <a:ea typeface="メイリオ" panose="020B0604030504040204" pitchFamily="50" charset="-128"/>
            </a:endParaRPr>
          </a:p>
          <a:p>
            <a:pPr algn="ctr"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マネージャー</a:t>
            </a:r>
            <a:endParaRPr kumimoji="1" lang="ja-JP" altLang="en-US" sz="1100" b="1" noProof="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84079108-E9B4-E9D8-A596-67E38CDD6D35}"/>
              </a:ext>
            </a:extLst>
          </p:cNvPr>
          <p:cNvSpPr/>
          <p:nvPr/>
        </p:nvSpPr>
        <p:spPr bwMode="auto">
          <a:xfrm>
            <a:off x="653801" y="2449691"/>
            <a:ext cx="1302633"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ディレクター</a:t>
            </a:r>
            <a:endParaRPr kumimoji="1" lang="en-US" altLang="ja-JP" sz="1100" b="1" noProof="0">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4257521F-A6D2-8917-9B9A-2A1A4593185A}"/>
              </a:ext>
            </a:extLst>
          </p:cNvPr>
          <p:cNvSpPr/>
          <p:nvPr/>
        </p:nvSpPr>
        <p:spPr bwMode="auto">
          <a:xfrm>
            <a:off x="3594822" y="2449691"/>
            <a:ext cx="1327405"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開発</a:t>
            </a:r>
            <a:br>
              <a:rPr kumimoji="1" lang="en-US" altLang="ja-JP" sz="1100" b="1" noProof="0">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ディレクター</a:t>
            </a:r>
            <a:endParaRPr kumimoji="1" lang="en-US" altLang="ja-JP" sz="1100" b="1" noProof="0">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2D9C1B8D-5D6D-F2D9-E6C8-6E97799319FA}"/>
              </a:ext>
            </a:extLst>
          </p:cNvPr>
          <p:cNvSpPr/>
          <p:nvPr/>
        </p:nvSpPr>
        <p:spPr bwMode="auto">
          <a:xfrm>
            <a:off x="5860888" y="2449691"/>
            <a:ext cx="1135241"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シナリオ</a:t>
            </a:r>
            <a:br>
              <a:rPr lang="en-US" altLang="ja-JP" sz="1100" b="1" noProof="0">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ディレクター</a:t>
            </a:r>
          </a:p>
        </p:txBody>
      </p:sp>
      <p:sp>
        <p:nvSpPr>
          <p:cNvPr id="11" name="四角形: 角を丸くする 10">
            <a:extLst>
              <a:ext uri="{FF2B5EF4-FFF2-40B4-BE49-F238E27FC236}">
                <a16:creationId xmlns:a16="http://schemas.microsoft.com/office/drawing/2014/main" id="{5453A468-50FA-5545-FCBC-D90221FCAED7}"/>
              </a:ext>
            </a:extLst>
          </p:cNvPr>
          <p:cNvSpPr/>
          <p:nvPr/>
        </p:nvSpPr>
        <p:spPr bwMode="auto">
          <a:xfrm>
            <a:off x="8701632" y="2449690"/>
            <a:ext cx="1263748" cy="621911"/>
          </a:xfrm>
          <a:prstGeom prst="roundRect">
            <a:avLst>
              <a:gd name="adj" fmla="val 5797"/>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クリエイティブ</a:t>
            </a:r>
            <a:br>
              <a:rPr lang="en-US" altLang="ja-JP" sz="1100" b="1">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ディレクター</a:t>
            </a:r>
          </a:p>
        </p:txBody>
      </p:sp>
      <p:sp>
        <p:nvSpPr>
          <p:cNvPr id="12" name="四角形: 角を丸くする 11">
            <a:extLst>
              <a:ext uri="{FF2B5EF4-FFF2-40B4-BE49-F238E27FC236}">
                <a16:creationId xmlns:a16="http://schemas.microsoft.com/office/drawing/2014/main" id="{B3973694-FF3C-29B9-B3B6-D2E309EBA399}"/>
              </a:ext>
            </a:extLst>
          </p:cNvPr>
          <p:cNvSpPr/>
          <p:nvPr/>
        </p:nvSpPr>
        <p:spPr bwMode="auto">
          <a:xfrm>
            <a:off x="10562521" y="2449690"/>
            <a:ext cx="1165610"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クリエイティブ</a:t>
            </a:r>
            <a:br>
              <a:rPr lang="en-US" altLang="ja-JP" sz="1100" b="1">
                <a:latin typeface="メイリオ" panose="020B0604030504040204" pitchFamily="50" charset="-128"/>
                <a:ea typeface="メイリオ" panose="020B0604030504040204" pitchFamily="50" charset="-128"/>
              </a:rPr>
            </a:br>
            <a:r>
              <a:rPr kumimoji="1" lang="en-US" altLang="ja-JP" sz="1100" b="1" noProof="0">
                <a:latin typeface="メイリオ" panose="020B0604030504040204" pitchFamily="50" charset="-128"/>
                <a:ea typeface="メイリオ" panose="020B0604030504040204" pitchFamily="50" charset="-128"/>
              </a:rPr>
              <a:t>PM</a:t>
            </a:r>
          </a:p>
        </p:txBody>
      </p:sp>
      <p:sp>
        <p:nvSpPr>
          <p:cNvPr id="13" name="四角形: 角を丸くする 12">
            <a:extLst>
              <a:ext uri="{FF2B5EF4-FFF2-40B4-BE49-F238E27FC236}">
                <a16:creationId xmlns:a16="http://schemas.microsoft.com/office/drawing/2014/main" id="{46FD8895-D213-26B0-F369-79CD682448F9}"/>
              </a:ext>
            </a:extLst>
          </p:cNvPr>
          <p:cNvSpPr/>
          <p:nvPr/>
        </p:nvSpPr>
        <p:spPr bwMode="auto">
          <a:xfrm>
            <a:off x="653801" y="3367976"/>
            <a:ext cx="1302633"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リードプランナー</a:t>
            </a:r>
            <a:endParaRPr kumimoji="1" lang="en-US" altLang="ja-JP" sz="1100" b="1" noProof="0">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DBCA611A-8514-0B09-D162-71DBF3A0FAD2}"/>
              </a:ext>
            </a:extLst>
          </p:cNvPr>
          <p:cNvSpPr/>
          <p:nvPr/>
        </p:nvSpPr>
        <p:spPr bwMode="auto">
          <a:xfrm>
            <a:off x="653801" y="4220800"/>
            <a:ext cx="1302633"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プランナー</a:t>
            </a:r>
            <a:endParaRPr kumimoji="1" lang="en-US" altLang="ja-JP" sz="1100" b="1" noProof="0">
              <a:latin typeface="メイリオ" panose="020B0604030504040204" pitchFamily="50" charset="-128"/>
              <a:ea typeface="メイリオ" panose="020B0604030504040204" pitchFamily="50" charset="-128"/>
            </a:endParaRPr>
          </a:p>
          <a:p>
            <a:pPr algn="ctr"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●名枠</a:t>
            </a:r>
            <a:endParaRPr kumimoji="1" lang="ja-JP" altLang="en-US" sz="1100" b="1" noProof="0">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CC432BB0-21A9-46F7-4A50-5E10D724A4AF}"/>
              </a:ext>
            </a:extLst>
          </p:cNvPr>
          <p:cNvSpPr/>
          <p:nvPr/>
        </p:nvSpPr>
        <p:spPr bwMode="auto">
          <a:xfrm>
            <a:off x="2155337" y="3367975"/>
            <a:ext cx="1302633"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リード</a:t>
            </a:r>
            <a:br>
              <a:rPr kumimoji="1" lang="en-US" altLang="ja-JP" sz="1100" b="1" noProof="0">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バックエンド</a:t>
            </a:r>
          </a:p>
        </p:txBody>
      </p:sp>
      <p:sp>
        <p:nvSpPr>
          <p:cNvPr id="16" name="四角形: 角を丸くする 15">
            <a:extLst>
              <a:ext uri="{FF2B5EF4-FFF2-40B4-BE49-F238E27FC236}">
                <a16:creationId xmlns:a16="http://schemas.microsoft.com/office/drawing/2014/main" id="{BAE13590-1087-7347-C373-8F91AB4A22CC}"/>
              </a:ext>
            </a:extLst>
          </p:cNvPr>
          <p:cNvSpPr/>
          <p:nvPr/>
        </p:nvSpPr>
        <p:spPr bwMode="auto">
          <a:xfrm>
            <a:off x="3617364" y="3367974"/>
            <a:ext cx="1302633"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リード</a:t>
            </a:r>
            <a:br>
              <a:rPr kumimoji="1" lang="en-US" altLang="ja-JP" sz="1100" b="1" noProof="0">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クライアント</a:t>
            </a:r>
          </a:p>
        </p:txBody>
      </p:sp>
      <p:sp>
        <p:nvSpPr>
          <p:cNvPr id="17" name="四角形: 角を丸くする 16">
            <a:extLst>
              <a:ext uri="{FF2B5EF4-FFF2-40B4-BE49-F238E27FC236}">
                <a16:creationId xmlns:a16="http://schemas.microsoft.com/office/drawing/2014/main" id="{DAF429CF-BB23-846B-50F3-F4E6E670472F}"/>
              </a:ext>
            </a:extLst>
          </p:cNvPr>
          <p:cNvSpPr/>
          <p:nvPr/>
        </p:nvSpPr>
        <p:spPr bwMode="auto">
          <a:xfrm>
            <a:off x="5079392" y="3367974"/>
            <a:ext cx="1302633"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リード</a:t>
            </a:r>
            <a:br>
              <a:rPr kumimoji="1" lang="en-US" altLang="ja-JP" sz="1100" b="1" noProof="0">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デザイナー</a:t>
            </a:r>
          </a:p>
        </p:txBody>
      </p:sp>
      <p:sp>
        <p:nvSpPr>
          <p:cNvPr id="18" name="四角形: 角を丸くする 17">
            <a:extLst>
              <a:ext uri="{FF2B5EF4-FFF2-40B4-BE49-F238E27FC236}">
                <a16:creationId xmlns:a16="http://schemas.microsoft.com/office/drawing/2014/main" id="{3BED16A0-6696-0A62-D9AE-9330B895B485}"/>
              </a:ext>
            </a:extLst>
          </p:cNvPr>
          <p:cNvSpPr/>
          <p:nvPr/>
        </p:nvSpPr>
        <p:spPr bwMode="auto">
          <a:xfrm>
            <a:off x="2156938" y="4241361"/>
            <a:ext cx="1302633"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バックエンド</a:t>
            </a:r>
            <a:br>
              <a:rPr kumimoji="1" lang="en-US" altLang="ja-JP" sz="1100" b="1" noProof="0">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エンジニア</a:t>
            </a:r>
            <a:br>
              <a:rPr kumimoji="1" lang="en-US" altLang="ja-JP" sz="1100" b="1" noProof="0">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●名枠</a:t>
            </a:r>
            <a:endParaRPr kumimoji="1" lang="ja-JP" altLang="en-US" sz="1100" b="1" noProof="0">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AC889EF1-A80D-26EB-1366-49E668C33750}"/>
              </a:ext>
            </a:extLst>
          </p:cNvPr>
          <p:cNvSpPr/>
          <p:nvPr/>
        </p:nvSpPr>
        <p:spPr bwMode="auto">
          <a:xfrm>
            <a:off x="3623714" y="4220796"/>
            <a:ext cx="1302633"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クライアント</a:t>
            </a:r>
            <a:br>
              <a:rPr kumimoji="1" lang="en-US" altLang="ja-JP" sz="1100" b="1" noProof="0">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エンジニア</a:t>
            </a:r>
            <a:br>
              <a:rPr kumimoji="1" lang="en-US" altLang="ja-JP" sz="1100" b="1" noProof="0">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●名枠</a:t>
            </a:r>
            <a:endParaRPr kumimoji="1" lang="ja-JP" altLang="en-US" sz="1100" b="1" noProof="0">
              <a:latin typeface="メイリオ" panose="020B0604030504040204" pitchFamily="50" charset="-128"/>
              <a:ea typeface="メイリオ" panose="020B0604030504040204" pitchFamily="50" charset="-128"/>
            </a:endParaRPr>
          </a:p>
        </p:txBody>
      </p:sp>
      <p:sp>
        <p:nvSpPr>
          <p:cNvPr id="20" name="四角形: 角を丸くする 19">
            <a:extLst>
              <a:ext uri="{FF2B5EF4-FFF2-40B4-BE49-F238E27FC236}">
                <a16:creationId xmlns:a16="http://schemas.microsoft.com/office/drawing/2014/main" id="{6CB8C8B2-55E4-1EA5-10C6-382884C4FA4C}"/>
              </a:ext>
            </a:extLst>
          </p:cNvPr>
          <p:cNvSpPr/>
          <p:nvPr/>
        </p:nvSpPr>
        <p:spPr bwMode="auto">
          <a:xfrm>
            <a:off x="5080434" y="4220796"/>
            <a:ext cx="1302633" cy="621911"/>
          </a:xfrm>
          <a:prstGeom prst="roundRect">
            <a:avLst>
              <a:gd name="adj" fmla="val 5797"/>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デザイナー</a:t>
            </a:r>
            <a:br>
              <a:rPr kumimoji="1" lang="en-US" altLang="ja-JP" sz="1100" b="1" noProof="0">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●名枠</a:t>
            </a:r>
            <a:endParaRPr kumimoji="1" lang="ja-JP" altLang="en-US" sz="1100" b="1" noProof="0">
              <a:latin typeface="メイリオ" panose="020B0604030504040204" pitchFamily="50" charset="-128"/>
              <a:ea typeface="メイリオ" panose="020B0604030504040204" pitchFamily="50" charset="-128"/>
            </a:endParaRPr>
          </a:p>
        </p:txBody>
      </p:sp>
      <p:sp>
        <p:nvSpPr>
          <p:cNvPr id="27" name="四角形: 角を丸くする 26">
            <a:extLst>
              <a:ext uri="{FF2B5EF4-FFF2-40B4-BE49-F238E27FC236}">
                <a16:creationId xmlns:a16="http://schemas.microsoft.com/office/drawing/2014/main" id="{5031EAE8-0131-9EE4-1C52-7F89BA69A82B}"/>
              </a:ext>
            </a:extLst>
          </p:cNvPr>
          <p:cNvSpPr/>
          <p:nvPr/>
        </p:nvSpPr>
        <p:spPr bwMode="auto">
          <a:xfrm>
            <a:off x="6541420" y="3367974"/>
            <a:ext cx="1302633" cy="621911"/>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シナリオライター</a:t>
            </a:r>
            <a:br>
              <a:rPr kumimoji="1" lang="en-US" altLang="ja-JP" sz="1100" b="1" noProof="0">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a:t>
            </a:r>
            <a:r>
              <a:rPr lang="ja-JP" altLang="en-US" sz="1100" b="1">
                <a:latin typeface="メイリオ" panose="020B0604030504040204" pitchFamily="50" charset="-128"/>
                <a:ea typeface="メイリオ" panose="020B0604030504040204" pitchFamily="50" charset="-128"/>
              </a:rPr>
              <a:t>名枠</a:t>
            </a:r>
            <a:endParaRPr kumimoji="1" lang="ja-JP" altLang="en-US" sz="1100" b="1" noProof="0">
              <a:latin typeface="メイリオ" panose="020B0604030504040204" pitchFamily="50" charset="-128"/>
              <a:ea typeface="メイリオ" panose="020B0604030504040204" pitchFamily="50" charset="-128"/>
            </a:endParaRPr>
          </a:p>
        </p:txBody>
      </p:sp>
      <p:sp>
        <p:nvSpPr>
          <p:cNvPr id="21" name="四角形: 角を丸くする 20">
            <a:extLst>
              <a:ext uri="{FF2B5EF4-FFF2-40B4-BE49-F238E27FC236}">
                <a16:creationId xmlns:a16="http://schemas.microsoft.com/office/drawing/2014/main" id="{17B5BF48-5236-EA06-E50E-7D178F5E31E1}"/>
              </a:ext>
            </a:extLst>
          </p:cNvPr>
          <p:cNvSpPr/>
          <p:nvPr/>
        </p:nvSpPr>
        <p:spPr bwMode="auto">
          <a:xfrm>
            <a:off x="8008194" y="3372352"/>
            <a:ext cx="1349963" cy="621911"/>
          </a:xfrm>
          <a:prstGeom prst="roundRect">
            <a:avLst>
              <a:gd name="adj" fmla="val 5797"/>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en-US" altLang="ja-JP" sz="1100" b="1">
                <a:latin typeface="メイリオ" panose="020B0604030504040204" pitchFamily="50" charset="-128"/>
                <a:ea typeface="メイリオ" panose="020B0604030504040204" pitchFamily="50" charset="-128"/>
              </a:rPr>
              <a:t>3</a:t>
            </a:r>
            <a:r>
              <a:rPr kumimoji="1" lang="en-US" altLang="ja-JP" sz="1100" b="1" noProof="0">
                <a:latin typeface="メイリオ" panose="020B0604030504040204" pitchFamily="50" charset="-128"/>
                <a:ea typeface="メイリオ" panose="020B0604030504040204" pitchFamily="50" charset="-128"/>
              </a:rPr>
              <a:t>DCG</a:t>
            </a:r>
            <a:br>
              <a:rPr kumimoji="1" lang="en-US" altLang="ja-JP" sz="1100" b="1" noProof="0">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ディレクター</a:t>
            </a:r>
            <a:endParaRPr kumimoji="1" lang="ja-JP" altLang="en-US" sz="1100" b="1" noProof="0">
              <a:latin typeface="メイリオ" panose="020B0604030504040204" pitchFamily="50" charset="-128"/>
              <a:ea typeface="メイリオ" panose="020B0604030504040204" pitchFamily="50" charset="-128"/>
            </a:endParaRPr>
          </a:p>
        </p:txBody>
      </p:sp>
      <p:sp>
        <p:nvSpPr>
          <p:cNvPr id="22" name="四角形: 角を丸くする 21">
            <a:extLst>
              <a:ext uri="{FF2B5EF4-FFF2-40B4-BE49-F238E27FC236}">
                <a16:creationId xmlns:a16="http://schemas.microsoft.com/office/drawing/2014/main" id="{DCDD5931-F6CD-EFB3-7F06-1CBC830AE285}"/>
              </a:ext>
            </a:extLst>
          </p:cNvPr>
          <p:cNvSpPr/>
          <p:nvPr/>
        </p:nvSpPr>
        <p:spPr bwMode="auto">
          <a:xfrm>
            <a:off x="9514241" y="3373841"/>
            <a:ext cx="1349963" cy="621911"/>
          </a:xfrm>
          <a:prstGeom prst="roundRect">
            <a:avLst>
              <a:gd name="adj" fmla="val 5797"/>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アート</a:t>
            </a:r>
            <a:br>
              <a:rPr kumimoji="1" lang="en-US" altLang="ja-JP" sz="1100" b="1" noProof="0">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ディレクター</a:t>
            </a:r>
            <a:endParaRPr kumimoji="1" lang="ja-JP" altLang="en-US" sz="1100" b="1" noProof="0">
              <a:latin typeface="メイリオ" panose="020B0604030504040204" pitchFamily="50" charset="-128"/>
              <a:ea typeface="メイリオ" panose="020B0604030504040204" pitchFamily="50" charset="-128"/>
            </a:endParaRPr>
          </a:p>
        </p:txBody>
      </p:sp>
      <p:sp>
        <p:nvSpPr>
          <p:cNvPr id="23" name="四角形: 角を丸くする 22">
            <a:extLst>
              <a:ext uri="{FF2B5EF4-FFF2-40B4-BE49-F238E27FC236}">
                <a16:creationId xmlns:a16="http://schemas.microsoft.com/office/drawing/2014/main" id="{8C0174B5-B9AD-6BCB-3763-1766CBD96BEE}"/>
              </a:ext>
            </a:extLst>
          </p:cNvPr>
          <p:cNvSpPr/>
          <p:nvPr/>
        </p:nvSpPr>
        <p:spPr bwMode="auto">
          <a:xfrm>
            <a:off x="9514242" y="4217379"/>
            <a:ext cx="1349963" cy="621911"/>
          </a:xfrm>
          <a:prstGeom prst="roundRect">
            <a:avLst>
              <a:gd name="adj" fmla="val 5797"/>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イラストレーター</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アニメーター</a:t>
            </a:r>
            <a:br>
              <a:rPr kumimoji="1" lang="en-US" altLang="ja-JP" sz="1100" b="1" noProof="0">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a:t>
            </a:r>
            <a:r>
              <a:rPr lang="ja-JP" altLang="en-US" sz="1100" b="1">
                <a:latin typeface="メイリオ" panose="020B0604030504040204" pitchFamily="50" charset="-128"/>
                <a:ea typeface="メイリオ" panose="020B0604030504040204" pitchFamily="50" charset="-128"/>
              </a:rPr>
              <a:t>名枠</a:t>
            </a:r>
            <a:endParaRPr kumimoji="1" lang="ja-JP" altLang="en-US" sz="1100" b="1" noProof="0">
              <a:latin typeface="メイリオ" panose="020B0604030504040204" pitchFamily="50" charset="-128"/>
              <a:ea typeface="メイリオ" panose="020B0604030504040204" pitchFamily="50" charset="-128"/>
            </a:endParaRPr>
          </a:p>
        </p:txBody>
      </p:sp>
      <p:sp>
        <p:nvSpPr>
          <p:cNvPr id="24" name="四角形: 角を丸くする 23">
            <a:extLst>
              <a:ext uri="{FF2B5EF4-FFF2-40B4-BE49-F238E27FC236}">
                <a16:creationId xmlns:a16="http://schemas.microsoft.com/office/drawing/2014/main" id="{871F06A1-15F1-4943-C5B1-B78E591217E5}"/>
              </a:ext>
            </a:extLst>
          </p:cNvPr>
          <p:cNvSpPr/>
          <p:nvPr/>
        </p:nvSpPr>
        <p:spPr bwMode="auto">
          <a:xfrm>
            <a:off x="6913409" y="5122348"/>
            <a:ext cx="1349963" cy="621911"/>
          </a:xfrm>
          <a:prstGeom prst="roundRect">
            <a:avLst>
              <a:gd name="adj" fmla="val 5797"/>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en-US" altLang="ja-JP" sz="1100" b="1">
                <a:latin typeface="メイリオ" panose="020B0604030504040204" pitchFamily="50" charset="-128"/>
                <a:ea typeface="メイリオ" panose="020B0604030504040204" pitchFamily="50" charset="-128"/>
              </a:rPr>
              <a:t>3D</a:t>
            </a:r>
            <a:r>
              <a:rPr lang="ja-JP" altLang="en-US" sz="1100" b="1">
                <a:latin typeface="メイリオ" panose="020B0604030504040204" pitchFamily="50" charset="-128"/>
                <a:ea typeface="メイリオ" panose="020B0604030504040204" pitchFamily="50" charset="-128"/>
              </a:rPr>
              <a:t>背景</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リード</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アーティスト</a:t>
            </a:r>
            <a:endParaRPr kumimoji="1" lang="ja-JP" altLang="en-US" sz="1100" b="1" noProof="0">
              <a:latin typeface="メイリオ" panose="020B0604030504040204" pitchFamily="50" charset="-128"/>
              <a:ea typeface="メイリオ" panose="020B0604030504040204" pitchFamily="50" charset="-128"/>
            </a:endParaRPr>
          </a:p>
        </p:txBody>
      </p:sp>
      <p:sp>
        <p:nvSpPr>
          <p:cNvPr id="25" name="四角形: 角を丸くする 24">
            <a:extLst>
              <a:ext uri="{FF2B5EF4-FFF2-40B4-BE49-F238E27FC236}">
                <a16:creationId xmlns:a16="http://schemas.microsoft.com/office/drawing/2014/main" id="{C8E58A71-949F-5CBA-6F3C-470B35F0B744}"/>
              </a:ext>
            </a:extLst>
          </p:cNvPr>
          <p:cNvSpPr/>
          <p:nvPr/>
        </p:nvSpPr>
        <p:spPr bwMode="auto">
          <a:xfrm>
            <a:off x="8467602" y="5139281"/>
            <a:ext cx="1349963" cy="621911"/>
          </a:xfrm>
          <a:prstGeom prst="roundRect">
            <a:avLst>
              <a:gd name="adj" fmla="val 5797"/>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リード</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ゲームスクリプター</a:t>
            </a:r>
            <a:endParaRPr kumimoji="1" lang="ja-JP" altLang="en-US" sz="1100" b="1" noProof="0">
              <a:latin typeface="メイリオ" panose="020B0604030504040204" pitchFamily="50" charset="-128"/>
              <a:ea typeface="メイリオ" panose="020B0604030504040204" pitchFamily="50" charset="-128"/>
            </a:endParaRPr>
          </a:p>
        </p:txBody>
      </p:sp>
      <p:sp>
        <p:nvSpPr>
          <p:cNvPr id="28" name="四角形: 角を丸くする 27">
            <a:extLst>
              <a:ext uri="{FF2B5EF4-FFF2-40B4-BE49-F238E27FC236}">
                <a16:creationId xmlns:a16="http://schemas.microsoft.com/office/drawing/2014/main" id="{C8807302-C3C7-07B5-B57E-14D23836D8B5}"/>
              </a:ext>
            </a:extLst>
          </p:cNvPr>
          <p:cNvSpPr/>
          <p:nvPr/>
        </p:nvSpPr>
        <p:spPr bwMode="auto">
          <a:xfrm>
            <a:off x="6912095" y="5917101"/>
            <a:ext cx="1349963" cy="621911"/>
          </a:xfrm>
          <a:prstGeom prst="roundRect">
            <a:avLst>
              <a:gd name="adj" fmla="val 5797"/>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en-US" altLang="ja-JP" sz="1100" b="1">
                <a:latin typeface="メイリオ" panose="020B0604030504040204" pitchFamily="50" charset="-128"/>
                <a:ea typeface="メイリオ" panose="020B0604030504040204" pitchFamily="50" charset="-128"/>
              </a:rPr>
              <a:t>3D</a:t>
            </a:r>
            <a:r>
              <a:rPr lang="ja-JP" altLang="en-US" sz="1100" b="1">
                <a:latin typeface="メイリオ" panose="020B0604030504040204" pitchFamily="50" charset="-128"/>
                <a:ea typeface="メイリオ" panose="020B0604030504040204" pitchFamily="50" charset="-128"/>
              </a:rPr>
              <a:t>背景</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アーティスト</a:t>
            </a:r>
            <a:br>
              <a:rPr kumimoji="1" lang="en-US" altLang="ja-JP" sz="1100" b="1" noProof="0">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a:t>
            </a:r>
            <a:r>
              <a:rPr lang="ja-JP" altLang="en-US" sz="1100" b="1">
                <a:latin typeface="メイリオ" panose="020B0604030504040204" pitchFamily="50" charset="-128"/>
                <a:ea typeface="メイリオ" panose="020B0604030504040204" pitchFamily="50" charset="-128"/>
              </a:rPr>
              <a:t>名枠</a:t>
            </a:r>
            <a:endParaRPr kumimoji="1" lang="ja-JP" altLang="en-US" sz="1100" b="1" noProof="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8DB602B4-C26B-BAEF-E7AC-18F4879C9E22}"/>
              </a:ext>
            </a:extLst>
          </p:cNvPr>
          <p:cNvSpPr txBox="1"/>
          <p:nvPr/>
        </p:nvSpPr>
        <p:spPr>
          <a:xfrm>
            <a:off x="1052514" y="1385082"/>
            <a:ext cx="2759384" cy="400110"/>
          </a:xfrm>
          <a:prstGeom prst="rect">
            <a:avLst/>
          </a:prstGeom>
          <a:solidFill>
            <a:schemeClr val="tx1"/>
          </a:solidFill>
          <a:ln>
            <a:noFill/>
          </a:ln>
        </p:spPr>
        <p:txBody>
          <a:bodyPr wrap="square" rtlCol="0">
            <a:spAutoFit/>
          </a:bodyPr>
          <a:lstStyle/>
          <a:p>
            <a:pPr algn="ctr"/>
            <a:r>
              <a:rPr lang="ja-JP" altLang="en-US" sz="2000" b="1">
                <a:solidFill>
                  <a:schemeClr val="bg1"/>
                </a:solidFill>
                <a:latin typeface="メイリオ" panose="020B0604030504040204" pitchFamily="50" charset="-128"/>
                <a:ea typeface="メイリオ" panose="020B0604030504040204" pitchFamily="50" charset="-128"/>
              </a:rPr>
              <a:t>体制ご提案事例</a:t>
            </a:r>
            <a:endParaRPr kumimoji="1" lang="en-US" altLang="ja-JP" sz="2000" b="1">
              <a:solidFill>
                <a:schemeClr val="bg1"/>
              </a:solidFill>
              <a:latin typeface="メイリオ" panose="020B0604030504040204" pitchFamily="50" charset="-128"/>
              <a:ea typeface="メイリオ" panose="020B0604030504040204" pitchFamily="50" charset="-128"/>
            </a:endParaRPr>
          </a:p>
        </p:txBody>
      </p:sp>
      <p:sp>
        <p:nvSpPr>
          <p:cNvPr id="31" name="四角形: 角を丸くする 30">
            <a:extLst>
              <a:ext uri="{FF2B5EF4-FFF2-40B4-BE49-F238E27FC236}">
                <a16:creationId xmlns:a16="http://schemas.microsoft.com/office/drawing/2014/main" id="{082EFA89-80ED-70F5-D572-B6BDA7CBFEEB}"/>
              </a:ext>
            </a:extLst>
          </p:cNvPr>
          <p:cNvSpPr/>
          <p:nvPr/>
        </p:nvSpPr>
        <p:spPr bwMode="auto">
          <a:xfrm>
            <a:off x="9996378" y="5917102"/>
            <a:ext cx="1349963" cy="621911"/>
          </a:xfrm>
          <a:prstGeom prst="roundRect">
            <a:avLst>
              <a:gd name="adj" fmla="val 5797"/>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エフェクト</a:t>
            </a:r>
            <a:endParaRPr lang="en-US" altLang="ja-JP" sz="1100" b="1">
              <a:latin typeface="メイリオ" panose="020B0604030504040204" pitchFamily="50" charset="-128"/>
              <a:ea typeface="メイリオ" panose="020B0604030504040204" pitchFamily="50" charset="-128"/>
            </a:endParaRPr>
          </a:p>
          <a:p>
            <a:pPr algn="ctr" defTabSz="914400" fontAlgn="base">
              <a:spcBef>
                <a:spcPct val="50000"/>
              </a:spcBef>
              <a:spcAft>
                <a:spcPct val="0"/>
              </a:spcAft>
            </a:pPr>
            <a:r>
              <a:rPr kumimoji="1" lang="ja-JP" altLang="en-US" sz="1100" b="1" noProof="0">
                <a:latin typeface="メイリオ" panose="020B0604030504040204" pitchFamily="50" charset="-128"/>
                <a:ea typeface="メイリオ" panose="020B0604030504040204" pitchFamily="50" charset="-128"/>
              </a:rPr>
              <a:t>デザイナー</a:t>
            </a:r>
          </a:p>
        </p:txBody>
      </p:sp>
      <p:sp>
        <p:nvSpPr>
          <p:cNvPr id="32" name="四角形: 角を丸くする 31">
            <a:extLst>
              <a:ext uri="{FF2B5EF4-FFF2-40B4-BE49-F238E27FC236}">
                <a16:creationId xmlns:a16="http://schemas.microsoft.com/office/drawing/2014/main" id="{16236243-48C2-C138-C091-F2F781338423}"/>
              </a:ext>
            </a:extLst>
          </p:cNvPr>
          <p:cNvSpPr/>
          <p:nvPr/>
        </p:nvSpPr>
        <p:spPr bwMode="auto">
          <a:xfrm>
            <a:off x="8480302" y="5918264"/>
            <a:ext cx="1349963" cy="621911"/>
          </a:xfrm>
          <a:prstGeom prst="roundRect">
            <a:avLst>
              <a:gd name="adj" fmla="val 5797"/>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ゲーム</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スクリプター</a:t>
            </a:r>
            <a:br>
              <a:rPr kumimoji="1" lang="en-US" altLang="ja-JP" sz="1100" b="1" noProof="0">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a:t>
            </a:r>
            <a:r>
              <a:rPr lang="ja-JP" altLang="en-US" sz="1100" b="1">
                <a:latin typeface="メイリオ" panose="020B0604030504040204" pitchFamily="50" charset="-128"/>
                <a:ea typeface="メイリオ" panose="020B0604030504040204" pitchFamily="50" charset="-128"/>
              </a:rPr>
              <a:t>名枠</a:t>
            </a:r>
            <a:endParaRPr kumimoji="1" lang="ja-JP" altLang="en-US" sz="1100" b="1" noProof="0">
              <a:latin typeface="メイリオ" panose="020B0604030504040204" pitchFamily="50" charset="-128"/>
              <a:ea typeface="メイリオ" panose="020B0604030504040204" pitchFamily="50" charset="-128"/>
            </a:endParaRPr>
          </a:p>
        </p:txBody>
      </p:sp>
      <p:sp>
        <p:nvSpPr>
          <p:cNvPr id="33" name="四角形: 角を丸くする 32">
            <a:extLst>
              <a:ext uri="{FF2B5EF4-FFF2-40B4-BE49-F238E27FC236}">
                <a16:creationId xmlns:a16="http://schemas.microsoft.com/office/drawing/2014/main" id="{28D2B159-25D4-AED1-F50E-390BA6C30BCA}"/>
              </a:ext>
            </a:extLst>
          </p:cNvPr>
          <p:cNvSpPr/>
          <p:nvPr/>
        </p:nvSpPr>
        <p:spPr bwMode="auto">
          <a:xfrm>
            <a:off x="5416106" y="5113889"/>
            <a:ext cx="1349963" cy="621911"/>
          </a:xfrm>
          <a:prstGeom prst="roundRect">
            <a:avLst>
              <a:gd name="adj" fmla="val 5797"/>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en-US" altLang="ja-JP" sz="1100" b="1">
                <a:latin typeface="メイリオ" panose="020B0604030504040204" pitchFamily="50" charset="-128"/>
                <a:ea typeface="メイリオ" panose="020B0604030504040204" pitchFamily="50" charset="-128"/>
              </a:rPr>
              <a:t>3D</a:t>
            </a:r>
            <a:r>
              <a:rPr lang="ja-JP" altLang="en-US" sz="1100" b="1">
                <a:latin typeface="メイリオ" panose="020B0604030504040204" pitchFamily="50" charset="-128"/>
                <a:ea typeface="メイリオ" panose="020B0604030504040204" pitchFamily="50" charset="-128"/>
              </a:rPr>
              <a:t>ライブ</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リード</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アーティスト</a:t>
            </a:r>
            <a:endParaRPr kumimoji="1" lang="ja-JP" altLang="en-US" sz="1100" b="1" noProof="0">
              <a:latin typeface="メイリオ" panose="020B0604030504040204" pitchFamily="50" charset="-128"/>
              <a:ea typeface="メイリオ" panose="020B0604030504040204" pitchFamily="50" charset="-128"/>
            </a:endParaRPr>
          </a:p>
        </p:txBody>
      </p:sp>
      <p:sp>
        <p:nvSpPr>
          <p:cNvPr id="34" name="四角形: 角を丸くする 33">
            <a:extLst>
              <a:ext uri="{FF2B5EF4-FFF2-40B4-BE49-F238E27FC236}">
                <a16:creationId xmlns:a16="http://schemas.microsoft.com/office/drawing/2014/main" id="{149F10EC-2446-EC64-F02B-D92410CCA3EB}"/>
              </a:ext>
            </a:extLst>
          </p:cNvPr>
          <p:cNvSpPr/>
          <p:nvPr/>
        </p:nvSpPr>
        <p:spPr bwMode="auto">
          <a:xfrm>
            <a:off x="5420664" y="5936026"/>
            <a:ext cx="1349963" cy="621911"/>
          </a:xfrm>
          <a:prstGeom prst="roundRect">
            <a:avLst>
              <a:gd name="adj" fmla="val 5797"/>
            </a:avLst>
          </a:prstGeom>
          <a:solidFill>
            <a:schemeClr val="accent3">
              <a:lumMod val="20000"/>
              <a:lumOff val="80000"/>
            </a:schemeClr>
          </a:solidFill>
          <a:ln w="38100" algn="ctr">
            <a:solidFill>
              <a:schemeClr val="accent3">
                <a:lumMod val="20000"/>
                <a:lumOff val="80000"/>
              </a:schemeClr>
            </a:solidFill>
            <a:miter lim="800000"/>
            <a:headEnd/>
            <a:tailEnd/>
          </a:ln>
          <a:effectLst/>
        </p:spPr>
        <p:txBody>
          <a:bodyPr wrap="none" lIns="90000" tIns="46800" rIns="90000" bIns="46800" rtlCol="0" anchor="ctr"/>
          <a:lstStyle/>
          <a:p>
            <a:pPr algn="ctr" defTabSz="914400" fontAlgn="base">
              <a:spcBef>
                <a:spcPct val="50000"/>
              </a:spcBef>
              <a:spcAft>
                <a:spcPct val="0"/>
              </a:spcAft>
            </a:pPr>
            <a:r>
              <a:rPr lang="en-US" altLang="ja-JP" sz="1100" b="1">
                <a:latin typeface="メイリオ" panose="020B0604030504040204" pitchFamily="50" charset="-128"/>
                <a:ea typeface="メイリオ" panose="020B0604030504040204" pitchFamily="50" charset="-128"/>
              </a:rPr>
              <a:t>3D</a:t>
            </a:r>
            <a:r>
              <a:rPr lang="ja-JP" altLang="en-US" sz="1100" b="1">
                <a:latin typeface="メイリオ" panose="020B0604030504040204" pitchFamily="50" charset="-128"/>
                <a:ea typeface="メイリオ" panose="020B0604030504040204" pitchFamily="50" charset="-128"/>
              </a:rPr>
              <a:t>ライブ</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アーティスト</a:t>
            </a:r>
            <a:br>
              <a:rPr lang="en-US" altLang="ja-JP" sz="1100" b="1">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a:t>
            </a:r>
            <a:r>
              <a:rPr lang="ja-JP" altLang="en-US" sz="1100" b="1">
                <a:latin typeface="メイリオ" panose="020B0604030504040204" pitchFamily="50" charset="-128"/>
                <a:ea typeface="メイリオ" panose="020B0604030504040204" pitchFamily="50" charset="-128"/>
              </a:rPr>
              <a:t>名枠</a:t>
            </a:r>
            <a:endParaRPr kumimoji="1" lang="ja-JP" altLang="en-US" sz="1100" b="1" noProof="0">
              <a:latin typeface="メイリオ" panose="020B0604030504040204" pitchFamily="50" charset="-128"/>
              <a:ea typeface="メイリオ" panose="020B0604030504040204" pitchFamily="50" charset="-128"/>
            </a:endParaRPr>
          </a:p>
        </p:txBody>
      </p:sp>
      <p:sp>
        <p:nvSpPr>
          <p:cNvPr id="35" name="四角形: 角を丸くする 34">
            <a:extLst>
              <a:ext uri="{FF2B5EF4-FFF2-40B4-BE49-F238E27FC236}">
                <a16:creationId xmlns:a16="http://schemas.microsoft.com/office/drawing/2014/main" id="{074EFB39-1AE3-6204-AB35-1077B44D9FB1}"/>
              </a:ext>
            </a:extLst>
          </p:cNvPr>
          <p:cNvSpPr/>
          <p:nvPr/>
        </p:nvSpPr>
        <p:spPr bwMode="auto">
          <a:xfrm>
            <a:off x="3885178" y="5113889"/>
            <a:ext cx="1349963" cy="621911"/>
          </a:xfrm>
          <a:prstGeom prst="roundRect">
            <a:avLst>
              <a:gd name="adj" fmla="val 5797"/>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en-US" altLang="ja-JP" sz="1100" b="1">
                <a:latin typeface="メイリオ" panose="020B0604030504040204" pitchFamily="50" charset="-128"/>
                <a:ea typeface="メイリオ" panose="020B0604030504040204" pitchFamily="50" charset="-128"/>
              </a:rPr>
              <a:t>3D</a:t>
            </a:r>
            <a:r>
              <a:rPr lang="ja-JP" altLang="en-US" sz="1100" b="1">
                <a:latin typeface="メイリオ" panose="020B0604030504040204" pitchFamily="50" charset="-128"/>
                <a:ea typeface="メイリオ" panose="020B0604030504040204" pitchFamily="50" charset="-128"/>
              </a:rPr>
              <a:t>アニメーション</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リード</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アーティスト</a:t>
            </a:r>
            <a:endParaRPr kumimoji="1" lang="ja-JP" altLang="en-US" sz="1100" b="1" noProof="0">
              <a:latin typeface="メイリオ" panose="020B0604030504040204" pitchFamily="50" charset="-128"/>
              <a:ea typeface="メイリオ" panose="020B0604030504040204" pitchFamily="50" charset="-128"/>
            </a:endParaRPr>
          </a:p>
        </p:txBody>
      </p:sp>
      <p:sp>
        <p:nvSpPr>
          <p:cNvPr id="37" name="四角形: 角を丸くする 36">
            <a:extLst>
              <a:ext uri="{FF2B5EF4-FFF2-40B4-BE49-F238E27FC236}">
                <a16:creationId xmlns:a16="http://schemas.microsoft.com/office/drawing/2014/main" id="{58F77E3E-7434-21AE-4760-9BB275415B60}"/>
              </a:ext>
            </a:extLst>
          </p:cNvPr>
          <p:cNvSpPr/>
          <p:nvPr/>
        </p:nvSpPr>
        <p:spPr bwMode="auto">
          <a:xfrm>
            <a:off x="3875970" y="5918263"/>
            <a:ext cx="1349963" cy="621911"/>
          </a:xfrm>
          <a:prstGeom prst="roundRect">
            <a:avLst>
              <a:gd name="adj" fmla="val 5797"/>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en-US" altLang="ja-JP" sz="1100" b="1">
                <a:latin typeface="メイリオ" panose="020B0604030504040204" pitchFamily="50" charset="-128"/>
                <a:ea typeface="メイリオ" panose="020B0604030504040204" pitchFamily="50" charset="-128"/>
              </a:rPr>
              <a:t>3D</a:t>
            </a:r>
            <a:r>
              <a:rPr lang="ja-JP" altLang="en-US" sz="1100" b="1">
                <a:latin typeface="メイリオ" panose="020B0604030504040204" pitchFamily="50" charset="-128"/>
                <a:ea typeface="メイリオ" panose="020B0604030504040204" pitchFamily="50" charset="-128"/>
              </a:rPr>
              <a:t>アニメーション</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アーティスト</a:t>
            </a:r>
            <a:br>
              <a:rPr lang="en-US" altLang="ja-JP" sz="1100" b="1">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a:t>
            </a:r>
            <a:r>
              <a:rPr lang="ja-JP" altLang="en-US" sz="1100" b="1">
                <a:latin typeface="メイリオ" panose="020B0604030504040204" pitchFamily="50" charset="-128"/>
                <a:ea typeface="メイリオ" panose="020B0604030504040204" pitchFamily="50" charset="-128"/>
              </a:rPr>
              <a:t>名枠</a:t>
            </a:r>
            <a:endParaRPr kumimoji="1" lang="ja-JP" altLang="en-US" sz="1100" b="1" noProof="0">
              <a:latin typeface="メイリオ" panose="020B0604030504040204" pitchFamily="50" charset="-128"/>
              <a:ea typeface="メイリオ" panose="020B0604030504040204" pitchFamily="50" charset="-128"/>
            </a:endParaRPr>
          </a:p>
        </p:txBody>
      </p:sp>
      <p:sp>
        <p:nvSpPr>
          <p:cNvPr id="38" name="四角形: 角を丸くする 37">
            <a:extLst>
              <a:ext uri="{FF2B5EF4-FFF2-40B4-BE49-F238E27FC236}">
                <a16:creationId xmlns:a16="http://schemas.microsoft.com/office/drawing/2014/main" id="{B9759E77-D870-4F6A-8D34-FDC9A7DCBC12}"/>
              </a:ext>
            </a:extLst>
          </p:cNvPr>
          <p:cNvSpPr/>
          <p:nvPr/>
        </p:nvSpPr>
        <p:spPr bwMode="auto">
          <a:xfrm>
            <a:off x="2330985" y="5094182"/>
            <a:ext cx="1349963" cy="621911"/>
          </a:xfrm>
          <a:prstGeom prst="roundRect">
            <a:avLst>
              <a:gd name="adj" fmla="val 5797"/>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en-US" altLang="ja-JP" sz="1100" b="1">
                <a:latin typeface="メイリオ" panose="020B0604030504040204" pitchFamily="50" charset="-128"/>
                <a:ea typeface="メイリオ" panose="020B0604030504040204" pitchFamily="50" charset="-128"/>
              </a:rPr>
              <a:t>3D</a:t>
            </a:r>
            <a:r>
              <a:rPr lang="ja-JP" altLang="en-US" sz="1100" b="1">
                <a:latin typeface="メイリオ" panose="020B0604030504040204" pitchFamily="50" charset="-128"/>
                <a:ea typeface="メイリオ" panose="020B0604030504040204" pitchFamily="50" charset="-128"/>
              </a:rPr>
              <a:t>キャラクター</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リード</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アーティスト</a:t>
            </a:r>
            <a:endParaRPr kumimoji="1" lang="ja-JP" altLang="en-US" sz="1100" b="1" noProof="0">
              <a:latin typeface="メイリオ" panose="020B0604030504040204" pitchFamily="50" charset="-128"/>
              <a:ea typeface="メイリオ" panose="020B0604030504040204" pitchFamily="50" charset="-128"/>
            </a:endParaRPr>
          </a:p>
        </p:txBody>
      </p:sp>
      <p:sp>
        <p:nvSpPr>
          <p:cNvPr id="39" name="四角形: 角を丸くする 38">
            <a:extLst>
              <a:ext uri="{FF2B5EF4-FFF2-40B4-BE49-F238E27FC236}">
                <a16:creationId xmlns:a16="http://schemas.microsoft.com/office/drawing/2014/main" id="{34988CBE-5CE5-46FB-FCFD-FD4BC1AB8978}"/>
              </a:ext>
            </a:extLst>
          </p:cNvPr>
          <p:cNvSpPr/>
          <p:nvPr/>
        </p:nvSpPr>
        <p:spPr bwMode="auto">
          <a:xfrm>
            <a:off x="2328127" y="5898556"/>
            <a:ext cx="1349963" cy="621911"/>
          </a:xfrm>
          <a:prstGeom prst="roundRect">
            <a:avLst>
              <a:gd name="adj" fmla="val 5797"/>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en-US" altLang="ja-JP" sz="1100" b="1">
                <a:latin typeface="メイリオ" panose="020B0604030504040204" pitchFamily="50" charset="-128"/>
                <a:ea typeface="メイリオ" panose="020B0604030504040204" pitchFamily="50" charset="-128"/>
              </a:rPr>
              <a:t>3D</a:t>
            </a:r>
            <a:r>
              <a:rPr lang="ja-JP" altLang="en-US" sz="1100" b="1">
                <a:latin typeface="メイリオ" panose="020B0604030504040204" pitchFamily="50" charset="-128"/>
                <a:ea typeface="メイリオ" panose="020B0604030504040204" pitchFamily="50" charset="-128"/>
              </a:rPr>
              <a:t>キャラクター</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アーティスト</a:t>
            </a:r>
            <a:br>
              <a:rPr lang="en-US" altLang="ja-JP" sz="1100" b="1">
                <a:latin typeface="メイリオ" panose="020B0604030504040204" pitchFamily="50" charset="-128"/>
                <a:ea typeface="メイリオ" panose="020B0604030504040204" pitchFamily="50" charset="-128"/>
              </a:rPr>
            </a:br>
            <a:r>
              <a:rPr kumimoji="1" lang="ja-JP" altLang="en-US" sz="1100" b="1" noProof="0">
                <a:latin typeface="メイリオ" panose="020B0604030504040204" pitchFamily="50" charset="-128"/>
                <a:ea typeface="メイリオ" panose="020B0604030504040204" pitchFamily="50" charset="-128"/>
              </a:rPr>
              <a:t>●</a:t>
            </a:r>
            <a:r>
              <a:rPr lang="ja-JP" altLang="en-US" sz="1100" b="1">
                <a:latin typeface="メイリオ" panose="020B0604030504040204" pitchFamily="50" charset="-128"/>
                <a:ea typeface="メイリオ" panose="020B0604030504040204" pitchFamily="50" charset="-128"/>
              </a:rPr>
              <a:t>名枠</a:t>
            </a:r>
            <a:endParaRPr kumimoji="1" lang="ja-JP" altLang="en-US" sz="1100" b="1" noProof="0">
              <a:latin typeface="メイリオ" panose="020B0604030504040204" pitchFamily="50" charset="-128"/>
              <a:ea typeface="メイリオ" panose="020B0604030504040204" pitchFamily="50" charset="-128"/>
            </a:endParaRPr>
          </a:p>
        </p:txBody>
      </p:sp>
      <p:sp>
        <p:nvSpPr>
          <p:cNvPr id="40" name="四角形: 角を丸くする 39">
            <a:extLst>
              <a:ext uri="{FF2B5EF4-FFF2-40B4-BE49-F238E27FC236}">
                <a16:creationId xmlns:a16="http://schemas.microsoft.com/office/drawing/2014/main" id="{28C74A24-23F6-7A71-D105-BC5208F5E853}"/>
              </a:ext>
            </a:extLst>
          </p:cNvPr>
          <p:cNvSpPr/>
          <p:nvPr/>
        </p:nvSpPr>
        <p:spPr bwMode="auto">
          <a:xfrm>
            <a:off x="774593" y="5094181"/>
            <a:ext cx="1349963" cy="621911"/>
          </a:xfrm>
          <a:prstGeom prst="roundRect">
            <a:avLst>
              <a:gd name="adj" fmla="val 5797"/>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テクニカル</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リード</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アーティスト</a:t>
            </a:r>
            <a:endParaRPr kumimoji="1" lang="ja-JP" altLang="en-US" sz="1100" b="1" noProof="0">
              <a:latin typeface="メイリオ" panose="020B0604030504040204" pitchFamily="50" charset="-128"/>
              <a:ea typeface="メイリオ" panose="020B0604030504040204" pitchFamily="50" charset="-128"/>
            </a:endParaRPr>
          </a:p>
        </p:txBody>
      </p:sp>
      <p:sp>
        <p:nvSpPr>
          <p:cNvPr id="41" name="四角形: 角を丸くする 40">
            <a:extLst>
              <a:ext uri="{FF2B5EF4-FFF2-40B4-BE49-F238E27FC236}">
                <a16:creationId xmlns:a16="http://schemas.microsoft.com/office/drawing/2014/main" id="{7F51A2F8-1ACF-2EBC-C1C8-BBC08571BFE0}"/>
              </a:ext>
            </a:extLst>
          </p:cNvPr>
          <p:cNvSpPr/>
          <p:nvPr/>
        </p:nvSpPr>
        <p:spPr bwMode="auto">
          <a:xfrm>
            <a:off x="767601" y="5918263"/>
            <a:ext cx="1349963" cy="621911"/>
          </a:xfrm>
          <a:prstGeom prst="roundRect">
            <a:avLst>
              <a:gd name="adj" fmla="val 5797"/>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テクニカル</a:t>
            </a:r>
            <a:br>
              <a:rPr lang="en-US" altLang="ja-JP" sz="1100" b="1">
                <a:latin typeface="メイリオ" panose="020B0604030504040204" pitchFamily="50" charset="-128"/>
                <a:ea typeface="メイリオ" panose="020B0604030504040204" pitchFamily="50" charset="-128"/>
              </a:rPr>
            </a:br>
            <a:r>
              <a:rPr lang="ja-JP" altLang="en-US" sz="1100" b="1">
                <a:latin typeface="メイリオ" panose="020B0604030504040204" pitchFamily="50" charset="-128"/>
                <a:ea typeface="メイリオ" panose="020B0604030504040204" pitchFamily="50" charset="-128"/>
              </a:rPr>
              <a:t>アーティスト</a:t>
            </a:r>
            <a:endParaRPr kumimoji="1" lang="ja-JP" altLang="en-US" sz="1100" b="1" noProof="0">
              <a:latin typeface="メイリオ" panose="020B0604030504040204" pitchFamily="50" charset="-128"/>
              <a:ea typeface="メイリオ" panose="020B0604030504040204" pitchFamily="50" charset="-128"/>
            </a:endParaRPr>
          </a:p>
        </p:txBody>
      </p:sp>
      <p:cxnSp>
        <p:nvCxnSpPr>
          <p:cNvPr id="50" name="コネクタ: カギ線 49">
            <a:extLst>
              <a:ext uri="{FF2B5EF4-FFF2-40B4-BE49-F238E27FC236}">
                <a16:creationId xmlns:a16="http://schemas.microsoft.com/office/drawing/2014/main" id="{9F312D82-089F-AA66-E00D-2DC65D12B912}"/>
              </a:ext>
            </a:extLst>
          </p:cNvPr>
          <p:cNvCxnSpPr>
            <a:cxnSpLocks/>
            <a:stCxn id="6" idx="3"/>
            <a:endCxn id="7" idx="1"/>
          </p:cNvCxnSpPr>
          <p:nvPr/>
        </p:nvCxnSpPr>
        <p:spPr>
          <a:xfrm flipV="1">
            <a:off x="6154843" y="1623322"/>
            <a:ext cx="488895" cy="1"/>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54" name="コネクタ: カギ線 53">
            <a:extLst>
              <a:ext uri="{FF2B5EF4-FFF2-40B4-BE49-F238E27FC236}">
                <a16:creationId xmlns:a16="http://schemas.microsoft.com/office/drawing/2014/main" id="{E1CFBAB2-C089-C03E-14C1-0866C4E062AD}"/>
              </a:ext>
            </a:extLst>
          </p:cNvPr>
          <p:cNvCxnSpPr>
            <a:cxnSpLocks/>
            <a:stCxn id="57" idx="2"/>
            <a:endCxn id="12" idx="0"/>
          </p:cNvCxnSpPr>
          <p:nvPr/>
        </p:nvCxnSpPr>
        <p:spPr>
          <a:xfrm rot="16200000" flipH="1">
            <a:off x="8601024" y="-94612"/>
            <a:ext cx="375732" cy="4712871"/>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61" name="コネクタ: カギ線 60">
            <a:extLst>
              <a:ext uri="{FF2B5EF4-FFF2-40B4-BE49-F238E27FC236}">
                <a16:creationId xmlns:a16="http://schemas.microsoft.com/office/drawing/2014/main" id="{4FBB558D-BC09-C702-85B0-F1F88D4168B6}"/>
              </a:ext>
            </a:extLst>
          </p:cNvPr>
          <p:cNvCxnSpPr>
            <a:cxnSpLocks/>
            <a:stCxn id="57" idx="2"/>
            <a:endCxn id="11" idx="0"/>
          </p:cNvCxnSpPr>
          <p:nvPr/>
        </p:nvCxnSpPr>
        <p:spPr>
          <a:xfrm rot="16200000" flipH="1">
            <a:off x="7695114" y="811298"/>
            <a:ext cx="375732" cy="2901051"/>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65" name="コネクタ: カギ線 64">
            <a:extLst>
              <a:ext uri="{FF2B5EF4-FFF2-40B4-BE49-F238E27FC236}">
                <a16:creationId xmlns:a16="http://schemas.microsoft.com/office/drawing/2014/main" id="{B6B0084B-E14C-58AF-5088-7B1C0CE1C6C9}"/>
              </a:ext>
            </a:extLst>
          </p:cNvPr>
          <p:cNvCxnSpPr>
            <a:cxnSpLocks/>
            <a:stCxn id="57" idx="2"/>
            <a:endCxn id="10" idx="0"/>
          </p:cNvCxnSpPr>
          <p:nvPr/>
        </p:nvCxnSpPr>
        <p:spPr>
          <a:xfrm rot="5400000">
            <a:off x="6242616" y="2259851"/>
            <a:ext cx="375733" cy="3946"/>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68" name="コネクタ: カギ線 67">
            <a:extLst>
              <a:ext uri="{FF2B5EF4-FFF2-40B4-BE49-F238E27FC236}">
                <a16:creationId xmlns:a16="http://schemas.microsoft.com/office/drawing/2014/main" id="{438DEC8E-16B3-A69C-1444-24FB66BD878B}"/>
              </a:ext>
            </a:extLst>
          </p:cNvPr>
          <p:cNvCxnSpPr>
            <a:cxnSpLocks/>
            <a:stCxn id="57" idx="2"/>
            <a:endCxn id="9" idx="0"/>
          </p:cNvCxnSpPr>
          <p:nvPr/>
        </p:nvCxnSpPr>
        <p:spPr>
          <a:xfrm rot="5400000">
            <a:off x="5157624" y="1174859"/>
            <a:ext cx="375733" cy="2173930"/>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71" name="コネクタ: カギ線 70">
            <a:extLst>
              <a:ext uri="{FF2B5EF4-FFF2-40B4-BE49-F238E27FC236}">
                <a16:creationId xmlns:a16="http://schemas.microsoft.com/office/drawing/2014/main" id="{BC8F2CCF-EFC4-52E3-78EB-7DD515ADE94D}"/>
              </a:ext>
            </a:extLst>
          </p:cNvPr>
          <p:cNvCxnSpPr>
            <a:cxnSpLocks/>
            <a:stCxn id="57" idx="2"/>
            <a:endCxn id="8" idx="0"/>
          </p:cNvCxnSpPr>
          <p:nvPr/>
        </p:nvCxnSpPr>
        <p:spPr>
          <a:xfrm rot="5400000">
            <a:off x="3680921" y="-301844"/>
            <a:ext cx="375733" cy="5127337"/>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74" name="コネクタ: カギ線 73">
            <a:extLst>
              <a:ext uri="{FF2B5EF4-FFF2-40B4-BE49-F238E27FC236}">
                <a16:creationId xmlns:a16="http://schemas.microsoft.com/office/drawing/2014/main" id="{CBE69687-F38B-D20C-1AE7-EE3773EBE4FA}"/>
              </a:ext>
            </a:extLst>
          </p:cNvPr>
          <p:cNvCxnSpPr>
            <a:cxnSpLocks/>
            <a:stCxn id="8" idx="2"/>
            <a:endCxn id="13" idx="0"/>
          </p:cNvCxnSpPr>
          <p:nvPr/>
        </p:nvCxnSpPr>
        <p:spPr>
          <a:xfrm rot="5400000">
            <a:off x="1156931" y="3219789"/>
            <a:ext cx="296374" cy="12700"/>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77" name="コネクタ: カギ線 76">
            <a:extLst>
              <a:ext uri="{FF2B5EF4-FFF2-40B4-BE49-F238E27FC236}">
                <a16:creationId xmlns:a16="http://schemas.microsoft.com/office/drawing/2014/main" id="{677A2408-56D9-8A3B-A975-063DC6D49CAF}"/>
              </a:ext>
            </a:extLst>
          </p:cNvPr>
          <p:cNvCxnSpPr>
            <a:cxnSpLocks/>
            <a:stCxn id="13" idx="2"/>
            <a:endCxn id="14" idx="0"/>
          </p:cNvCxnSpPr>
          <p:nvPr/>
        </p:nvCxnSpPr>
        <p:spPr>
          <a:xfrm rot="5400000">
            <a:off x="1189662" y="4105343"/>
            <a:ext cx="230913" cy="12700"/>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85" name="コネクタ: カギ線 84">
            <a:extLst>
              <a:ext uri="{FF2B5EF4-FFF2-40B4-BE49-F238E27FC236}">
                <a16:creationId xmlns:a16="http://schemas.microsoft.com/office/drawing/2014/main" id="{6B38C18A-2439-01AE-05D9-41CA2E4381EC}"/>
              </a:ext>
            </a:extLst>
          </p:cNvPr>
          <p:cNvCxnSpPr>
            <a:cxnSpLocks/>
            <a:stCxn id="9" idx="2"/>
            <a:endCxn id="15" idx="0"/>
          </p:cNvCxnSpPr>
          <p:nvPr/>
        </p:nvCxnSpPr>
        <p:spPr>
          <a:xfrm rot="5400000">
            <a:off x="3384404" y="2493853"/>
            <a:ext cx="296373" cy="1451871"/>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88" name="コネクタ: カギ線 87">
            <a:extLst>
              <a:ext uri="{FF2B5EF4-FFF2-40B4-BE49-F238E27FC236}">
                <a16:creationId xmlns:a16="http://schemas.microsoft.com/office/drawing/2014/main" id="{8F9107F0-6E25-9725-88C1-DDDDFEC93D1E}"/>
              </a:ext>
            </a:extLst>
          </p:cNvPr>
          <p:cNvCxnSpPr>
            <a:cxnSpLocks/>
            <a:stCxn id="9" idx="2"/>
            <a:endCxn id="16" idx="0"/>
          </p:cNvCxnSpPr>
          <p:nvPr/>
        </p:nvCxnSpPr>
        <p:spPr>
          <a:xfrm rot="16200000" flipH="1">
            <a:off x="4115417" y="3214710"/>
            <a:ext cx="296372" cy="10156"/>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91" name="コネクタ: カギ線 90">
            <a:extLst>
              <a:ext uri="{FF2B5EF4-FFF2-40B4-BE49-F238E27FC236}">
                <a16:creationId xmlns:a16="http://schemas.microsoft.com/office/drawing/2014/main" id="{EC634636-4A6B-ABAB-6ACC-3335394B2F43}"/>
              </a:ext>
            </a:extLst>
          </p:cNvPr>
          <p:cNvCxnSpPr>
            <a:cxnSpLocks/>
            <a:stCxn id="9" idx="2"/>
            <a:endCxn id="17" idx="0"/>
          </p:cNvCxnSpPr>
          <p:nvPr/>
        </p:nvCxnSpPr>
        <p:spPr>
          <a:xfrm rot="16200000" flipH="1">
            <a:off x="4846431" y="2483696"/>
            <a:ext cx="296372" cy="1472184"/>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94" name="コネクタ: カギ線 93">
            <a:extLst>
              <a:ext uri="{FF2B5EF4-FFF2-40B4-BE49-F238E27FC236}">
                <a16:creationId xmlns:a16="http://schemas.microsoft.com/office/drawing/2014/main" id="{A5883FEB-EAC4-4DEF-CA41-53A13EB2361D}"/>
              </a:ext>
            </a:extLst>
          </p:cNvPr>
          <p:cNvCxnSpPr>
            <a:cxnSpLocks/>
            <a:stCxn id="17" idx="2"/>
            <a:endCxn id="20" idx="0"/>
          </p:cNvCxnSpPr>
          <p:nvPr/>
        </p:nvCxnSpPr>
        <p:spPr>
          <a:xfrm rot="16200000" flipH="1">
            <a:off x="5615775" y="4104819"/>
            <a:ext cx="230911" cy="1042"/>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97" name="コネクタ: カギ線 96">
            <a:extLst>
              <a:ext uri="{FF2B5EF4-FFF2-40B4-BE49-F238E27FC236}">
                <a16:creationId xmlns:a16="http://schemas.microsoft.com/office/drawing/2014/main" id="{6C3DC563-3E76-C56F-96C3-4C0486D00592}"/>
              </a:ext>
            </a:extLst>
          </p:cNvPr>
          <p:cNvCxnSpPr>
            <a:cxnSpLocks/>
            <a:stCxn id="16" idx="2"/>
            <a:endCxn id="19" idx="0"/>
          </p:cNvCxnSpPr>
          <p:nvPr/>
        </p:nvCxnSpPr>
        <p:spPr>
          <a:xfrm rot="16200000" flipH="1">
            <a:off x="4156401" y="4102165"/>
            <a:ext cx="230911" cy="6350"/>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101" name="コネクタ: カギ線 100">
            <a:extLst>
              <a:ext uri="{FF2B5EF4-FFF2-40B4-BE49-F238E27FC236}">
                <a16:creationId xmlns:a16="http://schemas.microsoft.com/office/drawing/2014/main" id="{96C55897-399D-F9B5-C77B-E9C16D280F71}"/>
              </a:ext>
            </a:extLst>
          </p:cNvPr>
          <p:cNvCxnSpPr>
            <a:cxnSpLocks/>
            <a:stCxn id="15" idx="2"/>
            <a:endCxn id="18" idx="0"/>
          </p:cNvCxnSpPr>
          <p:nvPr/>
        </p:nvCxnSpPr>
        <p:spPr>
          <a:xfrm rot="16200000" flipH="1">
            <a:off x="2681717" y="4114822"/>
            <a:ext cx="251475" cy="1601"/>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106" name="コネクタ: カギ線 105">
            <a:extLst>
              <a:ext uri="{FF2B5EF4-FFF2-40B4-BE49-F238E27FC236}">
                <a16:creationId xmlns:a16="http://schemas.microsoft.com/office/drawing/2014/main" id="{B044BF56-F012-599D-8C13-1F88DFB3C5B6}"/>
              </a:ext>
            </a:extLst>
          </p:cNvPr>
          <p:cNvCxnSpPr>
            <a:cxnSpLocks/>
            <a:stCxn id="10" idx="2"/>
            <a:endCxn id="27" idx="0"/>
          </p:cNvCxnSpPr>
          <p:nvPr/>
        </p:nvCxnSpPr>
        <p:spPr>
          <a:xfrm rot="16200000" flipH="1">
            <a:off x="6662437" y="2837674"/>
            <a:ext cx="296372" cy="764228"/>
          </a:xfrm>
          <a:prstGeom prst="bentConnector3">
            <a:avLst>
              <a:gd name="adj1" fmla="val 50000"/>
            </a:avLst>
          </a:prstGeom>
          <a:ln w="38100">
            <a:solidFill>
              <a:schemeClr val="bg2"/>
            </a:solidFill>
          </a:ln>
        </p:spPr>
        <p:style>
          <a:lnRef idx="1">
            <a:schemeClr val="dk1"/>
          </a:lnRef>
          <a:fillRef idx="0">
            <a:schemeClr val="dk1"/>
          </a:fillRef>
          <a:effectRef idx="0">
            <a:schemeClr val="dk1"/>
          </a:effectRef>
          <a:fontRef idx="minor">
            <a:schemeClr val="tx1"/>
          </a:fontRef>
        </p:style>
      </p:cxnSp>
      <p:cxnSp>
        <p:nvCxnSpPr>
          <p:cNvPr id="109" name="コネクタ: カギ線 108">
            <a:extLst>
              <a:ext uri="{FF2B5EF4-FFF2-40B4-BE49-F238E27FC236}">
                <a16:creationId xmlns:a16="http://schemas.microsoft.com/office/drawing/2014/main" id="{B9C0B3B2-D1A5-90C0-0B9E-6EE879B9C2EB}"/>
              </a:ext>
            </a:extLst>
          </p:cNvPr>
          <p:cNvCxnSpPr>
            <a:cxnSpLocks/>
            <a:stCxn id="11" idx="2"/>
            <a:endCxn id="21" idx="0"/>
          </p:cNvCxnSpPr>
          <p:nvPr/>
        </p:nvCxnSpPr>
        <p:spPr>
          <a:xfrm rot="5400000">
            <a:off x="8857966" y="2896811"/>
            <a:ext cx="300751" cy="650330"/>
          </a:xfrm>
          <a:prstGeom prst="bentConnector3">
            <a:avLst>
              <a:gd name="adj1" fmla="val 50000"/>
            </a:avLst>
          </a:prstGeom>
          <a:ln w="38100">
            <a:solidFill>
              <a:schemeClr val="accent3">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113" name="コネクタ: カギ線 112">
            <a:extLst>
              <a:ext uri="{FF2B5EF4-FFF2-40B4-BE49-F238E27FC236}">
                <a16:creationId xmlns:a16="http://schemas.microsoft.com/office/drawing/2014/main" id="{FF2D091B-3B12-6854-4E4A-FE266AD3E565}"/>
              </a:ext>
            </a:extLst>
          </p:cNvPr>
          <p:cNvCxnSpPr>
            <a:cxnSpLocks/>
            <a:stCxn id="11" idx="2"/>
            <a:endCxn id="22" idx="0"/>
          </p:cNvCxnSpPr>
          <p:nvPr/>
        </p:nvCxnSpPr>
        <p:spPr>
          <a:xfrm rot="16200000" flipH="1">
            <a:off x="9610244" y="2794862"/>
            <a:ext cx="302240" cy="855717"/>
          </a:xfrm>
          <a:prstGeom prst="bentConnector3">
            <a:avLst>
              <a:gd name="adj1" fmla="val 50000"/>
            </a:avLst>
          </a:prstGeom>
          <a:ln w="38100">
            <a:solidFill>
              <a:schemeClr val="accent3">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116" name="コネクタ: カギ線 115">
            <a:extLst>
              <a:ext uri="{FF2B5EF4-FFF2-40B4-BE49-F238E27FC236}">
                <a16:creationId xmlns:a16="http://schemas.microsoft.com/office/drawing/2014/main" id="{0EFAD512-44A8-C552-881A-E004416CFB8E}"/>
              </a:ext>
            </a:extLst>
          </p:cNvPr>
          <p:cNvCxnSpPr>
            <a:cxnSpLocks/>
            <a:stCxn id="22" idx="2"/>
            <a:endCxn id="23" idx="0"/>
          </p:cNvCxnSpPr>
          <p:nvPr/>
        </p:nvCxnSpPr>
        <p:spPr>
          <a:xfrm rot="16200000" flipH="1">
            <a:off x="10078410" y="4106564"/>
            <a:ext cx="221627" cy="1"/>
          </a:xfrm>
          <a:prstGeom prst="bentConnector3">
            <a:avLst>
              <a:gd name="adj1" fmla="val 50000"/>
            </a:avLst>
          </a:prstGeom>
          <a:ln w="38100">
            <a:solidFill>
              <a:schemeClr val="accent3">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120" name="コネクタ: カギ線 119">
            <a:extLst>
              <a:ext uri="{FF2B5EF4-FFF2-40B4-BE49-F238E27FC236}">
                <a16:creationId xmlns:a16="http://schemas.microsoft.com/office/drawing/2014/main" id="{05B2AA40-0F42-15FE-C227-7D645B3F00FC}"/>
              </a:ext>
            </a:extLst>
          </p:cNvPr>
          <p:cNvCxnSpPr>
            <a:cxnSpLocks/>
            <a:stCxn id="21" idx="2"/>
            <a:endCxn id="31" idx="0"/>
          </p:cNvCxnSpPr>
          <p:nvPr/>
        </p:nvCxnSpPr>
        <p:spPr>
          <a:xfrm rot="16200000" flipH="1">
            <a:off x="8715849" y="3961590"/>
            <a:ext cx="1922839" cy="1988184"/>
          </a:xfrm>
          <a:prstGeom prst="bentConnector3">
            <a:avLst>
              <a:gd name="adj1" fmla="val 50000"/>
            </a:avLst>
          </a:prstGeom>
          <a:ln w="38100">
            <a:solidFill>
              <a:schemeClr val="accent3">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124" name="コネクタ: カギ線 123">
            <a:extLst>
              <a:ext uri="{FF2B5EF4-FFF2-40B4-BE49-F238E27FC236}">
                <a16:creationId xmlns:a16="http://schemas.microsoft.com/office/drawing/2014/main" id="{ACD7081C-FCE0-B480-CA57-5FBEBC9B326C}"/>
              </a:ext>
            </a:extLst>
          </p:cNvPr>
          <p:cNvCxnSpPr>
            <a:cxnSpLocks/>
            <a:stCxn id="21" idx="2"/>
            <a:endCxn id="25" idx="0"/>
          </p:cNvCxnSpPr>
          <p:nvPr/>
        </p:nvCxnSpPr>
        <p:spPr>
          <a:xfrm rot="16200000" flipH="1">
            <a:off x="8340371" y="4337068"/>
            <a:ext cx="1145018" cy="459408"/>
          </a:xfrm>
          <a:prstGeom prst="bentConnector3">
            <a:avLst>
              <a:gd name="adj1" fmla="val 84938"/>
            </a:avLst>
          </a:prstGeom>
          <a:ln w="38100">
            <a:solidFill>
              <a:schemeClr val="accent3">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129" name="コネクタ: カギ線 128">
            <a:extLst>
              <a:ext uri="{FF2B5EF4-FFF2-40B4-BE49-F238E27FC236}">
                <a16:creationId xmlns:a16="http://schemas.microsoft.com/office/drawing/2014/main" id="{25940B19-0503-2609-EF69-E655FFEC01FB}"/>
              </a:ext>
            </a:extLst>
          </p:cNvPr>
          <p:cNvCxnSpPr>
            <a:cxnSpLocks/>
          </p:cNvCxnSpPr>
          <p:nvPr/>
        </p:nvCxnSpPr>
        <p:spPr>
          <a:xfrm rot="5400000">
            <a:off x="7584063" y="4010913"/>
            <a:ext cx="1128085" cy="1094785"/>
          </a:xfrm>
          <a:prstGeom prst="bentConnector3">
            <a:avLst>
              <a:gd name="adj1" fmla="val 88277"/>
            </a:avLst>
          </a:prstGeom>
          <a:ln w="38100">
            <a:solidFill>
              <a:schemeClr val="accent3">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132" name="コネクタ: カギ線 131">
            <a:extLst>
              <a:ext uri="{FF2B5EF4-FFF2-40B4-BE49-F238E27FC236}">
                <a16:creationId xmlns:a16="http://schemas.microsoft.com/office/drawing/2014/main" id="{6A7B8B35-09BB-8441-0A68-CE3F4DA9724A}"/>
              </a:ext>
            </a:extLst>
          </p:cNvPr>
          <p:cNvCxnSpPr>
            <a:cxnSpLocks/>
          </p:cNvCxnSpPr>
          <p:nvPr/>
        </p:nvCxnSpPr>
        <p:spPr>
          <a:xfrm rot="5400000">
            <a:off x="6839640" y="3258032"/>
            <a:ext cx="1119626" cy="2592088"/>
          </a:xfrm>
          <a:prstGeom prst="bentConnector3">
            <a:avLst>
              <a:gd name="adj1" fmla="val 87999"/>
            </a:avLst>
          </a:prstGeom>
          <a:ln w="38100">
            <a:solidFill>
              <a:schemeClr val="accent3">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137" name="コネクタ: カギ線 136">
            <a:extLst>
              <a:ext uri="{FF2B5EF4-FFF2-40B4-BE49-F238E27FC236}">
                <a16:creationId xmlns:a16="http://schemas.microsoft.com/office/drawing/2014/main" id="{B166254F-84F4-81B0-A22B-2D9030EE66E4}"/>
              </a:ext>
            </a:extLst>
          </p:cNvPr>
          <p:cNvCxnSpPr>
            <a:cxnSpLocks/>
            <a:stCxn id="21" idx="2"/>
            <a:endCxn id="35" idx="0"/>
          </p:cNvCxnSpPr>
          <p:nvPr/>
        </p:nvCxnSpPr>
        <p:spPr>
          <a:xfrm rot="5400000">
            <a:off x="6061855" y="2492568"/>
            <a:ext cx="1119626" cy="4123016"/>
          </a:xfrm>
          <a:prstGeom prst="bentConnector3">
            <a:avLst>
              <a:gd name="adj1" fmla="val 89134"/>
            </a:avLst>
          </a:prstGeom>
          <a:ln w="38100">
            <a:solidFill>
              <a:schemeClr val="accent3">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141" name="コネクタ: カギ線 140">
            <a:extLst>
              <a:ext uri="{FF2B5EF4-FFF2-40B4-BE49-F238E27FC236}">
                <a16:creationId xmlns:a16="http://schemas.microsoft.com/office/drawing/2014/main" id="{365D65EA-9090-E9C5-22F2-795FA8482D4D}"/>
              </a:ext>
            </a:extLst>
          </p:cNvPr>
          <p:cNvCxnSpPr>
            <a:cxnSpLocks/>
            <a:stCxn id="21" idx="2"/>
            <a:endCxn id="38" idx="0"/>
          </p:cNvCxnSpPr>
          <p:nvPr/>
        </p:nvCxnSpPr>
        <p:spPr>
          <a:xfrm rot="5400000">
            <a:off x="5294613" y="1705618"/>
            <a:ext cx="1099919" cy="5677209"/>
          </a:xfrm>
          <a:prstGeom prst="bentConnector3">
            <a:avLst>
              <a:gd name="adj1" fmla="val 89835"/>
            </a:avLst>
          </a:prstGeom>
          <a:ln w="38100">
            <a:solidFill>
              <a:schemeClr val="accent3">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146" name="コネクタ: カギ線 145">
            <a:extLst>
              <a:ext uri="{FF2B5EF4-FFF2-40B4-BE49-F238E27FC236}">
                <a16:creationId xmlns:a16="http://schemas.microsoft.com/office/drawing/2014/main" id="{51B96B64-AB57-3487-0CF7-354E9073D603}"/>
              </a:ext>
            </a:extLst>
          </p:cNvPr>
          <p:cNvCxnSpPr>
            <a:cxnSpLocks/>
            <a:stCxn id="21" idx="2"/>
            <a:endCxn id="40" idx="0"/>
          </p:cNvCxnSpPr>
          <p:nvPr/>
        </p:nvCxnSpPr>
        <p:spPr>
          <a:xfrm rot="5400000">
            <a:off x="4516417" y="927422"/>
            <a:ext cx="1099918" cy="7233601"/>
          </a:xfrm>
          <a:prstGeom prst="bentConnector3">
            <a:avLst>
              <a:gd name="adj1" fmla="val 89257"/>
            </a:avLst>
          </a:prstGeom>
          <a:ln w="38100">
            <a:solidFill>
              <a:schemeClr val="accent3">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150" name="コネクタ: カギ線 149">
            <a:extLst>
              <a:ext uri="{FF2B5EF4-FFF2-40B4-BE49-F238E27FC236}">
                <a16:creationId xmlns:a16="http://schemas.microsoft.com/office/drawing/2014/main" id="{D3A729FC-0E6E-D25B-61EE-846B6D34A4F1}"/>
              </a:ext>
            </a:extLst>
          </p:cNvPr>
          <p:cNvCxnSpPr>
            <a:cxnSpLocks/>
            <a:stCxn id="25" idx="2"/>
            <a:endCxn id="32" idx="0"/>
          </p:cNvCxnSpPr>
          <p:nvPr/>
        </p:nvCxnSpPr>
        <p:spPr>
          <a:xfrm rot="16200000" flipH="1">
            <a:off x="9070398" y="5833378"/>
            <a:ext cx="157072" cy="12700"/>
          </a:xfrm>
          <a:prstGeom prst="bentConnector3">
            <a:avLst>
              <a:gd name="adj1" fmla="val 50000"/>
            </a:avLst>
          </a:prstGeom>
          <a:ln w="38100">
            <a:solidFill>
              <a:schemeClr val="accent3">
                <a:lumMod val="20000"/>
                <a:lumOff val="80000"/>
              </a:schemeClr>
            </a:solidFill>
          </a:ln>
        </p:spPr>
        <p:style>
          <a:lnRef idx="1">
            <a:schemeClr val="dk1"/>
          </a:lnRef>
          <a:fillRef idx="0">
            <a:schemeClr val="dk1"/>
          </a:fillRef>
          <a:effectRef idx="0">
            <a:schemeClr val="dk1"/>
          </a:effectRef>
          <a:fontRef idx="minor">
            <a:schemeClr val="tx1"/>
          </a:fontRef>
        </p:style>
      </p:cxnSp>
      <p:cxnSp>
        <p:nvCxnSpPr>
          <p:cNvPr id="153" name="コネクタ: カギ線 152">
            <a:extLst>
              <a:ext uri="{FF2B5EF4-FFF2-40B4-BE49-F238E27FC236}">
                <a16:creationId xmlns:a16="http://schemas.microsoft.com/office/drawing/2014/main" id="{28A88F8E-C52F-0262-6E48-83ACFCD380F5}"/>
              </a:ext>
            </a:extLst>
          </p:cNvPr>
          <p:cNvCxnSpPr>
            <a:cxnSpLocks/>
            <a:stCxn id="24" idx="2"/>
            <a:endCxn id="28" idx="0"/>
          </p:cNvCxnSpPr>
          <p:nvPr/>
        </p:nvCxnSpPr>
        <p:spPr>
          <a:xfrm rot="5400000">
            <a:off x="7501313" y="5830023"/>
            <a:ext cx="172842" cy="1314"/>
          </a:xfrm>
          <a:prstGeom prst="bentConnector3">
            <a:avLst>
              <a:gd name="adj1" fmla="val 50000"/>
            </a:avLst>
          </a:prstGeom>
          <a:ln w="38100">
            <a:solidFill>
              <a:schemeClr val="accent3">
                <a:lumMod val="20000"/>
                <a:lumOff val="80000"/>
              </a:schemeClr>
            </a:solidFill>
          </a:ln>
        </p:spPr>
        <p:style>
          <a:lnRef idx="1">
            <a:schemeClr val="dk1"/>
          </a:lnRef>
          <a:fillRef idx="0">
            <a:schemeClr val="dk1"/>
          </a:fillRef>
          <a:effectRef idx="0">
            <a:schemeClr val="dk1"/>
          </a:effectRef>
          <a:fontRef idx="minor">
            <a:schemeClr val="tx1"/>
          </a:fontRef>
        </p:style>
      </p:cxnSp>
      <p:cxnSp>
        <p:nvCxnSpPr>
          <p:cNvPr id="158" name="コネクタ: カギ線 157">
            <a:extLst>
              <a:ext uri="{FF2B5EF4-FFF2-40B4-BE49-F238E27FC236}">
                <a16:creationId xmlns:a16="http://schemas.microsoft.com/office/drawing/2014/main" id="{4A4A618E-ABB7-4FFB-126F-578070F20553}"/>
              </a:ext>
            </a:extLst>
          </p:cNvPr>
          <p:cNvCxnSpPr>
            <a:cxnSpLocks/>
            <a:stCxn id="33" idx="2"/>
            <a:endCxn id="34" idx="0"/>
          </p:cNvCxnSpPr>
          <p:nvPr/>
        </p:nvCxnSpPr>
        <p:spPr>
          <a:xfrm rot="16200000" flipH="1">
            <a:off x="5993254" y="5833634"/>
            <a:ext cx="200226" cy="4558"/>
          </a:xfrm>
          <a:prstGeom prst="bentConnector3">
            <a:avLst>
              <a:gd name="adj1" fmla="val 50000"/>
            </a:avLst>
          </a:prstGeom>
          <a:ln w="38100">
            <a:solidFill>
              <a:schemeClr val="accent3">
                <a:lumMod val="20000"/>
                <a:lumOff val="80000"/>
              </a:schemeClr>
            </a:solidFill>
          </a:ln>
        </p:spPr>
        <p:style>
          <a:lnRef idx="1">
            <a:schemeClr val="dk1"/>
          </a:lnRef>
          <a:fillRef idx="0">
            <a:schemeClr val="dk1"/>
          </a:fillRef>
          <a:effectRef idx="0">
            <a:schemeClr val="dk1"/>
          </a:effectRef>
          <a:fontRef idx="minor">
            <a:schemeClr val="tx1"/>
          </a:fontRef>
        </p:style>
      </p:cxnSp>
      <p:cxnSp>
        <p:nvCxnSpPr>
          <p:cNvPr id="164" name="コネクタ: カギ線 163">
            <a:extLst>
              <a:ext uri="{FF2B5EF4-FFF2-40B4-BE49-F238E27FC236}">
                <a16:creationId xmlns:a16="http://schemas.microsoft.com/office/drawing/2014/main" id="{E0BAC386-65BB-2DB8-DC0A-F9EA873AF8CB}"/>
              </a:ext>
            </a:extLst>
          </p:cNvPr>
          <p:cNvCxnSpPr>
            <a:cxnSpLocks/>
            <a:stCxn id="35" idx="2"/>
            <a:endCxn id="37" idx="0"/>
          </p:cNvCxnSpPr>
          <p:nvPr/>
        </p:nvCxnSpPr>
        <p:spPr>
          <a:xfrm rot="5400000">
            <a:off x="4464325" y="5822427"/>
            <a:ext cx="182463" cy="9208"/>
          </a:xfrm>
          <a:prstGeom prst="bentConnector3">
            <a:avLst>
              <a:gd name="adj1" fmla="val 50000"/>
            </a:avLst>
          </a:prstGeom>
          <a:ln w="38100">
            <a:solidFill>
              <a:schemeClr val="accent3">
                <a:lumMod val="20000"/>
                <a:lumOff val="80000"/>
              </a:schemeClr>
            </a:solidFill>
          </a:ln>
        </p:spPr>
        <p:style>
          <a:lnRef idx="1">
            <a:schemeClr val="dk1"/>
          </a:lnRef>
          <a:fillRef idx="0">
            <a:schemeClr val="dk1"/>
          </a:fillRef>
          <a:effectRef idx="0">
            <a:schemeClr val="dk1"/>
          </a:effectRef>
          <a:fontRef idx="minor">
            <a:schemeClr val="tx1"/>
          </a:fontRef>
        </p:style>
      </p:cxnSp>
      <p:cxnSp>
        <p:nvCxnSpPr>
          <p:cNvPr id="167" name="コネクタ: カギ線 166">
            <a:extLst>
              <a:ext uri="{FF2B5EF4-FFF2-40B4-BE49-F238E27FC236}">
                <a16:creationId xmlns:a16="http://schemas.microsoft.com/office/drawing/2014/main" id="{C6C5160E-4D35-88B4-1235-1A025B9499BC}"/>
              </a:ext>
            </a:extLst>
          </p:cNvPr>
          <p:cNvCxnSpPr>
            <a:cxnSpLocks/>
            <a:stCxn id="38" idx="2"/>
            <a:endCxn id="39" idx="0"/>
          </p:cNvCxnSpPr>
          <p:nvPr/>
        </p:nvCxnSpPr>
        <p:spPr>
          <a:xfrm rot="5400000">
            <a:off x="2913307" y="5805895"/>
            <a:ext cx="182463" cy="2858"/>
          </a:xfrm>
          <a:prstGeom prst="bentConnector3">
            <a:avLst>
              <a:gd name="adj1" fmla="val 50000"/>
            </a:avLst>
          </a:prstGeom>
          <a:ln w="38100">
            <a:solidFill>
              <a:schemeClr val="accent3">
                <a:lumMod val="20000"/>
                <a:lumOff val="80000"/>
              </a:schemeClr>
            </a:solidFill>
          </a:ln>
        </p:spPr>
        <p:style>
          <a:lnRef idx="1">
            <a:schemeClr val="dk1"/>
          </a:lnRef>
          <a:fillRef idx="0">
            <a:schemeClr val="dk1"/>
          </a:fillRef>
          <a:effectRef idx="0">
            <a:schemeClr val="dk1"/>
          </a:effectRef>
          <a:fontRef idx="minor">
            <a:schemeClr val="tx1"/>
          </a:fontRef>
        </p:style>
      </p:cxnSp>
      <p:cxnSp>
        <p:nvCxnSpPr>
          <p:cNvPr id="170" name="コネクタ: カギ線 169">
            <a:extLst>
              <a:ext uri="{FF2B5EF4-FFF2-40B4-BE49-F238E27FC236}">
                <a16:creationId xmlns:a16="http://schemas.microsoft.com/office/drawing/2014/main" id="{BAA0562E-6CC6-30F9-C165-E3222C65B042}"/>
              </a:ext>
            </a:extLst>
          </p:cNvPr>
          <p:cNvCxnSpPr>
            <a:cxnSpLocks/>
            <a:stCxn id="40" idx="2"/>
            <a:endCxn id="41" idx="0"/>
          </p:cNvCxnSpPr>
          <p:nvPr/>
        </p:nvCxnSpPr>
        <p:spPr>
          <a:xfrm rot="5400000">
            <a:off x="1344994" y="5813681"/>
            <a:ext cx="202171" cy="6992"/>
          </a:xfrm>
          <a:prstGeom prst="bentConnector3">
            <a:avLst>
              <a:gd name="adj1" fmla="val 50000"/>
            </a:avLst>
          </a:prstGeom>
          <a:ln w="38100">
            <a:solidFill>
              <a:schemeClr val="accent3">
                <a:lumMod val="20000"/>
                <a:lumOff val="80000"/>
              </a:schemeClr>
            </a:solidFill>
          </a:ln>
        </p:spPr>
        <p:style>
          <a:lnRef idx="1">
            <a:schemeClr val="dk1"/>
          </a:lnRef>
          <a:fillRef idx="0">
            <a:schemeClr val="dk1"/>
          </a:fillRef>
          <a:effectRef idx="0">
            <a:schemeClr val="dk1"/>
          </a:effectRef>
          <a:fontRef idx="minor">
            <a:schemeClr val="tx1"/>
          </a:fontRef>
        </p:style>
      </p:cxnSp>
      <p:sp>
        <p:nvSpPr>
          <p:cNvPr id="191" name="四角形: 角を丸くする 190">
            <a:extLst>
              <a:ext uri="{FF2B5EF4-FFF2-40B4-BE49-F238E27FC236}">
                <a16:creationId xmlns:a16="http://schemas.microsoft.com/office/drawing/2014/main" id="{8F65533D-AA33-4FF3-D162-741CED22C7D3}"/>
              </a:ext>
            </a:extLst>
          </p:cNvPr>
          <p:cNvSpPr/>
          <p:nvPr/>
        </p:nvSpPr>
        <p:spPr bwMode="auto">
          <a:xfrm>
            <a:off x="10334080" y="1459284"/>
            <a:ext cx="1060248" cy="358222"/>
          </a:xfrm>
          <a:prstGeom prst="roundRect">
            <a:avLst>
              <a:gd name="adj" fmla="val 5797"/>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en-US" altLang="ja-JP" sz="1000" b="1" dirty="0">
                <a:latin typeface="メイリオ" panose="020B0604030504040204" pitchFamily="50" charset="-128"/>
                <a:ea typeface="メイリオ" panose="020B0604030504040204" pitchFamily="50" charset="-128"/>
              </a:rPr>
              <a:t>C&amp;R</a:t>
            </a:r>
            <a:r>
              <a:rPr lang="ja-JP" altLang="en-US" sz="1000" b="1" dirty="0">
                <a:latin typeface="メイリオ" panose="020B0604030504040204" pitchFamily="50" charset="-128"/>
                <a:ea typeface="メイリオ" panose="020B0604030504040204" pitchFamily="50" charset="-128"/>
              </a:rPr>
              <a:t>社</a:t>
            </a:r>
            <a:br>
              <a:rPr lang="en-US" altLang="ja-JP" sz="1000" b="1" dirty="0">
                <a:latin typeface="メイリオ" panose="020B0604030504040204" pitchFamily="50" charset="-128"/>
                <a:ea typeface="メイリオ" panose="020B0604030504040204" pitchFamily="50" charset="-128"/>
              </a:rPr>
            </a:br>
            <a:r>
              <a:rPr kumimoji="1" lang="ja-JP" altLang="en-US" sz="1000" b="1" noProof="0" dirty="0">
                <a:latin typeface="メイリオ" panose="020B0604030504040204" pitchFamily="50" charset="-128"/>
                <a:ea typeface="メイリオ" panose="020B0604030504040204" pitchFamily="50" charset="-128"/>
              </a:rPr>
              <a:t>アサイン</a:t>
            </a:r>
          </a:p>
        </p:txBody>
      </p:sp>
      <p:sp>
        <p:nvSpPr>
          <p:cNvPr id="192" name="四角形: 角を丸くする 191">
            <a:extLst>
              <a:ext uri="{FF2B5EF4-FFF2-40B4-BE49-F238E27FC236}">
                <a16:creationId xmlns:a16="http://schemas.microsoft.com/office/drawing/2014/main" id="{92B947D0-7EF7-BB5C-6037-93CB29305FD4}"/>
              </a:ext>
            </a:extLst>
          </p:cNvPr>
          <p:cNvSpPr/>
          <p:nvPr/>
        </p:nvSpPr>
        <p:spPr bwMode="auto">
          <a:xfrm>
            <a:off x="9177250" y="1462528"/>
            <a:ext cx="1060248" cy="358222"/>
          </a:xfrm>
          <a:prstGeom prst="roundRect">
            <a:avLst>
              <a:gd name="adj" fmla="val 5797"/>
            </a:avLst>
          </a:prstGeom>
          <a:solidFill>
            <a:schemeClr val="bg2"/>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ja-JP" altLang="en-US" sz="1000" b="1">
                <a:latin typeface="メイリオ" panose="020B0604030504040204" pitchFamily="50" charset="-128"/>
                <a:ea typeface="メイリオ" panose="020B0604030504040204" pitchFamily="50" charset="-128"/>
              </a:rPr>
              <a:t>クライアント</a:t>
            </a:r>
            <a:br>
              <a:rPr lang="en-US" altLang="ja-JP" sz="1000" b="1">
                <a:latin typeface="メイリオ" panose="020B0604030504040204" pitchFamily="50" charset="-128"/>
                <a:ea typeface="メイリオ" panose="020B0604030504040204" pitchFamily="50" charset="-128"/>
              </a:rPr>
            </a:br>
            <a:r>
              <a:rPr kumimoji="1" lang="ja-JP" altLang="en-US" sz="1000" b="1" noProof="0">
                <a:latin typeface="メイリオ" panose="020B0604030504040204" pitchFamily="50" charset="-128"/>
                <a:ea typeface="メイリオ" panose="020B0604030504040204" pitchFamily="50" charset="-128"/>
              </a:rPr>
              <a:t>アサイン</a:t>
            </a:r>
          </a:p>
        </p:txBody>
      </p:sp>
    </p:spTree>
    <p:extLst>
      <p:ext uri="{BB962C8B-B14F-4D97-AF65-F5344CB8AC3E}">
        <p14:creationId xmlns:p14="http://schemas.microsoft.com/office/powerpoint/2010/main" val="35345770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四角形: 角を丸くする 41">
            <a:extLst>
              <a:ext uri="{FF2B5EF4-FFF2-40B4-BE49-F238E27FC236}">
                <a16:creationId xmlns:a16="http://schemas.microsoft.com/office/drawing/2014/main" id="{BED59516-943E-628D-763E-249D102E21E7}"/>
              </a:ext>
            </a:extLst>
          </p:cNvPr>
          <p:cNvSpPr/>
          <p:nvPr/>
        </p:nvSpPr>
        <p:spPr bwMode="auto">
          <a:xfrm>
            <a:off x="1668256" y="1548067"/>
            <a:ext cx="8836874" cy="1697915"/>
          </a:xfrm>
          <a:prstGeom prst="roundRect">
            <a:avLst>
              <a:gd name="adj" fmla="val 0"/>
            </a:avLst>
          </a:prstGeom>
          <a:noFill/>
          <a:ln w="76200" algn="ctr">
            <a:solidFill>
              <a:schemeClr val="bg1">
                <a:lumMod val="95000"/>
              </a:schemeClr>
            </a:solidFill>
            <a:miter lim="800000"/>
            <a:headEnd/>
            <a:tailEnd/>
          </a:ln>
          <a:effectLst/>
        </p:spPr>
        <p:txBody>
          <a:bodyPr wrap="none" lIns="90000" tIns="46800" rIns="90000" bIns="46800" rtlCol="0" anchor="ctr"/>
          <a:lstStyle/>
          <a:p>
            <a:pPr marL="342900" indent="-342900" algn="l" defTabSz="914400" fontAlgn="base">
              <a:spcBef>
                <a:spcPct val="50000"/>
              </a:spcBef>
              <a:spcAft>
                <a:spcPct val="0"/>
              </a:spcAft>
              <a:buFont typeface="Arial" panose="020B0604020202020204" pitchFamily="34" charset="0"/>
              <a:buChar char="•"/>
            </a:pPr>
            <a:endParaRPr kumimoji="1" lang="ja-JP" altLang="en-US" b="1" noProof="0">
              <a:solidFill>
                <a:schemeClr val="accent4">
                  <a:lumMod val="50000"/>
                </a:schemeClr>
              </a:solidFill>
              <a:latin typeface="メイリオ" panose="020B0604030504040204" pitchFamily="50" charset="-128"/>
              <a:ea typeface="メイリオ" panose="020B0604030504040204" pitchFamily="50" charset="-128"/>
            </a:endParaRPr>
          </a:p>
        </p:txBody>
      </p:sp>
      <p:sp>
        <p:nvSpPr>
          <p:cNvPr id="39" name="楕円 38">
            <a:extLst>
              <a:ext uri="{FF2B5EF4-FFF2-40B4-BE49-F238E27FC236}">
                <a16:creationId xmlns:a16="http://schemas.microsoft.com/office/drawing/2014/main" id="{C28720CF-BF3E-F4E9-943B-B61603F099CD}"/>
              </a:ext>
            </a:extLst>
          </p:cNvPr>
          <p:cNvSpPr/>
          <p:nvPr/>
        </p:nvSpPr>
        <p:spPr bwMode="auto">
          <a:xfrm>
            <a:off x="10692930" y="4639402"/>
            <a:ext cx="859806" cy="859806"/>
          </a:xfrm>
          <a:prstGeom prst="ellipse">
            <a:avLst/>
          </a:prstGeom>
          <a:solidFill>
            <a:schemeClr val="accent4">
              <a:lumMod val="40000"/>
              <a:lumOff val="60000"/>
              <a:alpha val="50196"/>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40" name="楕円 39">
            <a:extLst>
              <a:ext uri="{FF2B5EF4-FFF2-40B4-BE49-F238E27FC236}">
                <a16:creationId xmlns:a16="http://schemas.microsoft.com/office/drawing/2014/main" id="{47498FBF-68D1-056F-D64D-AE8E71302882}"/>
              </a:ext>
            </a:extLst>
          </p:cNvPr>
          <p:cNvSpPr/>
          <p:nvPr/>
        </p:nvSpPr>
        <p:spPr bwMode="auto">
          <a:xfrm>
            <a:off x="10096717" y="5823090"/>
            <a:ext cx="613215" cy="613215"/>
          </a:xfrm>
          <a:prstGeom prst="ellipse">
            <a:avLst/>
          </a:prstGeom>
          <a:solidFill>
            <a:schemeClr val="accent4">
              <a:lumMod val="20000"/>
              <a:lumOff val="80000"/>
              <a:alpha val="50196"/>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38" name="楕円 37">
            <a:extLst>
              <a:ext uri="{FF2B5EF4-FFF2-40B4-BE49-F238E27FC236}">
                <a16:creationId xmlns:a16="http://schemas.microsoft.com/office/drawing/2014/main" id="{1B66E179-1298-570D-5EAB-4DE44B0A5753}"/>
              </a:ext>
            </a:extLst>
          </p:cNvPr>
          <p:cNvSpPr/>
          <p:nvPr/>
        </p:nvSpPr>
        <p:spPr bwMode="auto">
          <a:xfrm>
            <a:off x="6322144" y="5714876"/>
            <a:ext cx="859806" cy="859806"/>
          </a:xfrm>
          <a:prstGeom prst="ellipse">
            <a:avLst/>
          </a:prstGeom>
          <a:solidFill>
            <a:schemeClr val="accent4">
              <a:lumMod val="40000"/>
              <a:lumOff val="60000"/>
              <a:alpha val="50196"/>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37" name="楕円 36">
            <a:extLst>
              <a:ext uri="{FF2B5EF4-FFF2-40B4-BE49-F238E27FC236}">
                <a16:creationId xmlns:a16="http://schemas.microsoft.com/office/drawing/2014/main" id="{65FE3A92-28ED-433B-5D55-3E45635B4061}"/>
              </a:ext>
            </a:extLst>
          </p:cNvPr>
          <p:cNvSpPr/>
          <p:nvPr/>
        </p:nvSpPr>
        <p:spPr bwMode="auto">
          <a:xfrm>
            <a:off x="7175415" y="4649965"/>
            <a:ext cx="1646265" cy="1646265"/>
          </a:xfrm>
          <a:prstGeom prst="ellipse">
            <a:avLst/>
          </a:prstGeom>
          <a:solidFill>
            <a:schemeClr val="accent4">
              <a:lumMod val="20000"/>
              <a:lumOff val="80000"/>
              <a:alpha val="50196"/>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AA4FEB42-2F44-03F3-8829-2312A7EF1503}"/>
              </a:ext>
            </a:extLst>
          </p:cNvPr>
          <p:cNvSpPr/>
          <p:nvPr/>
        </p:nvSpPr>
        <p:spPr bwMode="auto">
          <a:xfrm>
            <a:off x="7475315" y="3824271"/>
            <a:ext cx="3707744" cy="270688"/>
          </a:xfrm>
          <a:prstGeom prst="rect">
            <a:avLst/>
          </a:prstGeom>
          <a:solidFill>
            <a:schemeClr val="accent5">
              <a:lumMod val="20000"/>
              <a:lumOff val="80000"/>
              <a:alpha val="5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 name="コンテンツ プレースホルダー 1">
            <a:extLst>
              <a:ext uri="{FF2B5EF4-FFF2-40B4-BE49-F238E27FC236}">
                <a16:creationId xmlns:a16="http://schemas.microsoft.com/office/drawing/2014/main" id="{81C58074-3183-0A6B-810F-489F046261B6}"/>
              </a:ext>
            </a:extLst>
          </p:cNvPr>
          <p:cNvSpPr>
            <a:spLocks noGrp="1"/>
          </p:cNvSpPr>
          <p:nvPr>
            <p:ph idx="10"/>
          </p:nvPr>
        </p:nvSpPr>
        <p:spPr>
          <a:xfrm>
            <a:off x="653802" y="652081"/>
            <a:ext cx="11086078" cy="744046"/>
          </a:xfrm>
        </p:spPr>
        <p:txBody>
          <a:bodyPr>
            <a:normAutofit/>
          </a:bodyPr>
          <a:lstStyle/>
          <a:p>
            <a:r>
              <a:rPr kumimoji="1" lang="ja-JP" altLang="en-US"/>
              <a:t>業界全体の市況感に負けない組織形成、貴社リソースの稼働率を１００％へ近づけるために、</a:t>
            </a:r>
            <a:endParaRPr kumimoji="1" lang="en-US" altLang="ja-JP"/>
          </a:p>
          <a:p>
            <a:r>
              <a:rPr kumimoji="1" lang="ja-JP" altLang="en-US"/>
              <a:t>停滞気味のクリエイターに新たな活躍の機会創出を提供します。</a:t>
            </a:r>
          </a:p>
        </p:txBody>
      </p:sp>
      <p:sp>
        <p:nvSpPr>
          <p:cNvPr id="3" name="タイトル 2">
            <a:extLst>
              <a:ext uri="{FF2B5EF4-FFF2-40B4-BE49-F238E27FC236}">
                <a16:creationId xmlns:a16="http://schemas.microsoft.com/office/drawing/2014/main" id="{12BC5D3F-38E4-C53E-F452-2E55235EEDD2}"/>
              </a:ext>
            </a:extLst>
          </p:cNvPr>
          <p:cNvSpPr>
            <a:spLocks noGrp="1"/>
          </p:cNvSpPr>
          <p:nvPr>
            <p:ph type="title"/>
          </p:nvPr>
        </p:nvSpPr>
        <p:spPr/>
        <p:txBody>
          <a:bodyPr>
            <a:normAutofit/>
          </a:bodyPr>
          <a:lstStyle/>
          <a:p>
            <a:r>
              <a:rPr lang="ja-JP" altLang="en-US"/>
              <a:t>日本最大級のスタジオを選ぶ理由３：採用支援 リスキリング</a:t>
            </a:r>
            <a:endParaRPr kumimoji="1" lang="ja-JP" altLang="en-US"/>
          </a:p>
        </p:txBody>
      </p:sp>
      <p:sp>
        <p:nvSpPr>
          <p:cNvPr id="4" name="スライド番号プレースホルダー 3">
            <a:extLst>
              <a:ext uri="{FF2B5EF4-FFF2-40B4-BE49-F238E27FC236}">
                <a16:creationId xmlns:a16="http://schemas.microsoft.com/office/drawing/2014/main" id="{99754794-DAB1-640F-59C7-FA3D2DE93E3C}"/>
              </a:ext>
            </a:extLst>
          </p:cNvPr>
          <p:cNvSpPr>
            <a:spLocks noGrp="1"/>
          </p:cNvSpPr>
          <p:nvPr>
            <p:ph type="sldNum" sz="quarter" idx="11"/>
          </p:nvPr>
        </p:nvSpPr>
        <p:spPr/>
        <p:txBody>
          <a:bodyPr/>
          <a:lstStyle/>
          <a:p>
            <a:fld id="{B75FDD43-FCEC-4ECC-8189-A5C6D2E08DC6}" type="slidenum">
              <a:rPr lang="ja-JP" altLang="en-US" smtClean="0"/>
              <a:pPr/>
              <a:t>30</a:t>
            </a:fld>
            <a:endParaRPr lang="ja-JP" altLang="en-US"/>
          </a:p>
        </p:txBody>
      </p:sp>
      <p:pic>
        <p:nvPicPr>
          <p:cNvPr id="6" name="グラフィックス 5" descr="更新 単色塗りつぶし">
            <a:extLst>
              <a:ext uri="{FF2B5EF4-FFF2-40B4-BE49-F238E27FC236}">
                <a16:creationId xmlns:a16="http://schemas.microsoft.com/office/drawing/2014/main" id="{3C83FC1D-4C27-86D9-88AE-788B92104E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4441212" y="3707476"/>
            <a:ext cx="2392447" cy="2392447"/>
          </a:xfrm>
          <a:prstGeom prst="rect">
            <a:avLst/>
          </a:prstGeom>
        </p:spPr>
      </p:pic>
      <p:sp>
        <p:nvSpPr>
          <p:cNvPr id="7" name="テキスト ボックス 6">
            <a:extLst>
              <a:ext uri="{FF2B5EF4-FFF2-40B4-BE49-F238E27FC236}">
                <a16:creationId xmlns:a16="http://schemas.microsoft.com/office/drawing/2014/main" id="{FF590D7F-3FDD-D88B-ECAD-C05DA16FCE0C}"/>
              </a:ext>
            </a:extLst>
          </p:cNvPr>
          <p:cNvSpPr txBox="1"/>
          <p:nvPr/>
        </p:nvSpPr>
        <p:spPr>
          <a:xfrm>
            <a:off x="5217819" y="4352730"/>
            <a:ext cx="800219" cy="830997"/>
          </a:xfrm>
          <a:prstGeom prst="rect">
            <a:avLst/>
          </a:prstGeom>
          <a:noFill/>
        </p:spPr>
        <p:txBody>
          <a:bodyPr wrap="none" rtlCol="0">
            <a:spAutoFit/>
          </a:bodyPr>
          <a:lstStyle/>
          <a:p>
            <a:pPr algn="ctr"/>
            <a:r>
              <a:rPr lang="ja-JP" altLang="en-US" sz="1600" b="1">
                <a:solidFill>
                  <a:schemeClr val="accent4">
                    <a:lumMod val="75000"/>
                  </a:schemeClr>
                </a:solidFill>
                <a:latin typeface="メイリオ" panose="020B0604030504040204" pitchFamily="50" charset="-128"/>
                <a:ea typeface="メイリオ" panose="020B0604030504040204" pitchFamily="50" charset="-128"/>
              </a:rPr>
              <a:t>６</a:t>
            </a:r>
            <a:r>
              <a:rPr kumimoji="1" lang="ja-JP" altLang="en-US" sz="1600" b="1">
                <a:solidFill>
                  <a:schemeClr val="accent4">
                    <a:lumMod val="75000"/>
                  </a:schemeClr>
                </a:solidFill>
                <a:latin typeface="メイリオ" panose="020B0604030504040204" pitchFamily="50" charset="-128"/>
                <a:ea typeface="メイリオ" panose="020B0604030504040204" pitchFamily="50" charset="-128"/>
              </a:rPr>
              <a:t>か月</a:t>
            </a:r>
            <a:endParaRPr kumimoji="1" lang="en-US" altLang="ja-JP" sz="1600" b="1">
              <a:solidFill>
                <a:schemeClr val="accent4">
                  <a:lumMod val="75000"/>
                </a:schemeClr>
              </a:solidFill>
              <a:latin typeface="メイリオ" panose="020B0604030504040204" pitchFamily="50" charset="-128"/>
              <a:ea typeface="メイリオ" panose="020B0604030504040204" pitchFamily="50" charset="-128"/>
            </a:endParaRPr>
          </a:p>
          <a:p>
            <a:pPr algn="ctr"/>
            <a:r>
              <a:rPr lang="ja-JP" altLang="en-US" sz="1600" b="1">
                <a:solidFill>
                  <a:schemeClr val="accent4">
                    <a:lumMod val="75000"/>
                  </a:schemeClr>
                </a:solidFill>
                <a:latin typeface="メイリオ" panose="020B0604030504040204" pitchFamily="50" charset="-128"/>
                <a:ea typeface="メイリオ" panose="020B0604030504040204" pitchFamily="50" charset="-128"/>
              </a:rPr>
              <a:t>～</a:t>
            </a:r>
            <a:endParaRPr kumimoji="1" lang="en-US" altLang="ja-JP" sz="1600" b="1">
              <a:solidFill>
                <a:schemeClr val="accent4">
                  <a:lumMod val="75000"/>
                </a:schemeClr>
              </a:solidFill>
              <a:latin typeface="メイリオ" panose="020B0604030504040204" pitchFamily="50" charset="-128"/>
              <a:ea typeface="メイリオ" panose="020B0604030504040204" pitchFamily="50" charset="-128"/>
            </a:endParaRPr>
          </a:p>
          <a:p>
            <a:pPr algn="ctr"/>
            <a:r>
              <a:rPr kumimoji="1" lang="ja-JP" altLang="en-US" sz="1600" b="1">
                <a:solidFill>
                  <a:schemeClr val="accent4">
                    <a:lumMod val="75000"/>
                  </a:schemeClr>
                </a:solidFill>
                <a:latin typeface="メイリオ" panose="020B0604030504040204" pitchFamily="50" charset="-128"/>
                <a:ea typeface="メイリオ" panose="020B0604030504040204" pitchFamily="50" charset="-128"/>
              </a:rPr>
              <a:t>１年</a:t>
            </a:r>
          </a:p>
        </p:txBody>
      </p:sp>
      <p:sp>
        <p:nvSpPr>
          <p:cNvPr id="8" name="四角形: 角を丸くする 7">
            <a:extLst>
              <a:ext uri="{FF2B5EF4-FFF2-40B4-BE49-F238E27FC236}">
                <a16:creationId xmlns:a16="http://schemas.microsoft.com/office/drawing/2014/main" id="{6B498F5C-1B0C-75B7-839A-5A1C6AA4D4F5}"/>
              </a:ext>
            </a:extLst>
          </p:cNvPr>
          <p:cNvSpPr/>
          <p:nvPr/>
        </p:nvSpPr>
        <p:spPr bwMode="auto">
          <a:xfrm>
            <a:off x="2588873" y="1653354"/>
            <a:ext cx="7739651" cy="1524000"/>
          </a:xfrm>
          <a:prstGeom prst="roundRect">
            <a:avLst>
              <a:gd name="adj" fmla="val 5798"/>
            </a:avLst>
          </a:prstGeom>
          <a:noFill/>
          <a:ln w="38100" algn="ctr">
            <a:noFill/>
            <a:miter lim="800000"/>
            <a:headEnd/>
            <a:tailEnd/>
          </a:ln>
          <a:effectLst/>
        </p:spPr>
        <p:txBody>
          <a:bodyPr wrap="none" lIns="90000" tIns="46800" rIns="90000" bIns="46800" rtlCol="0" anchor="ctr"/>
          <a:lstStyle/>
          <a:p>
            <a:pPr marL="342900" indent="-342900" algn="l" defTabSz="914400" fontAlgn="base">
              <a:spcBef>
                <a:spcPct val="50000"/>
              </a:spcBef>
              <a:spcAft>
                <a:spcPct val="0"/>
              </a:spcAft>
              <a:buFont typeface="Arial" panose="020B0604020202020204" pitchFamily="34" charset="0"/>
              <a:buChar char="•"/>
            </a:pPr>
            <a:r>
              <a:rPr lang="ja-JP" altLang="en-US" b="1">
                <a:latin typeface="メイリオ" panose="020B0604030504040204" pitchFamily="50" charset="-128"/>
                <a:ea typeface="メイリオ" panose="020B0604030504040204" pitchFamily="50" charset="-128"/>
              </a:rPr>
              <a:t>ハイエンド</a:t>
            </a:r>
            <a:r>
              <a:rPr kumimoji="1" lang="ja-JP" altLang="en-US" b="1" noProof="0">
                <a:latin typeface="メイリオ" panose="020B0604030504040204" pitchFamily="50" charset="-128"/>
                <a:ea typeface="メイリオ" panose="020B0604030504040204" pitchFamily="50" charset="-128"/>
              </a:rPr>
              <a:t>ゲームの台頭で、</a:t>
            </a:r>
            <a:r>
              <a:rPr lang="ja-JP" altLang="en-US" b="1">
                <a:latin typeface="メイリオ" panose="020B0604030504040204" pitchFamily="50" charset="-128"/>
                <a:ea typeface="メイリオ" panose="020B0604030504040204" pitchFamily="50" charset="-128"/>
              </a:rPr>
              <a:t>一部の職種</a:t>
            </a:r>
            <a:r>
              <a:rPr kumimoji="1" lang="ja-JP" altLang="en-US" b="1" noProof="0">
                <a:latin typeface="メイリオ" panose="020B0604030504040204" pitchFamily="50" charset="-128"/>
                <a:ea typeface="メイリオ" panose="020B0604030504040204" pitchFamily="50" charset="-128"/>
              </a:rPr>
              <a:t>に</a:t>
            </a:r>
            <a:r>
              <a:rPr lang="ja-JP" altLang="en-US" b="1">
                <a:latin typeface="メイリオ" panose="020B0604030504040204" pitchFamily="50" charset="-128"/>
                <a:ea typeface="メイリオ" panose="020B0604030504040204" pitchFamily="50" charset="-128"/>
              </a:rPr>
              <a:t>活躍機会が減っている</a:t>
            </a:r>
            <a:endParaRPr lang="en-US" altLang="ja-JP" b="1">
              <a:latin typeface="メイリオ" panose="020B0604030504040204" pitchFamily="50" charset="-128"/>
              <a:ea typeface="メイリオ" panose="020B0604030504040204" pitchFamily="50" charset="-128"/>
            </a:endParaRPr>
          </a:p>
          <a:p>
            <a:pPr marL="342900" indent="-342900" algn="l" defTabSz="914400" fontAlgn="base">
              <a:spcBef>
                <a:spcPct val="50000"/>
              </a:spcBef>
              <a:spcAft>
                <a:spcPct val="0"/>
              </a:spcAft>
              <a:buFont typeface="Arial" panose="020B0604020202020204" pitchFamily="34" charset="0"/>
              <a:buChar char="•"/>
            </a:pPr>
            <a:r>
              <a:rPr lang="ja-JP" altLang="en-US" b="1">
                <a:latin typeface="メイリオ" panose="020B0604030504040204" pitchFamily="50" charset="-128"/>
                <a:ea typeface="メイリオ" panose="020B0604030504040204" pitchFamily="50" charset="-128"/>
              </a:rPr>
              <a:t>ライフステージの変化に合わせて望む雇用条件が変わってきている</a:t>
            </a:r>
            <a:endParaRPr lang="en-US" altLang="ja-JP" b="1">
              <a:latin typeface="メイリオ" panose="020B0604030504040204" pitchFamily="50" charset="-128"/>
              <a:ea typeface="メイリオ" panose="020B0604030504040204" pitchFamily="50" charset="-128"/>
            </a:endParaRPr>
          </a:p>
          <a:p>
            <a:pPr marL="342900" indent="-342900" algn="l" defTabSz="914400" fontAlgn="base">
              <a:spcBef>
                <a:spcPct val="50000"/>
              </a:spcBef>
              <a:spcAft>
                <a:spcPct val="0"/>
              </a:spcAft>
              <a:buFont typeface="Arial" panose="020B0604020202020204" pitchFamily="34" charset="0"/>
              <a:buChar char="•"/>
            </a:pPr>
            <a:r>
              <a:rPr kumimoji="1" lang="ja-JP" altLang="en-US" b="1" noProof="0">
                <a:latin typeface="メイリオ" panose="020B0604030504040204" pitchFamily="50" charset="-128"/>
                <a:ea typeface="メイリオ" panose="020B0604030504040204" pitchFamily="50" charset="-128"/>
              </a:rPr>
              <a:t>人員の管理工数</a:t>
            </a:r>
            <a:r>
              <a:rPr kumimoji="1" lang="en-US" altLang="ja-JP" b="1" noProof="0">
                <a:latin typeface="メイリオ" panose="020B0604030504040204" pitchFamily="50" charset="-128"/>
                <a:ea typeface="メイリオ" panose="020B0604030504040204" pitchFamily="50" charset="-128"/>
              </a:rPr>
              <a:t>/</a:t>
            </a:r>
            <a:r>
              <a:rPr kumimoji="1" lang="ja-JP" altLang="en-US" b="1" noProof="0">
                <a:latin typeface="メイリオ" panose="020B0604030504040204" pitchFamily="50" charset="-128"/>
                <a:ea typeface="メイリオ" panose="020B0604030504040204" pitchFamily="50" charset="-128"/>
              </a:rPr>
              <a:t>管理コストの肥大化　</a:t>
            </a:r>
            <a:r>
              <a:rPr lang="en-US" altLang="ja-JP" b="1" err="1">
                <a:latin typeface="メイリオ" panose="020B0604030504040204" pitchFamily="50" charset="-128"/>
                <a:ea typeface="メイリオ" panose="020B0604030504040204" pitchFamily="50" charset="-128"/>
              </a:rPr>
              <a:t>etc</a:t>
            </a:r>
            <a:r>
              <a:rPr lang="en-US" altLang="ja-JP" b="1">
                <a:latin typeface="メイリオ" panose="020B0604030504040204" pitchFamily="50" charset="-128"/>
                <a:ea typeface="メイリオ" panose="020B0604030504040204" pitchFamily="50" charset="-128"/>
              </a:rPr>
              <a:t>…</a:t>
            </a:r>
            <a:endParaRPr kumimoji="1" lang="ja-JP" altLang="en-US" b="1" noProof="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44C0664B-94EF-F6E8-2DFC-99BEE754AFBC}"/>
              </a:ext>
            </a:extLst>
          </p:cNvPr>
          <p:cNvSpPr txBox="1"/>
          <p:nvPr/>
        </p:nvSpPr>
        <p:spPr>
          <a:xfrm>
            <a:off x="2210600" y="4018468"/>
            <a:ext cx="2022764" cy="807913"/>
          </a:xfrm>
          <a:prstGeom prst="rect">
            <a:avLst/>
          </a:prstGeom>
          <a:noFill/>
        </p:spPr>
        <p:txBody>
          <a:bodyPr wrap="square" rtlCol="0">
            <a:spAutoFit/>
          </a:bodyPr>
          <a:lstStyle/>
          <a:p>
            <a:r>
              <a:rPr kumimoji="1" lang="ja-JP" altLang="en-US" b="1">
                <a:latin typeface="メイリオ" panose="020B0604030504040204" pitchFamily="50" charset="-128"/>
                <a:ea typeface="メイリオ" panose="020B0604030504040204" pitchFamily="50" charset="-128"/>
              </a:rPr>
              <a:t>アカデミー受講で</a:t>
            </a:r>
            <a:endParaRPr kumimoji="1" lang="en-US" altLang="ja-JP" b="1">
              <a:latin typeface="メイリオ" panose="020B0604030504040204" pitchFamily="50" charset="-128"/>
              <a:ea typeface="メイリオ" panose="020B0604030504040204" pitchFamily="50" charset="-128"/>
            </a:endParaRPr>
          </a:p>
          <a:p>
            <a:r>
              <a:rPr kumimoji="1" lang="ja-JP" altLang="en-US" b="1">
                <a:latin typeface="メイリオ" panose="020B0604030504040204" pitchFamily="50" charset="-128"/>
                <a:ea typeface="メイリオ" panose="020B0604030504040204" pitchFamily="50" charset="-128"/>
              </a:rPr>
              <a:t>新スキル習得</a:t>
            </a:r>
            <a:endParaRPr lang="en-US" altLang="ja-JP" b="1">
              <a:latin typeface="メイリオ" panose="020B0604030504040204" pitchFamily="50" charset="-128"/>
              <a:ea typeface="メイリオ" panose="020B0604030504040204" pitchFamily="50" charset="-128"/>
            </a:endParaRPr>
          </a:p>
          <a:p>
            <a:r>
              <a:rPr kumimoji="1" lang="ja-JP" altLang="en-US" sz="1050">
                <a:latin typeface="メイリオ" panose="020B0604030504040204" pitchFamily="50" charset="-128"/>
                <a:ea typeface="メイリオ" panose="020B0604030504040204" pitchFamily="50" charset="-128"/>
              </a:rPr>
              <a:t>３か月～６か月</a:t>
            </a:r>
          </a:p>
        </p:txBody>
      </p:sp>
      <p:sp>
        <p:nvSpPr>
          <p:cNvPr id="16" name="テキスト ボックス 15">
            <a:extLst>
              <a:ext uri="{FF2B5EF4-FFF2-40B4-BE49-F238E27FC236}">
                <a16:creationId xmlns:a16="http://schemas.microsoft.com/office/drawing/2014/main" id="{A1B4E5DF-46B9-E318-A836-65EFF9C19E73}"/>
              </a:ext>
            </a:extLst>
          </p:cNvPr>
          <p:cNvSpPr txBox="1"/>
          <p:nvPr/>
        </p:nvSpPr>
        <p:spPr>
          <a:xfrm>
            <a:off x="8513232" y="4519435"/>
            <a:ext cx="1569660" cy="923330"/>
          </a:xfrm>
          <a:prstGeom prst="rect">
            <a:avLst/>
          </a:prstGeom>
          <a:noFill/>
        </p:spPr>
        <p:txBody>
          <a:bodyPr wrap="none" rtlCol="0">
            <a:spAutoFit/>
          </a:bodyPr>
          <a:lstStyle/>
          <a:p>
            <a:pPr algn="ctr"/>
            <a:r>
              <a:rPr lang="ja-JP" altLang="en-US" b="1">
                <a:latin typeface="メイリオ" panose="020B0604030504040204" pitchFamily="50" charset="-128"/>
                <a:ea typeface="メイリオ" panose="020B0604030504040204" pitchFamily="50" charset="-128"/>
              </a:rPr>
              <a:t>＊</a:t>
            </a:r>
            <a:br>
              <a:rPr lang="en-US" altLang="ja-JP" b="1">
                <a:latin typeface="メイリオ" panose="020B0604030504040204" pitchFamily="50" charset="-128"/>
                <a:ea typeface="メイリオ" panose="020B0604030504040204" pitchFamily="50" charset="-128"/>
              </a:rPr>
            </a:br>
            <a:r>
              <a:rPr lang="ja-JP" altLang="en-US" b="1">
                <a:latin typeface="メイリオ" panose="020B0604030504040204" pitchFamily="50" charset="-128"/>
                <a:ea typeface="メイリオ" panose="020B0604030504040204" pitchFamily="50" charset="-128"/>
              </a:rPr>
              <a:t>即戦力として</a:t>
            </a:r>
            <a:endParaRPr lang="en-US" altLang="ja-JP" b="1">
              <a:latin typeface="メイリオ" panose="020B0604030504040204" pitchFamily="50" charset="-128"/>
              <a:ea typeface="メイリオ" panose="020B0604030504040204" pitchFamily="50" charset="-128"/>
            </a:endParaRPr>
          </a:p>
          <a:p>
            <a:pPr algn="ctr"/>
            <a:r>
              <a:rPr lang="ja-JP" altLang="en-US" b="1">
                <a:latin typeface="メイリオ" panose="020B0604030504040204" pitchFamily="50" charset="-128"/>
                <a:ea typeface="メイリオ" panose="020B0604030504040204" pitchFamily="50" charset="-128"/>
              </a:rPr>
              <a:t>貴社へ帰任</a:t>
            </a:r>
            <a:endParaRPr kumimoji="1" lang="ja-JP" altLang="en-US" b="1">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AEB17CBE-9291-2607-2DEB-94E2C7314CF6}"/>
              </a:ext>
            </a:extLst>
          </p:cNvPr>
          <p:cNvSpPr txBox="1"/>
          <p:nvPr/>
        </p:nvSpPr>
        <p:spPr>
          <a:xfrm>
            <a:off x="10209996" y="5146605"/>
            <a:ext cx="1168910" cy="923330"/>
          </a:xfrm>
          <a:prstGeom prst="rect">
            <a:avLst/>
          </a:prstGeom>
          <a:noFill/>
        </p:spPr>
        <p:txBody>
          <a:bodyPr wrap="none" rtlCol="0">
            <a:spAutoFit/>
          </a:bodyPr>
          <a:lstStyle/>
          <a:p>
            <a:pPr algn="ctr"/>
            <a:r>
              <a:rPr lang="ja-JP" altLang="en-US" b="1">
                <a:latin typeface="メイリオ" panose="020B0604030504040204" pitchFamily="50" charset="-128"/>
                <a:ea typeface="メイリオ" panose="020B0604030504040204" pitchFamily="50" charset="-128"/>
              </a:rPr>
              <a:t>＊</a:t>
            </a:r>
            <a:endParaRPr lang="en-US" altLang="ja-JP" b="1">
              <a:latin typeface="メイリオ" panose="020B0604030504040204" pitchFamily="50" charset="-128"/>
              <a:ea typeface="メイリオ" panose="020B0604030504040204" pitchFamily="50" charset="-128"/>
            </a:endParaRPr>
          </a:p>
          <a:p>
            <a:pPr algn="ctr"/>
            <a:r>
              <a:rPr lang="en-US" altLang="ja-JP" b="1">
                <a:latin typeface="メイリオ" panose="020B0604030504040204" pitchFamily="50" charset="-128"/>
                <a:ea typeface="メイリオ" panose="020B0604030504040204" pitchFamily="50" charset="-128"/>
              </a:rPr>
              <a:t>C&amp;R</a:t>
            </a:r>
            <a:r>
              <a:rPr lang="ja-JP" altLang="en-US" b="1">
                <a:latin typeface="メイリオ" panose="020B0604030504040204" pitchFamily="50" charset="-128"/>
                <a:ea typeface="メイリオ" panose="020B0604030504040204" pitchFamily="50" charset="-128"/>
              </a:rPr>
              <a:t>社へ</a:t>
            </a:r>
            <a:endParaRPr lang="en-US" altLang="ja-JP" b="1">
              <a:latin typeface="メイリオ" panose="020B0604030504040204" pitchFamily="50" charset="-128"/>
              <a:ea typeface="メイリオ" panose="020B0604030504040204" pitchFamily="50" charset="-128"/>
            </a:endParaRPr>
          </a:p>
          <a:p>
            <a:pPr algn="ctr"/>
            <a:r>
              <a:rPr lang="ja-JP" altLang="en-US" b="1">
                <a:latin typeface="メイリオ" panose="020B0604030504040204" pitchFamily="50" charset="-128"/>
                <a:ea typeface="メイリオ" panose="020B0604030504040204" pitchFamily="50" charset="-128"/>
              </a:rPr>
              <a:t>移籍</a:t>
            </a:r>
            <a:endParaRPr kumimoji="1" lang="ja-JP" altLang="en-US" b="1">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F5A4301E-C33A-C107-FF4A-6FFE3AEE468C}"/>
              </a:ext>
            </a:extLst>
          </p:cNvPr>
          <p:cNvSpPr txBox="1"/>
          <p:nvPr/>
        </p:nvSpPr>
        <p:spPr>
          <a:xfrm>
            <a:off x="6966349" y="4948424"/>
            <a:ext cx="1406155" cy="1361911"/>
          </a:xfrm>
          <a:prstGeom prst="rect">
            <a:avLst/>
          </a:prstGeom>
          <a:noFill/>
        </p:spPr>
        <p:txBody>
          <a:bodyPr wrap="none" rtlCol="0">
            <a:spAutoFit/>
          </a:bodyPr>
          <a:lstStyle/>
          <a:p>
            <a:pPr algn="ctr"/>
            <a:r>
              <a:rPr lang="ja-JP" altLang="en-US" b="1">
                <a:latin typeface="メイリオ" panose="020B0604030504040204" pitchFamily="50" charset="-128"/>
                <a:ea typeface="メイリオ" panose="020B0604030504040204" pitchFamily="50" charset="-128"/>
              </a:rPr>
              <a:t>＊</a:t>
            </a:r>
            <a:endParaRPr lang="en-US" altLang="ja-JP" b="1">
              <a:latin typeface="メイリオ" panose="020B0604030504040204" pitchFamily="50" charset="-128"/>
              <a:ea typeface="メイリオ" panose="020B0604030504040204" pitchFamily="50" charset="-128"/>
            </a:endParaRPr>
          </a:p>
          <a:p>
            <a:pPr algn="ctr"/>
            <a:r>
              <a:rPr lang="ja-JP" altLang="en-US" b="1">
                <a:latin typeface="メイリオ" panose="020B0604030504040204" pitchFamily="50" charset="-128"/>
                <a:ea typeface="メイリオ" panose="020B0604030504040204" pitchFamily="50" charset="-128"/>
              </a:rPr>
              <a:t>出向を継続</a:t>
            </a:r>
            <a:endParaRPr lang="en-US" altLang="ja-JP" b="1">
              <a:latin typeface="メイリオ" panose="020B0604030504040204" pitchFamily="50" charset="-128"/>
              <a:ea typeface="メイリオ" panose="020B0604030504040204" pitchFamily="50" charset="-128"/>
            </a:endParaRPr>
          </a:p>
          <a:p>
            <a:pPr algn="ctr"/>
            <a:r>
              <a:rPr lang="ja-JP" altLang="en-US" b="1">
                <a:latin typeface="メイリオ" panose="020B0604030504040204" pitchFamily="50" charset="-128"/>
                <a:ea typeface="メイリオ" panose="020B0604030504040204" pitchFamily="50" charset="-128"/>
              </a:rPr>
              <a:t>しながら</a:t>
            </a:r>
            <a:endParaRPr lang="en-US" altLang="ja-JP" b="1">
              <a:latin typeface="メイリオ" panose="020B0604030504040204" pitchFamily="50" charset="-128"/>
              <a:ea typeface="メイリオ" panose="020B0604030504040204" pitchFamily="50" charset="-128"/>
            </a:endParaRPr>
          </a:p>
          <a:p>
            <a:pPr algn="ctr"/>
            <a:r>
              <a:rPr lang="ja-JP" altLang="en-US" b="1">
                <a:latin typeface="メイリオ" panose="020B0604030504040204" pitchFamily="50" charset="-128"/>
                <a:ea typeface="メイリオ" panose="020B0604030504040204" pitchFamily="50" charset="-128"/>
              </a:rPr>
              <a:t>転職誘致</a:t>
            </a:r>
            <a:endParaRPr lang="en-US" altLang="ja-JP" b="1">
              <a:latin typeface="メイリオ" panose="020B0604030504040204" pitchFamily="50" charset="-128"/>
              <a:ea typeface="メイリオ" panose="020B0604030504040204" pitchFamily="50" charset="-128"/>
            </a:endParaRPr>
          </a:p>
          <a:p>
            <a:pPr algn="ctr"/>
            <a:r>
              <a:rPr kumimoji="1" lang="en-US" altLang="ja-JP" sz="1050">
                <a:latin typeface="メイリオ" panose="020B0604030504040204" pitchFamily="50" charset="-128"/>
                <a:ea typeface="メイリオ" panose="020B0604030504040204" pitchFamily="50" charset="-128"/>
              </a:rPr>
              <a:t>※</a:t>
            </a:r>
            <a:r>
              <a:rPr kumimoji="1" lang="ja-JP" altLang="en-US" sz="1050">
                <a:latin typeface="メイリオ" panose="020B0604030504040204" pitchFamily="50" charset="-128"/>
                <a:ea typeface="メイリオ" panose="020B0604030504040204" pitchFamily="50" charset="-128"/>
              </a:rPr>
              <a:t>給与は</a:t>
            </a:r>
            <a:r>
              <a:rPr kumimoji="1" lang="en-US" altLang="ja-JP" sz="1050">
                <a:latin typeface="メイリオ" panose="020B0604030504040204" pitchFamily="50" charset="-128"/>
                <a:ea typeface="メイリオ" panose="020B0604030504040204" pitchFamily="50" charset="-128"/>
              </a:rPr>
              <a:t>C&amp;R</a:t>
            </a:r>
            <a:r>
              <a:rPr kumimoji="1" lang="ja-JP" altLang="en-US" sz="1050">
                <a:latin typeface="メイリオ" panose="020B0604030504040204" pitchFamily="50" charset="-128"/>
                <a:ea typeface="メイリオ" panose="020B0604030504040204" pitchFamily="50" charset="-128"/>
              </a:rPr>
              <a:t>社負担</a:t>
            </a:r>
          </a:p>
        </p:txBody>
      </p:sp>
      <p:grpSp>
        <p:nvGrpSpPr>
          <p:cNvPr id="36" name="グループ化 35">
            <a:extLst>
              <a:ext uri="{FF2B5EF4-FFF2-40B4-BE49-F238E27FC236}">
                <a16:creationId xmlns:a16="http://schemas.microsoft.com/office/drawing/2014/main" id="{26B7ED13-5AA5-7CD8-7745-91C34744B251}"/>
              </a:ext>
            </a:extLst>
          </p:cNvPr>
          <p:cNvGrpSpPr/>
          <p:nvPr/>
        </p:nvGrpSpPr>
        <p:grpSpPr>
          <a:xfrm>
            <a:off x="8809123" y="5586334"/>
            <a:ext cx="1024413" cy="989603"/>
            <a:chOff x="8820965" y="5650897"/>
            <a:chExt cx="1024413" cy="989603"/>
          </a:xfrm>
        </p:grpSpPr>
        <p:sp>
          <p:nvSpPr>
            <p:cNvPr id="23" name="四角形: 角を丸くする 22">
              <a:extLst>
                <a:ext uri="{FF2B5EF4-FFF2-40B4-BE49-F238E27FC236}">
                  <a16:creationId xmlns:a16="http://schemas.microsoft.com/office/drawing/2014/main" id="{9435C6C5-F0A7-459A-979F-269881C8AA42}"/>
                </a:ext>
              </a:extLst>
            </p:cNvPr>
            <p:cNvSpPr/>
            <p:nvPr/>
          </p:nvSpPr>
          <p:spPr bwMode="auto">
            <a:xfrm>
              <a:off x="8820965" y="5650897"/>
              <a:ext cx="1024413" cy="989603"/>
            </a:xfrm>
            <a:prstGeom prst="roundRect">
              <a:avLst/>
            </a:prstGeom>
            <a:solidFill>
              <a:schemeClr val="bg1"/>
            </a:solidFill>
            <a:ln w="57150" algn="ctr">
              <a:solidFill>
                <a:schemeClr val="accent2">
                  <a:lumMod val="40000"/>
                  <a:lumOff val="6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pic>
          <p:nvPicPr>
            <p:cNvPr id="24" name="図 23">
              <a:extLst>
                <a:ext uri="{FF2B5EF4-FFF2-40B4-BE49-F238E27FC236}">
                  <a16:creationId xmlns:a16="http://schemas.microsoft.com/office/drawing/2014/main" id="{DE7EC4A7-742A-7521-A541-932375FEB8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1722" y="5827627"/>
              <a:ext cx="458614" cy="636142"/>
            </a:xfrm>
            <a:prstGeom prst="rect">
              <a:avLst/>
            </a:prstGeom>
            <a:ln>
              <a:noFill/>
            </a:ln>
          </p:spPr>
        </p:pic>
      </p:grpSp>
      <p:grpSp>
        <p:nvGrpSpPr>
          <p:cNvPr id="32" name="グループ化 31">
            <a:extLst>
              <a:ext uri="{FF2B5EF4-FFF2-40B4-BE49-F238E27FC236}">
                <a16:creationId xmlns:a16="http://schemas.microsoft.com/office/drawing/2014/main" id="{7734E981-20C1-C480-667A-6BC01F80DB4E}"/>
              </a:ext>
            </a:extLst>
          </p:cNvPr>
          <p:cNvGrpSpPr/>
          <p:nvPr/>
        </p:nvGrpSpPr>
        <p:grpSpPr>
          <a:xfrm>
            <a:off x="978339" y="3914097"/>
            <a:ext cx="1024413" cy="989603"/>
            <a:chOff x="1460842" y="3737818"/>
            <a:chExt cx="1024413" cy="989603"/>
          </a:xfrm>
        </p:grpSpPr>
        <p:sp>
          <p:nvSpPr>
            <p:cNvPr id="29" name="四角形: 角を丸くする 28">
              <a:extLst>
                <a:ext uri="{FF2B5EF4-FFF2-40B4-BE49-F238E27FC236}">
                  <a16:creationId xmlns:a16="http://schemas.microsoft.com/office/drawing/2014/main" id="{60365BA1-FF51-4AF1-A9B2-9715FDEA07DD}"/>
                </a:ext>
              </a:extLst>
            </p:cNvPr>
            <p:cNvSpPr/>
            <p:nvPr/>
          </p:nvSpPr>
          <p:spPr bwMode="auto">
            <a:xfrm>
              <a:off x="1460842" y="3737818"/>
              <a:ext cx="1024413" cy="989603"/>
            </a:xfrm>
            <a:prstGeom prst="roundRect">
              <a:avLst/>
            </a:prstGeom>
            <a:solidFill>
              <a:schemeClr val="bg1"/>
            </a:solidFill>
            <a:ln w="57150" algn="ctr">
              <a:solidFill>
                <a:schemeClr val="accent4">
                  <a:lumMod val="60000"/>
                  <a:lumOff val="4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pic>
          <p:nvPicPr>
            <p:cNvPr id="31" name="図 30" descr="アイコン&#10;&#10;自動的に生成された説明">
              <a:extLst>
                <a:ext uri="{FF2B5EF4-FFF2-40B4-BE49-F238E27FC236}">
                  <a16:creationId xmlns:a16="http://schemas.microsoft.com/office/drawing/2014/main" id="{8320B1B0-48E6-20A2-25A8-3487368EAE8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28338" y="3934470"/>
              <a:ext cx="689420" cy="596299"/>
            </a:xfrm>
            <a:prstGeom prst="rect">
              <a:avLst/>
            </a:prstGeom>
          </p:spPr>
        </p:pic>
      </p:grpSp>
      <p:sp>
        <p:nvSpPr>
          <p:cNvPr id="34" name="テキスト ボックス 33">
            <a:extLst>
              <a:ext uri="{FF2B5EF4-FFF2-40B4-BE49-F238E27FC236}">
                <a16:creationId xmlns:a16="http://schemas.microsoft.com/office/drawing/2014/main" id="{F63497DB-6148-3885-5592-2DD4E1531A0B}"/>
              </a:ext>
            </a:extLst>
          </p:cNvPr>
          <p:cNvSpPr txBox="1"/>
          <p:nvPr/>
        </p:nvSpPr>
        <p:spPr>
          <a:xfrm>
            <a:off x="7593984" y="3424850"/>
            <a:ext cx="3454692" cy="1119537"/>
          </a:xfrm>
          <a:prstGeom prst="rect">
            <a:avLst/>
          </a:prstGeom>
          <a:noFill/>
        </p:spPr>
        <p:txBody>
          <a:bodyPr wrap="square" rtlCol="0">
            <a:spAutoFit/>
          </a:bodyPr>
          <a:lstStyle/>
          <a:p>
            <a:pPr algn="ctr">
              <a:lnSpc>
                <a:spcPct val="150000"/>
              </a:lnSpc>
            </a:pPr>
            <a:r>
              <a:rPr kumimoji="1" lang="ja-JP" altLang="en-US" sz="2800" b="1">
                <a:solidFill>
                  <a:schemeClr val="accent4">
                    <a:lumMod val="75000"/>
                  </a:schemeClr>
                </a:solidFill>
                <a:latin typeface="メイリオ" panose="020B0604030504040204" pitchFamily="50" charset="-128"/>
                <a:ea typeface="メイリオ" panose="020B0604030504040204" pitchFamily="50" charset="-128"/>
              </a:rPr>
              <a:t>施策後の出口戦略</a:t>
            </a:r>
            <a:endParaRPr lang="en-US" altLang="ja-JP" sz="2800" b="1">
              <a:solidFill>
                <a:schemeClr val="accent4">
                  <a:lumMod val="75000"/>
                </a:schemeClr>
              </a:solidFill>
              <a:latin typeface="メイリオ" panose="020B0604030504040204" pitchFamily="50" charset="-128"/>
              <a:ea typeface="メイリオ" panose="020B0604030504040204" pitchFamily="50" charset="-128"/>
            </a:endParaRPr>
          </a:p>
          <a:p>
            <a:pPr algn="ctr">
              <a:lnSpc>
                <a:spcPct val="150000"/>
              </a:lnSpc>
            </a:pPr>
            <a:r>
              <a:rPr kumimoji="1" lang="en-US" altLang="ja-JP" b="1">
                <a:solidFill>
                  <a:schemeClr val="accent4">
                    <a:lumMod val="75000"/>
                  </a:schemeClr>
                </a:solidFill>
                <a:latin typeface="メイリオ" panose="020B0604030504040204" pitchFamily="50" charset="-128"/>
                <a:ea typeface="メイリオ" panose="020B0604030504040204" pitchFamily="50" charset="-128"/>
              </a:rPr>
              <a:t>⁂</a:t>
            </a:r>
            <a:r>
              <a:rPr kumimoji="1" lang="ja-JP" altLang="en-US" b="1">
                <a:solidFill>
                  <a:schemeClr val="accent4">
                    <a:lumMod val="75000"/>
                  </a:schemeClr>
                </a:solidFill>
                <a:latin typeface="メイリオ" panose="020B0604030504040204" pitchFamily="50" charset="-128"/>
                <a:ea typeface="メイリオ" panose="020B0604030504040204" pitchFamily="50" charset="-128"/>
              </a:rPr>
              <a:t>３つの可能性を想定</a:t>
            </a:r>
          </a:p>
        </p:txBody>
      </p:sp>
      <p:sp>
        <p:nvSpPr>
          <p:cNvPr id="43" name="正方形/長方形 42">
            <a:extLst>
              <a:ext uri="{FF2B5EF4-FFF2-40B4-BE49-F238E27FC236}">
                <a16:creationId xmlns:a16="http://schemas.microsoft.com/office/drawing/2014/main" id="{CE843F89-B2E3-B46C-6A54-4ABCC4CBAB8B}"/>
              </a:ext>
            </a:extLst>
          </p:cNvPr>
          <p:cNvSpPr/>
          <p:nvPr/>
        </p:nvSpPr>
        <p:spPr bwMode="auto">
          <a:xfrm>
            <a:off x="1654296" y="1548067"/>
            <a:ext cx="744011" cy="1697915"/>
          </a:xfrm>
          <a:prstGeom prst="rect">
            <a:avLst/>
          </a:prstGeom>
          <a:solidFill>
            <a:schemeClr val="bg1">
              <a:lumMod val="95000"/>
            </a:schemeClr>
          </a:solidFill>
          <a:ln w="38100" algn="ctr">
            <a:noFill/>
            <a:miter lim="800000"/>
            <a:headEnd/>
            <a:tailEnd/>
          </a:ln>
          <a:effectLst/>
        </p:spPr>
        <p:txBody>
          <a:bodyPr vert="eaVert" wrap="none" lIns="90000" tIns="46800" rIns="90000" bIns="46800" rtlCol="0" anchor="ctr"/>
          <a:lstStyle/>
          <a:p>
            <a:pPr algn="ctr" defTabSz="914400" fontAlgn="base">
              <a:spcBef>
                <a:spcPct val="50000"/>
              </a:spcBef>
              <a:spcAft>
                <a:spcPct val="0"/>
              </a:spcAft>
            </a:pPr>
            <a:r>
              <a:rPr kumimoji="1" lang="ja-JP" altLang="en-US" sz="2000" b="1" noProof="0">
                <a:latin typeface="メイリオ" panose="020B0604030504040204" pitchFamily="50" charset="-128"/>
                <a:ea typeface="メイリオ" panose="020B0604030504040204" pitchFamily="50" charset="-128"/>
              </a:rPr>
              <a:t>現状の課題</a:t>
            </a:r>
          </a:p>
        </p:txBody>
      </p:sp>
      <p:sp>
        <p:nvSpPr>
          <p:cNvPr id="44" name="矢印: 下 43">
            <a:extLst>
              <a:ext uri="{FF2B5EF4-FFF2-40B4-BE49-F238E27FC236}">
                <a16:creationId xmlns:a16="http://schemas.microsoft.com/office/drawing/2014/main" id="{4C2760CE-6820-12FD-C81C-5119619D531A}"/>
              </a:ext>
            </a:extLst>
          </p:cNvPr>
          <p:cNvSpPr/>
          <p:nvPr/>
        </p:nvSpPr>
        <p:spPr bwMode="auto">
          <a:xfrm>
            <a:off x="1717506" y="3126645"/>
            <a:ext cx="617589" cy="578289"/>
          </a:xfrm>
          <a:prstGeom prst="downArrow">
            <a:avLst/>
          </a:prstGeom>
          <a:solidFill>
            <a:schemeClr val="bg1">
              <a:lumMod val="9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F0FB3523-FB33-0EF5-8970-0CF3C9F389EA}"/>
              </a:ext>
            </a:extLst>
          </p:cNvPr>
          <p:cNvSpPr txBox="1"/>
          <p:nvPr/>
        </p:nvSpPr>
        <p:spPr>
          <a:xfrm>
            <a:off x="1864503" y="5833054"/>
            <a:ext cx="3708066" cy="800219"/>
          </a:xfrm>
          <a:prstGeom prst="rect">
            <a:avLst/>
          </a:prstGeom>
          <a:noFill/>
        </p:spPr>
        <p:txBody>
          <a:bodyPr wrap="none" rtlCol="0">
            <a:spAutoFit/>
          </a:bodyPr>
          <a:lstStyle/>
          <a:p>
            <a:r>
              <a:rPr kumimoji="1" lang="en-US" altLang="ja-JP" b="1" dirty="0">
                <a:latin typeface="メイリオ" panose="020B0604030504040204" pitchFamily="50" charset="-128"/>
                <a:ea typeface="メイリオ" panose="020B0604030504040204" pitchFamily="50" charset="-128"/>
              </a:rPr>
              <a:t>C&amp;R</a:t>
            </a:r>
            <a:r>
              <a:rPr kumimoji="1" lang="ja-JP" altLang="en-US" b="1" dirty="0">
                <a:latin typeface="メイリオ" panose="020B0604030504040204" pitchFamily="50" charset="-128"/>
                <a:ea typeface="メイリオ" panose="020B0604030504040204" pitchFamily="50" charset="-128"/>
              </a:rPr>
              <a:t>クリエイティブスタジオ内で</a:t>
            </a:r>
            <a:endParaRPr kumimoji="1" lang="en-US" altLang="ja-JP" b="1" dirty="0">
              <a:latin typeface="メイリオ" panose="020B0604030504040204" pitchFamily="50" charset="-128"/>
              <a:ea typeface="メイリオ" panose="020B0604030504040204" pitchFamily="50" charset="-128"/>
            </a:endParaRPr>
          </a:p>
          <a:p>
            <a:r>
              <a:rPr kumimoji="1" lang="ja-JP" altLang="en-US" b="1" dirty="0">
                <a:latin typeface="メイリオ" panose="020B0604030504040204" pitchFamily="50" charset="-128"/>
                <a:ea typeface="メイリオ" panose="020B0604030504040204" pitchFamily="50" charset="-128"/>
              </a:rPr>
              <a:t>実務稼働</a:t>
            </a:r>
            <a:endParaRPr kumimoji="1" lang="en-US" altLang="ja-JP" b="1"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６か月～１年</a:t>
            </a:r>
          </a:p>
        </p:txBody>
      </p:sp>
      <p:grpSp>
        <p:nvGrpSpPr>
          <p:cNvPr id="11" name="グループ化 10">
            <a:extLst>
              <a:ext uri="{FF2B5EF4-FFF2-40B4-BE49-F238E27FC236}">
                <a16:creationId xmlns:a16="http://schemas.microsoft.com/office/drawing/2014/main" id="{D15E2A98-3877-3825-9B20-501122B2F76C}"/>
              </a:ext>
            </a:extLst>
          </p:cNvPr>
          <p:cNvGrpSpPr/>
          <p:nvPr/>
        </p:nvGrpSpPr>
        <p:grpSpPr>
          <a:xfrm>
            <a:off x="674676" y="5649977"/>
            <a:ext cx="1024413" cy="989603"/>
            <a:chOff x="2392080" y="5216316"/>
            <a:chExt cx="1024413" cy="989603"/>
          </a:xfrm>
        </p:grpSpPr>
        <p:sp>
          <p:nvSpPr>
            <p:cNvPr id="12" name="四角形: 角を丸くする 11">
              <a:extLst>
                <a:ext uri="{FF2B5EF4-FFF2-40B4-BE49-F238E27FC236}">
                  <a16:creationId xmlns:a16="http://schemas.microsoft.com/office/drawing/2014/main" id="{24166E01-C8A7-1310-5F98-33F2501B3162}"/>
                </a:ext>
              </a:extLst>
            </p:cNvPr>
            <p:cNvSpPr/>
            <p:nvPr/>
          </p:nvSpPr>
          <p:spPr bwMode="auto">
            <a:xfrm>
              <a:off x="2392080" y="5216316"/>
              <a:ext cx="1024413" cy="989603"/>
            </a:xfrm>
            <a:prstGeom prst="roundRect">
              <a:avLst/>
            </a:prstGeom>
            <a:solidFill>
              <a:schemeClr val="bg1"/>
            </a:solidFill>
            <a:ln w="57150" algn="ctr">
              <a:solidFill>
                <a:schemeClr val="accent4">
                  <a:lumMod val="60000"/>
                  <a:lumOff val="4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dirty="0">
                <a:solidFill>
                  <a:schemeClr val="bg1"/>
                </a:solidFill>
                <a:latin typeface="Meiryo UI" panose="020B0604030504040204" pitchFamily="50" charset="-128"/>
                <a:ea typeface="Meiryo UI" panose="020B0604030504040204" pitchFamily="50" charset="-128"/>
              </a:endParaRPr>
            </a:p>
          </p:txBody>
        </p:sp>
        <p:pic>
          <p:nvPicPr>
            <p:cNvPr id="13" name="図 12" descr="ロゴ&#10;&#10;中程度の精度で自動的に生成された説明">
              <a:extLst>
                <a:ext uri="{FF2B5EF4-FFF2-40B4-BE49-F238E27FC236}">
                  <a16:creationId xmlns:a16="http://schemas.microsoft.com/office/drawing/2014/main" id="{C6DB393E-D6B9-C9E3-7FC4-EF73A5C8B44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78749" y="5421752"/>
              <a:ext cx="851074" cy="578730"/>
            </a:xfrm>
            <a:prstGeom prst="rect">
              <a:avLst/>
            </a:prstGeom>
          </p:spPr>
        </p:pic>
      </p:grpSp>
    </p:spTree>
    <p:extLst>
      <p:ext uri="{BB962C8B-B14F-4D97-AF65-F5344CB8AC3E}">
        <p14:creationId xmlns:p14="http://schemas.microsoft.com/office/powerpoint/2010/main" val="9726959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正方形/長方形 169">
            <a:extLst>
              <a:ext uri="{FF2B5EF4-FFF2-40B4-BE49-F238E27FC236}">
                <a16:creationId xmlns:a16="http://schemas.microsoft.com/office/drawing/2014/main" id="{D85CF031-4E80-7EBA-9706-88678C45D0E5}"/>
              </a:ext>
            </a:extLst>
          </p:cNvPr>
          <p:cNvSpPr/>
          <p:nvPr/>
        </p:nvSpPr>
        <p:spPr bwMode="auto">
          <a:xfrm>
            <a:off x="701503" y="1230581"/>
            <a:ext cx="8730615" cy="127318"/>
          </a:xfrm>
          <a:prstGeom prst="rect">
            <a:avLst/>
          </a:prstGeom>
          <a:solidFill>
            <a:schemeClr val="accent5">
              <a:lumMod val="40000"/>
              <a:lumOff val="60000"/>
              <a:alpha val="5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 name="コンテンツ プレースホルダー 1">
            <a:extLst>
              <a:ext uri="{FF2B5EF4-FFF2-40B4-BE49-F238E27FC236}">
                <a16:creationId xmlns:a16="http://schemas.microsoft.com/office/drawing/2014/main" id="{81C58074-3183-0A6B-810F-489F046261B6}"/>
              </a:ext>
            </a:extLst>
          </p:cNvPr>
          <p:cNvSpPr>
            <a:spLocks noGrp="1"/>
          </p:cNvSpPr>
          <p:nvPr>
            <p:ph idx="10"/>
          </p:nvPr>
        </p:nvSpPr>
        <p:spPr>
          <a:xfrm>
            <a:off x="653802" y="652081"/>
            <a:ext cx="11086078" cy="855523"/>
          </a:xfrm>
        </p:spPr>
        <p:txBody>
          <a:bodyPr>
            <a:normAutofit/>
          </a:bodyPr>
          <a:lstStyle/>
          <a:p>
            <a:r>
              <a:rPr kumimoji="1" lang="en-US" altLang="ja-JP"/>
              <a:t>C&amp;R</a:t>
            </a:r>
            <a:r>
              <a:rPr kumimoji="1" lang="ja-JP" altLang="en-US"/>
              <a:t>社がクリエイター特化型のエージェンシー事業で培ったノウハウを</a:t>
            </a:r>
            <a:r>
              <a:rPr lang="ja-JP" altLang="en-US"/>
              <a:t>採用代行サービスとして提供。</a:t>
            </a:r>
            <a:endParaRPr lang="en-US" altLang="ja-JP"/>
          </a:p>
          <a:p>
            <a:r>
              <a:rPr kumimoji="1" lang="ja-JP" altLang="en-US"/>
              <a:t>オンサイト（常駐）オフサイト（非常駐）などニーズに合わせてのプラン設計が可能です。</a:t>
            </a:r>
          </a:p>
        </p:txBody>
      </p:sp>
      <p:sp>
        <p:nvSpPr>
          <p:cNvPr id="3" name="タイトル 2">
            <a:extLst>
              <a:ext uri="{FF2B5EF4-FFF2-40B4-BE49-F238E27FC236}">
                <a16:creationId xmlns:a16="http://schemas.microsoft.com/office/drawing/2014/main" id="{12BC5D3F-38E4-C53E-F452-2E55235EEDD2}"/>
              </a:ext>
            </a:extLst>
          </p:cNvPr>
          <p:cNvSpPr>
            <a:spLocks noGrp="1"/>
          </p:cNvSpPr>
          <p:nvPr>
            <p:ph type="title"/>
          </p:nvPr>
        </p:nvSpPr>
        <p:spPr/>
        <p:txBody>
          <a:bodyPr>
            <a:normAutofit/>
          </a:bodyPr>
          <a:lstStyle/>
          <a:p>
            <a:r>
              <a:rPr lang="ja-JP" altLang="en-US"/>
              <a:t>日本最大級のスタジオを選ぶ理由３：採用支援 </a:t>
            </a:r>
            <a:r>
              <a:rPr kumimoji="1" lang="en-US" altLang="ja-JP"/>
              <a:t>RPO</a:t>
            </a:r>
            <a:endParaRPr kumimoji="1" lang="ja-JP" altLang="en-US"/>
          </a:p>
        </p:txBody>
      </p:sp>
      <p:sp>
        <p:nvSpPr>
          <p:cNvPr id="4" name="スライド番号プレースホルダー 3">
            <a:extLst>
              <a:ext uri="{FF2B5EF4-FFF2-40B4-BE49-F238E27FC236}">
                <a16:creationId xmlns:a16="http://schemas.microsoft.com/office/drawing/2014/main" id="{99754794-DAB1-640F-59C7-FA3D2DE93E3C}"/>
              </a:ext>
            </a:extLst>
          </p:cNvPr>
          <p:cNvSpPr>
            <a:spLocks noGrp="1"/>
          </p:cNvSpPr>
          <p:nvPr>
            <p:ph type="sldNum" sz="quarter" idx="11"/>
          </p:nvPr>
        </p:nvSpPr>
        <p:spPr/>
        <p:txBody>
          <a:bodyPr/>
          <a:lstStyle/>
          <a:p>
            <a:fld id="{B75FDD43-FCEC-4ECC-8189-A5C6D2E08DC6}" type="slidenum">
              <a:rPr lang="ja-JP" altLang="en-US" smtClean="0"/>
              <a:pPr/>
              <a:t>31</a:t>
            </a:fld>
            <a:endParaRPr lang="ja-JP" altLang="en-US"/>
          </a:p>
        </p:txBody>
      </p:sp>
      <p:sp>
        <p:nvSpPr>
          <p:cNvPr id="5" name="四角形: 角を丸くする 4">
            <a:extLst>
              <a:ext uri="{FF2B5EF4-FFF2-40B4-BE49-F238E27FC236}">
                <a16:creationId xmlns:a16="http://schemas.microsoft.com/office/drawing/2014/main" id="{E93EB79B-0ECC-586C-F8C2-BA5609C42707}"/>
              </a:ext>
            </a:extLst>
          </p:cNvPr>
          <p:cNvSpPr/>
          <p:nvPr/>
        </p:nvSpPr>
        <p:spPr bwMode="auto">
          <a:xfrm>
            <a:off x="2792800" y="1895737"/>
            <a:ext cx="6633751" cy="985144"/>
          </a:xfrm>
          <a:prstGeom prst="roundRect">
            <a:avLst>
              <a:gd name="adj" fmla="val 5798"/>
            </a:avLst>
          </a:prstGeom>
          <a:noFill/>
          <a:ln w="38100" algn="ctr">
            <a:noFill/>
            <a:miter lim="800000"/>
            <a:headEnd/>
            <a:tailEnd/>
          </a:ln>
          <a:effectLst/>
        </p:spPr>
        <p:txBody>
          <a:bodyPr wrap="none" lIns="90000" tIns="46800" rIns="90000" bIns="46800" rtlCol="0" anchor="ctr"/>
          <a:lstStyle/>
          <a:p>
            <a:pPr algn="ctr" fontAlgn="base">
              <a:spcBef>
                <a:spcPct val="50000"/>
              </a:spcBef>
              <a:spcAft>
                <a:spcPct val="0"/>
              </a:spcAft>
            </a:pPr>
            <a:r>
              <a:rPr lang="en-US" altLang="ja-JP" sz="2000" b="1">
                <a:latin typeface="メイリオ" panose="020B0604030504040204" pitchFamily="50" charset="-128"/>
                <a:ea typeface="メイリオ" panose="020B0604030504040204" pitchFamily="50" charset="-128"/>
              </a:rPr>
              <a:t>RPO</a:t>
            </a:r>
            <a:r>
              <a:rPr lang="ja-JP" altLang="en-US" sz="2000" b="1">
                <a:latin typeface="メイリオ" panose="020B0604030504040204" pitchFamily="50" charset="-128"/>
                <a:ea typeface="メイリオ" panose="020B0604030504040204" pitchFamily="50" charset="-128"/>
              </a:rPr>
              <a:t>（</a:t>
            </a:r>
            <a:r>
              <a:rPr lang="en-US" altLang="ja-JP" sz="2000" b="1">
                <a:latin typeface="メイリオ" panose="020B0604030504040204" pitchFamily="50" charset="-128"/>
                <a:ea typeface="メイリオ" panose="020B0604030504040204" pitchFamily="50" charset="-128"/>
              </a:rPr>
              <a:t>Recruitment Process Outsourcing</a:t>
            </a:r>
            <a:r>
              <a:rPr lang="ja-JP" altLang="en-US" sz="2000" b="1">
                <a:latin typeface="メイリオ" panose="020B0604030504040204" pitchFamily="50" charset="-128"/>
                <a:ea typeface="メイリオ" panose="020B0604030504040204" pitchFamily="50" charset="-128"/>
              </a:rPr>
              <a:t>）または、</a:t>
            </a:r>
            <a:endParaRPr lang="en-US" altLang="ja-JP" sz="2000" b="1">
              <a:latin typeface="メイリオ" panose="020B0604030504040204" pitchFamily="50" charset="-128"/>
              <a:ea typeface="メイリオ" panose="020B0604030504040204" pitchFamily="50" charset="-128"/>
            </a:endParaRPr>
          </a:p>
          <a:p>
            <a:pPr algn="ctr" fontAlgn="base">
              <a:spcBef>
                <a:spcPct val="50000"/>
              </a:spcBef>
              <a:spcAft>
                <a:spcPct val="0"/>
              </a:spcAft>
            </a:pPr>
            <a:r>
              <a:rPr lang="ja-JP" altLang="en-US" sz="2000" b="1">
                <a:latin typeface="メイリオ" panose="020B0604030504040204" pitchFamily="50" charset="-128"/>
                <a:ea typeface="メイリオ" panose="020B0604030504040204" pitchFamily="50" charset="-128"/>
              </a:rPr>
              <a:t>採用アウトソーシングとも呼ばれます。</a:t>
            </a:r>
          </a:p>
        </p:txBody>
      </p:sp>
      <p:grpSp>
        <p:nvGrpSpPr>
          <p:cNvPr id="53" name="グループ化 52">
            <a:extLst>
              <a:ext uri="{FF2B5EF4-FFF2-40B4-BE49-F238E27FC236}">
                <a16:creationId xmlns:a16="http://schemas.microsoft.com/office/drawing/2014/main" id="{0CAA4B6C-F7E3-DA9D-7DC1-33D7AF0FD730}"/>
              </a:ext>
            </a:extLst>
          </p:cNvPr>
          <p:cNvGrpSpPr/>
          <p:nvPr/>
        </p:nvGrpSpPr>
        <p:grpSpPr>
          <a:xfrm>
            <a:off x="919163" y="3451239"/>
            <a:ext cx="4970337" cy="1441411"/>
            <a:chOff x="1681140" y="3444016"/>
            <a:chExt cx="3480391" cy="1274567"/>
          </a:xfrm>
        </p:grpSpPr>
        <p:sp>
          <p:nvSpPr>
            <p:cNvPr id="14" name="四角形: 角を丸くする 13">
              <a:extLst>
                <a:ext uri="{FF2B5EF4-FFF2-40B4-BE49-F238E27FC236}">
                  <a16:creationId xmlns:a16="http://schemas.microsoft.com/office/drawing/2014/main" id="{B3CB29A6-C48E-D9ED-94BB-C14369172C50}"/>
                </a:ext>
              </a:extLst>
            </p:cNvPr>
            <p:cNvSpPr/>
            <p:nvPr/>
          </p:nvSpPr>
          <p:spPr bwMode="auto">
            <a:xfrm>
              <a:off x="1681140" y="3444016"/>
              <a:ext cx="3480391" cy="1274567"/>
            </a:xfrm>
            <a:prstGeom prst="roundRect">
              <a:avLst>
                <a:gd name="adj" fmla="val 5262"/>
              </a:avLst>
            </a:prstGeom>
            <a:noFill/>
            <a:ln w="76200" algn="ctr">
              <a:solidFill>
                <a:schemeClr val="accent4">
                  <a:lumMod val="40000"/>
                  <a:lumOff val="6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cxnSp>
          <p:nvCxnSpPr>
            <p:cNvPr id="17" name="直線コネクタ 16">
              <a:extLst>
                <a:ext uri="{FF2B5EF4-FFF2-40B4-BE49-F238E27FC236}">
                  <a16:creationId xmlns:a16="http://schemas.microsoft.com/office/drawing/2014/main" id="{7F6B59E6-FFDF-609E-80A7-F98D822A6B0B}"/>
                </a:ext>
              </a:extLst>
            </p:cNvPr>
            <p:cNvCxnSpPr>
              <a:cxnSpLocks/>
            </p:cNvCxnSpPr>
            <p:nvPr/>
          </p:nvCxnSpPr>
          <p:spPr>
            <a:xfrm>
              <a:off x="1780999" y="3880965"/>
              <a:ext cx="3280672"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8" name="テキスト ボックス 17">
              <a:extLst>
                <a:ext uri="{FF2B5EF4-FFF2-40B4-BE49-F238E27FC236}">
                  <a16:creationId xmlns:a16="http://schemas.microsoft.com/office/drawing/2014/main" id="{79D8D05E-5F7E-DB0F-2A16-54B7439EC4B5}"/>
                </a:ext>
              </a:extLst>
            </p:cNvPr>
            <p:cNvSpPr txBox="1"/>
            <p:nvPr/>
          </p:nvSpPr>
          <p:spPr>
            <a:xfrm>
              <a:off x="2790954" y="3524588"/>
              <a:ext cx="1260764" cy="326582"/>
            </a:xfrm>
            <a:prstGeom prst="rect">
              <a:avLst/>
            </a:prstGeom>
            <a:noFill/>
          </p:spPr>
          <p:txBody>
            <a:bodyPr wrap="none" rtlCol="0">
              <a:spAutoFit/>
            </a:bodyPr>
            <a:lstStyle/>
            <a:p>
              <a:pPr algn="ctr"/>
              <a:r>
                <a:rPr kumimoji="1" lang="ja-JP" altLang="en-US">
                  <a:latin typeface="メイリオ" panose="020B0604030504040204" pitchFamily="50" charset="-128"/>
                  <a:ea typeface="メイリオ" panose="020B0604030504040204" pitchFamily="50" charset="-128"/>
                </a:rPr>
                <a:t>応募者管理代行</a:t>
              </a:r>
            </a:p>
          </p:txBody>
        </p:sp>
      </p:grpSp>
      <p:grpSp>
        <p:nvGrpSpPr>
          <p:cNvPr id="52" name="グループ化 51">
            <a:extLst>
              <a:ext uri="{FF2B5EF4-FFF2-40B4-BE49-F238E27FC236}">
                <a16:creationId xmlns:a16="http://schemas.microsoft.com/office/drawing/2014/main" id="{703487AB-FF81-F88C-EC69-0034B3769ADC}"/>
              </a:ext>
            </a:extLst>
          </p:cNvPr>
          <p:cNvGrpSpPr/>
          <p:nvPr/>
        </p:nvGrpSpPr>
        <p:grpSpPr>
          <a:xfrm>
            <a:off x="6498054" y="3454401"/>
            <a:ext cx="4970337" cy="1441411"/>
            <a:chOff x="5587660" y="3424351"/>
            <a:chExt cx="3480391" cy="1274567"/>
          </a:xfrm>
        </p:grpSpPr>
        <p:sp>
          <p:nvSpPr>
            <p:cNvPr id="25" name="四角形: 角を丸くする 24">
              <a:extLst>
                <a:ext uri="{FF2B5EF4-FFF2-40B4-BE49-F238E27FC236}">
                  <a16:creationId xmlns:a16="http://schemas.microsoft.com/office/drawing/2014/main" id="{C9AAE9B7-1F2A-292C-B0D4-E7ACB8B54293}"/>
                </a:ext>
              </a:extLst>
            </p:cNvPr>
            <p:cNvSpPr/>
            <p:nvPr/>
          </p:nvSpPr>
          <p:spPr bwMode="auto">
            <a:xfrm>
              <a:off x="5587660" y="3424351"/>
              <a:ext cx="3480391" cy="1274567"/>
            </a:xfrm>
            <a:prstGeom prst="roundRect">
              <a:avLst>
                <a:gd name="adj" fmla="val 5262"/>
              </a:avLst>
            </a:prstGeom>
            <a:noFill/>
            <a:ln w="76200" algn="ctr">
              <a:solidFill>
                <a:schemeClr val="accent4">
                  <a:lumMod val="40000"/>
                  <a:lumOff val="6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cxnSp>
          <p:nvCxnSpPr>
            <p:cNvPr id="27" name="直線コネクタ 26">
              <a:extLst>
                <a:ext uri="{FF2B5EF4-FFF2-40B4-BE49-F238E27FC236}">
                  <a16:creationId xmlns:a16="http://schemas.microsoft.com/office/drawing/2014/main" id="{F62A3C1B-24F2-4CD1-5C56-C0FC098CE7ED}"/>
                </a:ext>
              </a:extLst>
            </p:cNvPr>
            <p:cNvCxnSpPr>
              <a:cxnSpLocks/>
            </p:cNvCxnSpPr>
            <p:nvPr/>
          </p:nvCxnSpPr>
          <p:spPr>
            <a:xfrm>
              <a:off x="5687519" y="3861300"/>
              <a:ext cx="3280672"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30" name="テキスト ボックス 29">
              <a:extLst>
                <a:ext uri="{FF2B5EF4-FFF2-40B4-BE49-F238E27FC236}">
                  <a16:creationId xmlns:a16="http://schemas.microsoft.com/office/drawing/2014/main" id="{992056E4-28A6-623B-E296-91D2CC846244}"/>
                </a:ext>
              </a:extLst>
            </p:cNvPr>
            <p:cNvSpPr txBox="1"/>
            <p:nvPr/>
          </p:nvSpPr>
          <p:spPr>
            <a:xfrm>
              <a:off x="6671279" y="3504923"/>
              <a:ext cx="1172088" cy="326582"/>
            </a:xfrm>
            <a:prstGeom prst="rect">
              <a:avLst/>
            </a:prstGeom>
            <a:noFill/>
          </p:spPr>
          <p:txBody>
            <a:bodyPr wrap="none" rtlCol="0">
              <a:spAutoFit/>
            </a:bodyPr>
            <a:lstStyle/>
            <a:p>
              <a:pPr algn="ctr"/>
              <a:r>
                <a:rPr lang="ja-JP" altLang="en-US">
                  <a:latin typeface="メイリオ" panose="020B0604030504040204" pitchFamily="50" charset="-128"/>
                  <a:ea typeface="メイリオ" panose="020B0604030504040204" pitchFamily="50" charset="-128"/>
                </a:rPr>
                <a:t>面談</a:t>
              </a:r>
              <a:r>
                <a:rPr kumimoji="1" lang="en-US" altLang="ja-JP">
                  <a:latin typeface="メイリオ" panose="020B0604030504040204" pitchFamily="50" charset="-128"/>
                  <a:ea typeface="メイリオ" panose="020B0604030504040204" pitchFamily="50" charset="-128"/>
                </a:rPr>
                <a:t>/</a:t>
              </a:r>
              <a:r>
                <a:rPr kumimoji="1" lang="ja-JP" altLang="en-US">
                  <a:latin typeface="メイリオ" panose="020B0604030504040204" pitchFamily="50" charset="-128"/>
                  <a:ea typeface="メイリオ" panose="020B0604030504040204" pitchFamily="50" charset="-128"/>
                </a:rPr>
                <a:t>面接代行</a:t>
              </a:r>
            </a:p>
          </p:txBody>
        </p:sp>
      </p:grpSp>
      <p:grpSp>
        <p:nvGrpSpPr>
          <p:cNvPr id="54" name="グループ化 53">
            <a:extLst>
              <a:ext uri="{FF2B5EF4-FFF2-40B4-BE49-F238E27FC236}">
                <a16:creationId xmlns:a16="http://schemas.microsoft.com/office/drawing/2014/main" id="{31942A96-E62A-2B1B-5AF5-AB4F4CF83097}"/>
              </a:ext>
            </a:extLst>
          </p:cNvPr>
          <p:cNvGrpSpPr/>
          <p:nvPr/>
        </p:nvGrpSpPr>
        <p:grpSpPr>
          <a:xfrm>
            <a:off x="919163" y="5133271"/>
            <a:ext cx="4970337" cy="1441411"/>
            <a:chOff x="1681140" y="4931352"/>
            <a:chExt cx="3480391" cy="1274567"/>
          </a:xfrm>
        </p:grpSpPr>
        <p:sp>
          <p:nvSpPr>
            <p:cNvPr id="45" name="四角形: 角を丸くする 44">
              <a:extLst>
                <a:ext uri="{FF2B5EF4-FFF2-40B4-BE49-F238E27FC236}">
                  <a16:creationId xmlns:a16="http://schemas.microsoft.com/office/drawing/2014/main" id="{D012E870-A242-39AC-5F4D-EC22D6FCB48D}"/>
                </a:ext>
              </a:extLst>
            </p:cNvPr>
            <p:cNvSpPr/>
            <p:nvPr/>
          </p:nvSpPr>
          <p:spPr bwMode="auto">
            <a:xfrm>
              <a:off x="1681140" y="4931352"/>
              <a:ext cx="3480391" cy="1274567"/>
            </a:xfrm>
            <a:prstGeom prst="roundRect">
              <a:avLst>
                <a:gd name="adj" fmla="val 5262"/>
              </a:avLst>
            </a:prstGeom>
            <a:noFill/>
            <a:ln w="76200" algn="ctr">
              <a:solidFill>
                <a:schemeClr val="accent4">
                  <a:lumMod val="40000"/>
                  <a:lumOff val="6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cxnSp>
          <p:nvCxnSpPr>
            <p:cNvPr id="46" name="直線コネクタ 45">
              <a:extLst>
                <a:ext uri="{FF2B5EF4-FFF2-40B4-BE49-F238E27FC236}">
                  <a16:creationId xmlns:a16="http://schemas.microsoft.com/office/drawing/2014/main" id="{337B2E4D-CAE5-1248-2CC7-F400799D365E}"/>
                </a:ext>
              </a:extLst>
            </p:cNvPr>
            <p:cNvCxnSpPr>
              <a:cxnSpLocks/>
            </p:cNvCxnSpPr>
            <p:nvPr/>
          </p:nvCxnSpPr>
          <p:spPr>
            <a:xfrm>
              <a:off x="1780999" y="5368301"/>
              <a:ext cx="3280672"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47" name="テキスト ボックス 46">
              <a:extLst>
                <a:ext uri="{FF2B5EF4-FFF2-40B4-BE49-F238E27FC236}">
                  <a16:creationId xmlns:a16="http://schemas.microsoft.com/office/drawing/2014/main" id="{DC58C60D-71A9-B7CA-32DA-F5C7283AE23A}"/>
                </a:ext>
              </a:extLst>
            </p:cNvPr>
            <p:cNvSpPr txBox="1"/>
            <p:nvPr/>
          </p:nvSpPr>
          <p:spPr>
            <a:xfrm>
              <a:off x="2871771" y="5011924"/>
              <a:ext cx="1099127" cy="326582"/>
            </a:xfrm>
            <a:prstGeom prst="rect">
              <a:avLst/>
            </a:prstGeom>
            <a:noFill/>
          </p:spPr>
          <p:txBody>
            <a:bodyPr wrap="none" rtlCol="0">
              <a:spAutoFit/>
            </a:bodyPr>
            <a:lstStyle/>
            <a:p>
              <a:pPr algn="ctr"/>
              <a:r>
                <a:rPr lang="ja-JP" altLang="en-US">
                  <a:latin typeface="メイリオ" panose="020B0604030504040204" pitchFamily="50" charset="-128"/>
                  <a:ea typeface="メイリオ" panose="020B0604030504040204" pitchFamily="50" charset="-128"/>
                </a:rPr>
                <a:t>スカウト</a:t>
              </a:r>
              <a:r>
                <a:rPr kumimoji="1" lang="ja-JP" altLang="en-US">
                  <a:latin typeface="メイリオ" panose="020B0604030504040204" pitchFamily="50" charset="-128"/>
                  <a:ea typeface="メイリオ" panose="020B0604030504040204" pitchFamily="50" charset="-128"/>
                </a:rPr>
                <a:t>代行</a:t>
              </a:r>
            </a:p>
          </p:txBody>
        </p:sp>
      </p:grpSp>
      <p:grpSp>
        <p:nvGrpSpPr>
          <p:cNvPr id="55" name="グループ化 54">
            <a:extLst>
              <a:ext uri="{FF2B5EF4-FFF2-40B4-BE49-F238E27FC236}">
                <a16:creationId xmlns:a16="http://schemas.microsoft.com/office/drawing/2014/main" id="{B4C0BA34-26E9-50E6-468A-7FA4209EC6E5}"/>
              </a:ext>
            </a:extLst>
          </p:cNvPr>
          <p:cNvGrpSpPr/>
          <p:nvPr/>
        </p:nvGrpSpPr>
        <p:grpSpPr>
          <a:xfrm>
            <a:off x="6498052" y="5133270"/>
            <a:ext cx="4970337" cy="1441411"/>
            <a:chOff x="5587659" y="4931351"/>
            <a:chExt cx="3480391" cy="1274567"/>
          </a:xfrm>
        </p:grpSpPr>
        <p:sp>
          <p:nvSpPr>
            <p:cNvPr id="49" name="四角形: 角を丸くする 48">
              <a:extLst>
                <a:ext uri="{FF2B5EF4-FFF2-40B4-BE49-F238E27FC236}">
                  <a16:creationId xmlns:a16="http://schemas.microsoft.com/office/drawing/2014/main" id="{2E6E9462-A160-55A2-22F7-B28FCA5A5F5E}"/>
                </a:ext>
              </a:extLst>
            </p:cNvPr>
            <p:cNvSpPr/>
            <p:nvPr/>
          </p:nvSpPr>
          <p:spPr bwMode="auto">
            <a:xfrm>
              <a:off x="5587659" y="4931351"/>
              <a:ext cx="3480391" cy="1274567"/>
            </a:xfrm>
            <a:prstGeom prst="roundRect">
              <a:avLst>
                <a:gd name="adj" fmla="val 5262"/>
              </a:avLst>
            </a:prstGeom>
            <a:noFill/>
            <a:ln w="76200" algn="ctr">
              <a:solidFill>
                <a:schemeClr val="accent4">
                  <a:lumMod val="40000"/>
                  <a:lumOff val="6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cxnSp>
          <p:nvCxnSpPr>
            <p:cNvPr id="50" name="直線コネクタ 49">
              <a:extLst>
                <a:ext uri="{FF2B5EF4-FFF2-40B4-BE49-F238E27FC236}">
                  <a16:creationId xmlns:a16="http://schemas.microsoft.com/office/drawing/2014/main" id="{B8766B45-8EDE-A2E8-F755-022798CB7730}"/>
                </a:ext>
              </a:extLst>
            </p:cNvPr>
            <p:cNvCxnSpPr>
              <a:cxnSpLocks/>
            </p:cNvCxnSpPr>
            <p:nvPr/>
          </p:nvCxnSpPr>
          <p:spPr>
            <a:xfrm>
              <a:off x="5687518" y="5368300"/>
              <a:ext cx="3280672"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51" name="テキスト ボックス 50">
              <a:extLst>
                <a:ext uri="{FF2B5EF4-FFF2-40B4-BE49-F238E27FC236}">
                  <a16:creationId xmlns:a16="http://schemas.microsoft.com/office/drawing/2014/main" id="{CA26AA57-DB86-6155-35F8-AA2EBC91F5B0}"/>
                </a:ext>
              </a:extLst>
            </p:cNvPr>
            <p:cNvSpPr txBox="1"/>
            <p:nvPr/>
          </p:nvSpPr>
          <p:spPr>
            <a:xfrm>
              <a:off x="6455018" y="5011923"/>
              <a:ext cx="1745672" cy="326582"/>
            </a:xfrm>
            <a:prstGeom prst="rect">
              <a:avLst/>
            </a:prstGeom>
            <a:noFill/>
          </p:spPr>
          <p:txBody>
            <a:bodyPr wrap="none" rtlCol="0">
              <a:spAutoFit/>
            </a:bodyPr>
            <a:lstStyle/>
            <a:p>
              <a:pPr algn="ctr"/>
              <a:r>
                <a:rPr lang="ja-JP" altLang="en-US">
                  <a:latin typeface="メイリオ" panose="020B0604030504040204" pitchFamily="50" charset="-128"/>
                  <a:ea typeface="メイリオ" panose="020B0604030504040204" pitchFamily="50" charset="-128"/>
                </a:rPr>
                <a:t>採用リクルーター</a:t>
              </a:r>
              <a:r>
                <a:rPr kumimoji="1" lang="ja-JP" altLang="en-US">
                  <a:latin typeface="メイリオ" panose="020B0604030504040204" pitchFamily="50" charset="-128"/>
                  <a:ea typeface="メイリオ" panose="020B0604030504040204" pitchFamily="50" charset="-128"/>
                </a:rPr>
                <a:t>代行</a:t>
              </a:r>
            </a:p>
          </p:txBody>
        </p:sp>
      </p:grpSp>
      <p:grpSp>
        <p:nvGrpSpPr>
          <p:cNvPr id="98" name="グループ化 97">
            <a:extLst>
              <a:ext uri="{FF2B5EF4-FFF2-40B4-BE49-F238E27FC236}">
                <a16:creationId xmlns:a16="http://schemas.microsoft.com/office/drawing/2014/main" id="{2F015118-A004-FC17-E537-D11B0BBF0CEB}"/>
              </a:ext>
            </a:extLst>
          </p:cNvPr>
          <p:cNvGrpSpPr/>
          <p:nvPr/>
        </p:nvGrpSpPr>
        <p:grpSpPr>
          <a:xfrm>
            <a:off x="1061771" y="4044365"/>
            <a:ext cx="3539922" cy="711124"/>
            <a:chOff x="1061771" y="4044365"/>
            <a:chExt cx="3539922" cy="711124"/>
          </a:xfrm>
        </p:grpSpPr>
        <p:grpSp>
          <p:nvGrpSpPr>
            <p:cNvPr id="58" name="グループ化 57">
              <a:extLst>
                <a:ext uri="{FF2B5EF4-FFF2-40B4-BE49-F238E27FC236}">
                  <a16:creationId xmlns:a16="http://schemas.microsoft.com/office/drawing/2014/main" id="{0A665470-B750-CEBB-4446-D24B26A21AC7}"/>
                </a:ext>
              </a:extLst>
            </p:cNvPr>
            <p:cNvGrpSpPr/>
            <p:nvPr/>
          </p:nvGrpSpPr>
          <p:grpSpPr>
            <a:xfrm>
              <a:off x="1061771" y="4044365"/>
              <a:ext cx="977839" cy="711124"/>
              <a:chOff x="9535905" y="5961691"/>
              <a:chExt cx="977839" cy="711124"/>
            </a:xfrm>
          </p:grpSpPr>
          <p:sp>
            <p:nvSpPr>
              <p:cNvPr id="60" name="四角形: 角を丸くする 59">
                <a:extLst>
                  <a:ext uri="{FF2B5EF4-FFF2-40B4-BE49-F238E27FC236}">
                    <a16:creationId xmlns:a16="http://schemas.microsoft.com/office/drawing/2014/main" id="{5E1DA6EB-3D59-D84E-775C-4BF55CF060BA}"/>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61" name="テキスト ボックス 60">
                <a:extLst>
                  <a:ext uri="{FF2B5EF4-FFF2-40B4-BE49-F238E27FC236}">
                    <a16:creationId xmlns:a16="http://schemas.microsoft.com/office/drawing/2014/main" id="{0BD50A0D-A05C-8166-6900-FB1FB319FBA7}"/>
                  </a:ext>
                </a:extLst>
              </p:cNvPr>
              <p:cNvSpPr txBox="1"/>
              <p:nvPr/>
            </p:nvSpPr>
            <p:spPr>
              <a:xfrm>
                <a:off x="9535905" y="6426593"/>
                <a:ext cx="977839" cy="230832"/>
              </a:xfrm>
              <a:prstGeom prst="rect">
                <a:avLst/>
              </a:prstGeom>
              <a:noFill/>
            </p:spPr>
            <p:txBody>
              <a:bodyPr wrap="square" rtlCol="0">
                <a:spAutoFit/>
              </a:bodyPr>
              <a:lstStyle/>
              <a:p>
                <a:pPr algn="ctr"/>
                <a:r>
                  <a:rPr kumimoji="1" lang="ja-JP" altLang="en-US" sz="900" b="1">
                    <a:latin typeface="メイリオ" panose="020B0604030504040204" pitchFamily="50" charset="-128"/>
                    <a:ea typeface="メイリオ" panose="020B0604030504040204" pitchFamily="50" charset="-128"/>
                  </a:rPr>
                  <a:t>書類選考</a:t>
                </a:r>
                <a:endParaRPr kumimoji="1" lang="en-US" altLang="ja-JP" sz="900" b="1">
                  <a:latin typeface="メイリオ" panose="020B0604030504040204" pitchFamily="50" charset="-128"/>
                  <a:ea typeface="メイリオ" panose="020B0604030504040204" pitchFamily="50" charset="-128"/>
                </a:endParaRPr>
              </a:p>
            </p:txBody>
          </p:sp>
        </p:grpSp>
        <p:grpSp>
          <p:nvGrpSpPr>
            <p:cNvPr id="66" name="グループ化 65">
              <a:extLst>
                <a:ext uri="{FF2B5EF4-FFF2-40B4-BE49-F238E27FC236}">
                  <a16:creationId xmlns:a16="http://schemas.microsoft.com/office/drawing/2014/main" id="{A1953E9F-5195-F2A7-EFA7-4A24A8FFFB7E}"/>
                </a:ext>
              </a:extLst>
            </p:cNvPr>
            <p:cNvGrpSpPr/>
            <p:nvPr/>
          </p:nvGrpSpPr>
          <p:grpSpPr>
            <a:xfrm>
              <a:off x="1960251" y="4044365"/>
              <a:ext cx="977839" cy="711124"/>
              <a:chOff x="9535905" y="5961691"/>
              <a:chExt cx="977839" cy="711124"/>
            </a:xfrm>
          </p:grpSpPr>
          <p:sp>
            <p:nvSpPr>
              <p:cNvPr id="67" name="四角形: 角を丸くする 66">
                <a:extLst>
                  <a:ext uri="{FF2B5EF4-FFF2-40B4-BE49-F238E27FC236}">
                    <a16:creationId xmlns:a16="http://schemas.microsoft.com/office/drawing/2014/main" id="{85A53CFC-C007-27A7-E7F3-CBF16FB7CC3C}"/>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68" name="テキスト ボックス 67">
                <a:extLst>
                  <a:ext uri="{FF2B5EF4-FFF2-40B4-BE49-F238E27FC236}">
                    <a16:creationId xmlns:a16="http://schemas.microsoft.com/office/drawing/2014/main" id="{ECB3532D-3B4D-5B79-05E7-35FBFAEE3F6C}"/>
                  </a:ext>
                </a:extLst>
              </p:cNvPr>
              <p:cNvSpPr txBox="1"/>
              <p:nvPr/>
            </p:nvSpPr>
            <p:spPr>
              <a:xfrm>
                <a:off x="9535905" y="6426593"/>
                <a:ext cx="977839" cy="230832"/>
              </a:xfrm>
              <a:prstGeom prst="rect">
                <a:avLst/>
              </a:prstGeom>
              <a:noFill/>
            </p:spPr>
            <p:txBody>
              <a:bodyPr wrap="square" rtlCol="0">
                <a:spAutoFit/>
              </a:bodyPr>
              <a:lstStyle/>
              <a:p>
                <a:pPr algn="ctr"/>
                <a:r>
                  <a:rPr kumimoji="1" lang="ja-JP" altLang="en-US" sz="900" b="1">
                    <a:latin typeface="メイリオ" panose="020B0604030504040204" pitchFamily="50" charset="-128"/>
                    <a:ea typeface="メイリオ" panose="020B0604030504040204" pitchFamily="50" charset="-128"/>
                  </a:rPr>
                  <a:t>日程調整</a:t>
                </a:r>
                <a:endParaRPr kumimoji="1" lang="en-US" altLang="ja-JP" sz="900" b="1">
                  <a:latin typeface="メイリオ" panose="020B0604030504040204" pitchFamily="50" charset="-128"/>
                  <a:ea typeface="メイリオ" panose="020B0604030504040204" pitchFamily="50" charset="-128"/>
                </a:endParaRPr>
              </a:p>
            </p:txBody>
          </p:sp>
        </p:grpSp>
        <p:grpSp>
          <p:nvGrpSpPr>
            <p:cNvPr id="69" name="グループ化 68">
              <a:extLst>
                <a:ext uri="{FF2B5EF4-FFF2-40B4-BE49-F238E27FC236}">
                  <a16:creationId xmlns:a16="http://schemas.microsoft.com/office/drawing/2014/main" id="{86A2EBC1-9FC6-D8C4-210E-EBC5D7D70725}"/>
                </a:ext>
              </a:extLst>
            </p:cNvPr>
            <p:cNvGrpSpPr/>
            <p:nvPr/>
          </p:nvGrpSpPr>
          <p:grpSpPr>
            <a:xfrm>
              <a:off x="2858731" y="4044365"/>
              <a:ext cx="977839" cy="711124"/>
              <a:chOff x="9538647" y="5961691"/>
              <a:chExt cx="977839" cy="711124"/>
            </a:xfrm>
          </p:grpSpPr>
          <p:sp>
            <p:nvSpPr>
              <p:cNvPr id="70" name="四角形: 角を丸くする 69">
                <a:extLst>
                  <a:ext uri="{FF2B5EF4-FFF2-40B4-BE49-F238E27FC236}">
                    <a16:creationId xmlns:a16="http://schemas.microsoft.com/office/drawing/2014/main" id="{7D730CAA-E267-A847-68EB-2132FC0B9F56}"/>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459245F2-0DF7-93B2-B3BF-9A92E61949AB}"/>
                  </a:ext>
                </a:extLst>
              </p:cNvPr>
              <p:cNvSpPr txBox="1"/>
              <p:nvPr/>
            </p:nvSpPr>
            <p:spPr>
              <a:xfrm>
                <a:off x="9538647" y="6308358"/>
                <a:ext cx="977839" cy="338554"/>
              </a:xfrm>
              <a:prstGeom prst="rect">
                <a:avLst/>
              </a:prstGeom>
              <a:noFill/>
            </p:spPr>
            <p:txBody>
              <a:bodyPr wrap="square" rtlCol="0">
                <a:spAutoFit/>
              </a:bodyPr>
              <a:lstStyle/>
              <a:p>
                <a:pPr algn="ctr"/>
                <a:r>
                  <a:rPr kumimoji="1" lang="ja-JP" altLang="en-US" sz="800" b="1">
                    <a:latin typeface="メイリオ" panose="020B0604030504040204" pitchFamily="50" charset="-128"/>
                    <a:ea typeface="メイリオ" panose="020B0604030504040204" pitchFamily="50" charset="-128"/>
                  </a:rPr>
                  <a:t>エージェント</a:t>
                </a:r>
                <a:endParaRPr kumimoji="1" lang="en-US" altLang="ja-JP" sz="800" b="1">
                  <a:latin typeface="メイリオ" panose="020B0604030504040204" pitchFamily="50" charset="-128"/>
                  <a:ea typeface="メイリオ" panose="020B0604030504040204" pitchFamily="50" charset="-128"/>
                </a:endParaRPr>
              </a:p>
              <a:p>
                <a:pPr algn="ctr"/>
                <a:r>
                  <a:rPr kumimoji="1" lang="ja-JP" altLang="en-US" sz="800" b="1">
                    <a:latin typeface="メイリオ" panose="020B0604030504040204" pitchFamily="50" charset="-128"/>
                    <a:ea typeface="メイリオ" panose="020B0604030504040204" pitchFamily="50" charset="-128"/>
                  </a:rPr>
                  <a:t>マネジメント</a:t>
                </a:r>
                <a:endParaRPr kumimoji="1" lang="en-US" altLang="ja-JP" sz="800" b="1">
                  <a:latin typeface="メイリオ" panose="020B0604030504040204" pitchFamily="50" charset="-128"/>
                  <a:ea typeface="メイリオ" panose="020B0604030504040204" pitchFamily="50" charset="-128"/>
                </a:endParaRPr>
              </a:p>
            </p:txBody>
          </p:sp>
        </p:grpSp>
        <p:grpSp>
          <p:nvGrpSpPr>
            <p:cNvPr id="72" name="グループ化 71">
              <a:extLst>
                <a:ext uri="{FF2B5EF4-FFF2-40B4-BE49-F238E27FC236}">
                  <a16:creationId xmlns:a16="http://schemas.microsoft.com/office/drawing/2014/main" id="{BF984361-A1F2-C959-3552-67633F5F1967}"/>
                </a:ext>
              </a:extLst>
            </p:cNvPr>
            <p:cNvGrpSpPr/>
            <p:nvPr/>
          </p:nvGrpSpPr>
          <p:grpSpPr>
            <a:xfrm>
              <a:off x="3889588" y="4044365"/>
              <a:ext cx="712105" cy="711124"/>
              <a:chOff x="9668282" y="5961691"/>
              <a:chExt cx="712105" cy="711124"/>
            </a:xfrm>
          </p:grpSpPr>
          <p:sp>
            <p:nvSpPr>
              <p:cNvPr id="73" name="四角形: 角を丸くする 72">
                <a:extLst>
                  <a:ext uri="{FF2B5EF4-FFF2-40B4-BE49-F238E27FC236}">
                    <a16:creationId xmlns:a16="http://schemas.microsoft.com/office/drawing/2014/main" id="{566EA7D5-39E1-9B4C-C607-0CAE7D262DBE}"/>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7A1F85DC-DDFB-972D-AEF8-7DCB4F132208}"/>
                  </a:ext>
                </a:extLst>
              </p:cNvPr>
              <p:cNvSpPr txBox="1"/>
              <p:nvPr/>
            </p:nvSpPr>
            <p:spPr>
              <a:xfrm>
                <a:off x="9668282" y="6356860"/>
                <a:ext cx="687912" cy="307777"/>
              </a:xfrm>
              <a:prstGeom prst="rect">
                <a:avLst/>
              </a:prstGeom>
              <a:noFill/>
            </p:spPr>
            <p:txBody>
              <a:bodyPr wrap="square" rtlCol="0">
                <a:spAutoFit/>
              </a:bodyPr>
              <a:lstStyle/>
              <a:p>
                <a:pPr algn="ctr"/>
                <a:r>
                  <a:rPr lang="ja-JP" altLang="en-US" sz="700" b="1">
                    <a:latin typeface="メイリオ" panose="020B0604030504040204" pitchFamily="50" charset="-128"/>
                    <a:ea typeface="メイリオ" panose="020B0604030504040204" pitchFamily="50" charset="-128"/>
                  </a:rPr>
                  <a:t>問い合わせ</a:t>
                </a:r>
                <a:endParaRPr lang="en-US" altLang="ja-JP" sz="700" b="1">
                  <a:latin typeface="メイリオ" panose="020B0604030504040204" pitchFamily="50" charset="-128"/>
                  <a:ea typeface="メイリオ" panose="020B0604030504040204" pitchFamily="50" charset="-128"/>
                </a:endParaRPr>
              </a:p>
              <a:p>
                <a:pPr algn="ctr"/>
                <a:r>
                  <a:rPr lang="ja-JP" altLang="en-US" sz="700" b="1">
                    <a:latin typeface="メイリオ" panose="020B0604030504040204" pitchFamily="50" charset="-128"/>
                    <a:ea typeface="メイリオ" panose="020B0604030504040204" pitchFamily="50" charset="-128"/>
                  </a:rPr>
                  <a:t>対応</a:t>
                </a:r>
                <a:endParaRPr kumimoji="1" lang="en-US" altLang="ja-JP" sz="700" b="1">
                  <a:latin typeface="メイリオ" panose="020B0604030504040204" pitchFamily="50" charset="-128"/>
                  <a:ea typeface="メイリオ" panose="020B0604030504040204" pitchFamily="50" charset="-128"/>
                </a:endParaRPr>
              </a:p>
            </p:txBody>
          </p:sp>
        </p:grpSp>
      </p:grpSp>
      <p:grpSp>
        <p:nvGrpSpPr>
          <p:cNvPr id="77" name="グループ化 76">
            <a:extLst>
              <a:ext uri="{FF2B5EF4-FFF2-40B4-BE49-F238E27FC236}">
                <a16:creationId xmlns:a16="http://schemas.microsoft.com/office/drawing/2014/main" id="{20E2DBEC-BC00-40CB-7475-0690A4CC0EE2}"/>
              </a:ext>
            </a:extLst>
          </p:cNvPr>
          <p:cNvGrpSpPr/>
          <p:nvPr/>
        </p:nvGrpSpPr>
        <p:grpSpPr>
          <a:xfrm>
            <a:off x="4837899" y="4035187"/>
            <a:ext cx="829984" cy="829984"/>
            <a:chOff x="4837899" y="4035187"/>
            <a:chExt cx="829984" cy="829984"/>
          </a:xfrm>
        </p:grpSpPr>
        <p:pic>
          <p:nvPicPr>
            <p:cNvPr id="75" name="グラフィックス 74" descr="更新 単色塗りつぶし">
              <a:extLst>
                <a:ext uri="{FF2B5EF4-FFF2-40B4-BE49-F238E27FC236}">
                  <a16:creationId xmlns:a16="http://schemas.microsoft.com/office/drawing/2014/main" id="{4E54E988-8A5F-04F9-1AD5-6AA5FE9175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4837899" y="4035187"/>
              <a:ext cx="829984" cy="829984"/>
            </a:xfrm>
            <a:prstGeom prst="rect">
              <a:avLst/>
            </a:prstGeom>
          </p:spPr>
        </p:pic>
        <p:sp>
          <p:nvSpPr>
            <p:cNvPr id="76" name="テキスト ボックス 75">
              <a:extLst>
                <a:ext uri="{FF2B5EF4-FFF2-40B4-BE49-F238E27FC236}">
                  <a16:creationId xmlns:a16="http://schemas.microsoft.com/office/drawing/2014/main" id="{28025FED-DABF-698B-5136-D76C34CAFFA2}"/>
                </a:ext>
              </a:extLst>
            </p:cNvPr>
            <p:cNvSpPr txBox="1"/>
            <p:nvPr/>
          </p:nvSpPr>
          <p:spPr>
            <a:xfrm>
              <a:off x="5049383" y="4171944"/>
              <a:ext cx="393057" cy="430887"/>
            </a:xfrm>
            <a:prstGeom prst="rect">
              <a:avLst/>
            </a:prstGeom>
            <a:noFill/>
          </p:spPr>
          <p:txBody>
            <a:bodyPr wrap="none" rtlCol="0">
              <a:spAutoFit/>
            </a:bodyPr>
            <a:lstStyle/>
            <a:p>
              <a:pPr algn="ctr"/>
              <a:r>
                <a:rPr lang="en-US" altLang="ja-JP" sz="1100" b="1">
                  <a:solidFill>
                    <a:schemeClr val="accent4">
                      <a:lumMod val="75000"/>
                    </a:schemeClr>
                  </a:solidFill>
                  <a:latin typeface="メイリオ" panose="020B0604030504040204" pitchFamily="50" charset="-128"/>
                  <a:ea typeface="メイリオ" panose="020B0604030504040204" pitchFamily="50" charset="-128"/>
                </a:rPr>
                <a:t>PD</a:t>
              </a:r>
            </a:p>
            <a:p>
              <a:pPr algn="ctr"/>
              <a:r>
                <a:rPr lang="en-US" altLang="ja-JP" sz="1100" b="1">
                  <a:solidFill>
                    <a:schemeClr val="accent4">
                      <a:lumMod val="75000"/>
                    </a:schemeClr>
                  </a:solidFill>
                  <a:latin typeface="メイリオ" panose="020B0604030504040204" pitchFamily="50" charset="-128"/>
                  <a:ea typeface="メイリオ" panose="020B0604030504040204" pitchFamily="50" charset="-128"/>
                </a:rPr>
                <a:t>CA</a:t>
              </a:r>
              <a:endParaRPr kumimoji="1" lang="ja-JP" altLang="en-US" sz="1100" b="1">
                <a:solidFill>
                  <a:schemeClr val="accent4">
                    <a:lumMod val="75000"/>
                  </a:schemeClr>
                </a:solidFill>
                <a:latin typeface="メイリオ" panose="020B0604030504040204" pitchFamily="50" charset="-128"/>
                <a:ea typeface="メイリオ" panose="020B0604030504040204" pitchFamily="50" charset="-128"/>
              </a:endParaRPr>
            </a:p>
          </p:txBody>
        </p:sp>
      </p:grpSp>
      <p:pic>
        <p:nvPicPr>
          <p:cNvPr id="79" name="グラフィックス 78" descr="月毎カレンダー 単色塗りつぶし">
            <a:extLst>
              <a:ext uri="{FF2B5EF4-FFF2-40B4-BE49-F238E27FC236}">
                <a16:creationId xmlns:a16="http://schemas.microsoft.com/office/drawing/2014/main" id="{E320AF7D-EF78-1D45-BE9F-4A076EF58C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58939" y="4121486"/>
            <a:ext cx="409694" cy="409694"/>
          </a:xfrm>
          <a:prstGeom prst="rect">
            <a:avLst/>
          </a:prstGeom>
        </p:spPr>
      </p:pic>
      <p:pic>
        <p:nvPicPr>
          <p:cNvPr id="81" name="グラフィックス 80" descr="アドレス帳 単色塗りつぶし">
            <a:extLst>
              <a:ext uri="{FF2B5EF4-FFF2-40B4-BE49-F238E27FC236}">
                <a16:creationId xmlns:a16="http://schemas.microsoft.com/office/drawing/2014/main" id="{74E6CF4A-6EED-6F32-1277-7EDCA9E191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65372" y="4125088"/>
            <a:ext cx="380461" cy="380461"/>
          </a:xfrm>
          <a:prstGeom prst="rect">
            <a:avLst/>
          </a:prstGeom>
        </p:spPr>
      </p:pic>
      <p:pic>
        <p:nvPicPr>
          <p:cNvPr id="83" name="グラフィックス 82" descr="役員室 単色塗りつぶし">
            <a:extLst>
              <a:ext uri="{FF2B5EF4-FFF2-40B4-BE49-F238E27FC236}">
                <a16:creationId xmlns:a16="http://schemas.microsoft.com/office/drawing/2014/main" id="{DD451544-31D8-2289-9726-2AD2B34DF9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25480" y="4025271"/>
            <a:ext cx="457200" cy="457200"/>
          </a:xfrm>
          <a:prstGeom prst="rect">
            <a:avLst/>
          </a:prstGeom>
        </p:spPr>
      </p:pic>
      <p:pic>
        <p:nvPicPr>
          <p:cNvPr id="85" name="グラフィックス 84" descr="コール センター 単色塗りつぶし">
            <a:extLst>
              <a:ext uri="{FF2B5EF4-FFF2-40B4-BE49-F238E27FC236}">
                <a16:creationId xmlns:a16="http://schemas.microsoft.com/office/drawing/2014/main" id="{2D0D5403-C598-0E8D-37FF-81601E557A5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82386" y="4107125"/>
            <a:ext cx="338404" cy="338404"/>
          </a:xfrm>
          <a:prstGeom prst="rect">
            <a:avLst/>
          </a:prstGeom>
        </p:spPr>
      </p:pic>
      <p:grpSp>
        <p:nvGrpSpPr>
          <p:cNvPr id="99" name="グループ化 98">
            <a:extLst>
              <a:ext uri="{FF2B5EF4-FFF2-40B4-BE49-F238E27FC236}">
                <a16:creationId xmlns:a16="http://schemas.microsoft.com/office/drawing/2014/main" id="{E1A426EE-A674-6D0F-CBA7-864939F455B9}"/>
              </a:ext>
            </a:extLst>
          </p:cNvPr>
          <p:cNvGrpSpPr/>
          <p:nvPr/>
        </p:nvGrpSpPr>
        <p:grpSpPr>
          <a:xfrm>
            <a:off x="1195564" y="5725237"/>
            <a:ext cx="3381936" cy="752264"/>
            <a:chOff x="1195564" y="5725237"/>
            <a:chExt cx="3381936" cy="752264"/>
          </a:xfrm>
        </p:grpSpPr>
        <p:grpSp>
          <p:nvGrpSpPr>
            <p:cNvPr id="86" name="グループ化 85">
              <a:extLst>
                <a:ext uri="{FF2B5EF4-FFF2-40B4-BE49-F238E27FC236}">
                  <a16:creationId xmlns:a16="http://schemas.microsoft.com/office/drawing/2014/main" id="{2C2CF447-331D-5129-A66B-C065C5C3DCD3}"/>
                </a:ext>
              </a:extLst>
            </p:cNvPr>
            <p:cNvGrpSpPr/>
            <p:nvPr/>
          </p:nvGrpSpPr>
          <p:grpSpPr>
            <a:xfrm>
              <a:off x="1195564" y="5745488"/>
              <a:ext cx="716933" cy="732013"/>
              <a:chOff x="9669263" y="5961691"/>
              <a:chExt cx="716933" cy="732013"/>
            </a:xfrm>
          </p:grpSpPr>
          <p:sp>
            <p:nvSpPr>
              <p:cNvPr id="87" name="四角形: 角を丸くする 86">
                <a:extLst>
                  <a:ext uri="{FF2B5EF4-FFF2-40B4-BE49-F238E27FC236}">
                    <a16:creationId xmlns:a16="http://schemas.microsoft.com/office/drawing/2014/main" id="{AE9BE14C-D006-2C38-4A51-A03BF155B78F}"/>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70740C63-0ECF-78DA-2ABB-70AE0616F04C}"/>
                  </a:ext>
                </a:extLst>
              </p:cNvPr>
              <p:cNvSpPr txBox="1"/>
              <p:nvPr/>
            </p:nvSpPr>
            <p:spPr>
              <a:xfrm>
                <a:off x="9675072" y="6324372"/>
                <a:ext cx="711124" cy="369332"/>
              </a:xfrm>
              <a:prstGeom prst="rect">
                <a:avLst/>
              </a:prstGeom>
              <a:noFill/>
            </p:spPr>
            <p:txBody>
              <a:bodyPr wrap="square" rtlCol="0">
                <a:spAutoFit/>
              </a:bodyPr>
              <a:lstStyle/>
              <a:p>
                <a:pPr algn="ctr"/>
                <a:r>
                  <a:rPr kumimoji="1" lang="ja-JP" altLang="en-US" sz="900" b="1">
                    <a:latin typeface="メイリオ" panose="020B0604030504040204" pitchFamily="50" charset="-128"/>
                    <a:ea typeface="メイリオ" panose="020B0604030504040204" pitchFamily="50" charset="-128"/>
                  </a:rPr>
                  <a:t>ペルソナ</a:t>
                </a:r>
                <a:endParaRPr kumimoji="1" lang="en-US" altLang="ja-JP" sz="900" b="1">
                  <a:latin typeface="メイリオ" panose="020B0604030504040204" pitchFamily="50" charset="-128"/>
                  <a:ea typeface="メイリオ" panose="020B0604030504040204" pitchFamily="50" charset="-128"/>
                </a:endParaRPr>
              </a:p>
              <a:p>
                <a:pPr algn="ctr"/>
                <a:r>
                  <a:rPr kumimoji="1" lang="ja-JP" altLang="en-US" sz="900" b="1">
                    <a:latin typeface="メイリオ" panose="020B0604030504040204" pitchFamily="50" charset="-128"/>
                    <a:ea typeface="メイリオ" panose="020B0604030504040204" pitchFamily="50" charset="-128"/>
                  </a:rPr>
                  <a:t>設計</a:t>
                </a:r>
                <a:endParaRPr kumimoji="1" lang="en-US" altLang="ja-JP" sz="900" b="1">
                  <a:latin typeface="メイリオ" panose="020B0604030504040204" pitchFamily="50" charset="-128"/>
                  <a:ea typeface="メイリオ" panose="020B0604030504040204" pitchFamily="50" charset="-128"/>
                </a:endParaRPr>
              </a:p>
            </p:txBody>
          </p:sp>
        </p:grpSp>
        <p:grpSp>
          <p:nvGrpSpPr>
            <p:cNvPr id="89" name="グループ化 88">
              <a:extLst>
                <a:ext uri="{FF2B5EF4-FFF2-40B4-BE49-F238E27FC236}">
                  <a16:creationId xmlns:a16="http://schemas.microsoft.com/office/drawing/2014/main" id="{8180A2F2-EACD-A909-1162-2E46C8815E76}"/>
                </a:ext>
              </a:extLst>
            </p:cNvPr>
            <p:cNvGrpSpPr/>
            <p:nvPr/>
          </p:nvGrpSpPr>
          <p:grpSpPr>
            <a:xfrm>
              <a:off x="2081676" y="5745488"/>
              <a:ext cx="719155" cy="711124"/>
              <a:chOff x="9661232" y="5961691"/>
              <a:chExt cx="719155" cy="711124"/>
            </a:xfrm>
          </p:grpSpPr>
          <p:sp>
            <p:nvSpPr>
              <p:cNvPr id="90" name="四角形: 角を丸くする 89">
                <a:extLst>
                  <a:ext uri="{FF2B5EF4-FFF2-40B4-BE49-F238E27FC236}">
                    <a16:creationId xmlns:a16="http://schemas.microsoft.com/office/drawing/2014/main" id="{4DA32AB1-8D0B-B2FC-C9EE-429BB8EF301D}"/>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AFBFE2C6-2522-8800-26E6-9F550F3BCB57}"/>
                  </a:ext>
                </a:extLst>
              </p:cNvPr>
              <p:cNvSpPr txBox="1"/>
              <p:nvPr/>
            </p:nvSpPr>
            <p:spPr>
              <a:xfrm>
                <a:off x="9661232" y="6393622"/>
                <a:ext cx="711124"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文書作成</a:t>
                </a:r>
                <a:endParaRPr kumimoji="1" lang="en-US" altLang="ja-JP" sz="900" b="1">
                  <a:latin typeface="メイリオ" panose="020B0604030504040204" pitchFamily="50" charset="-128"/>
                  <a:ea typeface="メイリオ" panose="020B0604030504040204" pitchFamily="50" charset="-128"/>
                </a:endParaRPr>
              </a:p>
            </p:txBody>
          </p:sp>
        </p:grpSp>
        <p:grpSp>
          <p:nvGrpSpPr>
            <p:cNvPr id="92" name="グループ化 91">
              <a:extLst>
                <a:ext uri="{FF2B5EF4-FFF2-40B4-BE49-F238E27FC236}">
                  <a16:creationId xmlns:a16="http://schemas.microsoft.com/office/drawing/2014/main" id="{3B29DEE8-FC70-B301-D526-F3D211A0A49C}"/>
                </a:ext>
              </a:extLst>
            </p:cNvPr>
            <p:cNvGrpSpPr/>
            <p:nvPr/>
          </p:nvGrpSpPr>
          <p:grpSpPr>
            <a:xfrm>
              <a:off x="2970010" y="5745488"/>
              <a:ext cx="719155" cy="711124"/>
              <a:chOff x="9661232" y="5961691"/>
              <a:chExt cx="719155" cy="711124"/>
            </a:xfrm>
          </p:grpSpPr>
          <p:sp>
            <p:nvSpPr>
              <p:cNvPr id="93" name="四角形: 角を丸くする 92">
                <a:extLst>
                  <a:ext uri="{FF2B5EF4-FFF2-40B4-BE49-F238E27FC236}">
                    <a16:creationId xmlns:a16="http://schemas.microsoft.com/office/drawing/2014/main" id="{D891DADA-3B1B-88B5-CB4A-3AF1D81D9445}"/>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94" name="テキスト ボックス 93">
                <a:extLst>
                  <a:ext uri="{FF2B5EF4-FFF2-40B4-BE49-F238E27FC236}">
                    <a16:creationId xmlns:a16="http://schemas.microsoft.com/office/drawing/2014/main" id="{9678BABD-BE59-966C-6A1E-096B5AF0660E}"/>
                  </a:ext>
                </a:extLst>
              </p:cNvPr>
              <p:cNvSpPr txBox="1"/>
              <p:nvPr/>
            </p:nvSpPr>
            <p:spPr>
              <a:xfrm>
                <a:off x="9661232" y="6393622"/>
                <a:ext cx="711124"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媒体選定</a:t>
                </a:r>
                <a:endParaRPr kumimoji="1" lang="en-US" altLang="ja-JP" sz="900" b="1">
                  <a:latin typeface="メイリオ" panose="020B0604030504040204" pitchFamily="50" charset="-128"/>
                  <a:ea typeface="メイリオ" panose="020B0604030504040204" pitchFamily="50" charset="-128"/>
                </a:endParaRPr>
              </a:p>
            </p:txBody>
          </p:sp>
        </p:grpSp>
        <p:grpSp>
          <p:nvGrpSpPr>
            <p:cNvPr id="95" name="グループ化 94">
              <a:extLst>
                <a:ext uri="{FF2B5EF4-FFF2-40B4-BE49-F238E27FC236}">
                  <a16:creationId xmlns:a16="http://schemas.microsoft.com/office/drawing/2014/main" id="{ACBFE030-E52D-538A-D452-7F1D2C8B9092}"/>
                </a:ext>
              </a:extLst>
            </p:cNvPr>
            <p:cNvGrpSpPr/>
            <p:nvPr/>
          </p:nvGrpSpPr>
          <p:grpSpPr>
            <a:xfrm>
              <a:off x="3858345" y="5725237"/>
              <a:ext cx="719155" cy="738443"/>
              <a:chOff x="9661232" y="5961691"/>
              <a:chExt cx="719155" cy="738443"/>
            </a:xfrm>
          </p:grpSpPr>
          <p:sp>
            <p:nvSpPr>
              <p:cNvPr id="96" name="四角形: 角を丸くする 95">
                <a:extLst>
                  <a:ext uri="{FF2B5EF4-FFF2-40B4-BE49-F238E27FC236}">
                    <a16:creationId xmlns:a16="http://schemas.microsoft.com/office/drawing/2014/main" id="{031381E4-5E08-519D-BC77-600CAA2363D3}"/>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A124B423-4E6D-A8FA-AF64-97EFEA5D3A93}"/>
                  </a:ext>
                </a:extLst>
              </p:cNvPr>
              <p:cNvSpPr txBox="1"/>
              <p:nvPr/>
            </p:nvSpPr>
            <p:spPr>
              <a:xfrm>
                <a:off x="9661232" y="6330802"/>
                <a:ext cx="711124" cy="3693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スカウト送信</a:t>
                </a:r>
                <a:endParaRPr kumimoji="1" lang="en-US" altLang="ja-JP" sz="900" b="1">
                  <a:latin typeface="メイリオ" panose="020B0604030504040204" pitchFamily="50" charset="-128"/>
                  <a:ea typeface="メイリオ" panose="020B0604030504040204" pitchFamily="50" charset="-128"/>
                </a:endParaRPr>
              </a:p>
            </p:txBody>
          </p:sp>
        </p:grpSp>
      </p:grpSp>
      <p:grpSp>
        <p:nvGrpSpPr>
          <p:cNvPr id="113" name="グループ化 112">
            <a:extLst>
              <a:ext uri="{FF2B5EF4-FFF2-40B4-BE49-F238E27FC236}">
                <a16:creationId xmlns:a16="http://schemas.microsoft.com/office/drawing/2014/main" id="{B7047A64-258D-7889-4873-CE355E86D3E4}"/>
              </a:ext>
            </a:extLst>
          </p:cNvPr>
          <p:cNvGrpSpPr/>
          <p:nvPr/>
        </p:nvGrpSpPr>
        <p:grpSpPr>
          <a:xfrm>
            <a:off x="4808112" y="5706574"/>
            <a:ext cx="829984" cy="829984"/>
            <a:chOff x="4837899" y="4035187"/>
            <a:chExt cx="829984" cy="829984"/>
          </a:xfrm>
        </p:grpSpPr>
        <p:pic>
          <p:nvPicPr>
            <p:cNvPr id="114" name="グラフィックス 113" descr="更新 単色塗りつぶし">
              <a:extLst>
                <a:ext uri="{FF2B5EF4-FFF2-40B4-BE49-F238E27FC236}">
                  <a16:creationId xmlns:a16="http://schemas.microsoft.com/office/drawing/2014/main" id="{B12B1A13-36A7-CE9A-7DF4-EF18DDFE93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4837899" y="4035187"/>
              <a:ext cx="829984" cy="829984"/>
            </a:xfrm>
            <a:prstGeom prst="rect">
              <a:avLst/>
            </a:prstGeom>
          </p:spPr>
        </p:pic>
        <p:sp>
          <p:nvSpPr>
            <p:cNvPr id="115" name="テキスト ボックス 114">
              <a:extLst>
                <a:ext uri="{FF2B5EF4-FFF2-40B4-BE49-F238E27FC236}">
                  <a16:creationId xmlns:a16="http://schemas.microsoft.com/office/drawing/2014/main" id="{7C953C56-63B8-A19A-637A-331808B923DD}"/>
                </a:ext>
              </a:extLst>
            </p:cNvPr>
            <p:cNvSpPr txBox="1"/>
            <p:nvPr/>
          </p:nvSpPr>
          <p:spPr>
            <a:xfrm>
              <a:off x="5049383" y="4171944"/>
              <a:ext cx="393057" cy="430887"/>
            </a:xfrm>
            <a:prstGeom prst="rect">
              <a:avLst/>
            </a:prstGeom>
            <a:noFill/>
          </p:spPr>
          <p:txBody>
            <a:bodyPr wrap="none" rtlCol="0">
              <a:spAutoFit/>
            </a:bodyPr>
            <a:lstStyle/>
            <a:p>
              <a:pPr algn="ctr"/>
              <a:r>
                <a:rPr lang="en-US" altLang="ja-JP" sz="1100" b="1">
                  <a:solidFill>
                    <a:schemeClr val="accent4">
                      <a:lumMod val="75000"/>
                    </a:schemeClr>
                  </a:solidFill>
                  <a:latin typeface="メイリオ" panose="020B0604030504040204" pitchFamily="50" charset="-128"/>
                  <a:ea typeface="メイリオ" panose="020B0604030504040204" pitchFamily="50" charset="-128"/>
                </a:rPr>
                <a:t>PD</a:t>
              </a:r>
            </a:p>
            <a:p>
              <a:pPr algn="ctr"/>
              <a:r>
                <a:rPr lang="en-US" altLang="ja-JP" sz="1100" b="1">
                  <a:solidFill>
                    <a:schemeClr val="accent4">
                      <a:lumMod val="75000"/>
                    </a:schemeClr>
                  </a:solidFill>
                  <a:latin typeface="メイリオ" panose="020B0604030504040204" pitchFamily="50" charset="-128"/>
                  <a:ea typeface="メイリオ" panose="020B0604030504040204" pitchFamily="50" charset="-128"/>
                </a:rPr>
                <a:t>CA</a:t>
              </a:r>
              <a:endParaRPr kumimoji="1" lang="ja-JP" altLang="en-US" sz="1100" b="1">
                <a:solidFill>
                  <a:schemeClr val="accent4">
                    <a:lumMod val="75000"/>
                  </a:schemeClr>
                </a:solidFill>
                <a:latin typeface="メイリオ" panose="020B0604030504040204" pitchFamily="50" charset="-128"/>
                <a:ea typeface="メイリオ" panose="020B0604030504040204" pitchFamily="50" charset="-128"/>
              </a:endParaRPr>
            </a:p>
          </p:txBody>
        </p:sp>
      </p:grpSp>
      <p:grpSp>
        <p:nvGrpSpPr>
          <p:cNvPr id="116" name="グループ化 115">
            <a:extLst>
              <a:ext uri="{FF2B5EF4-FFF2-40B4-BE49-F238E27FC236}">
                <a16:creationId xmlns:a16="http://schemas.microsoft.com/office/drawing/2014/main" id="{E4D7A311-F246-C8E0-7450-3632E5F02345}"/>
              </a:ext>
            </a:extLst>
          </p:cNvPr>
          <p:cNvGrpSpPr/>
          <p:nvPr/>
        </p:nvGrpSpPr>
        <p:grpSpPr>
          <a:xfrm>
            <a:off x="10325921" y="4027704"/>
            <a:ext cx="829984" cy="829984"/>
            <a:chOff x="4837899" y="4035187"/>
            <a:chExt cx="829984" cy="829984"/>
          </a:xfrm>
        </p:grpSpPr>
        <p:pic>
          <p:nvPicPr>
            <p:cNvPr id="117" name="グラフィックス 116" descr="更新 単色塗りつぶし">
              <a:extLst>
                <a:ext uri="{FF2B5EF4-FFF2-40B4-BE49-F238E27FC236}">
                  <a16:creationId xmlns:a16="http://schemas.microsoft.com/office/drawing/2014/main" id="{EB6DBC8A-1222-4512-65B5-C8543104D8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4837899" y="4035187"/>
              <a:ext cx="829984" cy="829984"/>
            </a:xfrm>
            <a:prstGeom prst="rect">
              <a:avLst/>
            </a:prstGeom>
          </p:spPr>
        </p:pic>
        <p:sp>
          <p:nvSpPr>
            <p:cNvPr id="118" name="テキスト ボックス 117">
              <a:extLst>
                <a:ext uri="{FF2B5EF4-FFF2-40B4-BE49-F238E27FC236}">
                  <a16:creationId xmlns:a16="http://schemas.microsoft.com/office/drawing/2014/main" id="{7E208CE5-9EB2-1216-A916-B1166C1E55DD}"/>
                </a:ext>
              </a:extLst>
            </p:cNvPr>
            <p:cNvSpPr txBox="1"/>
            <p:nvPr/>
          </p:nvSpPr>
          <p:spPr>
            <a:xfrm>
              <a:off x="5049383" y="4171944"/>
              <a:ext cx="393057" cy="430887"/>
            </a:xfrm>
            <a:prstGeom prst="rect">
              <a:avLst/>
            </a:prstGeom>
            <a:noFill/>
          </p:spPr>
          <p:txBody>
            <a:bodyPr wrap="none" rtlCol="0">
              <a:spAutoFit/>
            </a:bodyPr>
            <a:lstStyle/>
            <a:p>
              <a:pPr algn="ctr"/>
              <a:r>
                <a:rPr lang="en-US" altLang="ja-JP" sz="1100" b="1">
                  <a:solidFill>
                    <a:schemeClr val="accent4">
                      <a:lumMod val="75000"/>
                    </a:schemeClr>
                  </a:solidFill>
                  <a:latin typeface="メイリオ" panose="020B0604030504040204" pitchFamily="50" charset="-128"/>
                  <a:ea typeface="メイリオ" panose="020B0604030504040204" pitchFamily="50" charset="-128"/>
                </a:rPr>
                <a:t>PD</a:t>
              </a:r>
            </a:p>
            <a:p>
              <a:pPr algn="ctr"/>
              <a:r>
                <a:rPr lang="en-US" altLang="ja-JP" sz="1100" b="1">
                  <a:solidFill>
                    <a:schemeClr val="accent4">
                      <a:lumMod val="75000"/>
                    </a:schemeClr>
                  </a:solidFill>
                  <a:latin typeface="メイリオ" panose="020B0604030504040204" pitchFamily="50" charset="-128"/>
                  <a:ea typeface="メイリオ" panose="020B0604030504040204" pitchFamily="50" charset="-128"/>
                </a:rPr>
                <a:t>CA</a:t>
              </a:r>
              <a:endParaRPr kumimoji="1" lang="ja-JP" altLang="en-US" sz="1100" b="1">
                <a:solidFill>
                  <a:schemeClr val="accent4">
                    <a:lumMod val="75000"/>
                  </a:schemeClr>
                </a:solidFill>
                <a:latin typeface="メイリオ" panose="020B0604030504040204" pitchFamily="50" charset="-128"/>
                <a:ea typeface="メイリオ" panose="020B0604030504040204" pitchFamily="50" charset="-128"/>
              </a:endParaRPr>
            </a:p>
          </p:txBody>
        </p:sp>
      </p:grpSp>
      <p:grpSp>
        <p:nvGrpSpPr>
          <p:cNvPr id="119" name="グループ化 118">
            <a:extLst>
              <a:ext uri="{FF2B5EF4-FFF2-40B4-BE49-F238E27FC236}">
                <a16:creationId xmlns:a16="http://schemas.microsoft.com/office/drawing/2014/main" id="{6B1A66A8-886E-D503-8F34-ADF1EFFFF532}"/>
              </a:ext>
            </a:extLst>
          </p:cNvPr>
          <p:cNvGrpSpPr/>
          <p:nvPr/>
        </p:nvGrpSpPr>
        <p:grpSpPr>
          <a:xfrm>
            <a:off x="10313048" y="5665807"/>
            <a:ext cx="829984" cy="829984"/>
            <a:chOff x="4837899" y="4035187"/>
            <a:chExt cx="829984" cy="829984"/>
          </a:xfrm>
        </p:grpSpPr>
        <p:pic>
          <p:nvPicPr>
            <p:cNvPr id="120" name="グラフィックス 119" descr="更新 単色塗りつぶし">
              <a:extLst>
                <a:ext uri="{FF2B5EF4-FFF2-40B4-BE49-F238E27FC236}">
                  <a16:creationId xmlns:a16="http://schemas.microsoft.com/office/drawing/2014/main" id="{B8EC5A7A-35F1-2DBC-CE08-3DD8413224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4837899" y="4035187"/>
              <a:ext cx="829984" cy="829984"/>
            </a:xfrm>
            <a:prstGeom prst="rect">
              <a:avLst/>
            </a:prstGeom>
          </p:spPr>
        </p:pic>
        <p:sp>
          <p:nvSpPr>
            <p:cNvPr id="121" name="テキスト ボックス 120">
              <a:extLst>
                <a:ext uri="{FF2B5EF4-FFF2-40B4-BE49-F238E27FC236}">
                  <a16:creationId xmlns:a16="http://schemas.microsoft.com/office/drawing/2014/main" id="{DCE60E1C-530E-78A5-78A1-BA2099299AAF}"/>
                </a:ext>
              </a:extLst>
            </p:cNvPr>
            <p:cNvSpPr txBox="1"/>
            <p:nvPr/>
          </p:nvSpPr>
          <p:spPr>
            <a:xfrm>
              <a:off x="5049383" y="4171944"/>
              <a:ext cx="393057" cy="430887"/>
            </a:xfrm>
            <a:prstGeom prst="rect">
              <a:avLst/>
            </a:prstGeom>
            <a:noFill/>
          </p:spPr>
          <p:txBody>
            <a:bodyPr wrap="none" rtlCol="0">
              <a:spAutoFit/>
            </a:bodyPr>
            <a:lstStyle/>
            <a:p>
              <a:pPr algn="ctr"/>
              <a:r>
                <a:rPr lang="en-US" altLang="ja-JP" sz="1100" b="1">
                  <a:solidFill>
                    <a:schemeClr val="accent4">
                      <a:lumMod val="75000"/>
                    </a:schemeClr>
                  </a:solidFill>
                  <a:latin typeface="メイリオ" panose="020B0604030504040204" pitchFamily="50" charset="-128"/>
                  <a:ea typeface="メイリオ" panose="020B0604030504040204" pitchFamily="50" charset="-128"/>
                </a:rPr>
                <a:t>PD</a:t>
              </a:r>
            </a:p>
            <a:p>
              <a:pPr algn="ctr"/>
              <a:r>
                <a:rPr lang="en-US" altLang="ja-JP" sz="1100" b="1">
                  <a:solidFill>
                    <a:schemeClr val="accent4">
                      <a:lumMod val="75000"/>
                    </a:schemeClr>
                  </a:solidFill>
                  <a:latin typeface="メイリオ" panose="020B0604030504040204" pitchFamily="50" charset="-128"/>
                  <a:ea typeface="メイリオ" panose="020B0604030504040204" pitchFamily="50" charset="-128"/>
                </a:rPr>
                <a:t>CA</a:t>
              </a:r>
              <a:endParaRPr kumimoji="1" lang="ja-JP" altLang="en-US" sz="1100" b="1">
                <a:solidFill>
                  <a:schemeClr val="accent4">
                    <a:lumMod val="75000"/>
                  </a:schemeClr>
                </a:solidFill>
                <a:latin typeface="メイリオ" panose="020B0604030504040204" pitchFamily="50" charset="-128"/>
                <a:ea typeface="メイリオ" panose="020B0604030504040204" pitchFamily="50" charset="-128"/>
              </a:endParaRPr>
            </a:p>
          </p:txBody>
        </p:sp>
      </p:grpSp>
      <p:grpSp>
        <p:nvGrpSpPr>
          <p:cNvPr id="122" name="グループ化 121">
            <a:extLst>
              <a:ext uri="{FF2B5EF4-FFF2-40B4-BE49-F238E27FC236}">
                <a16:creationId xmlns:a16="http://schemas.microsoft.com/office/drawing/2014/main" id="{5ED74DD4-2011-F80D-E0DA-2B1AE21DFAD2}"/>
              </a:ext>
            </a:extLst>
          </p:cNvPr>
          <p:cNvGrpSpPr/>
          <p:nvPr/>
        </p:nvGrpSpPr>
        <p:grpSpPr>
          <a:xfrm>
            <a:off x="6715708" y="5701981"/>
            <a:ext cx="3387865" cy="731375"/>
            <a:chOff x="1195564" y="5725237"/>
            <a:chExt cx="3387865" cy="731375"/>
          </a:xfrm>
        </p:grpSpPr>
        <p:grpSp>
          <p:nvGrpSpPr>
            <p:cNvPr id="123" name="グループ化 122">
              <a:extLst>
                <a:ext uri="{FF2B5EF4-FFF2-40B4-BE49-F238E27FC236}">
                  <a16:creationId xmlns:a16="http://schemas.microsoft.com/office/drawing/2014/main" id="{B79D678D-78C5-4861-278D-7857AB025A89}"/>
                </a:ext>
              </a:extLst>
            </p:cNvPr>
            <p:cNvGrpSpPr/>
            <p:nvPr/>
          </p:nvGrpSpPr>
          <p:grpSpPr>
            <a:xfrm>
              <a:off x="1195564" y="5745488"/>
              <a:ext cx="716933" cy="711124"/>
              <a:chOff x="9669263" y="5961691"/>
              <a:chExt cx="716933" cy="711124"/>
            </a:xfrm>
          </p:grpSpPr>
          <p:sp>
            <p:nvSpPr>
              <p:cNvPr id="133" name="四角形: 角を丸くする 132">
                <a:extLst>
                  <a:ext uri="{FF2B5EF4-FFF2-40B4-BE49-F238E27FC236}">
                    <a16:creationId xmlns:a16="http://schemas.microsoft.com/office/drawing/2014/main" id="{086C7B2A-090C-FF4A-0FCD-4E0535821494}"/>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34" name="テキスト ボックス 133">
                <a:extLst>
                  <a:ext uri="{FF2B5EF4-FFF2-40B4-BE49-F238E27FC236}">
                    <a16:creationId xmlns:a16="http://schemas.microsoft.com/office/drawing/2014/main" id="{6E9F37E5-8E3A-C6F8-AEC8-94C400107707}"/>
                  </a:ext>
                </a:extLst>
              </p:cNvPr>
              <p:cNvSpPr txBox="1"/>
              <p:nvPr/>
            </p:nvSpPr>
            <p:spPr>
              <a:xfrm>
                <a:off x="9675072" y="6415112"/>
                <a:ext cx="711124" cy="230832"/>
              </a:xfrm>
              <a:prstGeom prst="rect">
                <a:avLst/>
              </a:prstGeom>
              <a:noFill/>
            </p:spPr>
            <p:txBody>
              <a:bodyPr wrap="square" rtlCol="0">
                <a:spAutoFit/>
              </a:bodyPr>
              <a:lstStyle/>
              <a:p>
                <a:pPr algn="ctr"/>
                <a:r>
                  <a:rPr kumimoji="1" lang="ja-JP" altLang="en-US" sz="900" b="1">
                    <a:latin typeface="メイリオ" panose="020B0604030504040204" pitchFamily="50" charset="-128"/>
                    <a:ea typeface="メイリオ" panose="020B0604030504040204" pitchFamily="50" charset="-128"/>
                  </a:rPr>
                  <a:t>戦略立案</a:t>
                </a:r>
                <a:endParaRPr kumimoji="1" lang="en-US" altLang="ja-JP" sz="900" b="1">
                  <a:latin typeface="メイリオ" panose="020B0604030504040204" pitchFamily="50" charset="-128"/>
                  <a:ea typeface="メイリオ" panose="020B0604030504040204" pitchFamily="50" charset="-128"/>
                </a:endParaRPr>
              </a:p>
            </p:txBody>
          </p:sp>
        </p:grpSp>
        <p:grpSp>
          <p:nvGrpSpPr>
            <p:cNvPr id="124" name="グループ化 123">
              <a:extLst>
                <a:ext uri="{FF2B5EF4-FFF2-40B4-BE49-F238E27FC236}">
                  <a16:creationId xmlns:a16="http://schemas.microsoft.com/office/drawing/2014/main" id="{09CBF33B-C944-0041-1501-E2160EE4DD68}"/>
                </a:ext>
              </a:extLst>
            </p:cNvPr>
            <p:cNvGrpSpPr/>
            <p:nvPr/>
          </p:nvGrpSpPr>
          <p:grpSpPr>
            <a:xfrm>
              <a:off x="2081676" y="5745488"/>
              <a:ext cx="719155" cy="711124"/>
              <a:chOff x="9661232" y="5961691"/>
              <a:chExt cx="719155" cy="711124"/>
            </a:xfrm>
          </p:grpSpPr>
          <p:sp>
            <p:nvSpPr>
              <p:cNvPr id="131" name="四角形: 角を丸くする 130">
                <a:extLst>
                  <a:ext uri="{FF2B5EF4-FFF2-40B4-BE49-F238E27FC236}">
                    <a16:creationId xmlns:a16="http://schemas.microsoft.com/office/drawing/2014/main" id="{AB5C210A-F5BB-FEEE-429D-9A92A9F765CE}"/>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32" name="テキスト ボックス 131">
                <a:extLst>
                  <a:ext uri="{FF2B5EF4-FFF2-40B4-BE49-F238E27FC236}">
                    <a16:creationId xmlns:a16="http://schemas.microsoft.com/office/drawing/2014/main" id="{7CA8DBF3-17A4-DE66-80C1-DF203D78FC60}"/>
                  </a:ext>
                </a:extLst>
              </p:cNvPr>
              <p:cNvSpPr txBox="1"/>
              <p:nvPr/>
            </p:nvSpPr>
            <p:spPr>
              <a:xfrm>
                <a:off x="9661232" y="6407582"/>
                <a:ext cx="711124"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要件定義</a:t>
                </a:r>
                <a:endParaRPr kumimoji="1" lang="en-US" altLang="ja-JP" sz="900" b="1">
                  <a:latin typeface="メイリオ" panose="020B0604030504040204" pitchFamily="50" charset="-128"/>
                  <a:ea typeface="メイリオ" panose="020B0604030504040204" pitchFamily="50" charset="-128"/>
                </a:endParaRPr>
              </a:p>
            </p:txBody>
          </p:sp>
        </p:grpSp>
        <p:grpSp>
          <p:nvGrpSpPr>
            <p:cNvPr id="125" name="グループ化 124">
              <a:extLst>
                <a:ext uri="{FF2B5EF4-FFF2-40B4-BE49-F238E27FC236}">
                  <a16:creationId xmlns:a16="http://schemas.microsoft.com/office/drawing/2014/main" id="{0FD8C0F9-CBFE-0C3F-F95A-B7C9C7873402}"/>
                </a:ext>
              </a:extLst>
            </p:cNvPr>
            <p:cNvGrpSpPr/>
            <p:nvPr/>
          </p:nvGrpSpPr>
          <p:grpSpPr>
            <a:xfrm>
              <a:off x="2970010" y="5745488"/>
              <a:ext cx="719155" cy="711124"/>
              <a:chOff x="9661232" y="5961691"/>
              <a:chExt cx="719155" cy="711124"/>
            </a:xfrm>
          </p:grpSpPr>
          <p:sp>
            <p:nvSpPr>
              <p:cNvPr id="129" name="四角形: 角を丸くする 128">
                <a:extLst>
                  <a:ext uri="{FF2B5EF4-FFF2-40B4-BE49-F238E27FC236}">
                    <a16:creationId xmlns:a16="http://schemas.microsoft.com/office/drawing/2014/main" id="{6B2B5317-483B-671F-DA2D-DF54CC4DC8A2}"/>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30" name="テキスト ボックス 129">
                <a:extLst>
                  <a:ext uri="{FF2B5EF4-FFF2-40B4-BE49-F238E27FC236}">
                    <a16:creationId xmlns:a16="http://schemas.microsoft.com/office/drawing/2014/main" id="{7ABA6ADE-E746-39D6-3C27-4B2D4BB12F8A}"/>
                  </a:ext>
                </a:extLst>
              </p:cNvPr>
              <p:cNvSpPr txBox="1"/>
              <p:nvPr/>
            </p:nvSpPr>
            <p:spPr>
              <a:xfrm>
                <a:off x="9661232" y="6393622"/>
                <a:ext cx="711124"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スカウト</a:t>
                </a:r>
                <a:endParaRPr kumimoji="1" lang="en-US" altLang="ja-JP" sz="900" b="1">
                  <a:latin typeface="メイリオ" panose="020B0604030504040204" pitchFamily="50" charset="-128"/>
                  <a:ea typeface="メイリオ" panose="020B0604030504040204" pitchFamily="50" charset="-128"/>
                </a:endParaRPr>
              </a:p>
            </p:txBody>
          </p:sp>
        </p:grpSp>
        <p:grpSp>
          <p:nvGrpSpPr>
            <p:cNvPr id="126" name="グループ化 125">
              <a:extLst>
                <a:ext uri="{FF2B5EF4-FFF2-40B4-BE49-F238E27FC236}">
                  <a16:creationId xmlns:a16="http://schemas.microsoft.com/office/drawing/2014/main" id="{DC671E59-C4C6-D5EB-B802-7CA2C0C66DCD}"/>
                </a:ext>
              </a:extLst>
            </p:cNvPr>
            <p:cNvGrpSpPr/>
            <p:nvPr/>
          </p:nvGrpSpPr>
          <p:grpSpPr>
            <a:xfrm>
              <a:off x="3866376" y="5725237"/>
              <a:ext cx="717053" cy="711124"/>
              <a:chOff x="9669263" y="5961691"/>
              <a:chExt cx="717053" cy="711124"/>
            </a:xfrm>
          </p:grpSpPr>
          <p:sp>
            <p:nvSpPr>
              <p:cNvPr id="127" name="四角形: 角を丸くする 126">
                <a:extLst>
                  <a:ext uri="{FF2B5EF4-FFF2-40B4-BE49-F238E27FC236}">
                    <a16:creationId xmlns:a16="http://schemas.microsoft.com/office/drawing/2014/main" id="{61AE6D66-00F2-B583-C523-0AC67F2459C5}"/>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28" name="テキスト ボックス 127">
                <a:extLst>
                  <a:ext uri="{FF2B5EF4-FFF2-40B4-BE49-F238E27FC236}">
                    <a16:creationId xmlns:a16="http://schemas.microsoft.com/office/drawing/2014/main" id="{F95B12FA-4E4D-7DE5-A7D8-AF60A1C0A0DC}"/>
                  </a:ext>
                </a:extLst>
              </p:cNvPr>
              <p:cNvSpPr txBox="1"/>
              <p:nvPr/>
            </p:nvSpPr>
            <p:spPr>
              <a:xfrm>
                <a:off x="9675192" y="6400602"/>
                <a:ext cx="711124"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面談･面接</a:t>
                </a:r>
                <a:endParaRPr kumimoji="1" lang="en-US" altLang="ja-JP" sz="900" b="1">
                  <a:latin typeface="メイリオ" panose="020B0604030504040204" pitchFamily="50" charset="-128"/>
                  <a:ea typeface="メイリオ" panose="020B0604030504040204" pitchFamily="50" charset="-128"/>
                </a:endParaRPr>
              </a:p>
            </p:txBody>
          </p:sp>
        </p:grpSp>
      </p:grpSp>
      <p:pic>
        <p:nvPicPr>
          <p:cNvPr id="136" name="グラフィックス 135" descr="封筒 単色塗りつぶし">
            <a:extLst>
              <a:ext uri="{FF2B5EF4-FFF2-40B4-BE49-F238E27FC236}">
                <a16:creationId xmlns:a16="http://schemas.microsoft.com/office/drawing/2014/main" id="{A62297C4-23E4-9F1C-CD7D-87DEC428082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39916" y="5791613"/>
            <a:ext cx="369332" cy="369332"/>
          </a:xfrm>
          <a:prstGeom prst="rect">
            <a:avLst/>
          </a:prstGeom>
        </p:spPr>
      </p:pic>
      <p:pic>
        <p:nvPicPr>
          <p:cNvPr id="138" name="グラフィックス 137" descr="インターネット 単色塗りつぶし">
            <a:extLst>
              <a:ext uri="{FF2B5EF4-FFF2-40B4-BE49-F238E27FC236}">
                <a16:creationId xmlns:a16="http://schemas.microsoft.com/office/drawing/2014/main" id="{DF74CC67-C665-CD5E-4ABE-46CA4F5BF0E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11520" y="5782388"/>
            <a:ext cx="457200" cy="457200"/>
          </a:xfrm>
          <a:prstGeom prst="rect">
            <a:avLst/>
          </a:prstGeom>
        </p:spPr>
      </p:pic>
      <p:pic>
        <p:nvPicPr>
          <p:cNvPr id="142" name="グラフィックス 141" descr="社員証 単色塗りつぶし">
            <a:extLst>
              <a:ext uri="{FF2B5EF4-FFF2-40B4-BE49-F238E27FC236}">
                <a16:creationId xmlns:a16="http://schemas.microsoft.com/office/drawing/2014/main" id="{D01AD59C-9812-B099-6CFE-19B2E8936FE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362513" y="5784830"/>
            <a:ext cx="369333" cy="369333"/>
          </a:xfrm>
          <a:prstGeom prst="rect">
            <a:avLst/>
          </a:prstGeom>
        </p:spPr>
      </p:pic>
      <p:pic>
        <p:nvPicPr>
          <p:cNvPr id="144" name="グラフィックス 143" descr="アイデアが浮かんだ人 単色塗りつぶし">
            <a:extLst>
              <a:ext uri="{FF2B5EF4-FFF2-40B4-BE49-F238E27FC236}">
                <a16:creationId xmlns:a16="http://schemas.microsoft.com/office/drawing/2014/main" id="{3EBC22E5-A9CD-419A-D141-466F9662F3D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75940" y="5782388"/>
            <a:ext cx="396701" cy="396701"/>
          </a:xfrm>
          <a:prstGeom prst="rect">
            <a:avLst/>
          </a:prstGeom>
        </p:spPr>
      </p:pic>
      <p:pic>
        <p:nvPicPr>
          <p:cNvPr id="146" name="グラフィックス 145" descr="ドキュメント 単色塗りつぶし">
            <a:extLst>
              <a:ext uri="{FF2B5EF4-FFF2-40B4-BE49-F238E27FC236}">
                <a16:creationId xmlns:a16="http://schemas.microsoft.com/office/drawing/2014/main" id="{A50D95CD-CA50-8CC2-D8EE-BD9B0BD4047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253650" y="5816049"/>
            <a:ext cx="361370" cy="361370"/>
          </a:xfrm>
          <a:prstGeom prst="rect">
            <a:avLst/>
          </a:prstGeom>
        </p:spPr>
      </p:pic>
      <p:grpSp>
        <p:nvGrpSpPr>
          <p:cNvPr id="147" name="グループ化 146">
            <a:extLst>
              <a:ext uri="{FF2B5EF4-FFF2-40B4-BE49-F238E27FC236}">
                <a16:creationId xmlns:a16="http://schemas.microsoft.com/office/drawing/2014/main" id="{414A61C7-E8D2-7C45-981B-39B04593F616}"/>
              </a:ext>
            </a:extLst>
          </p:cNvPr>
          <p:cNvGrpSpPr/>
          <p:nvPr/>
        </p:nvGrpSpPr>
        <p:grpSpPr>
          <a:xfrm>
            <a:off x="6604302" y="4068654"/>
            <a:ext cx="3539922" cy="711124"/>
            <a:chOff x="1061771" y="4044365"/>
            <a:chExt cx="3539922" cy="711124"/>
          </a:xfrm>
        </p:grpSpPr>
        <p:grpSp>
          <p:nvGrpSpPr>
            <p:cNvPr id="148" name="グループ化 147">
              <a:extLst>
                <a:ext uri="{FF2B5EF4-FFF2-40B4-BE49-F238E27FC236}">
                  <a16:creationId xmlns:a16="http://schemas.microsoft.com/office/drawing/2014/main" id="{92B245C6-0D59-3D85-CF87-A915678C30EC}"/>
                </a:ext>
              </a:extLst>
            </p:cNvPr>
            <p:cNvGrpSpPr/>
            <p:nvPr/>
          </p:nvGrpSpPr>
          <p:grpSpPr>
            <a:xfrm>
              <a:off x="1061771" y="4044365"/>
              <a:ext cx="977839" cy="711124"/>
              <a:chOff x="9535905" y="5961691"/>
              <a:chExt cx="977839" cy="711124"/>
            </a:xfrm>
          </p:grpSpPr>
          <p:sp>
            <p:nvSpPr>
              <p:cNvPr id="158" name="四角形: 角を丸くする 157">
                <a:extLst>
                  <a:ext uri="{FF2B5EF4-FFF2-40B4-BE49-F238E27FC236}">
                    <a16:creationId xmlns:a16="http://schemas.microsoft.com/office/drawing/2014/main" id="{1E2DEF9B-2CA9-F88C-01BB-0B15E9185FF4}"/>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59" name="テキスト ボックス 158">
                <a:extLst>
                  <a:ext uri="{FF2B5EF4-FFF2-40B4-BE49-F238E27FC236}">
                    <a16:creationId xmlns:a16="http://schemas.microsoft.com/office/drawing/2014/main" id="{D8446B7C-60DC-1C3A-6A64-B803711B8A50}"/>
                  </a:ext>
                </a:extLst>
              </p:cNvPr>
              <p:cNvSpPr txBox="1"/>
              <p:nvPr/>
            </p:nvSpPr>
            <p:spPr>
              <a:xfrm>
                <a:off x="9535905" y="6426593"/>
                <a:ext cx="977839" cy="230832"/>
              </a:xfrm>
              <a:prstGeom prst="rect">
                <a:avLst/>
              </a:prstGeom>
              <a:noFill/>
            </p:spPr>
            <p:txBody>
              <a:bodyPr wrap="square" rtlCol="0">
                <a:spAutoFit/>
              </a:bodyPr>
              <a:lstStyle/>
              <a:p>
                <a:pPr algn="ctr"/>
                <a:r>
                  <a:rPr kumimoji="1" lang="ja-JP" altLang="en-US" sz="900" b="1">
                    <a:latin typeface="メイリオ" panose="020B0604030504040204" pitchFamily="50" charset="-128"/>
                    <a:ea typeface="メイリオ" panose="020B0604030504040204" pitchFamily="50" charset="-128"/>
                  </a:rPr>
                  <a:t>日程調整</a:t>
                </a:r>
                <a:endParaRPr kumimoji="1" lang="en-US" altLang="ja-JP" sz="900" b="1">
                  <a:latin typeface="メイリオ" panose="020B0604030504040204" pitchFamily="50" charset="-128"/>
                  <a:ea typeface="メイリオ" panose="020B0604030504040204" pitchFamily="50" charset="-128"/>
                </a:endParaRPr>
              </a:p>
            </p:txBody>
          </p:sp>
        </p:grpSp>
        <p:grpSp>
          <p:nvGrpSpPr>
            <p:cNvPr id="149" name="グループ化 148">
              <a:extLst>
                <a:ext uri="{FF2B5EF4-FFF2-40B4-BE49-F238E27FC236}">
                  <a16:creationId xmlns:a16="http://schemas.microsoft.com/office/drawing/2014/main" id="{06E5B021-C67B-143B-C0DB-8254791B6DA2}"/>
                </a:ext>
              </a:extLst>
            </p:cNvPr>
            <p:cNvGrpSpPr/>
            <p:nvPr/>
          </p:nvGrpSpPr>
          <p:grpSpPr>
            <a:xfrm>
              <a:off x="1960251" y="4044365"/>
              <a:ext cx="977839" cy="711124"/>
              <a:chOff x="9535905" y="5961691"/>
              <a:chExt cx="977839" cy="711124"/>
            </a:xfrm>
          </p:grpSpPr>
          <p:sp>
            <p:nvSpPr>
              <p:cNvPr id="156" name="四角形: 角を丸くする 155">
                <a:extLst>
                  <a:ext uri="{FF2B5EF4-FFF2-40B4-BE49-F238E27FC236}">
                    <a16:creationId xmlns:a16="http://schemas.microsoft.com/office/drawing/2014/main" id="{DE574D4E-7C31-D569-2930-CE5E90A6FFB9}"/>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57" name="テキスト ボックス 156">
                <a:extLst>
                  <a:ext uri="{FF2B5EF4-FFF2-40B4-BE49-F238E27FC236}">
                    <a16:creationId xmlns:a16="http://schemas.microsoft.com/office/drawing/2014/main" id="{7BADC9E8-99AB-3600-BDE4-1385447DB56C}"/>
                  </a:ext>
                </a:extLst>
              </p:cNvPr>
              <p:cNvSpPr txBox="1"/>
              <p:nvPr/>
            </p:nvSpPr>
            <p:spPr>
              <a:xfrm>
                <a:off x="9535905" y="6426593"/>
                <a:ext cx="977839" cy="230832"/>
              </a:xfrm>
              <a:prstGeom prst="rect">
                <a:avLst/>
              </a:prstGeom>
              <a:noFill/>
            </p:spPr>
            <p:txBody>
              <a:bodyPr wrap="square" rtlCol="0">
                <a:spAutoFit/>
              </a:bodyPr>
              <a:lstStyle/>
              <a:p>
                <a:pPr algn="ctr"/>
                <a:r>
                  <a:rPr kumimoji="1" lang="ja-JP" altLang="en-US" sz="900" b="1">
                    <a:latin typeface="メイリオ" panose="020B0604030504040204" pitchFamily="50" charset="-128"/>
                    <a:ea typeface="メイリオ" panose="020B0604030504040204" pitchFamily="50" charset="-128"/>
                  </a:rPr>
                  <a:t>面談</a:t>
                </a:r>
                <a:endParaRPr kumimoji="1" lang="en-US" altLang="ja-JP" sz="900" b="1">
                  <a:latin typeface="メイリオ" panose="020B0604030504040204" pitchFamily="50" charset="-128"/>
                  <a:ea typeface="メイリオ" panose="020B0604030504040204" pitchFamily="50" charset="-128"/>
                </a:endParaRPr>
              </a:p>
            </p:txBody>
          </p:sp>
        </p:grpSp>
        <p:grpSp>
          <p:nvGrpSpPr>
            <p:cNvPr id="150" name="グループ化 149">
              <a:extLst>
                <a:ext uri="{FF2B5EF4-FFF2-40B4-BE49-F238E27FC236}">
                  <a16:creationId xmlns:a16="http://schemas.microsoft.com/office/drawing/2014/main" id="{85DEA497-3660-0519-ED03-65AFD9544510}"/>
                </a:ext>
              </a:extLst>
            </p:cNvPr>
            <p:cNvGrpSpPr/>
            <p:nvPr/>
          </p:nvGrpSpPr>
          <p:grpSpPr>
            <a:xfrm>
              <a:off x="2858731" y="4044365"/>
              <a:ext cx="977839" cy="711124"/>
              <a:chOff x="9538647" y="5961691"/>
              <a:chExt cx="977839" cy="711124"/>
            </a:xfrm>
          </p:grpSpPr>
          <p:sp>
            <p:nvSpPr>
              <p:cNvPr id="154" name="四角形: 角を丸くする 153">
                <a:extLst>
                  <a:ext uri="{FF2B5EF4-FFF2-40B4-BE49-F238E27FC236}">
                    <a16:creationId xmlns:a16="http://schemas.microsoft.com/office/drawing/2014/main" id="{29AC5AD7-EDA4-6942-DB76-F998CAF711FD}"/>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55" name="テキスト ボックス 154">
                <a:extLst>
                  <a:ext uri="{FF2B5EF4-FFF2-40B4-BE49-F238E27FC236}">
                    <a16:creationId xmlns:a16="http://schemas.microsoft.com/office/drawing/2014/main" id="{3DE86C66-7AFD-444C-7A75-E82D3746A506}"/>
                  </a:ext>
                </a:extLst>
              </p:cNvPr>
              <p:cNvSpPr txBox="1"/>
              <p:nvPr/>
            </p:nvSpPr>
            <p:spPr>
              <a:xfrm>
                <a:off x="9538647" y="6440978"/>
                <a:ext cx="977839" cy="215444"/>
              </a:xfrm>
              <a:prstGeom prst="rect">
                <a:avLst/>
              </a:prstGeom>
              <a:noFill/>
            </p:spPr>
            <p:txBody>
              <a:bodyPr wrap="square" rtlCol="0">
                <a:spAutoFit/>
              </a:bodyPr>
              <a:lstStyle/>
              <a:p>
                <a:pPr algn="ctr"/>
                <a:r>
                  <a:rPr kumimoji="1" lang="ja-JP" altLang="en-US" sz="800" b="1">
                    <a:latin typeface="メイリオ" panose="020B0604030504040204" pitchFamily="50" charset="-128"/>
                    <a:ea typeface="メイリオ" panose="020B0604030504040204" pitchFamily="50" charset="-128"/>
                  </a:rPr>
                  <a:t>面接</a:t>
                </a:r>
                <a:endParaRPr kumimoji="1" lang="en-US" altLang="ja-JP" sz="800" b="1">
                  <a:latin typeface="メイリオ" panose="020B0604030504040204" pitchFamily="50" charset="-128"/>
                  <a:ea typeface="メイリオ" panose="020B0604030504040204" pitchFamily="50" charset="-128"/>
                </a:endParaRPr>
              </a:p>
            </p:txBody>
          </p:sp>
        </p:grpSp>
        <p:grpSp>
          <p:nvGrpSpPr>
            <p:cNvPr id="151" name="グループ化 150">
              <a:extLst>
                <a:ext uri="{FF2B5EF4-FFF2-40B4-BE49-F238E27FC236}">
                  <a16:creationId xmlns:a16="http://schemas.microsoft.com/office/drawing/2014/main" id="{A08BE407-F5C8-3940-E8EA-5339B0D6DAB7}"/>
                </a:ext>
              </a:extLst>
            </p:cNvPr>
            <p:cNvGrpSpPr/>
            <p:nvPr/>
          </p:nvGrpSpPr>
          <p:grpSpPr>
            <a:xfrm>
              <a:off x="3889588" y="4044365"/>
              <a:ext cx="712105" cy="711124"/>
              <a:chOff x="9668282" y="5961691"/>
              <a:chExt cx="712105" cy="711124"/>
            </a:xfrm>
          </p:grpSpPr>
          <p:sp>
            <p:nvSpPr>
              <p:cNvPr id="152" name="四角形: 角を丸くする 151">
                <a:extLst>
                  <a:ext uri="{FF2B5EF4-FFF2-40B4-BE49-F238E27FC236}">
                    <a16:creationId xmlns:a16="http://schemas.microsoft.com/office/drawing/2014/main" id="{64C76F94-CD05-15BF-EAD0-2C34F2323571}"/>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53" name="テキスト ボックス 152">
                <a:extLst>
                  <a:ext uri="{FF2B5EF4-FFF2-40B4-BE49-F238E27FC236}">
                    <a16:creationId xmlns:a16="http://schemas.microsoft.com/office/drawing/2014/main" id="{05B9A005-35AD-D57B-9D85-0718DB87F889}"/>
                  </a:ext>
                </a:extLst>
              </p:cNvPr>
              <p:cNvSpPr txBox="1"/>
              <p:nvPr/>
            </p:nvSpPr>
            <p:spPr>
              <a:xfrm>
                <a:off x="9668282" y="6356860"/>
                <a:ext cx="687912" cy="307777"/>
              </a:xfrm>
              <a:prstGeom prst="rect">
                <a:avLst/>
              </a:prstGeom>
              <a:noFill/>
            </p:spPr>
            <p:txBody>
              <a:bodyPr wrap="square" rtlCol="0">
                <a:spAutoFit/>
              </a:bodyPr>
              <a:lstStyle/>
              <a:p>
                <a:pPr algn="ctr"/>
                <a:r>
                  <a:rPr lang="ja-JP" altLang="en-US" sz="700" b="1">
                    <a:latin typeface="メイリオ" panose="020B0604030504040204" pitchFamily="50" charset="-128"/>
                    <a:ea typeface="メイリオ" panose="020B0604030504040204" pitchFamily="50" charset="-128"/>
                  </a:rPr>
                  <a:t>問い合わせ</a:t>
                </a:r>
                <a:endParaRPr lang="en-US" altLang="ja-JP" sz="700" b="1">
                  <a:latin typeface="メイリオ" panose="020B0604030504040204" pitchFamily="50" charset="-128"/>
                  <a:ea typeface="メイリオ" panose="020B0604030504040204" pitchFamily="50" charset="-128"/>
                </a:endParaRPr>
              </a:p>
              <a:p>
                <a:pPr algn="ctr"/>
                <a:r>
                  <a:rPr lang="ja-JP" altLang="en-US" sz="700" b="1">
                    <a:latin typeface="メイリオ" panose="020B0604030504040204" pitchFamily="50" charset="-128"/>
                    <a:ea typeface="メイリオ" panose="020B0604030504040204" pitchFamily="50" charset="-128"/>
                  </a:rPr>
                  <a:t>対応</a:t>
                </a:r>
                <a:endParaRPr kumimoji="1" lang="en-US" altLang="ja-JP" sz="700" b="1">
                  <a:latin typeface="メイリオ" panose="020B0604030504040204" pitchFamily="50" charset="-128"/>
                  <a:ea typeface="メイリオ" panose="020B0604030504040204" pitchFamily="50" charset="-128"/>
                </a:endParaRPr>
              </a:p>
            </p:txBody>
          </p:sp>
        </p:grpSp>
      </p:grpSp>
      <p:pic>
        <p:nvPicPr>
          <p:cNvPr id="160" name="グラフィックス 159" descr="コール センター 単色塗りつぶし">
            <a:extLst>
              <a:ext uri="{FF2B5EF4-FFF2-40B4-BE49-F238E27FC236}">
                <a16:creationId xmlns:a16="http://schemas.microsoft.com/office/drawing/2014/main" id="{C103E90D-F069-B9D8-86FF-18165CC3FEA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11972" y="4125418"/>
            <a:ext cx="338404" cy="338404"/>
          </a:xfrm>
          <a:prstGeom prst="rect">
            <a:avLst/>
          </a:prstGeom>
        </p:spPr>
      </p:pic>
      <p:pic>
        <p:nvPicPr>
          <p:cNvPr id="161" name="グラフィックス 160" descr="月毎カレンダー 単色塗りつぶし">
            <a:extLst>
              <a:ext uri="{FF2B5EF4-FFF2-40B4-BE49-F238E27FC236}">
                <a16:creationId xmlns:a16="http://schemas.microsoft.com/office/drawing/2014/main" id="{2CAB67E6-E954-C353-AE06-B0E24A23BC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82416" y="4132526"/>
            <a:ext cx="409694" cy="409694"/>
          </a:xfrm>
          <a:prstGeom prst="rect">
            <a:avLst/>
          </a:prstGeom>
        </p:spPr>
      </p:pic>
      <p:pic>
        <p:nvPicPr>
          <p:cNvPr id="162" name="グラフィックス 161" descr="役員室 単色塗りつぶし">
            <a:extLst>
              <a:ext uri="{FF2B5EF4-FFF2-40B4-BE49-F238E27FC236}">
                <a16:creationId xmlns:a16="http://schemas.microsoft.com/office/drawing/2014/main" id="{2A36479D-0FAD-9B7D-6A95-5DDFA15D93D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18300" y="5741159"/>
            <a:ext cx="457200" cy="457200"/>
          </a:xfrm>
          <a:prstGeom prst="rect">
            <a:avLst/>
          </a:prstGeom>
        </p:spPr>
      </p:pic>
      <p:pic>
        <p:nvPicPr>
          <p:cNvPr id="163" name="グラフィックス 162" descr="封筒 単色塗りつぶし">
            <a:extLst>
              <a:ext uri="{FF2B5EF4-FFF2-40B4-BE49-F238E27FC236}">
                <a16:creationId xmlns:a16="http://schemas.microsoft.com/office/drawing/2014/main" id="{1386C3B0-31C7-E0D5-6A9F-F54B6FDCA71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59448" y="5796512"/>
            <a:ext cx="369332" cy="369332"/>
          </a:xfrm>
          <a:prstGeom prst="rect">
            <a:avLst/>
          </a:prstGeom>
        </p:spPr>
      </p:pic>
      <p:pic>
        <p:nvPicPr>
          <p:cNvPr id="167" name="グラフィックス 166" descr="プレイブック 単色塗りつぶし">
            <a:extLst>
              <a:ext uri="{FF2B5EF4-FFF2-40B4-BE49-F238E27FC236}">
                <a16:creationId xmlns:a16="http://schemas.microsoft.com/office/drawing/2014/main" id="{B8357B81-9DAF-5445-B0DC-FF82A38CBFE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725503" y="5768079"/>
            <a:ext cx="448568" cy="448568"/>
          </a:xfrm>
          <a:prstGeom prst="rect">
            <a:avLst/>
          </a:prstGeom>
        </p:spPr>
      </p:pic>
      <p:pic>
        <p:nvPicPr>
          <p:cNvPr id="168" name="グラフィックス 167" descr="役員室 単色塗りつぶし">
            <a:extLst>
              <a:ext uri="{FF2B5EF4-FFF2-40B4-BE49-F238E27FC236}">
                <a16:creationId xmlns:a16="http://schemas.microsoft.com/office/drawing/2014/main" id="{2DC92E9A-6EC4-2F9C-F94E-1E1A003EDBA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658753" y="4138634"/>
            <a:ext cx="457200" cy="457200"/>
          </a:xfrm>
          <a:prstGeom prst="rect">
            <a:avLst/>
          </a:prstGeom>
        </p:spPr>
      </p:pic>
      <p:pic>
        <p:nvPicPr>
          <p:cNvPr id="169" name="グラフィックス 168" descr="役員室 単色塗りつぶし">
            <a:extLst>
              <a:ext uri="{FF2B5EF4-FFF2-40B4-BE49-F238E27FC236}">
                <a16:creationId xmlns:a16="http://schemas.microsoft.com/office/drawing/2014/main" id="{FE364DFE-23DF-EC0F-1669-EAADCB22510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55306" y="4132526"/>
            <a:ext cx="457200" cy="457200"/>
          </a:xfrm>
          <a:prstGeom prst="rect">
            <a:avLst/>
          </a:prstGeom>
        </p:spPr>
      </p:pic>
    </p:spTree>
    <p:extLst>
      <p:ext uri="{BB962C8B-B14F-4D97-AF65-F5344CB8AC3E}">
        <p14:creationId xmlns:p14="http://schemas.microsoft.com/office/powerpoint/2010/main" val="26496013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正方形/長方形 60">
            <a:extLst>
              <a:ext uri="{FF2B5EF4-FFF2-40B4-BE49-F238E27FC236}">
                <a16:creationId xmlns:a16="http://schemas.microsoft.com/office/drawing/2014/main" id="{F51D4E20-D40C-BFE9-634B-FFFB9CF53DDC}"/>
              </a:ext>
            </a:extLst>
          </p:cNvPr>
          <p:cNvSpPr/>
          <p:nvPr/>
        </p:nvSpPr>
        <p:spPr bwMode="auto">
          <a:xfrm>
            <a:off x="10672641" y="3236873"/>
            <a:ext cx="1121427" cy="841059"/>
          </a:xfrm>
          <a:prstGeom prst="rect">
            <a:avLst/>
          </a:prstGeom>
          <a:solidFill>
            <a:schemeClr val="accent2">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BCD2AFE8-93FA-FE9E-767C-9746BEDFB536}"/>
              </a:ext>
            </a:extLst>
          </p:cNvPr>
          <p:cNvSpPr/>
          <p:nvPr/>
        </p:nvSpPr>
        <p:spPr bwMode="auto">
          <a:xfrm>
            <a:off x="10685915" y="4433432"/>
            <a:ext cx="1108154" cy="1517515"/>
          </a:xfrm>
          <a:prstGeom prst="rect">
            <a:avLst/>
          </a:prstGeom>
          <a:solidFill>
            <a:srgbClr val="FBE9E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pic>
        <p:nvPicPr>
          <p:cNvPr id="59" name="図 58" descr="じょうごグラフ&#10;&#10;自動的に生成された説明">
            <a:extLst>
              <a:ext uri="{FF2B5EF4-FFF2-40B4-BE49-F238E27FC236}">
                <a16:creationId xmlns:a16="http://schemas.microsoft.com/office/drawing/2014/main" id="{8F0F3CD7-3D21-A4C7-AAFD-E0CB18DBB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544" y="1266118"/>
            <a:ext cx="5200650" cy="4781550"/>
          </a:xfrm>
          <a:prstGeom prst="rect">
            <a:avLst/>
          </a:prstGeom>
        </p:spPr>
      </p:pic>
      <p:sp>
        <p:nvSpPr>
          <p:cNvPr id="55" name="平行四辺形 54">
            <a:extLst>
              <a:ext uri="{FF2B5EF4-FFF2-40B4-BE49-F238E27FC236}">
                <a16:creationId xmlns:a16="http://schemas.microsoft.com/office/drawing/2014/main" id="{872D75A4-18A3-CC7B-1029-551731104728}"/>
              </a:ext>
            </a:extLst>
          </p:cNvPr>
          <p:cNvSpPr/>
          <p:nvPr/>
        </p:nvSpPr>
        <p:spPr bwMode="auto">
          <a:xfrm>
            <a:off x="5036252" y="1422400"/>
            <a:ext cx="6731270" cy="1473200"/>
          </a:xfrm>
          <a:prstGeom prst="parallelogram">
            <a:avLst>
              <a:gd name="adj" fmla="val 54213"/>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54" name="平行四辺形 53">
            <a:extLst>
              <a:ext uri="{FF2B5EF4-FFF2-40B4-BE49-F238E27FC236}">
                <a16:creationId xmlns:a16="http://schemas.microsoft.com/office/drawing/2014/main" id="{AD5A9844-1620-0EC0-C66D-B1ED70540868}"/>
              </a:ext>
            </a:extLst>
          </p:cNvPr>
          <p:cNvSpPr/>
          <p:nvPr/>
        </p:nvSpPr>
        <p:spPr bwMode="auto">
          <a:xfrm>
            <a:off x="4405684" y="3236874"/>
            <a:ext cx="7361838" cy="841057"/>
          </a:xfrm>
          <a:prstGeom prst="parallelogram">
            <a:avLst>
              <a:gd name="adj" fmla="val 54213"/>
            </a:avLst>
          </a:prstGeom>
          <a:solidFill>
            <a:schemeClr val="accent2">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kumimoji="1" lang="en-US" altLang="ja-JP" sz="2000" b="1" noProof="0">
                <a:solidFill>
                  <a:schemeClr val="bg1"/>
                </a:solidFill>
                <a:latin typeface="メイリオ" panose="020B0604030504040204" pitchFamily="50" charset="-128"/>
                <a:ea typeface="メイリオ" panose="020B0604030504040204" pitchFamily="50" charset="-128"/>
              </a:rPr>
              <a:t>0</a:t>
            </a: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53" name="平行四辺形 52">
            <a:extLst>
              <a:ext uri="{FF2B5EF4-FFF2-40B4-BE49-F238E27FC236}">
                <a16:creationId xmlns:a16="http://schemas.microsoft.com/office/drawing/2014/main" id="{06FFC0EE-7407-D2F4-FE39-C6DF443C3903}"/>
              </a:ext>
            </a:extLst>
          </p:cNvPr>
          <p:cNvSpPr/>
          <p:nvPr/>
        </p:nvSpPr>
        <p:spPr bwMode="auto">
          <a:xfrm>
            <a:off x="3360122" y="4429357"/>
            <a:ext cx="8407400" cy="1521591"/>
          </a:xfrm>
          <a:prstGeom prst="parallelogram">
            <a:avLst>
              <a:gd name="adj" fmla="val 54213"/>
            </a:avLst>
          </a:prstGeom>
          <a:solidFill>
            <a:srgbClr val="FBE9E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2" name="タイトル 1">
            <a:extLst>
              <a:ext uri="{FF2B5EF4-FFF2-40B4-BE49-F238E27FC236}">
                <a16:creationId xmlns:a16="http://schemas.microsoft.com/office/drawing/2014/main" id="{E8927647-7981-3C26-54C8-B4540F76EEC3}"/>
              </a:ext>
            </a:extLst>
          </p:cNvPr>
          <p:cNvSpPr>
            <a:spLocks noGrp="1"/>
          </p:cNvSpPr>
          <p:nvPr>
            <p:ph type="title"/>
          </p:nvPr>
        </p:nvSpPr>
        <p:spPr/>
        <p:txBody>
          <a:bodyPr>
            <a:normAutofit/>
          </a:bodyPr>
          <a:lstStyle/>
          <a:p>
            <a:r>
              <a:rPr lang="ja-JP" altLang="en-US">
                <a:latin typeface="+mn-lt"/>
              </a:rPr>
              <a:t>私たちが大切にしていること：ミッションと行動指針</a:t>
            </a:r>
          </a:p>
        </p:txBody>
      </p:sp>
      <p:sp>
        <p:nvSpPr>
          <p:cNvPr id="5" name="スライド番号プレースホルダー 4">
            <a:extLst>
              <a:ext uri="{FF2B5EF4-FFF2-40B4-BE49-F238E27FC236}">
                <a16:creationId xmlns:a16="http://schemas.microsoft.com/office/drawing/2014/main" id="{F141BF0B-5425-10B3-0BE7-90A89AF6AB94}"/>
              </a:ext>
            </a:extLst>
          </p:cNvPr>
          <p:cNvSpPr>
            <a:spLocks noGrp="1"/>
          </p:cNvSpPr>
          <p:nvPr>
            <p:ph type="sldNum" sz="quarter" idx="11"/>
          </p:nvPr>
        </p:nvSpPr>
        <p:spPr/>
        <p:txBody>
          <a:bodyPr/>
          <a:lstStyle/>
          <a:p>
            <a:fld id="{B75FDD43-FCEC-4ECC-8189-A5C6D2E08DC6}" type="slidenum">
              <a:rPr lang="ja-JP" altLang="en-US" smtClean="0"/>
              <a:pPr/>
              <a:t>32</a:t>
            </a:fld>
            <a:endParaRPr lang="ja-JP" altLang="en-US"/>
          </a:p>
        </p:txBody>
      </p:sp>
      <p:sp>
        <p:nvSpPr>
          <p:cNvPr id="17" name="正方形/長方形 16">
            <a:extLst>
              <a:ext uri="{FF2B5EF4-FFF2-40B4-BE49-F238E27FC236}">
                <a16:creationId xmlns:a16="http://schemas.microsoft.com/office/drawing/2014/main" id="{5937DC56-4EBF-C7A1-C8DA-3D22AE65283A}"/>
              </a:ext>
            </a:extLst>
          </p:cNvPr>
          <p:cNvSpPr/>
          <p:nvPr/>
        </p:nvSpPr>
        <p:spPr bwMode="auto">
          <a:xfrm>
            <a:off x="4146013" y="4596519"/>
            <a:ext cx="7089618" cy="1136034"/>
          </a:xfrm>
          <a:prstGeom prst="rect">
            <a:avLst/>
          </a:prstGeom>
          <a:noFill/>
          <a:ln w="38100" algn="ctr">
            <a:noFill/>
            <a:miter lim="800000"/>
            <a:headEnd/>
            <a:tailEnd/>
          </a:ln>
          <a:effectLst/>
        </p:spPr>
        <p:txBody>
          <a:bodyPr wrap="none" lIns="90000" tIns="46800" rIns="90000" bIns="46800" rtlCol="0" anchor="t"/>
          <a:lstStyle/>
          <a:p>
            <a:pPr defTabSz="914400" fontAlgn="base">
              <a:spcBef>
                <a:spcPct val="50000"/>
              </a:spcBef>
              <a:spcAft>
                <a:spcPct val="0"/>
              </a:spcAft>
            </a:pPr>
            <a:r>
              <a:rPr lang="ja-JP" altLang="en-US" b="1">
                <a:solidFill>
                  <a:schemeClr val="tx2"/>
                </a:solidFill>
                <a:latin typeface="メイリオ" panose="020B0604030504040204" pitchFamily="50" charset="-128"/>
                <a:ea typeface="メイリオ" panose="020B0604030504040204" pitchFamily="50" charset="-128"/>
              </a:rPr>
              <a:t>１．業界の人事となり、やる気と才能ある人材の生涯収入を向上させる</a:t>
            </a:r>
            <a:endParaRPr lang="en-US" altLang="ja-JP" b="1">
              <a:solidFill>
                <a:schemeClr val="tx2"/>
              </a:solidFill>
              <a:latin typeface="メイリオ" panose="020B0604030504040204" pitchFamily="50" charset="-128"/>
              <a:ea typeface="メイリオ" panose="020B0604030504040204" pitchFamily="50" charset="-128"/>
            </a:endParaRPr>
          </a:p>
          <a:p>
            <a:pPr defTabSz="914400" fontAlgn="base">
              <a:spcBef>
                <a:spcPct val="50000"/>
              </a:spcBef>
              <a:spcAft>
                <a:spcPct val="0"/>
              </a:spcAft>
            </a:pPr>
            <a:r>
              <a:rPr kumimoji="1" lang="ja-JP" altLang="en-US" b="1" noProof="0">
                <a:solidFill>
                  <a:schemeClr val="tx2"/>
                </a:solidFill>
                <a:latin typeface="メイリオ" panose="020B0604030504040204" pitchFamily="50" charset="-128"/>
                <a:ea typeface="メイリオ" panose="020B0604030504040204" pitchFamily="50" charset="-128"/>
              </a:rPr>
              <a:t>２．クオリティと収益性を追求する</a:t>
            </a:r>
            <a:endParaRPr kumimoji="1" lang="en-US" altLang="ja-JP" b="1" noProof="0">
              <a:solidFill>
                <a:schemeClr val="tx2"/>
              </a:solidFill>
              <a:latin typeface="メイリオ" panose="020B0604030504040204" pitchFamily="50" charset="-128"/>
              <a:ea typeface="メイリオ" panose="020B0604030504040204" pitchFamily="50" charset="-128"/>
            </a:endParaRPr>
          </a:p>
          <a:p>
            <a:pPr defTabSz="914400" fontAlgn="base">
              <a:spcBef>
                <a:spcPct val="50000"/>
              </a:spcBef>
              <a:spcAft>
                <a:spcPct val="0"/>
              </a:spcAft>
            </a:pPr>
            <a:r>
              <a:rPr lang="ja-JP" altLang="en-US" b="1">
                <a:solidFill>
                  <a:schemeClr val="tx2"/>
                </a:solidFill>
                <a:latin typeface="メイリオ" panose="020B0604030504040204" pitchFamily="50" charset="-128"/>
                <a:ea typeface="メイリオ" panose="020B0604030504040204" pitchFamily="50" charset="-128"/>
              </a:rPr>
              <a:t>３．クライアントの課題を解決し、ともに持続的に成長する</a:t>
            </a:r>
            <a:endParaRPr kumimoji="1" lang="ja-JP" altLang="en-US" b="1" noProof="0">
              <a:solidFill>
                <a:schemeClr val="tx2"/>
              </a:solidFill>
              <a:latin typeface="メイリオ" panose="020B0604030504040204" pitchFamily="50" charset="-128"/>
              <a:ea typeface="メイリオ" panose="020B0604030504040204" pitchFamily="50" charset="-128"/>
            </a:endParaRPr>
          </a:p>
        </p:txBody>
      </p:sp>
      <p:sp>
        <p:nvSpPr>
          <p:cNvPr id="25" name="四角形: 角を丸くする 24">
            <a:extLst>
              <a:ext uri="{FF2B5EF4-FFF2-40B4-BE49-F238E27FC236}">
                <a16:creationId xmlns:a16="http://schemas.microsoft.com/office/drawing/2014/main" id="{A96E42FD-C385-74DE-EA0F-F9034B2E0ADB}"/>
              </a:ext>
            </a:extLst>
          </p:cNvPr>
          <p:cNvSpPr/>
          <p:nvPr/>
        </p:nvSpPr>
        <p:spPr bwMode="auto">
          <a:xfrm>
            <a:off x="1622806" y="1477142"/>
            <a:ext cx="3119754" cy="1098679"/>
          </a:xfrm>
          <a:prstGeom prst="roundRect">
            <a:avLst/>
          </a:prstGeom>
          <a:no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942D58E0-6FE3-5843-05E8-777BD5A47122}"/>
              </a:ext>
            </a:extLst>
          </p:cNvPr>
          <p:cNvSpPr txBox="1"/>
          <p:nvPr/>
        </p:nvSpPr>
        <p:spPr>
          <a:xfrm>
            <a:off x="1399666" y="1874372"/>
            <a:ext cx="3464245" cy="584775"/>
          </a:xfrm>
          <a:prstGeom prst="rect">
            <a:avLst/>
          </a:prstGeom>
          <a:noFill/>
        </p:spPr>
        <p:txBody>
          <a:bodyPr wrap="square" rtlCol="0">
            <a:spAutoFit/>
          </a:bodyPr>
          <a:lstStyle/>
          <a:p>
            <a:pPr algn="ctr"/>
            <a:r>
              <a:rPr lang="en-US" altLang="ja-JP" sz="3200" b="1" i="0">
                <a:solidFill>
                  <a:schemeClr val="tx2"/>
                </a:solidFill>
                <a:effectLst/>
                <a:latin typeface="メイリオ" panose="020B0604030504040204" pitchFamily="50" charset="-128"/>
                <a:ea typeface="メイリオ" panose="020B0604030504040204" pitchFamily="50" charset="-128"/>
              </a:rPr>
              <a:t>Mission</a:t>
            </a:r>
          </a:p>
        </p:txBody>
      </p:sp>
      <p:sp>
        <p:nvSpPr>
          <p:cNvPr id="39" name="テキスト ボックス 38">
            <a:extLst>
              <a:ext uri="{FF2B5EF4-FFF2-40B4-BE49-F238E27FC236}">
                <a16:creationId xmlns:a16="http://schemas.microsoft.com/office/drawing/2014/main" id="{CB2AE03D-8C64-C51B-0243-260BA7420A80}"/>
              </a:ext>
            </a:extLst>
          </p:cNvPr>
          <p:cNvSpPr txBox="1"/>
          <p:nvPr/>
        </p:nvSpPr>
        <p:spPr>
          <a:xfrm>
            <a:off x="2380740" y="3350946"/>
            <a:ext cx="1502099" cy="584775"/>
          </a:xfrm>
          <a:prstGeom prst="rect">
            <a:avLst/>
          </a:prstGeom>
          <a:noFill/>
        </p:spPr>
        <p:txBody>
          <a:bodyPr wrap="square" rtlCol="0">
            <a:spAutoFit/>
          </a:bodyPr>
          <a:lstStyle/>
          <a:p>
            <a:pPr algn="ctr"/>
            <a:r>
              <a:rPr lang="en-US" altLang="ja-JP" sz="3200" b="1" i="0">
                <a:solidFill>
                  <a:schemeClr val="tx2"/>
                </a:solidFill>
                <a:effectLst/>
                <a:latin typeface="メイリオ" panose="020B0604030504040204" pitchFamily="50" charset="-128"/>
                <a:ea typeface="メイリオ" panose="020B0604030504040204" pitchFamily="50" charset="-128"/>
              </a:rPr>
              <a:t>Value</a:t>
            </a:r>
          </a:p>
        </p:txBody>
      </p:sp>
      <p:sp>
        <p:nvSpPr>
          <p:cNvPr id="62" name="正方形/長方形 61">
            <a:extLst>
              <a:ext uri="{FF2B5EF4-FFF2-40B4-BE49-F238E27FC236}">
                <a16:creationId xmlns:a16="http://schemas.microsoft.com/office/drawing/2014/main" id="{9E09DB0F-481A-F5A2-F45F-483A6138566C}"/>
              </a:ext>
            </a:extLst>
          </p:cNvPr>
          <p:cNvSpPr/>
          <p:nvPr/>
        </p:nvSpPr>
        <p:spPr bwMode="auto">
          <a:xfrm>
            <a:off x="10672640" y="1422399"/>
            <a:ext cx="1121427" cy="1473201"/>
          </a:xfrm>
          <a:prstGeom prst="rect">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63" name="正方形/長方形 62">
            <a:extLst>
              <a:ext uri="{FF2B5EF4-FFF2-40B4-BE49-F238E27FC236}">
                <a16:creationId xmlns:a16="http://schemas.microsoft.com/office/drawing/2014/main" id="{9C2768B2-201B-CC57-DE80-D1B5AB4B7796}"/>
              </a:ext>
            </a:extLst>
          </p:cNvPr>
          <p:cNvSpPr/>
          <p:nvPr/>
        </p:nvSpPr>
        <p:spPr bwMode="auto">
          <a:xfrm>
            <a:off x="6087886" y="1609104"/>
            <a:ext cx="5061598" cy="1115309"/>
          </a:xfrm>
          <a:prstGeom prst="rect">
            <a:avLst/>
          </a:prstGeom>
          <a:noFill/>
          <a:ln w="3175" algn="ctr">
            <a:noFill/>
            <a:miter lim="800000"/>
            <a:headEnd/>
            <a:tailEnd/>
          </a:ln>
          <a:effectLst/>
        </p:spPr>
        <p:txBody>
          <a:bodyPr wrap="none" lIns="90000" tIns="46800" rIns="90000" bIns="46800" rtlCol="0" anchor="ctr"/>
          <a:lstStyle/>
          <a:p>
            <a:pPr fontAlgn="base">
              <a:spcBef>
                <a:spcPct val="50000"/>
              </a:spcBef>
              <a:spcAft>
                <a:spcPct val="0"/>
              </a:spcAft>
            </a:pPr>
            <a:r>
              <a:rPr kumimoji="1" lang="ja-JP" altLang="en-US" sz="2400" b="1" noProof="0">
                <a:solidFill>
                  <a:schemeClr val="tx2"/>
                </a:solidFill>
                <a:latin typeface="メイリオ" panose="020B0604030504040204" pitchFamily="50" charset="-128"/>
                <a:ea typeface="メイリオ" panose="020B0604030504040204" pitchFamily="50" charset="-128"/>
              </a:rPr>
              <a:t>クリエイターの生涯価値の向上</a:t>
            </a:r>
            <a:endParaRPr kumimoji="1" lang="en-US" altLang="ja-JP" sz="2400" b="1" noProof="0">
              <a:solidFill>
                <a:schemeClr val="tx2"/>
              </a:solidFill>
              <a:latin typeface="メイリオ" panose="020B0604030504040204" pitchFamily="50" charset="-128"/>
              <a:ea typeface="メイリオ" panose="020B0604030504040204" pitchFamily="50" charset="-128"/>
            </a:endParaRPr>
          </a:p>
          <a:p>
            <a:pPr fontAlgn="base">
              <a:spcBef>
                <a:spcPct val="50000"/>
              </a:spcBef>
              <a:spcAft>
                <a:spcPct val="0"/>
              </a:spcAft>
            </a:pPr>
            <a:r>
              <a:rPr kumimoji="1" lang="ja-JP" altLang="en-US" sz="2400" b="1" noProof="0">
                <a:solidFill>
                  <a:schemeClr val="tx2"/>
                </a:solidFill>
                <a:latin typeface="メイリオ" panose="020B0604030504040204" pitchFamily="50" charset="-128"/>
                <a:ea typeface="メイリオ" panose="020B0604030504040204" pitchFamily="50" charset="-128"/>
              </a:rPr>
              <a:t>クライアントの価値創造への貢献</a:t>
            </a:r>
          </a:p>
        </p:txBody>
      </p:sp>
      <p:sp>
        <p:nvSpPr>
          <p:cNvPr id="64" name="正方形/長方形 63">
            <a:extLst>
              <a:ext uri="{FF2B5EF4-FFF2-40B4-BE49-F238E27FC236}">
                <a16:creationId xmlns:a16="http://schemas.microsoft.com/office/drawing/2014/main" id="{AD2AA8CC-C06C-1C83-BE84-959C07517435}"/>
              </a:ext>
            </a:extLst>
          </p:cNvPr>
          <p:cNvSpPr/>
          <p:nvPr/>
        </p:nvSpPr>
        <p:spPr bwMode="auto">
          <a:xfrm>
            <a:off x="5175179" y="3367596"/>
            <a:ext cx="6035530" cy="601076"/>
          </a:xfrm>
          <a:prstGeom prst="rect">
            <a:avLst/>
          </a:prstGeom>
          <a:noFill/>
          <a:ln w="38100" algn="ctr">
            <a:noFill/>
            <a:miter lim="800000"/>
            <a:headEnd/>
            <a:tailEnd/>
          </a:ln>
          <a:effectLst/>
        </p:spPr>
        <p:txBody>
          <a:bodyPr wrap="none" lIns="90000" tIns="46800" rIns="90000" bIns="46800" rtlCol="0" anchor="ctr"/>
          <a:lstStyle/>
          <a:p>
            <a:pPr defTabSz="914400" fontAlgn="base">
              <a:spcBef>
                <a:spcPct val="50000"/>
              </a:spcBef>
              <a:spcAft>
                <a:spcPct val="0"/>
              </a:spcAft>
            </a:pPr>
            <a:r>
              <a:rPr kumimoji="1" lang="ja-JP" altLang="en-US" sz="2400" b="1" noProof="0">
                <a:solidFill>
                  <a:schemeClr val="tx1">
                    <a:lumMod val="75000"/>
                  </a:schemeClr>
                </a:solidFill>
                <a:latin typeface="メイリオ" panose="020B0604030504040204" pitchFamily="50" charset="-128"/>
                <a:ea typeface="メイリオ" panose="020B0604030504040204" pitchFamily="50" charset="-128"/>
              </a:rPr>
              <a:t>デジタルコンテンツ･グループの行動指針</a:t>
            </a:r>
          </a:p>
        </p:txBody>
      </p:sp>
    </p:spTree>
    <p:extLst>
      <p:ext uri="{BB962C8B-B14F-4D97-AF65-F5344CB8AC3E}">
        <p14:creationId xmlns:p14="http://schemas.microsoft.com/office/powerpoint/2010/main" val="11756403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正方形/長方形 63">
            <a:extLst>
              <a:ext uri="{FF2B5EF4-FFF2-40B4-BE49-F238E27FC236}">
                <a16:creationId xmlns:a16="http://schemas.microsoft.com/office/drawing/2014/main" id="{2A462594-579C-978D-8EDC-9C00B82C8347}"/>
              </a:ext>
            </a:extLst>
          </p:cNvPr>
          <p:cNvSpPr/>
          <p:nvPr/>
        </p:nvSpPr>
        <p:spPr bwMode="auto">
          <a:xfrm>
            <a:off x="2130913" y="1211337"/>
            <a:ext cx="8113117" cy="127483"/>
          </a:xfrm>
          <a:prstGeom prst="rect">
            <a:avLst/>
          </a:prstGeom>
          <a:solidFill>
            <a:schemeClr val="accent6">
              <a:lumMod val="40000"/>
              <a:lumOff val="60000"/>
              <a:alpha val="5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6FE7AF31-AFB8-6785-593D-3EBBA250CC7B}"/>
              </a:ext>
            </a:extLst>
          </p:cNvPr>
          <p:cNvSpPr/>
          <p:nvPr/>
        </p:nvSpPr>
        <p:spPr bwMode="auto">
          <a:xfrm>
            <a:off x="1632305" y="1521635"/>
            <a:ext cx="1525280" cy="127483"/>
          </a:xfrm>
          <a:prstGeom prst="rect">
            <a:avLst/>
          </a:prstGeom>
          <a:solidFill>
            <a:schemeClr val="accent6">
              <a:lumMod val="40000"/>
              <a:lumOff val="60000"/>
              <a:alpha val="5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88826062-2556-E9C0-3C13-D4E57AC0B513}"/>
              </a:ext>
            </a:extLst>
          </p:cNvPr>
          <p:cNvSpPr>
            <a:spLocks noGrp="1"/>
          </p:cNvSpPr>
          <p:nvPr>
            <p:ph type="sldNum" sz="quarter" idx="10"/>
          </p:nvPr>
        </p:nvSpPr>
        <p:spPr>
          <a:xfrm>
            <a:off x="9448800" y="6599518"/>
            <a:ext cx="2743200" cy="258482"/>
          </a:xfrm>
        </p:spPr>
        <p:txBody>
          <a:bodyPr/>
          <a:lstStyle/>
          <a:p>
            <a:fld id="{B75FDD43-FCEC-4ECC-8189-A5C6D2E08DC6}" type="slidenum">
              <a:rPr lang="ja-JP" altLang="en-US" smtClean="0"/>
              <a:pPr/>
              <a:t>33</a:t>
            </a:fld>
            <a:endParaRPr lang="ja-JP" altLang="en-US"/>
          </a:p>
        </p:txBody>
      </p:sp>
      <p:sp>
        <p:nvSpPr>
          <p:cNvPr id="7" name="四角形: 角を丸くする 6">
            <a:extLst>
              <a:ext uri="{FF2B5EF4-FFF2-40B4-BE49-F238E27FC236}">
                <a16:creationId xmlns:a16="http://schemas.microsoft.com/office/drawing/2014/main" id="{14D3FCD4-61A3-6641-7227-9845C0A5E373}"/>
              </a:ext>
            </a:extLst>
          </p:cNvPr>
          <p:cNvSpPr/>
          <p:nvPr/>
        </p:nvSpPr>
        <p:spPr bwMode="auto">
          <a:xfrm flipH="1">
            <a:off x="597291" y="1858555"/>
            <a:ext cx="8862425" cy="4152814"/>
          </a:xfrm>
          <a:prstGeom prst="roundRect">
            <a:avLst>
              <a:gd name="adj" fmla="val 50000"/>
            </a:avLst>
          </a:prstGeom>
          <a:gradFill flip="none" rotWithShape="1">
            <a:gsLst>
              <a:gs pos="35000">
                <a:srgbClr val="CFC766"/>
              </a:gs>
              <a:gs pos="7000">
                <a:srgbClr val="E29F67"/>
              </a:gs>
              <a:gs pos="96330">
                <a:srgbClr val="50AFB0"/>
              </a:gs>
              <a:gs pos="63000">
                <a:srgbClr val="6EC56F"/>
              </a:gs>
            </a:gsLst>
            <a:lin ang="10800000" scaled="1"/>
            <a:tileRect/>
          </a:gra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D9B37A88-972C-7954-1F0D-2F4CAADC3417}"/>
              </a:ext>
            </a:extLst>
          </p:cNvPr>
          <p:cNvSpPr txBox="1"/>
          <p:nvPr/>
        </p:nvSpPr>
        <p:spPr>
          <a:xfrm>
            <a:off x="2427484" y="1954387"/>
            <a:ext cx="5182991" cy="246221"/>
          </a:xfrm>
          <a:prstGeom prst="rect">
            <a:avLst/>
          </a:prstGeom>
          <a:noFill/>
          <a:ln>
            <a:noFill/>
          </a:ln>
        </p:spPr>
        <p:txBody>
          <a:bodyPr wrap="square" lIns="0" tIns="0" rIns="0" bIns="0"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ja-JP" altLang="en-US" sz="1600" b="1">
                <a:ln w="22225">
                  <a:noFill/>
                </a:ln>
                <a:solidFill>
                  <a:schemeClr val="tx2"/>
                </a:solidFill>
                <a:latin typeface="メイリオ" panose="020B0604030504040204" pitchFamily="50" charset="-128"/>
                <a:ea typeface="メイリオ" panose="020B0604030504040204" pitchFamily="50" charset="-128"/>
              </a:rPr>
              <a:t>ゲームを中心としたデジタル･エンタテインメント業界</a:t>
            </a:r>
            <a:endParaRPr kumimoji="1" lang="ja-JP" altLang="en-US" sz="1600" b="1" i="0" u="none" strike="noStrike" kern="1200" cap="none" spc="0" normalizeH="0" baseline="0" noProof="0">
              <a:ln w="22225">
                <a:noFill/>
              </a:ln>
              <a:solidFill>
                <a:schemeClr val="tx2"/>
              </a:solidFill>
              <a:effectLst/>
              <a:uLnTx/>
              <a:uFillTx/>
              <a:latin typeface="メイリオ" panose="020B0604030504040204" pitchFamily="50" charset="-128"/>
              <a:ea typeface="メイリオ" panose="020B0604030504040204" pitchFamily="50" charset="-128"/>
            </a:endParaRPr>
          </a:p>
        </p:txBody>
      </p:sp>
      <p:grpSp>
        <p:nvGrpSpPr>
          <p:cNvPr id="46" name="グループ化 45">
            <a:extLst>
              <a:ext uri="{FF2B5EF4-FFF2-40B4-BE49-F238E27FC236}">
                <a16:creationId xmlns:a16="http://schemas.microsoft.com/office/drawing/2014/main" id="{FE869690-0F0C-D3F9-EDE6-A295BF6E75BB}"/>
              </a:ext>
            </a:extLst>
          </p:cNvPr>
          <p:cNvGrpSpPr/>
          <p:nvPr/>
        </p:nvGrpSpPr>
        <p:grpSpPr>
          <a:xfrm>
            <a:off x="2838982" y="3200401"/>
            <a:ext cx="4371975" cy="2095499"/>
            <a:chOff x="2828925" y="3200401"/>
            <a:chExt cx="4371975" cy="2095499"/>
          </a:xfrm>
        </p:grpSpPr>
        <p:grpSp>
          <p:nvGrpSpPr>
            <p:cNvPr id="15" name="グループ化 14">
              <a:extLst>
                <a:ext uri="{FF2B5EF4-FFF2-40B4-BE49-F238E27FC236}">
                  <a16:creationId xmlns:a16="http://schemas.microsoft.com/office/drawing/2014/main" id="{E33CACD6-B5A2-4BCA-7025-946BEC2122A3}"/>
                </a:ext>
              </a:extLst>
            </p:cNvPr>
            <p:cNvGrpSpPr/>
            <p:nvPr/>
          </p:nvGrpSpPr>
          <p:grpSpPr>
            <a:xfrm>
              <a:off x="2828925" y="3200401"/>
              <a:ext cx="4371975" cy="2095499"/>
              <a:chOff x="4700677" y="3817855"/>
              <a:chExt cx="3779234" cy="2080430"/>
            </a:xfrm>
          </p:grpSpPr>
          <p:sp>
            <p:nvSpPr>
              <p:cNvPr id="13" name="楕円 12">
                <a:extLst>
                  <a:ext uri="{FF2B5EF4-FFF2-40B4-BE49-F238E27FC236}">
                    <a16:creationId xmlns:a16="http://schemas.microsoft.com/office/drawing/2014/main" id="{D282F455-5234-3434-6A0F-514FA8E138A9}"/>
                  </a:ext>
                </a:extLst>
              </p:cNvPr>
              <p:cNvSpPr/>
              <p:nvPr/>
            </p:nvSpPr>
            <p:spPr bwMode="auto">
              <a:xfrm>
                <a:off x="4700677" y="3932688"/>
                <a:ext cx="3779234" cy="1965597"/>
              </a:xfrm>
              <a:prstGeom prst="ellipse">
                <a:avLst/>
              </a:prstGeom>
              <a:solidFill>
                <a:srgbClr val="C49D62"/>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27" name="楕円 26">
                <a:extLst>
                  <a:ext uri="{FF2B5EF4-FFF2-40B4-BE49-F238E27FC236}">
                    <a16:creationId xmlns:a16="http://schemas.microsoft.com/office/drawing/2014/main" id="{C0B94962-A693-5D3F-422C-482AAB1BB58C}"/>
                  </a:ext>
                </a:extLst>
              </p:cNvPr>
              <p:cNvSpPr/>
              <p:nvPr/>
            </p:nvSpPr>
            <p:spPr bwMode="auto">
              <a:xfrm>
                <a:off x="4700677" y="3817855"/>
                <a:ext cx="3779234" cy="1965597"/>
              </a:xfrm>
              <a:prstGeom prst="ellipse">
                <a:avLst/>
              </a:prstGeom>
              <a:solidFill>
                <a:srgbClr val="EFEFF0"/>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grpSp>
          <p:nvGrpSpPr>
            <p:cNvPr id="30" name="グループ化 29">
              <a:extLst>
                <a:ext uri="{FF2B5EF4-FFF2-40B4-BE49-F238E27FC236}">
                  <a16:creationId xmlns:a16="http://schemas.microsoft.com/office/drawing/2014/main" id="{970E8F2C-070A-A5F7-393A-D1C1CDAD9F77}"/>
                </a:ext>
              </a:extLst>
            </p:cNvPr>
            <p:cNvGrpSpPr/>
            <p:nvPr/>
          </p:nvGrpSpPr>
          <p:grpSpPr>
            <a:xfrm>
              <a:off x="3478563" y="4033317"/>
              <a:ext cx="3072699" cy="759445"/>
              <a:chOff x="3498678" y="4033317"/>
              <a:chExt cx="3072699" cy="759445"/>
            </a:xfrm>
          </p:grpSpPr>
          <p:grpSp>
            <p:nvGrpSpPr>
              <p:cNvPr id="9" name="グループ化 8">
                <a:extLst>
                  <a:ext uri="{FF2B5EF4-FFF2-40B4-BE49-F238E27FC236}">
                    <a16:creationId xmlns:a16="http://schemas.microsoft.com/office/drawing/2014/main" id="{637E776C-E645-B59D-DBF9-C4FDB989F223}"/>
                  </a:ext>
                </a:extLst>
              </p:cNvPr>
              <p:cNvGrpSpPr/>
              <p:nvPr/>
            </p:nvGrpSpPr>
            <p:grpSpPr>
              <a:xfrm>
                <a:off x="3498678" y="4033317"/>
                <a:ext cx="947827" cy="344759"/>
                <a:chOff x="3498678" y="4033317"/>
                <a:chExt cx="947827" cy="344759"/>
              </a:xfrm>
            </p:grpSpPr>
            <p:sp>
              <p:nvSpPr>
                <p:cNvPr id="16" name="四角形: 角を丸くする 15">
                  <a:extLst>
                    <a:ext uri="{FF2B5EF4-FFF2-40B4-BE49-F238E27FC236}">
                      <a16:creationId xmlns:a16="http://schemas.microsoft.com/office/drawing/2014/main" id="{7F289AC6-6A14-5BEB-2006-8BD34275A73B}"/>
                    </a:ext>
                  </a:extLst>
                </p:cNvPr>
                <p:cNvSpPr/>
                <p:nvPr/>
              </p:nvSpPr>
              <p:spPr bwMode="auto">
                <a:xfrm>
                  <a:off x="3498678" y="4033317"/>
                  <a:ext cx="947827" cy="344759"/>
                </a:xfrm>
                <a:prstGeom prst="roundRect">
                  <a:avLst/>
                </a:prstGeom>
                <a:solidFill>
                  <a:schemeClr val="bg1"/>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21" name="テキスト ボックス 20">
                  <a:extLst>
                    <a:ext uri="{FF2B5EF4-FFF2-40B4-BE49-F238E27FC236}">
                      <a16:creationId xmlns:a16="http://schemas.microsoft.com/office/drawing/2014/main" id="{2BF10E05-8690-D581-66FE-F4599483A35B}"/>
                    </a:ext>
                  </a:extLst>
                </p:cNvPr>
                <p:cNvSpPr txBox="1"/>
                <p:nvPr/>
              </p:nvSpPr>
              <p:spPr>
                <a:xfrm>
                  <a:off x="3601173" y="4097974"/>
                  <a:ext cx="742837" cy="215444"/>
                </a:xfrm>
                <a:prstGeom prst="rect">
                  <a:avLst/>
                </a:prstGeom>
                <a:noFill/>
              </p:spPr>
              <p:txBody>
                <a:bodyPr wrap="square" lIns="0" tIns="0" rIns="0" bIns="0" rtlCol="0" anchor="t">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rPr>
                    <a:t>請負</a:t>
                  </a:r>
                </a:p>
              </p:txBody>
            </p:sp>
          </p:grpSp>
          <p:grpSp>
            <p:nvGrpSpPr>
              <p:cNvPr id="10" name="グループ化 9">
                <a:extLst>
                  <a:ext uri="{FF2B5EF4-FFF2-40B4-BE49-F238E27FC236}">
                    <a16:creationId xmlns:a16="http://schemas.microsoft.com/office/drawing/2014/main" id="{44D9A865-F8C3-4033-90D7-7B779EEEA1AF}"/>
                  </a:ext>
                </a:extLst>
              </p:cNvPr>
              <p:cNvGrpSpPr/>
              <p:nvPr/>
            </p:nvGrpSpPr>
            <p:grpSpPr>
              <a:xfrm>
                <a:off x="4561114" y="4036036"/>
                <a:ext cx="947827" cy="344759"/>
                <a:chOff x="4561114" y="4036036"/>
                <a:chExt cx="947827" cy="344759"/>
              </a:xfrm>
            </p:grpSpPr>
            <p:sp>
              <p:nvSpPr>
                <p:cNvPr id="17" name="四角形: 角を丸くする 16">
                  <a:extLst>
                    <a:ext uri="{FF2B5EF4-FFF2-40B4-BE49-F238E27FC236}">
                      <a16:creationId xmlns:a16="http://schemas.microsoft.com/office/drawing/2014/main" id="{97A17E96-ABFB-2E0A-4C5F-EDCFD01D4AB6}"/>
                    </a:ext>
                  </a:extLst>
                </p:cNvPr>
                <p:cNvSpPr/>
                <p:nvPr/>
              </p:nvSpPr>
              <p:spPr bwMode="auto">
                <a:xfrm>
                  <a:off x="4561114" y="4036036"/>
                  <a:ext cx="947827" cy="344759"/>
                </a:xfrm>
                <a:prstGeom prst="roundRect">
                  <a:avLst/>
                </a:prstGeom>
                <a:solidFill>
                  <a:schemeClr val="bg1"/>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22" name="テキスト ボックス 21">
                  <a:extLst>
                    <a:ext uri="{FF2B5EF4-FFF2-40B4-BE49-F238E27FC236}">
                      <a16:creationId xmlns:a16="http://schemas.microsoft.com/office/drawing/2014/main" id="{89DE9BB9-D526-8FF1-F86D-E0998C3042CE}"/>
                    </a:ext>
                  </a:extLst>
                </p:cNvPr>
                <p:cNvSpPr txBox="1"/>
                <p:nvPr/>
              </p:nvSpPr>
              <p:spPr>
                <a:xfrm>
                  <a:off x="4663609" y="4100693"/>
                  <a:ext cx="742837" cy="215444"/>
                </a:xfrm>
                <a:prstGeom prst="rect">
                  <a:avLst/>
                </a:prstGeom>
                <a:noFill/>
              </p:spPr>
              <p:txBody>
                <a:bodyPr wrap="square" lIns="0" tIns="0" rIns="0" bIns="0" rtlCol="0" anchor="t">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rPr>
                    <a:t>自社開発</a:t>
                  </a:r>
                </a:p>
              </p:txBody>
            </p:sp>
          </p:grpSp>
          <p:grpSp>
            <p:nvGrpSpPr>
              <p:cNvPr id="11" name="グループ化 10">
                <a:extLst>
                  <a:ext uri="{FF2B5EF4-FFF2-40B4-BE49-F238E27FC236}">
                    <a16:creationId xmlns:a16="http://schemas.microsoft.com/office/drawing/2014/main" id="{ABE28D2E-6B0A-BC37-1FE8-BDEA14536FBE}"/>
                  </a:ext>
                </a:extLst>
              </p:cNvPr>
              <p:cNvGrpSpPr/>
              <p:nvPr/>
            </p:nvGrpSpPr>
            <p:grpSpPr>
              <a:xfrm>
                <a:off x="5623550" y="4038755"/>
                <a:ext cx="947827" cy="344759"/>
                <a:chOff x="5623550" y="4038755"/>
                <a:chExt cx="947827" cy="344759"/>
              </a:xfrm>
            </p:grpSpPr>
            <p:sp>
              <p:nvSpPr>
                <p:cNvPr id="18" name="四角形: 角を丸くする 17">
                  <a:extLst>
                    <a:ext uri="{FF2B5EF4-FFF2-40B4-BE49-F238E27FC236}">
                      <a16:creationId xmlns:a16="http://schemas.microsoft.com/office/drawing/2014/main" id="{C3F6B0A6-26A0-EBDE-9A90-78150A4DBCA2}"/>
                    </a:ext>
                  </a:extLst>
                </p:cNvPr>
                <p:cNvSpPr/>
                <p:nvPr/>
              </p:nvSpPr>
              <p:spPr bwMode="auto">
                <a:xfrm>
                  <a:off x="5623550" y="4038755"/>
                  <a:ext cx="947827" cy="344759"/>
                </a:xfrm>
                <a:prstGeom prst="roundRect">
                  <a:avLst/>
                </a:prstGeom>
                <a:solidFill>
                  <a:schemeClr val="bg1"/>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23" name="テキスト ボックス 22">
                  <a:extLst>
                    <a:ext uri="{FF2B5EF4-FFF2-40B4-BE49-F238E27FC236}">
                      <a16:creationId xmlns:a16="http://schemas.microsoft.com/office/drawing/2014/main" id="{F2C67B5F-7E5C-0F18-5C2A-47B78EC4ED2E}"/>
                    </a:ext>
                  </a:extLst>
                </p:cNvPr>
                <p:cNvSpPr txBox="1"/>
                <p:nvPr/>
              </p:nvSpPr>
              <p:spPr>
                <a:xfrm>
                  <a:off x="5726045" y="4103412"/>
                  <a:ext cx="742837" cy="215444"/>
                </a:xfrm>
                <a:prstGeom prst="rect">
                  <a:avLst/>
                </a:prstGeom>
                <a:noFill/>
              </p:spPr>
              <p:txBody>
                <a:bodyPr wrap="square" lIns="0" tIns="0" rIns="0" bIns="0" rtlCol="0" anchor="t">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lang="ja-JP" altLang="en-US" sz="1400" b="1">
                      <a:ln w="22225">
                        <a:noFill/>
                      </a:ln>
                      <a:latin typeface="メイリオ" panose="020B0604030504040204" pitchFamily="50" charset="-128"/>
                      <a:ea typeface="メイリオ" panose="020B0604030504040204" pitchFamily="50" charset="-128"/>
                    </a:rPr>
                    <a:t>準委任</a:t>
                  </a:r>
                  <a:endPar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endParaRPr>
                </a:p>
              </p:txBody>
            </p:sp>
          </p:grpSp>
          <p:grpSp>
            <p:nvGrpSpPr>
              <p:cNvPr id="8" name="グループ化 7">
                <a:extLst>
                  <a:ext uri="{FF2B5EF4-FFF2-40B4-BE49-F238E27FC236}">
                    <a16:creationId xmlns:a16="http://schemas.microsoft.com/office/drawing/2014/main" id="{43DCAE53-0D7F-9B55-067E-6CD8D5D8FFF0}"/>
                  </a:ext>
                </a:extLst>
              </p:cNvPr>
              <p:cNvGrpSpPr/>
              <p:nvPr/>
            </p:nvGrpSpPr>
            <p:grpSpPr>
              <a:xfrm>
                <a:off x="4012775" y="4448003"/>
                <a:ext cx="947827" cy="344759"/>
                <a:chOff x="4012775" y="4448003"/>
                <a:chExt cx="947827" cy="344759"/>
              </a:xfrm>
            </p:grpSpPr>
            <p:sp>
              <p:nvSpPr>
                <p:cNvPr id="19" name="四角形: 角を丸くする 18">
                  <a:extLst>
                    <a:ext uri="{FF2B5EF4-FFF2-40B4-BE49-F238E27FC236}">
                      <a16:creationId xmlns:a16="http://schemas.microsoft.com/office/drawing/2014/main" id="{464D1E3A-CEFC-E4CE-BDA3-3E0C758FE1AC}"/>
                    </a:ext>
                  </a:extLst>
                </p:cNvPr>
                <p:cNvSpPr/>
                <p:nvPr/>
              </p:nvSpPr>
              <p:spPr bwMode="auto">
                <a:xfrm>
                  <a:off x="4012775" y="4448003"/>
                  <a:ext cx="947827" cy="344759"/>
                </a:xfrm>
                <a:prstGeom prst="roundRect">
                  <a:avLst/>
                </a:prstGeom>
                <a:solidFill>
                  <a:schemeClr val="bg1"/>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24" name="テキスト ボックス 23">
                  <a:extLst>
                    <a:ext uri="{FF2B5EF4-FFF2-40B4-BE49-F238E27FC236}">
                      <a16:creationId xmlns:a16="http://schemas.microsoft.com/office/drawing/2014/main" id="{B83C0368-C4BF-1584-4981-5B072DFD28B2}"/>
                    </a:ext>
                  </a:extLst>
                </p:cNvPr>
                <p:cNvSpPr txBox="1"/>
                <p:nvPr/>
              </p:nvSpPr>
              <p:spPr>
                <a:xfrm>
                  <a:off x="4115270" y="4512660"/>
                  <a:ext cx="742837" cy="215444"/>
                </a:xfrm>
                <a:prstGeom prst="rect">
                  <a:avLst/>
                </a:prstGeom>
                <a:noFill/>
              </p:spPr>
              <p:txBody>
                <a:bodyPr wrap="square" lIns="0" tIns="0" rIns="0" bIns="0" rtlCol="0" anchor="t">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lang="ja-JP" altLang="en-US" sz="1400" b="1">
                      <a:ln w="22225">
                        <a:noFill/>
                      </a:ln>
                      <a:latin typeface="メイリオ" panose="020B0604030504040204" pitchFamily="50" charset="-128"/>
                      <a:ea typeface="メイリオ" panose="020B0604030504040204" pitchFamily="50" charset="-128"/>
                    </a:rPr>
                    <a:t>運営移管</a:t>
                  </a:r>
                  <a:endPar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endParaRPr>
                </a:p>
              </p:txBody>
            </p:sp>
          </p:grpSp>
          <p:grpSp>
            <p:nvGrpSpPr>
              <p:cNvPr id="6" name="グループ化 5">
                <a:extLst>
                  <a:ext uri="{FF2B5EF4-FFF2-40B4-BE49-F238E27FC236}">
                    <a16:creationId xmlns:a16="http://schemas.microsoft.com/office/drawing/2014/main" id="{07F048AE-5C41-79A5-739B-F222F293F3B9}"/>
                  </a:ext>
                </a:extLst>
              </p:cNvPr>
              <p:cNvGrpSpPr/>
              <p:nvPr/>
            </p:nvGrpSpPr>
            <p:grpSpPr>
              <a:xfrm>
                <a:off x="5082961" y="4443916"/>
                <a:ext cx="947827" cy="344759"/>
                <a:chOff x="5082961" y="4443916"/>
                <a:chExt cx="947827" cy="344759"/>
              </a:xfrm>
            </p:grpSpPr>
            <p:sp>
              <p:nvSpPr>
                <p:cNvPr id="20" name="四角形: 角を丸くする 19">
                  <a:extLst>
                    <a:ext uri="{FF2B5EF4-FFF2-40B4-BE49-F238E27FC236}">
                      <a16:creationId xmlns:a16="http://schemas.microsoft.com/office/drawing/2014/main" id="{01342757-ED10-2C49-E9EA-BC44A9747EE8}"/>
                    </a:ext>
                  </a:extLst>
                </p:cNvPr>
                <p:cNvSpPr/>
                <p:nvPr/>
              </p:nvSpPr>
              <p:spPr bwMode="auto">
                <a:xfrm>
                  <a:off x="5082961" y="4443916"/>
                  <a:ext cx="947827" cy="344759"/>
                </a:xfrm>
                <a:prstGeom prst="roundRect">
                  <a:avLst/>
                </a:prstGeom>
                <a:solidFill>
                  <a:schemeClr val="bg1"/>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25" name="テキスト ボックス 24">
                  <a:extLst>
                    <a:ext uri="{FF2B5EF4-FFF2-40B4-BE49-F238E27FC236}">
                      <a16:creationId xmlns:a16="http://schemas.microsoft.com/office/drawing/2014/main" id="{BDCE10DD-AFDE-3DB5-988F-74DB262BA08B}"/>
                    </a:ext>
                  </a:extLst>
                </p:cNvPr>
                <p:cNvSpPr txBox="1"/>
                <p:nvPr/>
              </p:nvSpPr>
              <p:spPr>
                <a:xfrm>
                  <a:off x="5185456" y="4508573"/>
                  <a:ext cx="742837" cy="215444"/>
                </a:xfrm>
                <a:prstGeom prst="rect">
                  <a:avLst/>
                </a:prstGeom>
                <a:noFill/>
              </p:spPr>
              <p:txBody>
                <a:bodyPr wrap="square" lIns="0" tIns="0" rIns="0" bIns="0" rtlCol="0" anchor="t">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rPr>
                    <a:t>研究開発</a:t>
                  </a:r>
                </a:p>
              </p:txBody>
            </p:sp>
          </p:grpSp>
        </p:grpSp>
        <p:sp>
          <p:nvSpPr>
            <p:cNvPr id="26" name="四角形: 角を丸くする 25">
              <a:extLst>
                <a:ext uri="{FF2B5EF4-FFF2-40B4-BE49-F238E27FC236}">
                  <a16:creationId xmlns:a16="http://schemas.microsoft.com/office/drawing/2014/main" id="{78C425AB-70A0-9D60-8D7F-C24485157951}"/>
                </a:ext>
              </a:extLst>
            </p:cNvPr>
            <p:cNvSpPr/>
            <p:nvPr/>
          </p:nvSpPr>
          <p:spPr bwMode="auto">
            <a:xfrm>
              <a:off x="3090863" y="3322588"/>
              <a:ext cx="3848099" cy="408094"/>
            </a:xfrm>
            <a:prstGeom prst="roundRect">
              <a:avLst/>
            </a:prstGeom>
            <a:solidFill>
              <a:srgbClr val="C49D62"/>
            </a:solidFill>
            <a:ln w="38100" algn="ctr">
              <a:solidFill>
                <a:schemeClr val="bg1"/>
              </a:solidFill>
              <a:miter lim="800000"/>
              <a:headEnd/>
              <a:tailEnd/>
            </a:ln>
            <a:effectLst/>
          </p:spPr>
          <p:txBody>
            <a:bodyPr wrap="none" lIns="90000" tIns="46800" rIns="90000" bIns="46800" rtlCol="0" anchor="t"/>
            <a:lstStyle/>
            <a:p>
              <a:pPr algn="ctr" defTabSz="914400" fontAlgn="base">
                <a:spcBef>
                  <a:spcPct val="50000"/>
                </a:spcBef>
                <a:spcAft>
                  <a:spcPct val="0"/>
                </a:spcAft>
              </a:pPr>
              <a:r>
                <a:rPr kumimoji="1" lang="en-US" altLang="ja-JP" sz="2000" b="1" noProof="0">
                  <a:solidFill>
                    <a:schemeClr val="bg1"/>
                  </a:solidFill>
                  <a:latin typeface="メイリオ" panose="020B0604030504040204" pitchFamily="50" charset="-128"/>
                  <a:ea typeface="メイリオ" panose="020B0604030504040204" pitchFamily="50" charset="-128"/>
                </a:rPr>
                <a:t>DG C&amp;R Creative Studios </a:t>
              </a: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grpSp>
        <p:nvGrpSpPr>
          <p:cNvPr id="40" name="グループ化 39">
            <a:extLst>
              <a:ext uri="{FF2B5EF4-FFF2-40B4-BE49-F238E27FC236}">
                <a16:creationId xmlns:a16="http://schemas.microsoft.com/office/drawing/2014/main" id="{2808C1D7-2D7B-F38D-303D-B0FA8649C47A}"/>
              </a:ext>
            </a:extLst>
          </p:cNvPr>
          <p:cNvGrpSpPr/>
          <p:nvPr/>
        </p:nvGrpSpPr>
        <p:grpSpPr>
          <a:xfrm>
            <a:off x="2838982" y="5471730"/>
            <a:ext cx="4371975" cy="1163091"/>
            <a:chOff x="2849039" y="5471730"/>
            <a:chExt cx="4371975" cy="1163091"/>
          </a:xfrm>
        </p:grpSpPr>
        <p:grpSp>
          <p:nvGrpSpPr>
            <p:cNvPr id="31" name="グループ化 30">
              <a:extLst>
                <a:ext uri="{FF2B5EF4-FFF2-40B4-BE49-F238E27FC236}">
                  <a16:creationId xmlns:a16="http://schemas.microsoft.com/office/drawing/2014/main" id="{B537340A-E41E-EA50-3592-578AAE4FE4F7}"/>
                </a:ext>
              </a:extLst>
            </p:cNvPr>
            <p:cNvGrpSpPr/>
            <p:nvPr/>
          </p:nvGrpSpPr>
          <p:grpSpPr>
            <a:xfrm>
              <a:off x="2849039" y="5622745"/>
              <a:ext cx="4371975" cy="1012076"/>
              <a:chOff x="4700677" y="3751288"/>
              <a:chExt cx="3779234" cy="2146997"/>
            </a:xfrm>
          </p:grpSpPr>
          <p:sp>
            <p:nvSpPr>
              <p:cNvPr id="32" name="四角形: 角を丸くする 31">
                <a:extLst>
                  <a:ext uri="{FF2B5EF4-FFF2-40B4-BE49-F238E27FC236}">
                    <a16:creationId xmlns:a16="http://schemas.microsoft.com/office/drawing/2014/main" id="{C0440F16-B9E2-748B-EA1F-BF494A517F56}"/>
                  </a:ext>
                </a:extLst>
              </p:cNvPr>
              <p:cNvSpPr/>
              <p:nvPr/>
            </p:nvSpPr>
            <p:spPr bwMode="auto">
              <a:xfrm>
                <a:off x="4700677" y="3932688"/>
                <a:ext cx="3779234" cy="1965597"/>
              </a:xfrm>
              <a:prstGeom prst="roundRect">
                <a:avLst/>
              </a:prstGeom>
              <a:solidFill>
                <a:srgbClr val="C49D62"/>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3" name="四角形: 角を丸くする 32">
                <a:extLst>
                  <a:ext uri="{FF2B5EF4-FFF2-40B4-BE49-F238E27FC236}">
                    <a16:creationId xmlns:a16="http://schemas.microsoft.com/office/drawing/2014/main" id="{4D8FA7AE-BB27-4462-3338-B419D23C9ED9}"/>
                  </a:ext>
                </a:extLst>
              </p:cNvPr>
              <p:cNvSpPr/>
              <p:nvPr/>
            </p:nvSpPr>
            <p:spPr bwMode="auto">
              <a:xfrm>
                <a:off x="4700677" y="3751288"/>
                <a:ext cx="3779234" cy="1965598"/>
              </a:xfrm>
              <a:prstGeom prst="roundRect">
                <a:avLst/>
              </a:prstGeom>
              <a:solidFill>
                <a:srgbClr val="EFEFF0"/>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sp>
          <p:nvSpPr>
            <p:cNvPr id="29" name="四角形: 角を丸くする 28">
              <a:extLst>
                <a:ext uri="{FF2B5EF4-FFF2-40B4-BE49-F238E27FC236}">
                  <a16:creationId xmlns:a16="http://schemas.microsoft.com/office/drawing/2014/main" id="{66FF5C7E-5C5F-ACC3-B63F-8B5AD978F0B5}"/>
                </a:ext>
              </a:extLst>
            </p:cNvPr>
            <p:cNvSpPr/>
            <p:nvPr/>
          </p:nvSpPr>
          <p:spPr bwMode="auto">
            <a:xfrm>
              <a:off x="3110977" y="5471730"/>
              <a:ext cx="3848099" cy="404118"/>
            </a:xfrm>
            <a:prstGeom prst="roundRect">
              <a:avLst/>
            </a:prstGeom>
            <a:solidFill>
              <a:srgbClr val="C49D62"/>
            </a:solidFill>
            <a:ln w="38100" algn="ctr">
              <a:solidFill>
                <a:schemeClr val="bg1"/>
              </a:solidFill>
              <a:miter lim="800000"/>
              <a:headEnd/>
              <a:tailEnd/>
            </a:ln>
            <a:effectLst/>
          </p:spPr>
          <p:txBody>
            <a:bodyPr wrap="none" lIns="90000" tIns="46800" rIns="90000" bIns="46800" rtlCol="0" anchor="t"/>
            <a:lstStyle/>
            <a:p>
              <a:pPr algn="ctr" defTabSz="914400" fontAlgn="base">
                <a:spcBef>
                  <a:spcPct val="50000"/>
                </a:spcBef>
                <a:spcAft>
                  <a:spcPct val="0"/>
                </a:spcAft>
              </a:pPr>
              <a:r>
                <a:rPr kumimoji="1" lang="en-US" altLang="ja-JP" sz="2000" b="1" noProof="0">
                  <a:solidFill>
                    <a:schemeClr val="bg1"/>
                  </a:solidFill>
                  <a:latin typeface="メイリオ" panose="020B0604030504040204" pitchFamily="50" charset="-128"/>
                  <a:ea typeface="メイリオ" panose="020B0604030504040204" pitchFamily="50" charset="-128"/>
                </a:rPr>
                <a:t>C&amp;R Creative Academy</a:t>
              </a: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nvGrpSpPr>
            <p:cNvPr id="14" name="グループ化 13">
              <a:extLst>
                <a:ext uri="{FF2B5EF4-FFF2-40B4-BE49-F238E27FC236}">
                  <a16:creationId xmlns:a16="http://schemas.microsoft.com/office/drawing/2014/main" id="{91A5B00D-AE8A-95DC-CF67-82617E8BA160}"/>
                </a:ext>
              </a:extLst>
            </p:cNvPr>
            <p:cNvGrpSpPr/>
            <p:nvPr/>
          </p:nvGrpSpPr>
          <p:grpSpPr>
            <a:xfrm>
              <a:off x="3028606" y="6004028"/>
              <a:ext cx="4012841" cy="344759"/>
              <a:chOff x="3057226" y="6004028"/>
              <a:chExt cx="4012841" cy="344759"/>
            </a:xfrm>
          </p:grpSpPr>
          <p:grpSp>
            <p:nvGrpSpPr>
              <p:cNvPr id="3" name="グループ化 2">
                <a:extLst>
                  <a:ext uri="{FF2B5EF4-FFF2-40B4-BE49-F238E27FC236}">
                    <a16:creationId xmlns:a16="http://schemas.microsoft.com/office/drawing/2014/main" id="{AF0B9FFB-AFB8-EF19-3129-CE6AF51D8FC0}"/>
                  </a:ext>
                </a:extLst>
              </p:cNvPr>
              <p:cNvGrpSpPr/>
              <p:nvPr/>
            </p:nvGrpSpPr>
            <p:grpSpPr>
              <a:xfrm>
                <a:off x="3057226" y="6004028"/>
                <a:ext cx="1285737" cy="344759"/>
                <a:chOff x="3057226" y="6004028"/>
                <a:chExt cx="1285737" cy="344759"/>
              </a:xfrm>
            </p:grpSpPr>
            <p:sp>
              <p:nvSpPr>
                <p:cNvPr id="34" name="四角形: 角を丸くする 33">
                  <a:extLst>
                    <a:ext uri="{FF2B5EF4-FFF2-40B4-BE49-F238E27FC236}">
                      <a16:creationId xmlns:a16="http://schemas.microsoft.com/office/drawing/2014/main" id="{780CD09D-43EE-0725-0852-D6F74DA78313}"/>
                    </a:ext>
                  </a:extLst>
                </p:cNvPr>
                <p:cNvSpPr/>
                <p:nvPr/>
              </p:nvSpPr>
              <p:spPr bwMode="auto">
                <a:xfrm>
                  <a:off x="3057226" y="6004028"/>
                  <a:ext cx="1285737" cy="344759"/>
                </a:xfrm>
                <a:prstGeom prst="roundRect">
                  <a:avLst/>
                </a:prstGeom>
                <a:solidFill>
                  <a:schemeClr val="bg1"/>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35" name="テキスト ボックス 34">
                  <a:extLst>
                    <a:ext uri="{FF2B5EF4-FFF2-40B4-BE49-F238E27FC236}">
                      <a16:creationId xmlns:a16="http://schemas.microsoft.com/office/drawing/2014/main" id="{81684072-4F73-0AE5-A451-57DF8C900BDA}"/>
                    </a:ext>
                  </a:extLst>
                </p:cNvPr>
                <p:cNvSpPr txBox="1"/>
                <p:nvPr/>
              </p:nvSpPr>
              <p:spPr>
                <a:xfrm>
                  <a:off x="3196261" y="6060946"/>
                  <a:ext cx="1007666" cy="215444"/>
                </a:xfrm>
                <a:prstGeom prst="rect">
                  <a:avLst/>
                </a:prstGeom>
                <a:noFill/>
              </p:spPr>
              <p:txBody>
                <a:bodyPr wrap="square" lIns="0" tIns="0" rIns="0" bIns="0" rtlCol="0" anchor="t">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rPr>
                    <a:t>若手育成</a:t>
                  </a:r>
                </a:p>
              </p:txBody>
            </p:sp>
          </p:grpSp>
          <p:grpSp>
            <p:nvGrpSpPr>
              <p:cNvPr id="4" name="グループ化 3">
                <a:extLst>
                  <a:ext uri="{FF2B5EF4-FFF2-40B4-BE49-F238E27FC236}">
                    <a16:creationId xmlns:a16="http://schemas.microsoft.com/office/drawing/2014/main" id="{907DF583-A43F-DD5E-31A4-2C324E189FD6}"/>
                  </a:ext>
                </a:extLst>
              </p:cNvPr>
              <p:cNvGrpSpPr/>
              <p:nvPr/>
            </p:nvGrpSpPr>
            <p:grpSpPr>
              <a:xfrm>
                <a:off x="4420778" y="6004028"/>
                <a:ext cx="1285737" cy="344759"/>
                <a:chOff x="4420778" y="6004028"/>
                <a:chExt cx="1285737" cy="344759"/>
              </a:xfrm>
            </p:grpSpPr>
            <p:sp>
              <p:nvSpPr>
                <p:cNvPr id="36" name="四角形: 角を丸くする 35">
                  <a:extLst>
                    <a:ext uri="{FF2B5EF4-FFF2-40B4-BE49-F238E27FC236}">
                      <a16:creationId xmlns:a16="http://schemas.microsoft.com/office/drawing/2014/main" id="{0BC54DF5-DCF1-5D83-482C-74A0F8441D2F}"/>
                    </a:ext>
                  </a:extLst>
                </p:cNvPr>
                <p:cNvSpPr/>
                <p:nvPr/>
              </p:nvSpPr>
              <p:spPr bwMode="auto">
                <a:xfrm>
                  <a:off x="4420778" y="6004028"/>
                  <a:ext cx="1285737" cy="344759"/>
                </a:xfrm>
                <a:prstGeom prst="roundRect">
                  <a:avLst/>
                </a:prstGeom>
                <a:solidFill>
                  <a:schemeClr val="bg1"/>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37" name="テキスト ボックス 36">
                  <a:extLst>
                    <a:ext uri="{FF2B5EF4-FFF2-40B4-BE49-F238E27FC236}">
                      <a16:creationId xmlns:a16="http://schemas.microsoft.com/office/drawing/2014/main" id="{E60930FB-E910-6F13-C320-D684A4294186}"/>
                    </a:ext>
                  </a:extLst>
                </p:cNvPr>
                <p:cNvSpPr txBox="1"/>
                <p:nvPr/>
              </p:nvSpPr>
              <p:spPr>
                <a:xfrm>
                  <a:off x="4559813" y="6079996"/>
                  <a:ext cx="1007666" cy="184666"/>
                </a:xfrm>
                <a:prstGeom prst="rect">
                  <a:avLst/>
                </a:prstGeom>
                <a:noFill/>
              </p:spPr>
              <p:txBody>
                <a:bodyPr wrap="square" lIns="0" tIns="0" rIns="0" bIns="0" rtlCol="0" anchor="t">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lang="ja-JP" altLang="en-US" sz="1200" b="1">
                      <a:ln w="22225">
                        <a:noFill/>
                      </a:ln>
                      <a:latin typeface="メイリオ" panose="020B0604030504040204" pitchFamily="50" charset="-128"/>
                      <a:ea typeface="メイリオ" panose="020B0604030504040204" pitchFamily="50" charset="-128"/>
                    </a:rPr>
                    <a:t>リスキリング</a:t>
                  </a:r>
                  <a:endParaRPr kumimoji="1" lang="ja-JP" altLang="en-US" sz="12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endParaRPr>
                </a:p>
              </p:txBody>
            </p:sp>
          </p:grpSp>
          <p:grpSp>
            <p:nvGrpSpPr>
              <p:cNvPr id="5" name="グループ化 4">
                <a:extLst>
                  <a:ext uri="{FF2B5EF4-FFF2-40B4-BE49-F238E27FC236}">
                    <a16:creationId xmlns:a16="http://schemas.microsoft.com/office/drawing/2014/main" id="{EBC0493F-0225-A7DC-1948-889AF26B4724}"/>
                  </a:ext>
                </a:extLst>
              </p:cNvPr>
              <p:cNvGrpSpPr/>
              <p:nvPr/>
            </p:nvGrpSpPr>
            <p:grpSpPr>
              <a:xfrm>
                <a:off x="5784330" y="6004028"/>
                <a:ext cx="1285737" cy="344759"/>
                <a:chOff x="5784330" y="6004028"/>
                <a:chExt cx="1285737" cy="344759"/>
              </a:xfrm>
            </p:grpSpPr>
            <p:sp>
              <p:nvSpPr>
                <p:cNvPr id="38" name="四角形: 角を丸くする 37">
                  <a:extLst>
                    <a:ext uri="{FF2B5EF4-FFF2-40B4-BE49-F238E27FC236}">
                      <a16:creationId xmlns:a16="http://schemas.microsoft.com/office/drawing/2014/main" id="{C6361673-DAA9-A49E-97F9-1480B45E6886}"/>
                    </a:ext>
                  </a:extLst>
                </p:cNvPr>
                <p:cNvSpPr/>
                <p:nvPr/>
              </p:nvSpPr>
              <p:spPr bwMode="auto">
                <a:xfrm>
                  <a:off x="5784330" y="6004028"/>
                  <a:ext cx="1285737" cy="344759"/>
                </a:xfrm>
                <a:prstGeom prst="roundRect">
                  <a:avLst/>
                </a:prstGeom>
                <a:solidFill>
                  <a:schemeClr val="bg1"/>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39" name="テキスト ボックス 38">
                  <a:extLst>
                    <a:ext uri="{FF2B5EF4-FFF2-40B4-BE49-F238E27FC236}">
                      <a16:creationId xmlns:a16="http://schemas.microsoft.com/office/drawing/2014/main" id="{3160D9AF-105C-0D4C-D618-C18C60425F71}"/>
                    </a:ext>
                  </a:extLst>
                </p:cNvPr>
                <p:cNvSpPr txBox="1"/>
                <p:nvPr/>
              </p:nvSpPr>
              <p:spPr>
                <a:xfrm>
                  <a:off x="5882742" y="6044782"/>
                  <a:ext cx="1088122" cy="261610"/>
                </a:xfrm>
                <a:prstGeom prst="rect">
                  <a:avLst/>
                </a:prstGeom>
                <a:noFill/>
              </p:spPr>
              <p:txBody>
                <a:bodyPr wrap="square" lIns="0" tIns="0" rIns="0" bIns="0" rtlCol="0" anchor="t">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kumimoji="1" lang="ja-JP" altLang="en-US" sz="9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rPr>
                    <a:t>育成コミュニティ</a:t>
                  </a:r>
                  <a:endParaRPr kumimoji="1" lang="en-US" altLang="ja-JP" sz="9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endParaRPr>
                </a:p>
                <a:p>
                  <a:pPr marL="0" marR="0" lvl="0" indent="0" algn="dist" defTabSz="914400" rtl="0" eaLnBrk="0" fontAlgn="base" latinLnBrk="0" hangingPunct="0">
                    <a:lnSpc>
                      <a:spcPct val="100000"/>
                    </a:lnSpc>
                    <a:spcBef>
                      <a:spcPct val="0"/>
                    </a:spcBef>
                    <a:spcAft>
                      <a:spcPct val="0"/>
                    </a:spcAft>
                    <a:buClrTx/>
                    <a:buSzTx/>
                    <a:buFontTx/>
                    <a:buNone/>
                    <a:tabLst/>
                    <a:defRPr/>
                  </a:pPr>
                  <a:r>
                    <a:rPr kumimoji="1" lang="en-US" altLang="ja-JP" sz="8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rPr>
                    <a:t>Game</a:t>
                  </a:r>
                  <a:r>
                    <a:rPr lang="ja-JP" altLang="en-US" sz="800" b="1">
                      <a:ln w="22225">
                        <a:noFill/>
                      </a:ln>
                      <a:latin typeface="メイリオ" panose="020B0604030504040204" pitchFamily="50" charset="-128"/>
                      <a:ea typeface="メイリオ" panose="020B0604030504040204" pitchFamily="50" charset="-128"/>
                    </a:rPr>
                    <a:t> </a:t>
                  </a:r>
                  <a:r>
                    <a:rPr kumimoji="1" lang="en-US" altLang="ja-JP" sz="8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rPr>
                    <a:t>Creator Farm</a:t>
                  </a:r>
                  <a:endParaRPr kumimoji="1" lang="en-US" altLang="ja-JP" sz="9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endParaRPr>
                </a:p>
              </p:txBody>
            </p:sp>
          </p:grpSp>
        </p:grpSp>
      </p:grpSp>
      <p:cxnSp>
        <p:nvCxnSpPr>
          <p:cNvPr id="41" name="直線矢印コネクタ 40">
            <a:extLst>
              <a:ext uri="{FF2B5EF4-FFF2-40B4-BE49-F238E27FC236}">
                <a16:creationId xmlns:a16="http://schemas.microsoft.com/office/drawing/2014/main" id="{6090D1F8-619A-1EFB-AA28-504D7E40F7DA}"/>
              </a:ext>
            </a:extLst>
          </p:cNvPr>
          <p:cNvCxnSpPr/>
          <p:nvPr/>
        </p:nvCxnSpPr>
        <p:spPr>
          <a:xfrm>
            <a:off x="4185390" y="4906583"/>
            <a:ext cx="0" cy="547304"/>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2DAF74A6-5FEF-12AB-2CB7-DC09D06AA0A4}"/>
              </a:ext>
            </a:extLst>
          </p:cNvPr>
          <p:cNvCxnSpPr>
            <a:cxnSpLocks/>
          </p:cNvCxnSpPr>
          <p:nvPr/>
        </p:nvCxnSpPr>
        <p:spPr>
          <a:xfrm flipV="1">
            <a:off x="5879017" y="4902975"/>
            <a:ext cx="0" cy="547304"/>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92F35B1E-53B9-2919-D814-ACC9E030AD8B}"/>
              </a:ext>
            </a:extLst>
          </p:cNvPr>
          <p:cNvSpPr txBox="1"/>
          <p:nvPr/>
        </p:nvSpPr>
        <p:spPr>
          <a:xfrm>
            <a:off x="2958929" y="5047274"/>
            <a:ext cx="1062634" cy="369332"/>
          </a:xfrm>
          <a:prstGeom prst="rect">
            <a:avLst/>
          </a:prstGeom>
          <a:noFill/>
        </p:spPr>
        <p:txBody>
          <a:bodyPr wrap="square" lIns="0" tIns="0" rIns="0" bIns="0"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ja-JP" altLang="en-US" sz="1200" b="1" i="0" u="none" strike="noStrike" kern="1200" cap="none" spc="0" normalizeH="0" baseline="0" noProof="0">
                <a:ln w="22225">
                  <a:noFill/>
                </a:ln>
                <a:solidFill>
                  <a:schemeClr val="tx2"/>
                </a:solidFill>
                <a:effectLst/>
                <a:uLnTx/>
                <a:uFillTx/>
                <a:latin typeface="メイリオ" panose="020B0604030504040204" pitchFamily="50" charset="-128"/>
                <a:ea typeface="メイリオ" panose="020B0604030504040204" pitchFamily="50" charset="-128"/>
              </a:rPr>
              <a:t>トレンド</a:t>
            </a:r>
            <a:endParaRPr kumimoji="1" lang="en-US" altLang="ja-JP" sz="1200" b="1" i="0" u="none" strike="noStrike" kern="1200" cap="none" spc="0" normalizeH="0" baseline="0" noProof="0">
              <a:ln w="22225">
                <a:noFill/>
              </a:ln>
              <a:solidFill>
                <a:schemeClr val="tx2"/>
              </a:solidFill>
              <a:effectLst/>
              <a:uLnTx/>
              <a:uFillTx/>
              <a:latin typeface="メイリオ" panose="020B0604030504040204" pitchFamily="50" charset="-128"/>
              <a:ea typeface="メイリオ" panose="020B0604030504040204" pitchFamily="50" charset="-128"/>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1" lang="ja-JP" altLang="en-US" sz="1200" b="1" i="0" u="none" strike="noStrike" kern="1200" cap="none" spc="0" normalizeH="0" baseline="0" noProof="0">
                <a:ln w="22225">
                  <a:noFill/>
                </a:ln>
                <a:solidFill>
                  <a:schemeClr val="tx2"/>
                </a:solidFill>
                <a:effectLst/>
                <a:uLnTx/>
                <a:uFillTx/>
                <a:latin typeface="メイリオ" panose="020B0604030504040204" pitchFamily="50" charset="-128"/>
                <a:ea typeface="メイリオ" panose="020B0604030504040204" pitchFamily="50" charset="-128"/>
              </a:rPr>
              <a:t>ノウハウ</a:t>
            </a:r>
          </a:p>
        </p:txBody>
      </p:sp>
      <p:sp>
        <p:nvSpPr>
          <p:cNvPr id="44" name="テキスト ボックス 43">
            <a:extLst>
              <a:ext uri="{FF2B5EF4-FFF2-40B4-BE49-F238E27FC236}">
                <a16:creationId xmlns:a16="http://schemas.microsoft.com/office/drawing/2014/main" id="{B4EA5C7B-ABF6-80E3-7EB2-9BEAEC0AC883}"/>
              </a:ext>
            </a:extLst>
          </p:cNvPr>
          <p:cNvSpPr txBox="1"/>
          <p:nvPr/>
        </p:nvSpPr>
        <p:spPr>
          <a:xfrm>
            <a:off x="5688863" y="5217558"/>
            <a:ext cx="1062634" cy="184666"/>
          </a:xfrm>
          <a:prstGeom prst="rect">
            <a:avLst/>
          </a:prstGeom>
          <a:noFill/>
        </p:spPr>
        <p:txBody>
          <a:bodyPr wrap="square" lIns="0" tIns="0" rIns="0" bIns="0"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ja-JP" altLang="en-US" sz="1200" b="1" i="0" u="none" strike="noStrike" kern="1200" cap="none" spc="0" normalizeH="0" baseline="0" noProof="0">
                <a:ln w="22225">
                  <a:noFill/>
                </a:ln>
                <a:solidFill>
                  <a:schemeClr val="tx2"/>
                </a:solidFill>
                <a:effectLst/>
                <a:uLnTx/>
                <a:uFillTx/>
                <a:latin typeface="メイリオ" panose="020B0604030504040204" pitchFamily="50" charset="-128"/>
                <a:ea typeface="メイリオ" panose="020B0604030504040204" pitchFamily="50" charset="-128"/>
              </a:rPr>
              <a:t>輩出</a:t>
            </a:r>
          </a:p>
        </p:txBody>
      </p:sp>
      <p:cxnSp>
        <p:nvCxnSpPr>
          <p:cNvPr id="45" name="直線矢印コネクタ 44">
            <a:extLst>
              <a:ext uri="{FF2B5EF4-FFF2-40B4-BE49-F238E27FC236}">
                <a16:creationId xmlns:a16="http://schemas.microsoft.com/office/drawing/2014/main" id="{7496CCEE-5260-E70A-18CC-082892CBB92D}"/>
              </a:ext>
            </a:extLst>
          </p:cNvPr>
          <p:cNvCxnSpPr>
            <a:cxnSpLocks/>
          </p:cNvCxnSpPr>
          <p:nvPr/>
        </p:nvCxnSpPr>
        <p:spPr>
          <a:xfrm flipV="1">
            <a:off x="7161786" y="5261383"/>
            <a:ext cx="322786" cy="404117"/>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7DA0DA5D-B50E-43AB-650F-CD5531F9A859}"/>
              </a:ext>
            </a:extLst>
          </p:cNvPr>
          <p:cNvSpPr txBox="1"/>
          <p:nvPr/>
        </p:nvSpPr>
        <p:spPr>
          <a:xfrm>
            <a:off x="7031578" y="5564929"/>
            <a:ext cx="1062634" cy="184666"/>
          </a:xfrm>
          <a:prstGeom prst="rect">
            <a:avLst/>
          </a:prstGeom>
          <a:noFill/>
        </p:spPr>
        <p:txBody>
          <a:bodyPr wrap="square" lIns="0" tIns="0" rIns="0" bIns="0"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ja-JP" altLang="en-US" sz="1200" b="1" i="0" u="none" strike="noStrike" kern="1200" cap="none" spc="0" normalizeH="0" baseline="0" noProof="0">
                <a:ln w="22225">
                  <a:noFill/>
                </a:ln>
                <a:solidFill>
                  <a:schemeClr val="tx2"/>
                </a:solidFill>
                <a:effectLst/>
                <a:uLnTx/>
                <a:uFillTx/>
                <a:latin typeface="メイリオ" panose="020B0604030504040204" pitchFamily="50" charset="-128"/>
                <a:ea typeface="メイリオ" panose="020B0604030504040204" pitchFamily="50" charset="-128"/>
              </a:rPr>
              <a:t>輩出</a:t>
            </a:r>
          </a:p>
        </p:txBody>
      </p:sp>
      <p:pic>
        <p:nvPicPr>
          <p:cNvPr id="49" name="図 48">
            <a:extLst>
              <a:ext uri="{FF2B5EF4-FFF2-40B4-BE49-F238E27FC236}">
                <a16:creationId xmlns:a16="http://schemas.microsoft.com/office/drawing/2014/main" id="{1C2DAC00-F016-7695-AE2A-C88647CF4C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9310" y="2338285"/>
            <a:ext cx="458614" cy="636142"/>
          </a:xfrm>
          <a:prstGeom prst="rect">
            <a:avLst/>
          </a:prstGeom>
        </p:spPr>
      </p:pic>
      <p:pic>
        <p:nvPicPr>
          <p:cNvPr id="50" name="図 49">
            <a:extLst>
              <a:ext uri="{FF2B5EF4-FFF2-40B4-BE49-F238E27FC236}">
                <a16:creationId xmlns:a16="http://schemas.microsoft.com/office/drawing/2014/main" id="{727AC039-C7DB-8921-8F0D-8CE6B36C5C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0541" y="2520685"/>
            <a:ext cx="458614" cy="636142"/>
          </a:xfrm>
          <a:prstGeom prst="rect">
            <a:avLst/>
          </a:prstGeom>
        </p:spPr>
      </p:pic>
      <p:pic>
        <p:nvPicPr>
          <p:cNvPr id="53" name="図 52">
            <a:extLst>
              <a:ext uri="{FF2B5EF4-FFF2-40B4-BE49-F238E27FC236}">
                <a16:creationId xmlns:a16="http://schemas.microsoft.com/office/drawing/2014/main" id="{7DCCE21C-FCFD-C039-6B93-19AE2A673A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4379" y="2318456"/>
            <a:ext cx="458614" cy="636142"/>
          </a:xfrm>
          <a:prstGeom prst="rect">
            <a:avLst/>
          </a:prstGeom>
        </p:spPr>
      </p:pic>
      <p:pic>
        <p:nvPicPr>
          <p:cNvPr id="54" name="図 53">
            <a:extLst>
              <a:ext uri="{FF2B5EF4-FFF2-40B4-BE49-F238E27FC236}">
                <a16:creationId xmlns:a16="http://schemas.microsoft.com/office/drawing/2014/main" id="{96CCEE3C-B51D-E528-C13E-07AEA97378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5610" y="2500856"/>
            <a:ext cx="458614" cy="636142"/>
          </a:xfrm>
          <a:prstGeom prst="rect">
            <a:avLst/>
          </a:prstGeom>
        </p:spPr>
      </p:pic>
      <p:pic>
        <p:nvPicPr>
          <p:cNvPr id="55" name="図 54">
            <a:extLst>
              <a:ext uri="{FF2B5EF4-FFF2-40B4-BE49-F238E27FC236}">
                <a16:creationId xmlns:a16="http://schemas.microsoft.com/office/drawing/2014/main" id="{90D61BF5-42CD-E419-E8A6-5845B7867C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0360" y="2318456"/>
            <a:ext cx="458614" cy="636142"/>
          </a:xfrm>
          <a:prstGeom prst="rect">
            <a:avLst/>
          </a:prstGeom>
        </p:spPr>
      </p:pic>
      <p:pic>
        <p:nvPicPr>
          <p:cNvPr id="56" name="図 55">
            <a:extLst>
              <a:ext uri="{FF2B5EF4-FFF2-40B4-BE49-F238E27FC236}">
                <a16:creationId xmlns:a16="http://schemas.microsoft.com/office/drawing/2014/main" id="{D59BD0C3-6BA0-8AE1-DC5E-980D4EA304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1591" y="2500856"/>
            <a:ext cx="458614" cy="636142"/>
          </a:xfrm>
          <a:prstGeom prst="rect">
            <a:avLst/>
          </a:prstGeom>
        </p:spPr>
      </p:pic>
      <p:cxnSp>
        <p:nvCxnSpPr>
          <p:cNvPr id="59" name="コネクタ: カギ線 58">
            <a:extLst>
              <a:ext uri="{FF2B5EF4-FFF2-40B4-BE49-F238E27FC236}">
                <a16:creationId xmlns:a16="http://schemas.microsoft.com/office/drawing/2014/main" id="{743BE5DA-93A3-D530-A0C1-3E09E0930154}"/>
              </a:ext>
            </a:extLst>
          </p:cNvPr>
          <p:cNvCxnSpPr>
            <a:cxnSpLocks/>
          </p:cNvCxnSpPr>
          <p:nvPr/>
        </p:nvCxnSpPr>
        <p:spPr>
          <a:xfrm flipH="1" flipV="1">
            <a:off x="6982884" y="2604560"/>
            <a:ext cx="417002" cy="1639034"/>
          </a:xfrm>
          <a:prstGeom prst="bentConnector4">
            <a:avLst>
              <a:gd name="adj1" fmla="val -258110"/>
              <a:gd name="adj2" fmla="val 99957"/>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461554E2-03BD-234F-CC6A-FFAB6B658E10}"/>
              </a:ext>
            </a:extLst>
          </p:cNvPr>
          <p:cNvCxnSpPr>
            <a:cxnSpLocks/>
          </p:cNvCxnSpPr>
          <p:nvPr/>
        </p:nvCxnSpPr>
        <p:spPr>
          <a:xfrm rot="5400000">
            <a:off x="1986263" y="3263290"/>
            <a:ext cx="1639032" cy="375410"/>
          </a:xfrm>
          <a:prstGeom prst="bentConnector4">
            <a:avLst>
              <a:gd name="adj1" fmla="val 1787"/>
              <a:gd name="adj2" fmla="val 386706"/>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79" name="図 78">
            <a:extLst>
              <a:ext uri="{FF2B5EF4-FFF2-40B4-BE49-F238E27FC236}">
                <a16:creationId xmlns:a16="http://schemas.microsoft.com/office/drawing/2014/main" id="{CF8E9454-4E38-B5A2-A9C3-77F39889B7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3002" y="4762244"/>
            <a:ext cx="458614" cy="636142"/>
          </a:xfrm>
          <a:prstGeom prst="rect">
            <a:avLst/>
          </a:prstGeom>
        </p:spPr>
      </p:pic>
      <p:pic>
        <p:nvPicPr>
          <p:cNvPr id="80" name="図 79">
            <a:extLst>
              <a:ext uri="{FF2B5EF4-FFF2-40B4-BE49-F238E27FC236}">
                <a16:creationId xmlns:a16="http://schemas.microsoft.com/office/drawing/2014/main" id="{BFCEFE8C-2C12-5B94-9B15-4D5FC05C1E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4233" y="4944644"/>
            <a:ext cx="458614" cy="636142"/>
          </a:xfrm>
          <a:prstGeom prst="rect">
            <a:avLst/>
          </a:prstGeom>
        </p:spPr>
      </p:pic>
      <p:cxnSp>
        <p:nvCxnSpPr>
          <p:cNvPr id="81" name="直線矢印コネクタ 80">
            <a:extLst>
              <a:ext uri="{FF2B5EF4-FFF2-40B4-BE49-F238E27FC236}">
                <a16:creationId xmlns:a16="http://schemas.microsoft.com/office/drawing/2014/main" id="{39267633-467E-FA72-345E-2A175B46D9A0}"/>
              </a:ext>
            </a:extLst>
          </p:cNvPr>
          <p:cNvCxnSpPr>
            <a:cxnSpLocks/>
          </p:cNvCxnSpPr>
          <p:nvPr/>
        </p:nvCxnSpPr>
        <p:spPr>
          <a:xfrm flipH="1">
            <a:off x="2418260" y="4800250"/>
            <a:ext cx="589856" cy="326927"/>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83" name="図 82">
            <a:extLst>
              <a:ext uri="{FF2B5EF4-FFF2-40B4-BE49-F238E27FC236}">
                <a16:creationId xmlns:a16="http://schemas.microsoft.com/office/drawing/2014/main" id="{0068B952-D6E5-8605-B607-6A26E7BBEC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6747" y="4846958"/>
            <a:ext cx="458614" cy="636142"/>
          </a:xfrm>
          <a:prstGeom prst="rect">
            <a:avLst/>
          </a:prstGeom>
        </p:spPr>
      </p:pic>
      <p:pic>
        <p:nvPicPr>
          <p:cNvPr id="84" name="図 83">
            <a:extLst>
              <a:ext uri="{FF2B5EF4-FFF2-40B4-BE49-F238E27FC236}">
                <a16:creationId xmlns:a16="http://schemas.microsoft.com/office/drawing/2014/main" id="{7F97CD32-E1D5-4BE1-3347-9A4B40733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978" y="5029358"/>
            <a:ext cx="458614" cy="636142"/>
          </a:xfrm>
          <a:prstGeom prst="rect">
            <a:avLst/>
          </a:prstGeom>
        </p:spPr>
      </p:pic>
      <p:sp>
        <p:nvSpPr>
          <p:cNvPr id="85" name="テキスト ボックス 84">
            <a:extLst>
              <a:ext uri="{FF2B5EF4-FFF2-40B4-BE49-F238E27FC236}">
                <a16:creationId xmlns:a16="http://schemas.microsoft.com/office/drawing/2014/main" id="{A9CC61D2-1410-B528-3217-B41438432B1C}"/>
              </a:ext>
            </a:extLst>
          </p:cNvPr>
          <p:cNvSpPr txBox="1"/>
          <p:nvPr/>
        </p:nvSpPr>
        <p:spPr>
          <a:xfrm>
            <a:off x="1600009" y="4634735"/>
            <a:ext cx="1285748" cy="184666"/>
          </a:xfrm>
          <a:prstGeom prst="rect">
            <a:avLst/>
          </a:prstGeom>
          <a:noFill/>
        </p:spPr>
        <p:txBody>
          <a:bodyPr wrap="square" lIns="0" tIns="0" rIns="0" bIns="0"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ja-JP" altLang="en-US" sz="1200" b="1" i="0" u="none" strike="noStrike" kern="1200" cap="none" spc="0" normalizeH="0" baseline="0" noProof="0">
                <a:ln w="22225">
                  <a:noFill/>
                </a:ln>
                <a:solidFill>
                  <a:schemeClr val="tx2"/>
                </a:solidFill>
                <a:effectLst/>
                <a:uLnTx/>
                <a:uFillTx/>
                <a:latin typeface="メイリオ" panose="020B0604030504040204" pitchFamily="50" charset="-128"/>
                <a:ea typeface="メイリオ" panose="020B0604030504040204" pitchFamily="50" charset="-128"/>
              </a:rPr>
              <a:t>起業･独立支援</a:t>
            </a:r>
          </a:p>
        </p:txBody>
      </p:sp>
      <p:sp>
        <p:nvSpPr>
          <p:cNvPr id="90" name="テキスト ボックス 89">
            <a:extLst>
              <a:ext uri="{FF2B5EF4-FFF2-40B4-BE49-F238E27FC236}">
                <a16:creationId xmlns:a16="http://schemas.microsoft.com/office/drawing/2014/main" id="{26B84288-DF5B-CC8F-AD05-875149FD6BFA}"/>
              </a:ext>
            </a:extLst>
          </p:cNvPr>
          <p:cNvSpPr txBox="1"/>
          <p:nvPr/>
        </p:nvSpPr>
        <p:spPr>
          <a:xfrm>
            <a:off x="9589797" y="4325791"/>
            <a:ext cx="1893563" cy="276999"/>
          </a:xfrm>
          <a:prstGeom prst="rect">
            <a:avLst/>
          </a:prstGeom>
          <a:noFill/>
        </p:spPr>
        <p:txBody>
          <a:bodyPr wrap="square" lIns="0" tIns="0" rIns="0" bIns="0" rtlCol="0">
            <a:spAutoFit/>
          </a:bodyPr>
          <a:lstStyle/>
          <a:p>
            <a:pPr marL="0" marR="0" lvl="0" indent="0" defTabSz="914400" rtl="0" eaLnBrk="0" fontAlgn="base" latinLnBrk="0" hangingPunct="0">
              <a:lnSpc>
                <a:spcPct val="100000"/>
              </a:lnSpc>
              <a:spcBef>
                <a:spcPct val="0"/>
              </a:spcBef>
              <a:spcAft>
                <a:spcPct val="0"/>
              </a:spcAft>
              <a:buClrTx/>
              <a:buSzTx/>
              <a:buFontTx/>
              <a:buNone/>
              <a:tabLst/>
              <a:defRPr/>
            </a:pPr>
            <a:r>
              <a:rPr lang="en-US" altLang="ja-JP" b="1" u="sng">
                <a:ln w="22225">
                  <a:noFill/>
                </a:ln>
                <a:latin typeface="メイリオ" panose="020B0604030504040204" pitchFamily="50" charset="-128"/>
                <a:ea typeface="メイリオ" panose="020B0604030504040204" pitchFamily="50" charset="-128"/>
              </a:rPr>
              <a:t>For Creators</a:t>
            </a:r>
            <a:endParaRPr kumimoji="1" lang="ja-JP" altLang="en-US" b="1" i="0" u="sng" strike="noStrike" kern="1200" cap="none" spc="0" normalizeH="0" baseline="0" noProof="0">
              <a:ln w="22225">
                <a:noFill/>
              </a:ln>
              <a:effectLst/>
              <a:uLnTx/>
              <a:uFillTx/>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82501557-FE4D-593C-4AD9-63CE98D21126}"/>
              </a:ext>
            </a:extLst>
          </p:cNvPr>
          <p:cNvSpPr txBox="1"/>
          <p:nvPr/>
        </p:nvSpPr>
        <p:spPr>
          <a:xfrm>
            <a:off x="9589797" y="2012974"/>
            <a:ext cx="1893563" cy="276999"/>
          </a:xfrm>
          <a:prstGeom prst="rect">
            <a:avLst/>
          </a:prstGeom>
          <a:noFill/>
        </p:spPr>
        <p:txBody>
          <a:bodyPr wrap="square" lIns="0" tIns="0" rIns="0" bIns="0" rtlCol="0">
            <a:spAutoFit/>
          </a:bodyPr>
          <a:lstStyle/>
          <a:p>
            <a:pPr marL="0" marR="0" lvl="0" indent="0" defTabSz="914400" rtl="0" eaLnBrk="0" fontAlgn="base" latinLnBrk="0" hangingPunct="0">
              <a:lnSpc>
                <a:spcPct val="100000"/>
              </a:lnSpc>
              <a:spcBef>
                <a:spcPct val="0"/>
              </a:spcBef>
              <a:spcAft>
                <a:spcPct val="0"/>
              </a:spcAft>
              <a:buClrTx/>
              <a:buSzTx/>
              <a:buFontTx/>
              <a:buNone/>
              <a:tabLst/>
              <a:defRPr/>
            </a:pPr>
            <a:r>
              <a:rPr lang="en-US" altLang="ja-JP" b="1" u="sng">
                <a:ln w="22225">
                  <a:noFill/>
                </a:ln>
                <a:latin typeface="メイリオ" panose="020B0604030504040204" pitchFamily="50" charset="-128"/>
                <a:ea typeface="メイリオ" panose="020B0604030504040204" pitchFamily="50" charset="-128"/>
              </a:rPr>
              <a:t>For Clients</a:t>
            </a:r>
            <a:endParaRPr kumimoji="1" lang="ja-JP" altLang="en-US" b="1" i="0" u="sng" strike="noStrike" kern="1200" cap="none" spc="0" normalizeH="0" baseline="0" noProof="0">
              <a:ln w="22225">
                <a:noFill/>
              </a:ln>
              <a:effectLst/>
              <a:uLnTx/>
              <a:uFillTx/>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E3F87D01-FEF9-6FE5-3E19-CE3CF5B35D28}"/>
              </a:ext>
            </a:extLst>
          </p:cNvPr>
          <p:cNvSpPr txBox="1"/>
          <p:nvPr/>
        </p:nvSpPr>
        <p:spPr>
          <a:xfrm>
            <a:off x="9589797" y="4713911"/>
            <a:ext cx="2507418" cy="1347035"/>
          </a:xfrm>
          <a:prstGeom prst="rect">
            <a:avLst/>
          </a:prstGeom>
          <a:noFill/>
        </p:spPr>
        <p:txBody>
          <a:bodyPr wrap="none" rtlCol="0">
            <a:spAutoFit/>
          </a:bodyPr>
          <a:lstStyle/>
          <a:p>
            <a:pPr>
              <a:lnSpc>
                <a:spcPct val="150000"/>
              </a:lnSpc>
            </a:pPr>
            <a:r>
              <a:rPr lang="ja-JP" altLang="en-US" sz="1400">
                <a:latin typeface="メイリオ" panose="020B0604030504040204" pitchFamily="50" charset="-128"/>
                <a:ea typeface="メイリオ" panose="020B0604030504040204" pitchFamily="50" charset="-128"/>
              </a:rPr>
              <a:t>・最適な職場の提供</a:t>
            </a:r>
            <a:endParaRPr lang="en-US" altLang="ja-JP" sz="1400">
              <a:latin typeface="メイリオ" panose="020B0604030504040204" pitchFamily="50" charset="-128"/>
              <a:ea typeface="メイリオ" panose="020B0604030504040204" pitchFamily="50" charset="-128"/>
            </a:endParaRPr>
          </a:p>
          <a:p>
            <a:pPr>
              <a:lnSpc>
                <a:spcPct val="150000"/>
              </a:lnSpc>
            </a:pPr>
            <a:r>
              <a:rPr lang="ja-JP" altLang="en-US" sz="1400">
                <a:latin typeface="メイリオ" panose="020B0604030504040204" pitchFamily="50" charset="-128"/>
                <a:ea typeface="メイリオ" panose="020B0604030504040204" pitchFamily="50" charset="-128"/>
              </a:rPr>
              <a:t>・</a:t>
            </a:r>
            <a:r>
              <a:rPr kumimoji="1" lang="ja-JP" altLang="en-US" sz="1400">
                <a:latin typeface="メイリオ" panose="020B0604030504040204" pitchFamily="50" charset="-128"/>
                <a:ea typeface="メイリオ" panose="020B0604030504040204" pitchFamily="50" charset="-128"/>
              </a:rPr>
              <a:t>多様なキャリア支援</a:t>
            </a:r>
            <a:endParaRPr lang="en-US" altLang="ja-JP" sz="1400">
              <a:latin typeface="メイリオ" panose="020B0604030504040204" pitchFamily="50" charset="-128"/>
              <a:ea typeface="メイリオ" panose="020B0604030504040204" pitchFamily="50" charset="-128"/>
            </a:endParaRPr>
          </a:p>
          <a:p>
            <a:pPr>
              <a:lnSpc>
                <a:spcPct val="150000"/>
              </a:lnSpc>
            </a:pPr>
            <a:r>
              <a:rPr kumimoji="1" lang="ja-JP" altLang="en-US" sz="1400">
                <a:latin typeface="メイリオ" panose="020B0604030504040204" pitchFamily="50" charset="-128"/>
                <a:ea typeface="メイリオ" panose="020B0604030504040204" pitchFamily="50" charset="-128"/>
              </a:rPr>
              <a:t>・成長機会の創出</a:t>
            </a:r>
            <a:r>
              <a:rPr lang="ja-JP" altLang="en-US" sz="1400">
                <a:latin typeface="メイリオ" panose="020B0604030504040204" pitchFamily="50" charset="-128"/>
                <a:ea typeface="メイリオ" panose="020B0604030504040204" pitchFamily="50" charset="-128"/>
              </a:rPr>
              <a:t>／</a:t>
            </a:r>
            <a:r>
              <a:rPr kumimoji="1" lang="ja-JP" altLang="en-US" sz="1400">
                <a:latin typeface="メイリオ" panose="020B0604030504040204" pitchFamily="50" charset="-128"/>
                <a:ea typeface="メイリオ" panose="020B0604030504040204" pitchFamily="50" charset="-128"/>
              </a:rPr>
              <a:t>提供</a:t>
            </a:r>
            <a:endParaRPr lang="en-US" altLang="ja-JP" sz="1400">
              <a:latin typeface="メイリオ" panose="020B0604030504040204" pitchFamily="50" charset="-128"/>
              <a:ea typeface="メイリオ" panose="020B0604030504040204" pitchFamily="50" charset="-128"/>
            </a:endParaRPr>
          </a:p>
          <a:p>
            <a:pPr>
              <a:lnSpc>
                <a:spcPct val="150000"/>
              </a:lnSpc>
            </a:pPr>
            <a:r>
              <a:rPr kumimoji="1" lang="ja-JP" altLang="en-US" sz="1400">
                <a:latin typeface="メイリオ" panose="020B0604030504040204" pitchFamily="50" charset="-128"/>
                <a:ea typeface="メイリオ" panose="020B0604030504040204" pitchFamily="50" charset="-128"/>
              </a:rPr>
              <a:t>・業界内コミュニティの形成</a:t>
            </a:r>
            <a:endParaRPr kumimoji="1" lang="ja-JP" altLang="en-US">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AFBEED15-B227-AB79-E62A-6B041032476E}"/>
              </a:ext>
            </a:extLst>
          </p:cNvPr>
          <p:cNvSpPr txBox="1"/>
          <p:nvPr/>
        </p:nvSpPr>
        <p:spPr>
          <a:xfrm>
            <a:off x="9589797" y="2373050"/>
            <a:ext cx="1980029" cy="1670201"/>
          </a:xfrm>
          <a:prstGeom prst="rect">
            <a:avLst/>
          </a:prstGeom>
          <a:noFill/>
        </p:spPr>
        <p:txBody>
          <a:bodyPr wrap="none" rtlCol="0">
            <a:spAutoFit/>
          </a:bodyPr>
          <a:lstStyle/>
          <a:p>
            <a:pPr>
              <a:lnSpc>
                <a:spcPct val="150000"/>
              </a:lnSpc>
            </a:pPr>
            <a:r>
              <a:rPr lang="ja-JP" altLang="en-US" sz="1400">
                <a:latin typeface="メイリオ" panose="020B0604030504040204" pitchFamily="50" charset="-128"/>
                <a:ea typeface="メイリオ" panose="020B0604030504040204" pitchFamily="50" charset="-128"/>
              </a:rPr>
              <a:t>・各種制作／開発支援</a:t>
            </a:r>
            <a:endParaRPr lang="en-US" altLang="ja-JP" sz="1400">
              <a:latin typeface="メイリオ" panose="020B0604030504040204" pitchFamily="50" charset="-128"/>
              <a:ea typeface="メイリオ" panose="020B0604030504040204" pitchFamily="50" charset="-128"/>
            </a:endParaRPr>
          </a:p>
          <a:p>
            <a:pPr>
              <a:lnSpc>
                <a:spcPct val="150000"/>
              </a:lnSpc>
            </a:pPr>
            <a:r>
              <a:rPr lang="ja-JP" altLang="en-US" sz="1400">
                <a:latin typeface="メイリオ" panose="020B0604030504040204" pitchFamily="50" charset="-128"/>
                <a:ea typeface="メイリオ" panose="020B0604030504040204" pitchFamily="50" charset="-128"/>
              </a:rPr>
              <a:t>・運営移管／共同開発</a:t>
            </a:r>
            <a:endParaRPr lang="en-US" altLang="ja-JP" sz="1400">
              <a:latin typeface="メイリオ" panose="020B0604030504040204" pitchFamily="50" charset="-128"/>
              <a:ea typeface="メイリオ" panose="020B0604030504040204" pitchFamily="50" charset="-128"/>
            </a:endParaRPr>
          </a:p>
          <a:p>
            <a:pPr>
              <a:lnSpc>
                <a:spcPct val="150000"/>
              </a:lnSpc>
            </a:pPr>
            <a:r>
              <a:rPr kumimoji="1" lang="ja-JP" altLang="en-US" sz="1400">
                <a:latin typeface="メイリオ" panose="020B0604030504040204" pitchFamily="50" charset="-128"/>
                <a:ea typeface="メイリオ" panose="020B0604030504040204" pitchFamily="50" charset="-128"/>
              </a:rPr>
              <a:t>・人材支援</a:t>
            </a:r>
            <a:r>
              <a:rPr lang="ja-JP" altLang="en-US" sz="1400">
                <a:latin typeface="メイリオ" panose="020B0604030504040204" pitchFamily="50" charset="-128"/>
                <a:ea typeface="メイリオ" panose="020B0604030504040204" pitchFamily="50" charset="-128"/>
              </a:rPr>
              <a:t>、</a:t>
            </a:r>
            <a:r>
              <a:rPr lang="en-US" altLang="ja-JP" sz="1400">
                <a:latin typeface="メイリオ" panose="020B0604030504040204" pitchFamily="50" charset="-128"/>
                <a:ea typeface="メイリオ" panose="020B0604030504040204" pitchFamily="50" charset="-128"/>
              </a:rPr>
              <a:t>RPO</a:t>
            </a:r>
          </a:p>
          <a:p>
            <a:pPr>
              <a:lnSpc>
                <a:spcPct val="150000"/>
              </a:lnSpc>
            </a:pPr>
            <a:r>
              <a:rPr lang="ja-JP" altLang="en-US" sz="1400">
                <a:latin typeface="メイリオ" panose="020B0604030504040204" pitchFamily="50" charset="-128"/>
                <a:ea typeface="メイリオ" panose="020B0604030504040204" pitchFamily="50" charset="-128"/>
              </a:rPr>
              <a:t>・経営支援　</a:t>
            </a:r>
            <a:endParaRPr kumimoji="1" lang="en-US" altLang="ja-JP" sz="1400">
              <a:latin typeface="メイリオ" panose="020B0604030504040204" pitchFamily="50" charset="-128"/>
              <a:ea typeface="メイリオ" panose="020B0604030504040204" pitchFamily="50" charset="-128"/>
            </a:endParaRPr>
          </a:p>
          <a:p>
            <a:pPr>
              <a:lnSpc>
                <a:spcPct val="150000"/>
              </a:lnSpc>
            </a:pPr>
            <a:r>
              <a:rPr lang="ja-JP" altLang="en-US" sz="1400">
                <a:latin typeface="メイリオ" panose="020B0604030504040204" pitchFamily="50" charset="-128"/>
                <a:ea typeface="メイリオ" panose="020B0604030504040204" pitchFamily="50" charset="-128"/>
              </a:rPr>
              <a:t>・海外進出協業</a:t>
            </a:r>
            <a:endParaRPr kumimoji="1" lang="ja-JP" altLang="en-US">
              <a:latin typeface="メイリオ" panose="020B0604030504040204" pitchFamily="50" charset="-128"/>
              <a:ea typeface="メイリオ" panose="020B0604030504040204" pitchFamily="50" charset="-128"/>
            </a:endParaRPr>
          </a:p>
        </p:txBody>
      </p:sp>
      <p:grpSp>
        <p:nvGrpSpPr>
          <p:cNvPr id="63" name="グループ化 62">
            <a:extLst>
              <a:ext uri="{FF2B5EF4-FFF2-40B4-BE49-F238E27FC236}">
                <a16:creationId xmlns:a16="http://schemas.microsoft.com/office/drawing/2014/main" id="{44F13AC9-4D1F-7C34-4BFF-F5903BDA7A2F}"/>
              </a:ext>
            </a:extLst>
          </p:cNvPr>
          <p:cNvGrpSpPr/>
          <p:nvPr/>
        </p:nvGrpSpPr>
        <p:grpSpPr>
          <a:xfrm>
            <a:off x="7332932" y="2842163"/>
            <a:ext cx="947827" cy="1212608"/>
            <a:chOff x="7257307" y="2798114"/>
            <a:chExt cx="947827" cy="1212608"/>
          </a:xfrm>
        </p:grpSpPr>
        <p:grpSp>
          <p:nvGrpSpPr>
            <p:cNvPr id="52" name="グループ化 51">
              <a:extLst>
                <a:ext uri="{FF2B5EF4-FFF2-40B4-BE49-F238E27FC236}">
                  <a16:creationId xmlns:a16="http://schemas.microsoft.com/office/drawing/2014/main" id="{A17E1F5F-0D02-70F1-9154-A32CC04C5D9E}"/>
                </a:ext>
              </a:extLst>
            </p:cNvPr>
            <p:cNvGrpSpPr/>
            <p:nvPr/>
          </p:nvGrpSpPr>
          <p:grpSpPr>
            <a:xfrm>
              <a:off x="7257307" y="2798114"/>
              <a:ext cx="947827" cy="344759"/>
              <a:chOff x="7257307" y="2798114"/>
              <a:chExt cx="947827" cy="344759"/>
            </a:xfrm>
          </p:grpSpPr>
          <p:sp>
            <p:nvSpPr>
              <p:cNvPr id="94" name="四角形: 角を丸くする 93">
                <a:extLst>
                  <a:ext uri="{FF2B5EF4-FFF2-40B4-BE49-F238E27FC236}">
                    <a16:creationId xmlns:a16="http://schemas.microsoft.com/office/drawing/2014/main" id="{46C6C2B9-DABB-C4BC-D443-33D2367EE34A}"/>
                  </a:ext>
                </a:extLst>
              </p:cNvPr>
              <p:cNvSpPr/>
              <p:nvPr/>
            </p:nvSpPr>
            <p:spPr bwMode="auto">
              <a:xfrm>
                <a:off x="7257307" y="2798114"/>
                <a:ext cx="947827" cy="344759"/>
              </a:xfrm>
              <a:prstGeom prst="round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95" name="テキスト ボックス 94">
                <a:extLst>
                  <a:ext uri="{FF2B5EF4-FFF2-40B4-BE49-F238E27FC236}">
                    <a16:creationId xmlns:a16="http://schemas.microsoft.com/office/drawing/2014/main" id="{17A0D275-BFF4-6457-DA37-D7D77A6AFFC4}"/>
                  </a:ext>
                </a:extLst>
              </p:cNvPr>
              <p:cNvSpPr txBox="1"/>
              <p:nvPr/>
            </p:nvSpPr>
            <p:spPr>
              <a:xfrm>
                <a:off x="7359802" y="2855896"/>
                <a:ext cx="742837" cy="215444"/>
              </a:xfrm>
              <a:prstGeom prst="rect">
                <a:avLst/>
              </a:prstGeom>
              <a:noFill/>
            </p:spPr>
            <p:txBody>
              <a:bodyPr wrap="square" lIns="0" tIns="0" rIns="0" bIns="0" rtlCol="0">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rPr>
                  <a:t>客先常駐</a:t>
                </a:r>
              </a:p>
            </p:txBody>
          </p:sp>
        </p:grpSp>
        <p:grpSp>
          <p:nvGrpSpPr>
            <p:cNvPr id="51" name="グループ化 50">
              <a:extLst>
                <a:ext uri="{FF2B5EF4-FFF2-40B4-BE49-F238E27FC236}">
                  <a16:creationId xmlns:a16="http://schemas.microsoft.com/office/drawing/2014/main" id="{CF30B526-5215-E551-1B8A-87E17D75A459}"/>
                </a:ext>
              </a:extLst>
            </p:cNvPr>
            <p:cNvGrpSpPr/>
            <p:nvPr/>
          </p:nvGrpSpPr>
          <p:grpSpPr>
            <a:xfrm>
              <a:off x="7257307" y="3228970"/>
              <a:ext cx="947827" cy="344759"/>
              <a:chOff x="7257307" y="3228970"/>
              <a:chExt cx="947827" cy="344759"/>
            </a:xfrm>
          </p:grpSpPr>
          <p:sp>
            <p:nvSpPr>
              <p:cNvPr id="96" name="四角形: 角を丸くする 95">
                <a:extLst>
                  <a:ext uri="{FF2B5EF4-FFF2-40B4-BE49-F238E27FC236}">
                    <a16:creationId xmlns:a16="http://schemas.microsoft.com/office/drawing/2014/main" id="{107F3D06-F59A-E435-B274-F142A7EF4AF9}"/>
                  </a:ext>
                </a:extLst>
              </p:cNvPr>
              <p:cNvSpPr/>
              <p:nvPr/>
            </p:nvSpPr>
            <p:spPr bwMode="auto">
              <a:xfrm>
                <a:off x="7257307" y="3228970"/>
                <a:ext cx="947827" cy="344759"/>
              </a:xfrm>
              <a:prstGeom prst="round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97" name="テキスト ボックス 96">
                <a:extLst>
                  <a:ext uri="{FF2B5EF4-FFF2-40B4-BE49-F238E27FC236}">
                    <a16:creationId xmlns:a16="http://schemas.microsoft.com/office/drawing/2014/main" id="{918CAF20-4680-15DB-7229-52BD0658B630}"/>
                  </a:ext>
                </a:extLst>
              </p:cNvPr>
              <p:cNvSpPr txBox="1"/>
              <p:nvPr/>
            </p:nvSpPr>
            <p:spPr>
              <a:xfrm>
                <a:off x="7359802" y="3296886"/>
                <a:ext cx="742837" cy="215444"/>
              </a:xfrm>
              <a:prstGeom prst="rect">
                <a:avLst/>
              </a:prstGeom>
              <a:noFill/>
            </p:spPr>
            <p:txBody>
              <a:bodyPr wrap="square" lIns="0" tIns="0" rIns="0" bIns="0" rtlCol="0">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lang="ja-JP" altLang="en-US" sz="1400" b="1">
                    <a:ln w="22225">
                      <a:noFill/>
                    </a:ln>
                    <a:latin typeface="メイリオ" panose="020B0604030504040204" pitchFamily="50" charset="-128"/>
                    <a:ea typeface="メイリオ" panose="020B0604030504040204" pitchFamily="50" charset="-128"/>
                  </a:rPr>
                  <a:t>紹介</a:t>
                </a:r>
                <a:endPar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endParaRPr>
              </a:p>
            </p:txBody>
          </p:sp>
        </p:grpSp>
        <p:grpSp>
          <p:nvGrpSpPr>
            <p:cNvPr id="47" name="グループ化 46">
              <a:extLst>
                <a:ext uri="{FF2B5EF4-FFF2-40B4-BE49-F238E27FC236}">
                  <a16:creationId xmlns:a16="http://schemas.microsoft.com/office/drawing/2014/main" id="{1749C9C1-B7EF-E0E4-E124-BF5B12AD7CFD}"/>
                </a:ext>
              </a:extLst>
            </p:cNvPr>
            <p:cNvGrpSpPr/>
            <p:nvPr/>
          </p:nvGrpSpPr>
          <p:grpSpPr>
            <a:xfrm>
              <a:off x="7257307" y="3665963"/>
              <a:ext cx="947827" cy="344759"/>
              <a:chOff x="7257307" y="3665963"/>
              <a:chExt cx="947827" cy="344759"/>
            </a:xfrm>
          </p:grpSpPr>
          <p:sp>
            <p:nvSpPr>
              <p:cNvPr id="98" name="四角形: 角を丸くする 97">
                <a:extLst>
                  <a:ext uri="{FF2B5EF4-FFF2-40B4-BE49-F238E27FC236}">
                    <a16:creationId xmlns:a16="http://schemas.microsoft.com/office/drawing/2014/main" id="{B916052E-4A27-D975-8F2F-D7F0E445124C}"/>
                  </a:ext>
                </a:extLst>
              </p:cNvPr>
              <p:cNvSpPr/>
              <p:nvPr/>
            </p:nvSpPr>
            <p:spPr bwMode="auto">
              <a:xfrm>
                <a:off x="7257307" y="3665963"/>
                <a:ext cx="947827" cy="344759"/>
              </a:xfrm>
              <a:prstGeom prst="round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99" name="テキスト ボックス 98">
                <a:extLst>
                  <a:ext uri="{FF2B5EF4-FFF2-40B4-BE49-F238E27FC236}">
                    <a16:creationId xmlns:a16="http://schemas.microsoft.com/office/drawing/2014/main" id="{7D69C68C-A841-C143-00CA-09BFD937041B}"/>
                  </a:ext>
                </a:extLst>
              </p:cNvPr>
              <p:cNvSpPr txBox="1"/>
              <p:nvPr/>
            </p:nvSpPr>
            <p:spPr>
              <a:xfrm>
                <a:off x="7358755" y="3724354"/>
                <a:ext cx="742837" cy="215444"/>
              </a:xfrm>
              <a:prstGeom prst="rect">
                <a:avLst/>
              </a:prstGeom>
              <a:noFill/>
            </p:spPr>
            <p:txBody>
              <a:bodyPr wrap="square" lIns="0" tIns="0" rIns="0" bIns="0" rtlCol="0">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lang="ja-JP" altLang="en-US" sz="1400" b="1">
                    <a:ln w="22225">
                      <a:noFill/>
                    </a:ln>
                    <a:latin typeface="メイリオ" panose="020B0604030504040204" pitchFamily="50" charset="-128"/>
                    <a:ea typeface="メイリオ" panose="020B0604030504040204" pitchFamily="50" charset="-128"/>
                  </a:rPr>
                  <a:t>派遣</a:t>
                </a:r>
                <a:endPar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endParaRPr>
              </a:p>
            </p:txBody>
          </p:sp>
        </p:grpSp>
      </p:grpSp>
      <p:sp>
        <p:nvSpPr>
          <p:cNvPr id="104" name="テキスト ボックス 103">
            <a:extLst>
              <a:ext uri="{FF2B5EF4-FFF2-40B4-BE49-F238E27FC236}">
                <a16:creationId xmlns:a16="http://schemas.microsoft.com/office/drawing/2014/main" id="{ED28A131-8CDC-36DC-00EF-F61AC8A0707B}"/>
              </a:ext>
            </a:extLst>
          </p:cNvPr>
          <p:cNvSpPr txBox="1"/>
          <p:nvPr/>
        </p:nvSpPr>
        <p:spPr>
          <a:xfrm>
            <a:off x="852357" y="340604"/>
            <a:ext cx="10937082" cy="492443"/>
          </a:xfrm>
          <a:prstGeom prst="rect">
            <a:avLst/>
          </a:prstGeom>
          <a:noFill/>
        </p:spPr>
        <p:txBody>
          <a:bodyPr wrap="square" lIns="0" tIns="0" rIns="0" bIns="0" rtlCol="0">
            <a:spAutoFit/>
          </a:bodyPr>
          <a:lstStyle/>
          <a:p>
            <a:pPr algn="ctr" eaLnBrk="0" fontAlgn="base" hangingPunct="0">
              <a:spcBef>
                <a:spcPct val="0"/>
              </a:spcBef>
              <a:spcAft>
                <a:spcPct val="0"/>
              </a:spcAft>
              <a:defRPr/>
            </a:pPr>
            <a:r>
              <a:rPr kumimoji="1" lang="ja-JP" altLang="en-US" sz="3200" b="1"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業界発展を支える「クリエイターのキャリア形成モデル」</a:t>
            </a:r>
          </a:p>
        </p:txBody>
      </p:sp>
      <p:grpSp>
        <p:nvGrpSpPr>
          <p:cNvPr id="61" name="グループ化 60">
            <a:extLst>
              <a:ext uri="{FF2B5EF4-FFF2-40B4-BE49-F238E27FC236}">
                <a16:creationId xmlns:a16="http://schemas.microsoft.com/office/drawing/2014/main" id="{849F5F12-2F00-6218-8483-059BDB457CD0}"/>
              </a:ext>
            </a:extLst>
          </p:cNvPr>
          <p:cNvGrpSpPr/>
          <p:nvPr/>
        </p:nvGrpSpPr>
        <p:grpSpPr>
          <a:xfrm>
            <a:off x="1702146" y="2851110"/>
            <a:ext cx="957352" cy="1194715"/>
            <a:chOff x="1702146" y="2876606"/>
            <a:chExt cx="957352" cy="1194715"/>
          </a:xfrm>
        </p:grpSpPr>
        <p:grpSp>
          <p:nvGrpSpPr>
            <p:cNvPr id="57" name="グループ化 56">
              <a:extLst>
                <a:ext uri="{FF2B5EF4-FFF2-40B4-BE49-F238E27FC236}">
                  <a16:creationId xmlns:a16="http://schemas.microsoft.com/office/drawing/2014/main" id="{C0E9E795-3DF4-8579-F798-76D39DAAA80B}"/>
                </a:ext>
              </a:extLst>
            </p:cNvPr>
            <p:cNvGrpSpPr/>
            <p:nvPr/>
          </p:nvGrpSpPr>
          <p:grpSpPr>
            <a:xfrm>
              <a:off x="1711671" y="2876606"/>
              <a:ext cx="947827" cy="344759"/>
              <a:chOff x="1711671" y="2876606"/>
              <a:chExt cx="947827" cy="344759"/>
            </a:xfrm>
          </p:grpSpPr>
          <p:sp>
            <p:nvSpPr>
              <p:cNvPr id="100" name="四角形: 角を丸くする 99">
                <a:extLst>
                  <a:ext uri="{FF2B5EF4-FFF2-40B4-BE49-F238E27FC236}">
                    <a16:creationId xmlns:a16="http://schemas.microsoft.com/office/drawing/2014/main" id="{8FDD8386-43EB-8A6F-AD5B-CE72E33849FB}"/>
                  </a:ext>
                </a:extLst>
              </p:cNvPr>
              <p:cNvSpPr/>
              <p:nvPr/>
            </p:nvSpPr>
            <p:spPr bwMode="auto">
              <a:xfrm>
                <a:off x="1711671" y="2876606"/>
                <a:ext cx="947827" cy="344759"/>
              </a:xfrm>
              <a:prstGeom prst="round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101" name="テキスト ボックス 100">
                <a:extLst>
                  <a:ext uri="{FF2B5EF4-FFF2-40B4-BE49-F238E27FC236}">
                    <a16:creationId xmlns:a16="http://schemas.microsoft.com/office/drawing/2014/main" id="{8EDADD84-FE2A-C28C-23A4-97845C34DA0A}"/>
                  </a:ext>
                </a:extLst>
              </p:cNvPr>
              <p:cNvSpPr txBox="1"/>
              <p:nvPr/>
            </p:nvSpPr>
            <p:spPr>
              <a:xfrm>
                <a:off x="1814166" y="2951397"/>
                <a:ext cx="742837" cy="215444"/>
              </a:xfrm>
              <a:prstGeom prst="rect">
                <a:avLst/>
              </a:prstGeom>
              <a:noFill/>
            </p:spPr>
            <p:txBody>
              <a:bodyPr wrap="square" lIns="0" tIns="0" rIns="0" bIns="0" rtlCol="0">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lang="ja-JP" altLang="en-US" sz="1400" b="1">
                    <a:ln w="22225">
                      <a:noFill/>
                    </a:ln>
                    <a:latin typeface="メイリオ" panose="020B0604030504040204" pitchFamily="50" charset="-128"/>
                    <a:ea typeface="メイリオ" panose="020B0604030504040204" pitchFamily="50" charset="-128"/>
                  </a:rPr>
                  <a:t>帰任</a:t>
                </a:r>
                <a:endPar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endParaRPr>
              </a:p>
            </p:txBody>
          </p:sp>
        </p:grpSp>
        <p:grpSp>
          <p:nvGrpSpPr>
            <p:cNvPr id="58" name="グループ化 57">
              <a:extLst>
                <a:ext uri="{FF2B5EF4-FFF2-40B4-BE49-F238E27FC236}">
                  <a16:creationId xmlns:a16="http://schemas.microsoft.com/office/drawing/2014/main" id="{EA48D328-AF41-5A4A-3AB5-229556C5CD2D}"/>
                </a:ext>
              </a:extLst>
            </p:cNvPr>
            <p:cNvGrpSpPr/>
            <p:nvPr/>
          </p:nvGrpSpPr>
          <p:grpSpPr>
            <a:xfrm>
              <a:off x="1711671" y="3307462"/>
              <a:ext cx="947827" cy="344759"/>
              <a:chOff x="1711671" y="3307462"/>
              <a:chExt cx="947827" cy="344759"/>
            </a:xfrm>
          </p:grpSpPr>
          <p:sp>
            <p:nvSpPr>
              <p:cNvPr id="102" name="四角形: 角を丸くする 101">
                <a:extLst>
                  <a:ext uri="{FF2B5EF4-FFF2-40B4-BE49-F238E27FC236}">
                    <a16:creationId xmlns:a16="http://schemas.microsoft.com/office/drawing/2014/main" id="{9D9A6A8A-6CF2-2CD8-DFEF-8335932DEDF5}"/>
                  </a:ext>
                </a:extLst>
              </p:cNvPr>
              <p:cNvSpPr/>
              <p:nvPr/>
            </p:nvSpPr>
            <p:spPr bwMode="auto">
              <a:xfrm>
                <a:off x="1711671" y="3307462"/>
                <a:ext cx="947827" cy="344759"/>
              </a:xfrm>
              <a:prstGeom prst="round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103" name="テキスト ボックス 102">
                <a:extLst>
                  <a:ext uri="{FF2B5EF4-FFF2-40B4-BE49-F238E27FC236}">
                    <a16:creationId xmlns:a16="http://schemas.microsoft.com/office/drawing/2014/main" id="{711004EF-E1DF-4C53-4DD2-DCC57F67B6AD}"/>
                  </a:ext>
                </a:extLst>
              </p:cNvPr>
              <p:cNvSpPr txBox="1"/>
              <p:nvPr/>
            </p:nvSpPr>
            <p:spPr>
              <a:xfrm>
                <a:off x="1814166" y="3382253"/>
                <a:ext cx="742837" cy="215444"/>
              </a:xfrm>
              <a:prstGeom prst="rect">
                <a:avLst/>
              </a:prstGeom>
              <a:noFill/>
            </p:spPr>
            <p:txBody>
              <a:bodyPr wrap="square" lIns="0" tIns="0" rIns="0" bIns="0" rtlCol="0">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rPr>
                  <a:t>受入</a:t>
                </a:r>
              </a:p>
            </p:txBody>
          </p:sp>
        </p:grpSp>
        <p:grpSp>
          <p:nvGrpSpPr>
            <p:cNvPr id="60" name="グループ化 59">
              <a:extLst>
                <a:ext uri="{FF2B5EF4-FFF2-40B4-BE49-F238E27FC236}">
                  <a16:creationId xmlns:a16="http://schemas.microsoft.com/office/drawing/2014/main" id="{F9FBB646-38A6-DD4A-5348-77E1828CFFA6}"/>
                </a:ext>
              </a:extLst>
            </p:cNvPr>
            <p:cNvGrpSpPr/>
            <p:nvPr/>
          </p:nvGrpSpPr>
          <p:grpSpPr>
            <a:xfrm>
              <a:off x="1702146" y="3726562"/>
              <a:ext cx="947827" cy="344759"/>
              <a:chOff x="1702146" y="3726562"/>
              <a:chExt cx="947827" cy="344759"/>
            </a:xfrm>
          </p:grpSpPr>
          <p:sp>
            <p:nvSpPr>
              <p:cNvPr id="106" name="四角形: 角を丸くする 105">
                <a:extLst>
                  <a:ext uri="{FF2B5EF4-FFF2-40B4-BE49-F238E27FC236}">
                    <a16:creationId xmlns:a16="http://schemas.microsoft.com/office/drawing/2014/main" id="{3B92136E-1A11-59EC-C9A3-9263DB1377DB}"/>
                  </a:ext>
                </a:extLst>
              </p:cNvPr>
              <p:cNvSpPr/>
              <p:nvPr/>
            </p:nvSpPr>
            <p:spPr bwMode="auto">
              <a:xfrm>
                <a:off x="1702146" y="3726562"/>
                <a:ext cx="947827" cy="344759"/>
              </a:xfrm>
              <a:prstGeom prst="roundRect">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kumimoji="1" lang="ja-JP" altLang="en-US" sz="2000" b="1" noProof="0">
                    <a:solidFill>
                      <a:schemeClr val="bg1"/>
                    </a:solidFill>
                    <a:latin typeface="メイリオ" panose="020B0604030504040204" pitchFamily="50" charset="-128"/>
                    <a:ea typeface="メイリオ" panose="020B0604030504040204" pitchFamily="50" charset="-128"/>
                  </a:rPr>
                  <a:t>ｖ</a:t>
                </a:r>
              </a:p>
            </p:txBody>
          </p:sp>
          <p:sp>
            <p:nvSpPr>
              <p:cNvPr id="107" name="テキスト ボックス 106">
                <a:extLst>
                  <a:ext uri="{FF2B5EF4-FFF2-40B4-BE49-F238E27FC236}">
                    <a16:creationId xmlns:a16="http://schemas.microsoft.com/office/drawing/2014/main" id="{15342849-9EA5-5F44-0DBC-1169E3A2231F}"/>
                  </a:ext>
                </a:extLst>
              </p:cNvPr>
              <p:cNvSpPr txBox="1"/>
              <p:nvPr/>
            </p:nvSpPr>
            <p:spPr>
              <a:xfrm>
                <a:off x="1804641" y="3791219"/>
                <a:ext cx="742837" cy="215444"/>
              </a:xfrm>
              <a:prstGeom prst="rect">
                <a:avLst/>
              </a:prstGeom>
              <a:noFill/>
            </p:spPr>
            <p:txBody>
              <a:bodyPr wrap="square" lIns="0" tIns="0" rIns="0" bIns="0" rtlCol="0">
                <a:spAutoFit/>
              </a:bodyPr>
              <a:lstStyle/>
              <a:p>
                <a:pPr marL="0" marR="0" lvl="0" indent="0" algn="dist" defTabSz="914400" rtl="0" eaLnBrk="0" fontAlgn="base" latinLnBrk="0" hangingPunct="0">
                  <a:lnSpc>
                    <a:spcPct val="100000"/>
                  </a:lnSpc>
                  <a:spcBef>
                    <a:spcPct val="0"/>
                  </a:spcBef>
                  <a:spcAft>
                    <a:spcPct val="0"/>
                  </a:spcAft>
                  <a:buClrTx/>
                  <a:buSzTx/>
                  <a:buFontTx/>
                  <a:buNone/>
                  <a:tabLst/>
                  <a:defRPr/>
                </a:pPr>
                <a:r>
                  <a:rPr kumimoji="1" lang="ja-JP" altLang="en-US"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rPr>
                  <a:t>採用</a:t>
                </a:r>
                <a:endParaRPr kumimoji="1" lang="en-US" altLang="ja-JP" sz="1400" b="1" i="0" u="none" strike="noStrike" kern="1200" cap="none" spc="0" normalizeH="0" baseline="0" noProof="0">
                  <a:ln w="22225">
                    <a:noFill/>
                  </a:ln>
                  <a:effectLst/>
                  <a:uLnTx/>
                  <a:uFillTx/>
                  <a:latin typeface="メイリオ" panose="020B0604030504040204" pitchFamily="50" charset="-128"/>
                  <a:ea typeface="メイリオ" panose="020B0604030504040204" pitchFamily="50" charset="-128"/>
                </a:endParaRPr>
              </a:p>
            </p:txBody>
          </p:sp>
        </p:grpSp>
      </p:grpSp>
      <p:grpSp>
        <p:nvGrpSpPr>
          <p:cNvPr id="115" name="グループ化 114">
            <a:extLst>
              <a:ext uri="{FF2B5EF4-FFF2-40B4-BE49-F238E27FC236}">
                <a16:creationId xmlns:a16="http://schemas.microsoft.com/office/drawing/2014/main" id="{A4C59540-A339-1050-82DA-13236A4B0D7B}"/>
              </a:ext>
            </a:extLst>
          </p:cNvPr>
          <p:cNvGrpSpPr>
            <a:grpSpLocks noChangeAspect="1"/>
          </p:cNvGrpSpPr>
          <p:nvPr/>
        </p:nvGrpSpPr>
        <p:grpSpPr>
          <a:xfrm>
            <a:off x="3046017" y="2774462"/>
            <a:ext cx="250848" cy="450830"/>
            <a:chOff x="3164041" y="2801587"/>
            <a:chExt cx="262155" cy="471151"/>
          </a:xfrm>
        </p:grpSpPr>
        <p:sp>
          <p:nvSpPr>
            <p:cNvPr id="113" name="フローチャート: 論理積ゲート 112">
              <a:extLst>
                <a:ext uri="{FF2B5EF4-FFF2-40B4-BE49-F238E27FC236}">
                  <a16:creationId xmlns:a16="http://schemas.microsoft.com/office/drawing/2014/main" id="{28D98867-EBFC-BB5A-8D9D-5076C665580A}"/>
                </a:ext>
              </a:extLst>
            </p:cNvPr>
            <p:cNvSpPr/>
            <p:nvPr/>
          </p:nvSpPr>
          <p:spPr bwMode="auto">
            <a:xfrm rot="16200000">
              <a:off x="3170239" y="3016780"/>
              <a:ext cx="249760" cy="262155"/>
            </a:xfrm>
            <a:prstGeom prst="flowChartDelay">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14" name="楕円 113">
              <a:extLst>
                <a:ext uri="{FF2B5EF4-FFF2-40B4-BE49-F238E27FC236}">
                  <a16:creationId xmlns:a16="http://schemas.microsoft.com/office/drawing/2014/main" id="{D9A7172A-A422-7738-E6A8-F7B4735E84CE}"/>
                </a:ext>
              </a:extLst>
            </p:cNvPr>
            <p:cNvSpPr/>
            <p:nvPr/>
          </p:nvSpPr>
          <p:spPr bwMode="auto">
            <a:xfrm>
              <a:off x="3201302" y="2801587"/>
              <a:ext cx="187634" cy="187634"/>
            </a:xfrm>
            <a:prstGeom prst="ellipse">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grpSp>
        <p:nvGrpSpPr>
          <p:cNvPr id="116" name="グループ化 115">
            <a:extLst>
              <a:ext uri="{FF2B5EF4-FFF2-40B4-BE49-F238E27FC236}">
                <a16:creationId xmlns:a16="http://schemas.microsoft.com/office/drawing/2014/main" id="{AB0DCF6D-9543-EFB7-B676-211DF5D80CBD}"/>
              </a:ext>
            </a:extLst>
          </p:cNvPr>
          <p:cNvGrpSpPr>
            <a:grpSpLocks noChangeAspect="1"/>
          </p:cNvGrpSpPr>
          <p:nvPr/>
        </p:nvGrpSpPr>
        <p:grpSpPr>
          <a:xfrm>
            <a:off x="6686696" y="2850307"/>
            <a:ext cx="250848" cy="450830"/>
            <a:chOff x="3164041" y="2801587"/>
            <a:chExt cx="262155" cy="471151"/>
          </a:xfrm>
        </p:grpSpPr>
        <p:sp>
          <p:nvSpPr>
            <p:cNvPr id="117" name="フローチャート: 論理積ゲート 116">
              <a:extLst>
                <a:ext uri="{FF2B5EF4-FFF2-40B4-BE49-F238E27FC236}">
                  <a16:creationId xmlns:a16="http://schemas.microsoft.com/office/drawing/2014/main" id="{E1B41EDC-CF95-A16D-8AA6-3FDF1986198F}"/>
                </a:ext>
              </a:extLst>
            </p:cNvPr>
            <p:cNvSpPr/>
            <p:nvPr/>
          </p:nvSpPr>
          <p:spPr bwMode="auto">
            <a:xfrm rot="16200000">
              <a:off x="3170239" y="3016780"/>
              <a:ext cx="249760" cy="262155"/>
            </a:xfrm>
            <a:prstGeom prst="flowChartDelay">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18" name="楕円 117">
              <a:extLst>
                <a:ext uri="{FF2B5EF4-FFF2-40B4-BE49-F238E27FC236}">
                  <a16:creationId xmlns:a16="http://schemas.microsoft.com/office/drawing/2014/main" id="{2982120A-AB1F-FB71-95E7-FB90478CB672}"/>
                </a:ext>
              </a:extLst>
            </p:cNvPr>
            <p:cNvSpPr/>
            <p:nvPr/>
          </p:nvSpPr>
          <p:spPr bwMode="auto">
            <a:xfrm>
              <a:off x="3201302" y="2801587"/>
              <a:ext cx="187634" cy="187634"/>
            </a:xfrm>
            <a:prstGeom prst="ellipse">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grpSp>
        <p:nvGrpSpPr>
          <p:cNvPr id="119" name="グループ化 118">
            <a:extLst>
              <a:ext uri="{FF2B5EF4-FFF2-40B4-BE49-F238E27FC236}">
                <a16:creationId xmlns:a16="http://schemas.microsoft.com/office/drawing/2014/main" id="{3E7D78F4-B3C2-6F73-5EAD-2ECE6C16C8F6}"/>
              </a:ext>
            </a:extLst>
          </p:cNvPr>
          <p:cNvGrpSpPr>
            <a:grpSpLocks noChangeAspect="1"/>
          </p:cNvGrpSpPr>
          <p:nvPr/>
        </p:nvGrpSpPr>
        <p:grpSpPr>
          <a:xfrm>
            <a:off x="7238120" y="4676347"/>
            <a:ext cx="250848" cy="450830"/>
            <a:chOff x="3164041" y="2801587"/>
            <a:chExt cx="262155" cy="471151"/>
          </a:xfrm>
        </p:grpSpPr>
        <p:sp>
          <p:nvSpPr>
            <p:cNvPr id="120" name="フローチャート: 論理積ゲート 119">
              <a:extLst>
                <a:ext uri="{FF2B5EF4-FFF2-40B4-BE49-F238E27FC236}">
                  <a16:creationId xmlns:a16="http://schemas.microsoft.com/office/drawing/2014/main" id="{C5237E41-D78C-3AEA-E51E-AE89588E72C1}"/>
                </a:ext>
              </a:extLst>
            </p:cNvPr>
            <p:cNvSpPr/>
            <p:nvPr/>
          </p:nvSpPr>
          <p:spPr bwMode="auto">
            <a:xfrm rot="16200000">
              <a:off x="3170239" y="3016780"/>
              <a:ext cx="249760" cy="262155"/>
            </a:xfrm>
            <a:prstGeom prst="flowChartDelay">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21" name="楕円 120">
              <a:extLst>
                <a:ext uri="{FF2B5EF4-FFF2-40B4-BE49-F238E27FC236}">
                  <a16:creationId xmlns:a16="http://schemas.microsoft.com/office/drawing/2014/main" id="{7F82C429-4049-9C4D-BC44-7E88BCB06B8A}"/>
                </a:ext>
              </a:extLst>
            </p:cNvPr>
            <p:cNvSpPr/>
            <p:nvPr/>
          </p:nvSpPr>
          <p:spPr bwMode="auto">
            <a:xfrm>
              <a:off x="3201302" y="2801587"/>
              <a:ext cx="187634" cy="187634"/>
            </a:xfrm>
            <a:prstGeom prst="ellipse">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grpSp>
        <p:nvGrpSpPr>
          <p:cNvPr id="122" name="グループ化 121">
            <a:extLst>
              <a:ext uri="{FF2B5EF4-FFF2-40B4-BE49-F238E27FC236}">
                <a16:creationId xmlns:a16="http://schemas.microsoft.com/office/drawing/2014/main" id="{A0DDFA19-D61B-970E-7F15-5EFD7B965744}"/>
              </a:ext>
            </a:extLst>
          </p:cNvPr>
          <p:cNvGrpSpPr>
            <a:grpSpLocks noChangeAspect="1"/>
          </p:cNvGrpSpPr>
          <p:nvPr/>
        </p:nvGrpSpPr>
        <p:grpSpPr>
          <a:xfrm>
            <a:off x="2466665" y="5216911"/>
            <a:ext cx="250848" cy="450830"/>
            <a:chOff x="3164041" y="2801587"/>
            <a:chExt cx="262155" cy="471151"/>
          </a:xfrm>
        </p:grpSpPr>
        <p:sp>
          <p:nvSpPr>
            <p:cNvPr id="123" name="フローチャート: 論理積ゲート 122">
              <a:extLst>
                <a:ext uri="{FF2B5EF4-FFF2-40B4-BE49-F238E27FC236}">
                  <a16:creationId xmlns:a16="http://schemas.microsoft.com/office/drawing/2014/main" id="{6A0C6267-C981-F1C7-AD28-02E41F56071A}"/>
                </a:ext>
              </a:extLst>
            </p:cNvPr>
            <p:cNvSpPr/>
            <p:nvPr/>
          </p:nvSpPr>
          <p:spPr bwMode="auto">
            <a:xfrm rot="16200000">
              <a:off x="3170239" y="3016780"/>
              <a:ext cx="249760" cy="262155"/>
            </a:xfrm>
            <a:prstGeom prst="flowChartDelay">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24" name="楕円 123">
              <a:extLst>
                <a:ext uri="{FF2B5EF4-FFF2-40B4-BE49-F238E27FC236}">
                  <a16:creationId xmlns:a16="http://schemas.microsoft.com/office/drawing/2014/main" id="{C2AA4A54-53E9-2FD5-2163-5A4B8B4BBF72}"/>
                </a:ext>
              </a:extLst>
            </p:cNvPr>
            <p:cNvSpPr/>
            <p:nvPr/>
          </p:nvSpPr>
          <p:spPr bwMode="auto">
            <a:xfrm>
              <a:off x="3201302" y="2801587"/>
              <a:ext cx="187634" cy="187634"/>
            </a:xfrm>
            <a:prstGeom prst="ellipse">
              <a:avLst/>
            </a:prstGeom>
            <a:solidFill>
              <a:schemeClr val="bg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grpSp>
        <p:nvGrpSpPr>
          <p:cNvPr id="125" name="グループ化 124">
            <a:extLst>
              <a:ext uri="{FF2B5EF4-FFF2-40B4-BE49-F238E27FC236}">
                <a16:creationId xmlns:a16="http://schemas.microsoft.com/office/drawing/2014/main" id="{6D5B50FA-16F4-D076-661E-998239C9C6A0}"/>
              </a:ext>
            </a:extLst>
          </p:cNvPr>
          <p:cNvGrpSpPr>
            <a:grpSpLocks noChangeAspect="1"/>
          </p:cNvGrpSpPr>
          <p:nvPr/>
        </p:nvGrpSpPr>
        <p:grpSpPr>
          <a:xfrm>
            <a:off x="6790044" y="3901922"/>
            <a:ext cx="250848" cy="450830"/>
            <a:chOff x="3164041" y="2801587"/>
            <a:chExt cx="262155" cy="471151"/>
          </a:xfrm>
        </p:grpSpPr>
        <p:sp>
          <p:nvSpPr>
            <p:cNvPr id="126" name="フローチャート: 論理積ゲート 125">
              <a:extLst>
                <a:ext uri="{FF2B5EF4-FFF2-40B4-BE49-F238E27FC236}">
                  <a16:creationId xmlns:a16="http://schemas.microsoft.com/office/drawing/2014/main" id="{C74EFB0C-042A-C500-B38C-EC8FCB94060C}"/>
                </a:ext>
              </a:extLst>
            </p:cNvPr>
            <p:cNvSpPr/>
            <p:nvPr/>
          </p:nvSpPr>
          <p:spPr bwMode="auto">
            <a:xfrm rot="16200000">
              <a:off x="3170239" y="3016780"/>
              <a:ext cx="249760" cy="262155"/>
            </a:xfrm>
            <a:prstGeom prst="flowChartDelay">
              <a:avLst/>
            </a:prstGeom>
            <a:solidFill>
              <a:schemeClr val="bg1"/>
            </a:solidFill>
            <a:ln w="3175" algn="ctr">
              <a:solidFill>
                <a:srgbClr val="C49D62"/>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27" name="楕円 126">
              <a:extLst>
                <a:ext uri="{FF2B5EF4-FFF2-40B4-BE49-F238E27FC236}">
                  <a16:creationId xmlns:a16="http://schemas.microsoft.com/office/drawing/2014/main" id="{3E5A371D-0064-402F-6C43-6B35F52DC214}"/>
                </a:ext>
              </a:extLst>
            </p:cNvPr>
            <p:cNvSpPr/>
            <p:nvPr/>
          </p:nvSpPr>
          <p:spPr bwMode="auto">
            <a:xfrm>
              <a:off x="3201302" y="2801587"/>
              <a:ext cx="187634" cy="187634"/>
            </a:xfrm>
            <a:prstGeom prst="ellipse">
              <a:avLst/>
            </a:prstGeom>
            <a:solidFill>
              <a:schemeClr val="bg1"/>
            </a:solidFill>
            <a:ln w="3175" algn="ctr">
              <a:solidFill>
                <a:srgbClr val="C49D62"/>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grpSp>
        <p:nvGrpSpPr>
          <p:cNvPr id="128" name="グループ化 127">
            <a:extLst>
              <a:ext uri="{FF2B5EF4-FFF2-40B4-BE49-F238E27FC236}">
                <a16:creationId xmlns:a16="http://schemas.microsoft.com/office/drawing/2014/main" id="{ACC26377-A068-276B-41DF-B340AD2D90E0}"/>
              </a:ext>
            </a:extLst>
          </p:cNvPr>
          <p:cNvGrpSpPr>
            <a:grpSpLocks noChangeAspect="1"/>
          </p:cNvGrpSpPr>
          <p:nvPr/>
        </p:nvGrpSpPr>
        <p:grpSpPr>
          <a:xfrm>
            <a:off x="3275051" y="4360828"/>
            <a:ext cx="250848" cy="450830"/>
            <a:chOff x="3164041" y="2801587"/>
            <a:chExt cx="262155" cy="471151"/>
          </a:xfrm>
        </p:grpSpPr>
        <p:sp>
          <p:nvSpPr>
            <p:cNvPr id="129" name="フローチャート: 論理積ゲート 128">
              <a:extLst>
                <a:ext uri="{FF2B5EF4-FFF2-40B4-BE49-F238E27FC236}">
                  <a16:creationId xmlns:a16="http://schemas.microsoft.com/office/drawing/2014/main" id="{5C172F38-4CBB-8DE8-0C42-7A49F7646CD6}"/>
                </a:ext>
              </a:extLst>
            </p:cNvPr>
            <p:cNvSpPr/>
            <p:nvPr/>
          </p:nvSpPr>
          <p:spPr bwMode="auto">
            <a:xfrm rot="16200000">
              <a:off x="3170239" y="3016780"/>
              <a:ext cx="249760" cy="262155"/>
            </a:xfrm>
            <a:prstGeom prst="flowChartDelay">
              <a:avLst/>
            </a:prstGeom>
            <a:solidFill>
              <a:schemeClr val="bg1"/>
            </a:solidFill>
            <a:ln w="3175" algn="ctr">
              <a:solidFill>
                <a:srgbClr val="C49D62"/>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30" name="楕円 129">
              <a:extLst>
                <a:ext uri="{FF2B5EF4-FFF2-40B4-BE49-F238E27FC236}">
                  <a16:creationId xmlns:a16="http://schemas.microsoft.com/office/drawing/2014/main" id="{6684E3FA-1507-A91E-556A-424591EE762F}"/>
                </a:ext>
              </a:extLst>
            </p:cNvPr>
            <p:cNvSpPr/>
            <p:nvPr/>
          </p:nvSpPr>
          <p:spPr bwMode="auto">
            <a:xfrm>
              <a:off x="3201302" y="2801587"/>
              <a:ext cx="187634" cy="187634"/>
            </a:xfrm>
            <a:prstGeom prst="ellipse">
              <a:avLst/>
            </a:prstGeom>
            <a:solidFill>
              <a:schemeClr val="bg1"/>
            </a:solidFill>
            <a:ln w="3175" algn="ctr">
              <a:solidFill>
                <a:srgbClr val="C49D62"/>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sp>
        <p:nvSpPr>
          <p:cNvPr id="88" name="テキスト ボックス 87">
            <a:extLst>
              <a:ext uri="{FF2B5EF4-FFF2-40B4-BE49-F238E27FC236}">
                <a16:creationId xmlns:a16="http://schemas.microsoft.com/office/drawing/2014/main" id="{088673D8-7242-99E7-84FF-83EAA4F96EF4}"/>
              </a:ext>
            </a:extLst>
          </p:cNvPr>
          <p:cNvSpPr txBox="1"/>
          <p:nvPr/>
        </p:nvSpPr>
        <p:spPr>
          <a:xfrm>
            <a:off x="852357" y="1040834"/>
            <a:ext cx="10937082" cy="615553"/>
          </a:xfrm>
          <a:prstGeom prst="rect">
            <a:avLst/>
          </a:prstGeom>
          <a:noFill/>
        </p:spPr>
        <p:txBody>
          <a:bodyPr wrap="square" lIns="0" tIns="0" rIns="0" bIns="0" rtlCol="0">
            <a:spAutoFit/>
          </a:bodyPr>
          <a:lstStyle/>
          <a:p>
            <a:pPr algn="ctr" eaLnBrk="0" fontAlgn="base" hangingPunct="0">
              <a:spcBef>
                <a:spcPct val="0"/>
              </a:spcBef>
              <a:spcAft>
                <a:spcPct val="0"/>
              </a:spcAft>
              <a:defRPr/>
            </a:pPr>
            <a:r>
              <a:rPr lang="ja-JP" altLang="en-US" sz="2000">
                <a:latin typeface="メイリオ" panose="020B0604030504040204" pitchFamily="50" charset="-128"/>
                <a:ea typeface="メイリオ" panose="020B0604030504040204" pitchFamily="50" charset="-128"/>
              </a:rPr>
              <a:t>私たちは</a:t>
            </a:r>
            <a:r>
              <a:rPr lang="en-US" altLang="ja-JP" sz="2000" b="1">
                <a:solidFill>
                  <a:schemeClr val="accent6">
                    <a:lumMod val="75000"/>
                  </a:schemeClr>
                </a:solidFill>
                <a:latin typeface="メイリオ" panose="020B0604030504040204" pitchFamily="50" charset="-128"/>
                <a:ea typeface="メイリオ" panose="020B0604030504040204" pitchFamily="50" charset="-128"/>
              </a:rPr>
              <a:t>『</a:t>
            </a:r>
            <a:r>
              <a:rPr lang="ja-JP" altLang="en-US" sz="2000" b="1">
                <a:solidFill>
                  <a:schemeClr val="accent6">
                    <a:lumMod val="75000"/>
                  </a:schemeClr>
                </a:solidFill>
                <a:latin typeface="メイリオ" panose="020B0604030504040204" pitchFamily="50" charset="-128"/>
                <a:ea typeface="メイリオ" panose="020B0604030504040204" pitchFamily="50" charset="-128"/>
              </a:rPr>
              <a:t>自社スタジオ</a:t>
            </a:r>
            <a:r>
              <a:rPr lang="en-US" altLang="ja-JP" sz="2000" b="1">
                <a:solidFill>
                  <a:schemeClr val="accent6">
                    <a:lumMod val="75000"/>
                  </a:schemeClr>
                </a:solidFill>
                <a:latin typeface="メイリオ" panose="020B0604030504040204" pitchFamily="50" charset="-128"/>
                <a:ea typeface="メイリオ" panose="020B0604030504040204" pitchFamily="50" charset="-128"/>
              </a:rPr>
              <a:t>』 </a:t>
            </a:r>
            <a:r>
              <a:rPr lang="ja-JP" altLang="en-US" sz="2000" b="1">
                <a:solidFill>
                  <a:schemeClr val="accent6">
                    <a:lumMod val="75000"/>
                  </a:schemeClr>
                </a:solidFill>
                <a:latin typeface="メイリオ" panose="020B0604030504040204" pitchFamily="50" charset="-128"/>
                <a:ea typeface="メイリオ" panose="020B0604030504040204" pitchFamily="50" charset="-128"/>
              </a:rPr>
              <a:t>と</a:t>
            </a:r>
            <a:r>
              <a:rPr lang="en-US" altLang="ja-JP" sz="2000" b="1">
                <a:solidFill>
                  <a:schemeClr val="accent6">
                    <a:lumMod val="75000"/>
                  </a:schemeClr>
                </a:solidFill>
                <a:latin typeface="メイリオ" panose="020B0604030504040204" pitchFamily="50" charset="-128"/>
                <a:ea typeface="メイリオ" panose="020B0604030504040204" pitchFamily="50" charset="-128"/>
              </a:rPr>
              <a:t>『</a:t>
            </a:r>
            <a:r>
              <a:rPr lang="ja-JP" altLang="en-US" sz="2000" b="1">
                <a:solidFill>
                  <a:schemeClr val="accent6">
                    <a:lumMod val="75000"/>
                  </a:schemeClr>
                </a:solidFill>
                <a:latin typeface="メイリオ" panose="020B0604030504040204" pitchFamily="50" charset="-128"/>
                <a:ea typeface="メイリオ" panose="020B0604030504040204" pitchFamily="50" charset="-128"/>
              </a:rPr>
              <a:t>人材ビジネス</a:t>
            </a:r>
            <a:r>
              <a:rPr lang="en-US" altLang="ja-JP" sz="2000" b="1">
                <a:solidFill>
                  <a:schemeClr val="accent6">
                    <a:lumMod val="75000"/>
                  </a:schemeClr>
                </a:solidFill>
                <a:latin typeface="メイリオ" panose="020B0604030504040204" pitchFamily="50" charset="-128"/>
                <a:ea typeface="メイリオ" panose="020B0604030504040204" pitchFamily="50" charset="-128"/>
              </a:rPr>
              <a:t>』</a:t>
            </a:r>
            <a:r>
              <a:rPr lang="ja-JP" altLang="en-US" sz="2000" b="1">
                <a:solidFill>
                  <a:schemeClr val="accent6">
                    <a:lumMod val="75000"/>
                  </a:schemeClr>
                </a:solidFill>
                <a:latin typeface="メイリオ" panose="020B0604030504040204" pitchFamily="50" charset="-128"/>
                <a:ea typeface="メイリオ" panose="020B0604030504040204" pitchFamily="50" charset="-128"/>
              </a:rPr>
              <a:t>の両輪で唯一無二のエコシステム</a:t>
            </a:r>
            <a:r>
              <a:rPr lang="ja-JP" altLang="en-US" sz="2000">
                <a:latin typeface="メイリオ" panose="020B0604030504040204" pitchFamily="50" charset="-128"/>
                <a:ea typeface="メイリオ" panose="020B0604030504040204" pitchFamily="50" charset="-128"/>
              </a:rPr>
              <a:t>を構築し、</a:t>
            </a:r>
            <a:endParaRPr kumimoji="1" lang="en-US" altLang="ja-JP" sz="200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ja-JP" sz="2000" i="0" u="none" strike="noStrike" kern="1200" cap="none" spc="0" normalizeH="0" baseline="0" noProof="0">
                <a:ln>
                  <a:noFill/>
                </a:ln>
                <a:solidFill>
                  <a:schemeClr val="accent6">
                    <a:lumMod val="75000"/>
                  </a:schemeClr>
                </a:solidFill>
                <a:effectLst/>
                <a:uLnTx/>
                <a:uFillTx/>
                <a:latin typeface="メイリオ" panose="020B0604030504040204" pitchFamily="50" charset="-128"/>
                <a:ea typeface="メイリオ" panose="020B0604030504040204" pitchFamily="50" charset="-128"/>
              </a:rPr>
              <a:t>“</a:t>
            </a:r>
            <a:r>
              <a:rPr kumimoji="1" lang="ja-JP" altLang="en-US" sz="2000" b="1" i="0" u="none" strike="noStrike" kern="1200" cap="none" spc="0" normalizeH="0" baseline="0" noProof="0">
                <a:ln>
                  <a:noFill/>
                </a:ln>
                <a:solidFill>
                  <a:schemeClr val="accent6">
                    <a:lumMod val="75000"/>
                  </a:schemeClr>
                </a:solidFill>
                <a:effectLst/>
                <a:uLnTx/>
                <a:uFillTx/>
                <a:latin typeface="メイリオ" panose="020B0604030504040204" pitchFamily="50" charset="-128"/>
                <a:ea typeface="メイリオ" panose="020B0604030504040204" pitchFamily="50" charset="-128"/>
              </a:rPr>
              <a:t>業界</a:t>
            </a:r>
            <a:r>
              <a:rPr lang="ja-JP" altLang="en-US" sz="2000" b="1">
                <a:solidFill>
                  <a:schemeClr val="accent6">
                    <a:lumMod val="75000"/>
                  </a:schemeClr>
                </a:solidFill>
                <a:latin typeface="メイリオ" panose="020B0604030504040204" pitchFamily="50" charset="-128"/>
                <a:ea typeface="メイリオ" panose="020B0604030504040204" pitchFamily="50" charset="-128"/>
              </a:rPr>
              <a:t>の</a:t>
            </a:r>
            <a:r>
              <a:rPr kumimoji="1" lang="ja-JP" altLang="en-US" sz="2000" b="1" i="0" u="none" strike="noStrike" kern="1200" cap="none" spc="0" normalizeH="0" baseline="0" noProof="0">
                <a:ln>
                  <a:noFill/>
                </a:ln>
                <a:solidFill>
                  <a:schemeClr val="accent6">
                    <a:lumMod val="75000"/>
                  </a:schemeClr>
                </a:solidFill>
                <a:effectLst/>
                <a:uLnTx/>
                <a:uFillTx/>
                <a:latin typeface="メイリオ" panose="020B0604030504040204" pitchFamily="50" charset="-128"/>
                <a:ea typeface="メイリオ" panose="020B0604030504040204" pitchFamily="50" charset="-128"/>
              </a:rPr>
              <a:t>人事</a:t>
            </a:r>
            <a:r>
              <a:rPr kumimoji="1" lang="en-US" altLang="ja-JP" sz="2000" i="0" u="none" strike="noStrike" kern="1200" cap="none" spc="0" normalizeH="0" baseline="0" noProof="0">
                <a:ln>
                  <a:noFill/>
                </a:ln>
                <a:solidFill>
                  <a:schemeClr val="accent6">
                    <a:lumMod val="75000"/>
                  </a:schemeClr>
                </a:solidFill>
                <a:effectLst/>
                <a:uLnTx/>
                <a:uFillTx/>
                <a:latin typeface="メイリオ" panose="020B0604030504040204" pitchFamily="50" charset="-128"/>
                <a:ea typeface="メイリオ" panose="020B0604030504040204" pitchFamily="50" charset="-128"/>
              </a:rPr>
              <a:t>”</a:t>
            </a:r>
            <a:r>
              <a:rPr lang="ja-JP" altLang="en-US" sz="2000">
                <a:latin typeface="メイリオ" panose="020B0604030504040204" pitchFamily="50" charset="-128"/>
                <a:ea typeface="メイリオ" panose="020B0604030504040204" pitchFamily="50" charset="-128"/>
              </a:rPr>
              <a:t>として、</a:t>
            </a:r>
            <a:r>
              <a:rPr kumimoji="1" lang="ja-JP" altLang="en-US" sz="200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クライアント</a:t>
            </a:r>
            <a:r>
              <a:rPr lang="ja-JP" altLang="en-US" sz="2000">
                <a:latin typeface="メイリオ" panose="020B0604030504040204" pitchFamily="50" charset="-128"/>
                <a:ea typeface="メイリオ" panose="020B0604030504040204" pitchFamily="50" charset="-128"/>
              </a:rPr>
              <a:t>･</a:t>
            </a:r>
            <a:r>
              <a:rPr kumimoji="1" lang="ja-JP" altLang="en-US" sz="200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クリエイターの価値向上を追求しています。</a:t>
            </a:r>
          </a:p>
        </p:txBody>
      </p:sp>
    </p:spTree>
    <p:extLst>
      <p:ext uri="{BB962C8B-B14F-4D97-AF65-F5344CB8AC3E}">
        <p14:creationId xmlns:p14="http://schemas.microsoft.com/office/powerpoint/2010/main" val="15533978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グループ化 22">
            <a:extLst>
              <a:ext uri="{FF2B5EF4-FFF2-40B4-BE49-F238E27FC236}">
                <a16:creationId xmlns:a16="http://schemas.microsoft.com/office/drawing/2014/main" id="{2D047F8D-D3D3-65DC-0D9C-EE2EA6943D91}"/>
              </a:ext>
            </a:extLst>
          </p:cNvPr>
          <p:cNvGrpSpPr/>
          <p:nvPr/>
        </p:nvGrpSpPr>
        <p:grpSpPr>
          <a:xfrm>
            <a:off x="8884886" y="6204020"/>
            <a:ext cx="2934260" cy="355077"/>
            <a:chOff x="-148068" y="3909960"/>
            <a:chExt cx="6145087" cy="355077"/>
          </a:xfrm>
          <a:solidFill>
            <a:schemeClr val="accent6">
              <a:lumMod val="20000"/>
              <a:lumOff val="80000"/>
            </a:schemeClr>
          </a:solidFill>
        </p:grpSpPr>
        <p:sp>
          <p:nvSpPr>
            <p:cNvPr id="12" name="正方形/長方形 11">
              <a:extLst>
                <a:ext uri="{FF2B5EF4-FFF2-40B4-BE49-F238E27FC236}">
                  <a16:creationId xmlns:a16="http://schemas.microsoft.com/office/drawing/2014/main" id="{A30839F6-668D-4437-0828-EF76221EA03C}"/>
                </a:ext>
              </a:extLst>
            </p:cNvPr>
            <p:cNvSpPr/>
            <p:nvPr/>
          </p:nvSpPr>
          <p:spPr bwMode="auto">
            <a:xfrm>
              <a:off x="3494263" y="3909960"/>
              <a:ext cx="2502756" cy="116818"/>
            </a:xfrm>
            <a:prstGeom prst="rect">
              <a:avLst/>
            </a:prstGeom>
            <a:solidFill>
              <a:schemeClr val="accent6">
                <a:lumMod val="60000"/>
                <a:lumOff val="40000"/>
                <a:alpha val="5098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52C7FAE5-3481-4981-E6B2-C6061E347159}"/>
                </a:ext>
              </a:extLst>
            </p:cNvPr>
            <p:cNvSpPr/>
            <p:nvPr/>
          </p:nvSpPr>
          <p:spPr bwMode="auto">
            <a:xfrm>
              <a:off x="-148068" y="4148219"/>
              <a:ext cx="3382673" cy="116818"/>
            </a:xfrm>
            <a:prstGeom prst="rect">
              <a:avLst/>
            </a:prstGeom>
            <a:solidFill>
              <a:schemeClr val="accent6">
                <a:lumMod val="60000"/>
                <a:lumOff val="40000"/>
                <a:alpha val="5098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sp>
        <p:nvSpPr>
          <p:cNvPr id="15" name="テキスト ボックス 20">
            <a:extLst>
              <a:ext uri="{FF2B5EF4-FFF2-40B4-BE49-F238E27FC236}">
                <a16:creationId xmlns:a16="http://schemas.microsoft.com/office/drawing/2014/main" id="{90410794-68ED-283C-50AB-E916EFCDA682}"/>
              </a:ext>
            </a:extLst>
          </p:cNvPr>
          <p:cNvSpPr txBox="1"/>
          <p:nvPr/>
        </p:nvSpPr>
        <p:spPr>
          <a:xfrm>
            <a:off x="8823668" y="5815659"/>
            <a:ext cx="3275971" cy="765594"/>
          </a:xfrm>
          <a:prstGeom prst="rect">
            <a:avLst/>
          </a:prstGeom>
          <a:noFill/>
        </p:spPr>
        <p:txBody>
          <a:bodyPr wrap="square" lIns="91440" tIns="45720" rIns="91440" bIns="45720" rtlCol="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50000"/>
              </a:lnSpc>
            </a:pPr>
            <a:r>
              <a:rPr lang="ja-JP" altLang="en-US" sz="1000">
                <a:latin typeface="メイリオ" panose="020B0604030504040204" pitchFamily="50" charset="-128"/>
                <a:ea typeface="メイリオ" panose="020B0604030504040204" pitchFamily="50" charset="-128"/>
              </a:rPr>
              <a:t>　ついに</a:t>
            </a:r>
            <a:r>
              <a:rPr lang="en-US" altLang="ja-JP" sz="1000">
                <a:latin typeface="メイリオ" panose="020B0604030504040204" pitchFamily="50" charset="-128"/>
                <a:ea typeface="メイリオ" panose="020B0604030504040204" pitchFamily="50" charset="-128"/>
              </a:rPr>
              <a:t>COYOTE 3DCG STUDIO</a:t>
            </a:r>
            <a:r>
              <a:rPr lang="ja-JP" altLang="en-US" sz="1000">
                <a:latin typeface="メイリオ" panose="020B0604030504040204" pitchFamily="50" charset="-128"/>
                <a:ea typeface="メイリオ" panose="020B0604030504040204" pitchFamily="50" charset="-128"/>
              </a:rPr>
              <a:t>から</a:t>
            </a:r>
            <a:r>
              <a:rPr lang="en-US" altLang="ja-JP" sz="1000">
                <a:latin typeface="メイリオ" panose="020B0604030504040204" pitchFamily="50" charset="-128"/>
                <a:ea typeface="メイリオ" panose="020B0604030504040204" pitchFamily="50" charset="-128"/>
              </a:rPr>
              <a:t>3D</a:t>
            </a:r>
            <a:r>
              <a:rPr lang="ja-JP" altLang="en-US" sz="1000">
                <a:latin typeface="メイリオ" panose="020B0604030504040204" pitchFamily="50" charset="-128"/>
                <a:ea typeface="メイリオ" panose="020B0604030504040204" pitchFamily="50" charset="-128"/>
              </a:rPr>
              <a:t>モーションデザイナーのための技術発信「</a:t>
            </a:r>
            <a:r>
              <a:rPr lang="en-US" altLang="ja-JP" sz="1000">
                <a:latin typeface="メイリオ" panose="020B0604030504040204" pitchFamily="50" charset="-128"/>
                <a:ea typeface="メイリオ" panose="020B0604030504040204" pitchFamily="50" charset="-128"/>
              </a:rPr>
              <a:t>ANIMATION MANIA</a:t>
            </a:r>
            <a:r>
              <a:rPr lang="ja-JP" altLang="en-US" sz="1000">
                <a:latin typeface="メイリオ" panose="020B0604030504040204" pitchFamily="50" charset="-128"/>
                <a:ea typeface="メイリオ" panose="020B0604030504040204" pitchFamily="50" charset="-128"/>
              </a:rPr>
              <a:t>（アニメーションマニア）」がスタート！</a:t>
            </a:r>
            <a:endParaRPr lang="en-US" altLang="ja-JP" sz="1000">
              <a:latin typeface="メイリオ" panose="020B0604030504040204" pitchFamily="50" charset="-128"/>
              <a:ea typeface="メイリオ" panose="020B0604030504040204" pitchFamily="50" charset="-128"/>
            </a:endParaRPr>
          </a:p>
        </p:txBody>
      </p:sp>
      <p:sp>
        <p:nvSpPr>
          <p:cNvPr id="14" name="コンテンツ プレースホルダー 13">
            <a:extLst>
              <a:ext uri="{FF2B5EF4-FFF2-40B4-BE49-F238E27FC236}">
                <a16:creationId xmlns:a16="http://schemas.microsoft.com/office/drawing/2014/main" id="{8DD313C8-DCBD-3EB2-E48A-8064C2E8994B}"/>
              </a:ext>
            </a:extLst>
          </p:cNvPr>
          <p:cNvSpPr>
            <a:spLocks noGrp="1"/>
          </p:cNvSpPr>
          <p:nvPr>
            <p:ph idx="1"/>
          </p:nvPr>
        </p:nvSpPr>
        <p:spPr>
          <a:xfrm>
            <a:off x="468599" y="1706880"/>
            <a:ext cx="4884699" cy="4844468"/>
          </a:xfrm>
        </p:spPr>
        <p:txBody>
          <a:bodyPr>
            <a:noAutofit/>
          </a:bodyPr>
          <a:lstStyle/>
          <a:p>
            <a:pPr marL="0" indent="0">
              <a:lnSpc>
                <a:spcPct val="150000"/>
              </a:lnSpc>
              <a:buNone/>
            </a:pPr>
            <a:r>
              <a:rPr lang="ja-JP" altLang="en-US" sz="1600" b="1">
                <a:latin typeface="+mn-ea"/>
              </a:rPr>
              <a:t>クリエイター</a:t>
            </a:r>
            <a:r>
              <a:rPr kumimoji="1" lang="ja-JP" altLang="en-US" sz="1600" b="1">
                <a:latin typeface="+mn-ea"/>
              </a:rPr>
              <a:t>によるクリエイターのための情報発信として、開発ツールの</a:t>
            </a:r>
            <a:r>
              <a:rPr kumimoji="1" lang="en-US" altLang="ja-JP" sz="1600" b="1">
                <a:latin typeface="+mn-ea"/>
              </a:rPr>
              <a:t>Tips</a:t>
            </a:r>
            <a:r>
              <a:rPr lang="ja-JP" altLang="en-US" sz="1600" b="1">
                <a:latin typeface="+mn-ea"/>
              </a:rPr>
              <a:t>を中心に記事充足。</a:t>
            </a:r>
            <a:endParaRPr kumimoji="1" lang="en-US" altLang="ja-JP" sz="1600" b="1">
              <a:latin typeface="+mn-ea"/>
            </a:endParaRPr>
          </a:p>
          <a:p>
            <a:pPr marL="0" indent="0">
              <a:lnSpc>
                <a:spcPct val="150000"/>
              </a:lnSpc>
              <a:buNone/>
            </a:pPr>
            <a:r>
              <a:rPr lang="ja-JP" altLang="en-US" sz="1600">
                <a:solidFill>
                  <a:schemeClr val="accent4">
                    <a:lumMod val="75000"/>
                  </a:schemeClr>
                </a:solidFill>
                <a:latin typeface="+mn-ea"/>
                <a:hlinkClick r:id="rId3">
                  <a:extLst>
                    <a:ext uri="{A12FA001-AC4F-418D-AE19-62706E023703}">
                      <ahyp:hlinkClr xmlns:ahyp="http://schemas.microsoft.com/office/drawing/2018/hyperlinkcolor" val="tx"/>
                    </a:ext>
                  </a:extLst>
                </a:hlinkClick>
              </a:rPr>
              <a:t>「</a:t>
            </a:r>
            <a:r>
              <a:rPr lang="en-US" altLang="ja-JP" sz="1600">
                <a:solidFill>
                  <a:schemeClr val="accent4">
                    <a:lumMod val="75000"/>
                  </a:schemeClr>
                </a:solidFill>
                <a:latin typeface="+mn-ea"/>
                <a:hlinkClick r:id="rId3">
                  <a:extLst>
                    <a:ext uri="{A12FA001-AC4F-418D-AE19-62706E023703}">
                      <ahyp:hlinkClr xmlns:ahyp="http://schemas.microsoft.com/office/drawing/2018/hyperlinkcolor" val="tx"/>
                    </a:ext>
                  </a:extLst>
                </a:hlinkClick>
              </a:rPr>
              <a:t>COYOTE 3DCG STUDIO</a:t>
            </a:r>
            <a:r>
              <a:rPr lang="ja-JP" altLang="en-US" sz="1600">
                <a:solidFill>
                  <a:schemeClr val="accent4">
                    <a:lumMod val="75000"/>
                  </a:schemeClr>
                </a:solidFill>
                <a:latin typeface="+mn-ea"/>
                <a:hlinkClick r:id="rId3">
                  <a:extLst>
                    <a:ext uri="{A12FA001-AC4F-418D-AE19-62706E023703}">
                      <ahyp:hlinkClr xmlns:ahyp="http://schemas.microsoft.com/office/drawing/2018/hyperlinkcolor" val="tx"/>
                    </a:ext>
                  </a:extLst>
                </a:hlinkClick>
              </a:rPr>
              <a:t>」の</a:t>
            </a:r>
            <a:r>
              <a:rPr lang="en-US" altLang="ja-JP" sz="1600">
                <a:solidFill>
                  <a:schemeClr val="accent4">
                    <a:lumMod val="75000"/>
                  </a:schemeClr>
                </a:solidFill>
                <a:latin typeface="+mn-ea"/>
                <a:hlinkClick r:id="rId3">
                  <a:extLst>
                    <a:ext uri="{A12FA001-AC4F-418D-AE19-62706E023703}">
                      <ahyp:hlinkClr xmlns:ahyp="http://schemas.microsoft.com/office/drawing/2018/hyperlinkcolor" val="tx"/>
                    </a:ext>
                  </a:extLst>
                </a:hlinkClick>
              </a:rPr>
              <a:t>TA</a:t>
            </a:r>
            <a:r>
              <a:rPr lang="ja-JP" altLang="en-US" sz="1600">
                <a:solidFill>
                  <a:schemeClr val="accent4">
                    <a:lumMod val="75000"/>
                  </a:schemeClr>
                </a:solidFill>
                <a:latin typeface="+mn-ea"/>
                <a:hlinkClick r:id="rId3">
                  <a:extLst>
                    <a:ext uri="{A12FA001-AC4F-418D-AE19-62706E023703}">
                      <ahyp:hlinkClr xmlns:ahyp="http://schemas.microsoft.com/office/drawing/2018/hyperlinkcolor" val="tx"/>
                    </a:ext>
                  </a:extLst>
                </a:hlinkClick>
              </a:rPr>
              <a:t>による技術発信。</a:t>
            </a:r>
            <a:r>
              <a:rPr lang="en-US" altLang="ja-JP" sz="1600">
                <a:solidFill>
                  <a:schemeClr val="accent4">
                    <a:lumMod val="75000"/>
                  </a:schemeClr>
                </a:solidFill>
                <a:latin typeface="+mn-ea"/>
                <a:hlinkClick r:id="rId3">
                  <a:extLst>
                    <a:ext uri="{A12FA001-AC4F-418D-AE19-62706E023703}">
                      <ahyp:hlinkClr xmlns:ahyp="http://schemas.microsoft.com/office/drawing/2018/hyperlinkcolor" val="tx"/>
                    </a:ext>
                  </a:extLst>
                </a:hlinkClick>
              </a:rPr>
              <a:t>AUTODESK</a:t>
            </a:r>
            <a:r>
              <a:rPr lang="ja-JP" altLang="en-US" sz="1600">
                <a:solidFill>
                  <a:schemeClr val="accent4">
                    <a:lumMod val="75000"/>
                  </a:schemeClr>
                </a:solidFill>
                <a:latin typeface="+mn-ea"/>
                <a:hlinkClick r:id="rId3">
                  <a:extLst>
                    <a:ext uri="{A12FA001-AC4F-418D-AE19-62706E023703}">
                      <ahyp:hlinkClr xmlns:ahyp="http://schemas.microsoft.com/office/drawing/2018/hyperlinkcolor" val="tx"/>
                    </a:ext>
                  </a:extLst>
                </a:hlinkClick>
              </a:rPr>
              <a:t>の「</a:t>
            </a:r>
            <a:r>
              <a:rPr lang="en-US" altLang="ja-JP" sz="1600">
                <a:solidFill>
                  <a:schemeClr val="accent4">
                    <a:lumMod val="75000"/>
                  </a:schemeClr>
                </a:solidFill>
                <a:latin typeface="+mn-ea"/>
                <a:hlinkClick r:id="rId3">
                  <a:extLst>
                    <a:ext uri="{A12FA001-AC4F-418D-AE19-62706E023703}">
                      <ahyp:hlinkClr xmlns:ahyp="http://schemas.microsoft.com/office/drawing/2018/hyperlinkcolor" val="tx"/>
                    </a:ext>
                  </a:extLst>
                </a:hlinkClick>
              </a:rPr>
              <a:t>AREA Japan</a:t>
            </a:r>
            <a:r>
              <a:rPr lang="ja-JP" altLang="en-US" sz="1600">
                <a:solidFill>
                  <a:schemeClr val="accent4">
                    <a:lumMod val="75000"/>
                  </a:schemeClr>
                </a:solidFill>
                <a:latin typeface="+mn-ea"/>
                <a:hlinkClick r:id="rId3">
                  <a:extLst>
                    <a:ext uri="{A12FA001-AC4F-418D-AE19-62706E023703}">
                      <ahyp:hlinkClr xmlns:ahyp="http://schemas.microsoft.com/office/drawing/2018/hyperlinkcolor" val="tx"/>
                    </a:ext>
                  </a:extLst>
                </a:hlinkClick>
              </a:rPr>
              <a:t>」で全</a:t>
            </a:r>
            <a:r>
              <a:rPr lang="en-US" altLang="ja-JP" sz="1600">
                <a:solidFill>
                  <a:schemeClr val="accent4">
                    <a:lumMod val="75000"/>
                  </a:schemeClr>
                </a:solidFill>
                <a:latin typeface="+mn-ea"/>
                <a:hlinkClick r:id="rId3">
                  <a:extLst>
                    <a:ext uri="{A12FA001-AC4F-418D-AE19-62706E023703}">
                      <ahyp:hlinkClr xmlns:ahyp="http://schemas.microsoft.com/office/drawing/2018/hyperlinkcolor" val="tx"/>
                    </a:ext>
                  </a:extLst>
                </a:hlinkClick>
              </a:rPr>
              <a:t>6</a:t>
            </a:r>
            <a:r>
              <a:rPr lang="ja-JP" altLang="en-US" sz="1600">
                <a:solidFill>
                  <a:schemeClr val="accent4">
                    <a:lumMod val="75000"/>
                  </a:schemeClr>
                </a:solidFill>
                <a:latin typeface="+mn-ea"/>
                <a:hlinkClick r:id="rId3">
                  <a:extLst>
                    <a:ext uri="{A12FA001-AC4F-418D-AE19-62706E023703}">
                      <ahyp:hlinkClr xmlns:ahyp="http://schemas.microsoft.com/office/drawing/2018/hyperlinkcolor" val="tx"/>
                    </a:ext>
                  </a:extLst>
                </a:hlinkClick>
              </a:rPr>
              <a:t>回の連載中！</a:t>
            </a:r>
            <a:endParaRPr lang="en-US" altLang="ja-JP" sz="1600">
              <a:solidFill>
                <a:schemeClr val="accent4">
                  <a:lumMod val="75000"/>
                </a:schemeClr>
              </a:solidFill>
              <a:latin typeface="+mn-ea"/>
            </a:endParaRPr>
          </a:p>
        </p:txBody>
      </p:sp>
      <p:cxnSp>
        <p:nvCxnSpPr>
          <p:cNvPr id="6" name="直線コネクタ 5">
            <a:extLst>
              <a:ext uri="{FF2B5EF4-FFF2-40B4-BE49-F238E27FC236}">
                <a16:creationId xmlns:a16="http://schemas.microsoft.com/office/drawing/2014/main" id="{A775AC4C-6688-1019-EE9A-3C39A4713FED}"/>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256E532E-6B19-CD2C-EC1F-00C6CCB6A550}"/>
              </a:ext>
            </a:extLst>
          </p:cNvPr>
          <p:cNvSpPr>
            <a:spLocks noGrp="1"/>
          </p:cNvSpPr>
          <p:nvPr>
            <p:ph idx="10"/>
          </p:nvPr>
        </p:nvSpPr>
        <p:spPr>
          <a:xfrm>
            <a:off x="5638915" y="1011448"/>
            <a:ext cx="6100958" cy="686404"/>
          </a:xfrm>
        </p:spPr>
        <p:txBody>
          <a:bodyPr>
            <a:normAutofit/>
          </a:bodyPr>
          <a:lstStyle/>
          <a:p>
            <a:r>
              <a:rPr lang="ja-JP" altLang="en-US" b="1"/>
              <a:t>ブログ一覧</a:t>
            </a:r>
            <a:endParaRPr lang="en-US" altLang="ja-JP" b="1"/>
          </a:p>
        </p:txBody>
      </p:sp>
      <p:sp>
        <p:nvSpPr>
          <p:cNvPr id="11" name="タイトル 10">
            <a:extLst>
              <a:ext uri="{FF2B5EF4-FFF2-40B4-BE49-F238E27FC236}">
                <a16:creationId xmlns:a16="http://schemas.microsoft.com/office/drawing/2014/main" id="{3EB08307-7A57-4884-4CD6-99C4AE2BAF07}"/>
              </a:ext>
            </a:extLst>
          </p:cNvPr>
          <p:cNvSpPr>
            <a:spLocks noGrp="1"/>
          </p:cNvSpPr>
          <p:nvPr>
            <p:ph type="title"/>
          </p:nvPr>
        </p:nvSpPr>
        <p:spPr/>
        <p:txBody>
          <a:bodyPr/>
          <a:lstStyle/>
          <a:p>
            <a:r>
              <a:rPr lang="ja-JP" altLang="en-US">
                <a:latin typeface="+mn-lt"/>
              </a:rPr>
              <a:t>開発スタジオから技術情報を発信中</a:t>
            </a:r>
          </a:p>
        </p:txBody>
      </p:sp>
      <p:sp>
        <p:nvSpPr>
          <p:cNvPr id="3" name="スライド番号プレースホルダー 2">
            <a:extLst>
              <a:ext uri="{FF2B5EF4-FFF2-40B4-BE49-F238E27FC236}">
                <a16:creationId xmlns:a16="http://schemas.microsoft.com/office/drawing/2014/main" id="{CECD5F32-41ED-13AB-CD1C-BE39519CBF1E}"/>
              </a:ext>
            </a:extLst>
          </p:cNvPr>
          <p:cNvSpPr>
            <a:spLocks noGrp="1"/>
          </p:cNvSpPr>
          <p:nvPr>
            <p:ph type="sldNum" sz="quarter" idx="11"/>
          </p:nvPr>
        </p:nvSpPr>
        <p:spPr/>
        <p:txBody>
          <a:bodyPr/>
          <a:lstStyle/>
          <a:p>
            <a:fld id="{B75FDD43-FCEC-4ECC-8189-A5C6D2E08DC6}" type="slidenum">
              <a:rPr lang="ja-JP" altLang="en-US" smtClean="0"/>
              <a:pPr/>
              <a:t>34</a:t>
            </a:fld>
            <a:endParaRPr lang="ja-JP" altLang="en-US"/>
          </a:p>
        </p:txBody>
      </p:sp>
      <p:sp>
        <p:nvSpPr>
          <p:cNvPr id="18" name="四角形: 角を丸くする 17">
            <a:extLst>
              <a:ext uri="{FF2B5EF4-FFF2-40B4-BE49-F238E27FC236}">
                <a16:creationId xmlns:a16="http://schemas.microsoft.com/office/drawing/2014/main" id="{AAD7F508-D529-53A4-A96B-EB9141C15C3B}"/>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t"/>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ゲーム</a:t>
            </a:r>
          </a:p>
        </p:txBody>
      </p:sp>
      <p:sp>
        <p:nvSpPr>
          <p:cNvPr id="19" name="四角形: 角を丸くする 18">
            <a:extLst>
              <a:ext uri="{FF2B5EF4-FFF2-40B4-BE49-F238E27FC236}">
                <a16:creationId xmlns:a16="http://schemas.microsoft.com/office/drawing/2014/main" id="{FBEB1E76-70C7-FFBF-9892-DC3B76904FF0}"/>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t"/>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開発</a:t>
            </a:r>
          </a:p>
        </p:txBody>
      </p:sp>
      <p:sp>
        <p:nvSpPr>
          <p:cNvPr id="2" name="四角形: 角を丸くする 1">
            <a:extLst>
              <a:ext uri="{FF2B5EF4-FFF2-40B4-BE49-F238E27FC236}">
                <a16:creationId xmlns:a16="http://schemas.microsoft.com/office/drawing/2014/main" id="{52E2C39B-8E8D-346A-ED7D-916F389D45C1}"/>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t"/>
          <a:lstStyle/>
          <a:p>
            <a:pPr algn="ctr" defTabSz="914400" fontAlgn="base">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技術</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pic>
        <p:nvPicPr>
          <p:cNvPr id="24" name="図 23" descr="テキスト, 手紙&#10;&#10;自動的に生成された説明">
            <a:hlinkClick r:id="rId4"/>
            <a:extLst>
              <a:ext uri="{FF2B5EF4-FFF2-40B4-BE49-F238E27FC236}">
                <a16:creationId xmlns:a16="http://schemas.microsoft.com/office/drawing/2014/main" id="{782750CC-F7E3-61E0-5B5C-E0C55FA317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2784" y="1814949"/>
            <a:ext cx="3127601" cy="1125936"/>
          </a:xfrm>
          <a:prstGeom prst="rect">
            <a:avLst/>
          </a:prstGeom>
        </p:spPr>
      </p:pic>
      <p:pic>
        <p:nvPicPr>
          <p:cNvPr id="29" name="図 28" descr="テキスト&#10;&#10;自動的に生成された説明">
            <a:hlinkClick r:id="rId6"/>
            <a:extLst>
              <a:ext uri="{FF2B5EF4-FFF2-40B4-BE49-F238E27FC236}">
                <a16:creationId xmlns:a16="http://schemas.microsoft.com/office/drawing/2014/main" id="{CAB3DA6F-8B48-8514-2B6F-55ECEBDD06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92784" y="3060964"/>
            <a:ext cx="3127601" cy="1125936"/>
          </a:xfrm>
          <a:prstGeom prst="rect">
            <a:avLst/>
          </a:prstGeom>
        </p:spPr>
      </p:pic>
      <p:pic>
        <p:nvPicPr>
          <p:cNvPr id="35" name="図 34" descr="テキスト が含まれている画像&#10;&#10;自動的に生成された説明">
            <a:hlinkClick r:id="rId8"/>
            <a:extLst>
              <a:ext uri="{FF2B5EF4-FFF2-40B4-BE49-F238E27FC236}">
                <a16:creationId xmlns:a16="http://schemas.microsoft.com/office/drawing/2014/main" id="{C54C2E9A-3EE2-8448-14DB-55CB5DF61D7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492784" y="4306979"/>
            <a:ext cx="3127601" cy="1125936"/>
          </a:xfrm>
          <a:prstGeom prst="rect">
            <a:avLst/>
          </a:prstGeom>
        </p:spPr>
      </p:pic>
      <p:pic>
        <p:nvPicPr>
          <p:cNvPr id="26" name="図 25" descr="グラフィカル ユーザー インターフェイス&#10;&#10;自動的に生成された説明">
            <a:hlinkClick r:id="rId10"/>
            <a:extLst>
              <a:ext uri="{FF2B5EF4-FFF2-40B4-BE49-F238E27FC236}">
                <a16:creationId xmlns:a16="http://schemas.microsoft.com/office/drawing/2014/main" id="{F7D1511E-FFF9-09B7-6621-24C6F7E5B28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80757" y="1811315"/>
            <a:ext cx="3127601" cy="1125936"/>
          </a:xfrm>
          <a:prstGeom prst="rect">
            <a:avLst/>
          </a:prstGeom>
        </p:spPr>
      </p:pic>
      <p:pic>
        <p:nvPicPr>
          <p:cNvPr id="31" name="図 30" descr="テキスト&#10;&#10;自動的に生成された説明">
            <a:hlinkClick r:id="rId12"/>
            <a:extLst>
              <a:ext uri="{FF2B5EF4-FFF2-40B4-BE49-F238E27FC236}">
                <a16:creationId xmlns:a16="http://schemas.microsoft.com/office/drawing/2014/main" id="{10F34227-B6CD-D151-11FA-BA51A32C013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780757" y="4310613"/>
            <a:ext cx="3127601" cy="1125936"/>
          </a:xfrm>
          <a:prstGeom prst="rect">
            <a:avLst/>
          </a:prstGeom>
        </p:spPr>
      </p:pic>
      <p:pic>
        <p:nvPicPr>
          <p:cNvPr id="37" name="図 36" descr="テキスト, 手紙&#10;&#10;自動的に生成された説明">
            <a:hlinkClick r:id="rId14"/>
            <a:extLst>
              <a:ext uri="{FF2B5EF4-FFF2-40B4-BE49-F238E27FC236}">
                <a16:creationId xmlns:a16="http://schemas.microsoft.com/office/drawing/2014/main" id="{3EA12F89-FC53-488F-7F3F-515F5B42E21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780757" y="3060964"/>
            <a:ext cx="3127601" cy="1125936"/>
          </a:xfrm>
          <a:prstGeom prst="rect">
            <a:avLst/>
          </a:prstGeom>
        </p:spPr>
      </p:pic>
      <p:pic>
        <p:nvPicPr>
          <p:cNvPr id="5" name="図 4" descr="文字が書かれている&#10;&#10;AI によって生成されたコンテンツは間違っている可能性があります。">
            <a:extLst>
              <a:ext uri="{FF2B5EF4-FFF2-40B4-BE49-F238E27FC236}">
                <a16:creationId xmlns:a16="http://schemas.microsoft.com/office/drawing/2014/main" id="{3F947933-ECE4-2CD2-A577-B0A73FF20F8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517870" y="5586613"/>
            <a:ext cx="3102515" cy="1116905"/>
          </a:xfrm>
          <a:prstGeom prst="rect">
            <a:avLst/>
          </a:prstGeom>
        </p:spPr>
      </p:pic>
      <p:pic>
        <p:nvPicPr>
          <p:cNvPr id="8" name="図 7" descr="グラフィカル ユーザー インターフェイス, テキスト&#10;&#10;AI によって生成されたコンテンツは間違っている可能性があります。">
            <a:extLst>
              <a:ext uri="{FF2B5EF4-FFF2-40B4-BE49-F238E27FC236}">
                <a16:creationId xmlns:a16="http://schemas.microsoft.com/office/drawing/2014/main" id="{0B1D8586-1364-81F5-60B4-340D2B7C80D2}"/>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773707" y="3495605"/>
            <a:ext cx="4079858" cy="3117653"/>
          </a:xfrm>
          <a:prstGeom prst="rect">
            <a:avLst/>
          </a:prstGeom>
        </p:spPr>
      </p:pic>
      <p:sp>
        <p:nvSpPr>
          <p:cNvPr id="9" name="矢印: 左 8">
            <a:extLst>
              <a:ext uri="{FF2B5EF4-FFF2-40B4-BE49-F238E27FC236}">
                <a16:creationId xmlns:a16="http://schemas.microsoft.com/office/drawing/2014/main" id="{515D036F-4B29-5EA9-0613-D9DBFEAB3AE4}"/>
              </a:ext>
            </a:extLst>
          </p:cNvPr>
          <p:cNvSpPr/>
          <p:nvPr/>
        </p:nvSpPr>
        <p:spPr bwMode="auto">
          <a:xfrm>
            <a:off x="8796255" y="5912604"/>
            <a:ext cx="177263" cy="154983"/>
          </a:xfrm>
          <a:prstGeom prst="leftArrow">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26578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矢印: 下 24">
            <a:extLst>
              <a:ext uri="{FF2B5EF4-FFF2-40B4-BE49-F238E27FC236}">
                <a16:creationId xmlns:a16="http://schemas.microsoft.com/office/drawing/2014/main" id="{D482B861-C6FD-7550-3D16-0380E2ECA533}"/>
              </a:ext>
            </a:extLst>
          </p:cNvPr>
          <p:cNvSpPr/>
          <p:nvPr/>
        </p:nvSpPr>
        <p:spPr bwMode="auto">
          <a:xfrm>
            <a:off x="1135532" y="2038259"/>
            <a:ext cx="320858" cy="3588814"/>
          </a:xfrm>
          <a:prstGeom prst="downArrow">
            <a:avLst/>
          </a:prstGeom>
          <a:solidFill>
            <a:schemeClr val="tx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 name="タイトル 2">
            <a:extLst>
              <a:ext uri="{FF2B5EF4-FFF2-40B4-BE49-F238E27FC236}">
                <a16:creationId xmlns:a16="http://schemas.microsoft.com/office/drawing/2014/main" id="{471CD532-7267-A4BE-4F5D-BEF78D09AD72}"/>
              </a:ext>
            </a:extLst>
          </p:cNvPr>
          <p:cNvSpPr>
            <a:spLocks noGrp="1"/>
          </p:cNvSpPr>
          <p:nvPr>
            <p:ph type="title"/>
          </p:nvPr>
        </p:nvSpPr>
        <p:spPr/>
        <p:txBody>
          <a:bodyPr/>
          <a:lstStyle/>
          <a:p>
            <a:r>
              <a:rPr kumimoji="1" lang="ja-JP" altLang="en-US"/>
              <a:t>ご提案から導入までの流れ</a:t>
            </a:r>
          </a:p>
        </p:txBody>
      </p:sp>
      <p:sp>
        <p:nvSpPr>
          <p:cNvPr id="4" name="スライド番号プレースホルダー 3">
            <a:extLst>
              <a:ext uri="{FF2B5EF4-FFF2-40B4-BE49-F238E27FC236}">
                <a16:creationId xmlns:a16="http://schemas.microsoft.com/office/drawing/2014/main" id="{E1DA8301-F5F0-49CA-3377-23F4E044FD5D}"/>
              </a:ext>
            </a:extLst>
          </p:cNvPr>
          <p:cNvSpPr>
            <a:spLocks noGrp="1"/>
          </p:cNvSpPr>
          <p:nvPr>
            <p:ph type="sldNum" sz="quarter" idx="11"/>
          </p:nvPr>
        </p:nvSpPr>
        <p:spPr/>
        <p:txBody>
          <a:bodyPr/>
          <a:lstStyle/>
          <a:p>
            <a:fld id="{B75FDD43-FCEC-4ECC-8189-A5C6D2E08DC6}" type="slidenum">
              <a:rPr lang="ja-JP" altLang="en-US" smtClean="0"/>
              <a:pPr/>
              <a:t>35</a:t>
            </a:fld>
            <a:endParaRPr lang="ja-JP" altLang="en-US"/>
          </a:p>
        </p:txBody>
      </p:sp>
      <p:sp>
        <p:nvSpPr>
          <p:cNvPr id="5" name="テキスト ボックス 4">
            <a:extLst>
              <a:ext uri="{FF2B5EF4-FFF2-40B4-BE49-F238E27FC236}">
                <a16:creationId xmlns:a16="http://schemas.microsoft.com/office/drawing/2014/main" id="{864BC2EE-B51B-102B-38CD-DF3E8D14C61D}"/>
              </a:ext>
            </a:extLst>
          </p:cNvPr>
          <p:cNvSpPr txBox="1"/>
          <p:nvPr/>
        </p:nvSpPr>
        <p:spPr>
          <a:xfrm>
            <a:off x="1838577" y="2398637"/>
            <a:ext cx="1723549" cy="461665"/>
          </a:xfrm>
          <a:prstGeom prst="rect">
            <a:avLst/>
          </a:prstGeom>
          <a:noFill/>
        </p:spPr>
        <p:txBody>
          <a:bodyPr wrap="none" rtlCol="0">
            <a:spAutoFit/>
          </a:bodyPr>
          <a:lstStyle/>
          <a:p>
            <a:r>
              <a:rPr kumimoji="1" lang="ja-JP" altLang="en-US" sz="2400" b="1" dirty="0">
                <a:latin typeface="メイリオ" panose="020B0604030504040204" pitchFamily="50" charset="-128"/>
                <a:ea typeface="メイリオ" panose="020B0604030504040204" pitchFamily="50" charset="-128"/>
              </a:rPr>
              <a:t>ヒアリング</a:t>
            </a:r>
          </a:p>
        </p:txBody>
      </p:sp>
      <p:sp>
        <p:nvSpPr>
          <p:cNvPr id="6" name="テキスト ボックス 5">
            <a:extLst>
              <a:ext uri="{FF2B5EF4-FFF2-40B4-BE49-F238E27FC236}">
                <a16:creationId xmlns:a16="http://schemas.microsoft.com/office/drawing/2014/main" id="{00998980-E279-3FE0-20D4-79703D0FF3D4}"/>
              </a:ext>
            </a:extLst>
          </p:cNvPr>
          <p:cNvSpPr txBox="1"/>
          <p:nvPr/>
        </p:nvSpPr>
        <p:spPr>
          <a:xfrm>
            <a:off x="1838577" y="3200318"/>
            <a:ext cx="1107996" cy="461665"/>
          </a:xfrm>
          <a:prstGeom prst="rect">
            <a:avLst/>
          </a:prstGeom>
          <a:noFill/>
        </p:spPr>
        <p:txBody>
          <a:bodyPr wrap="none" rtlCol="0">
            <a:spAutoFit/>
          </a:bodyPr>
          <a:lstStyle/>
          <a:p>
            <a:r>
              <a:rPr kumimoji="1" lang="ja-JP" altLang="en-US" sz="2400" b="1">
                <a:latin typeface="メイリオ" panose="020B0604030504040204" pitchFamily="50" charset="-128"/>
                <a:ea typeface="メイリオ" panose="020B0604030504040204" pitchFamily="50" charset="-128"/>
              </a:rPr>
              <a:t>ご提案</a:t>
            </a:r>
          </a:p>
        </p:txBody>
      </p:sp>
      <p:sp>
        <p:nvSpPr>
          <p:cNvPr id="7" name="テキスト ボックス 6">
            <a:extLst>
              <a:ext uri="{FF2B5EF4-FFF2-40B4-BE49-F238E27FC236}">
                <a16:creationId xmlns:a16="http://schemas.microsoft.com/office/drawing/2014/main" id="{03941FDF-4BE4-9718-8953-1CB141DEEFBC}"/>
              </a:ext>
            </a:extLst>
          </p:cNvPr>
          <p:cNvSpPr txBox="1"/>
          <p:nvPr/>
        </p:nvSpPr>
        <p:spPr>
          <a:xfrm>
            <a:off x="1838577" y="4001999"/>
            <a:ext cx="2715790" cy="461665"/>
          </a:xfrm>
          <a:prstGeom prst="rect">
            <a:avLst/>
          </a:prstGeom>
          <a:noFill/>
        </p:spPr>
        <p:txBody>
          <a:bodyPr wrap="square" rtlCol="0">
            <a:spAutoFit/>
          </a:bodyPr>
          <a:lstStyle/>
          <a:p>
            <a:r>
              <a:rPr kumimoji="1" lang="ja-JP" altLang="en-US" sz="2400" b="1">
                <a:latin typeface="メイリオ" panose="020B0604030504040204" pitchFamily="50" charset="-128"/>
                <a:ea typeface="メイリオ" panose="020B0604030504040204" pitchFamily="50" charset="-128"/>
              </a:rPr>
              <a:t>お申し込み</a:t>
            </a:r>
          </a:p>
        </p:txBody>
      </p:sp>
      <p:sp>
        <p:nvSpPr>
          <p:cNvPr id="9" name="テキスト ボックス 8">
            <a:extLst>
              <a:ext uri="{FF2B5EF4-FFF2-40B4-BE49-F238E27FC236}">
                <a16:creationId xmlns:a16="http://schemas.microsoft.com/office/drawing/2014/main" id="{313CD8A5-A130-65EF-B652-20D3B356FCD8}"/>
              </a:ext>
            </a:extLst>
          </p:cNvPr>
          <p:cNvSpPr txBox="1"/>
          <p:nvPr/>
        </p:nvSpPr>
        <p:spPr>
          <a:xfrm>
            <a:off x="1838577" y="1596956"/>
            <a:ext cx="2728632" cy="461665"/>
          </a:xfrm>
          <a:prstGeom prst="rect">
            <a:avLst/>
          </a:prstGeom>
          <a:noFill/>
        </p:spPr>
        <p:txBody>
          <a:bodyPr wrap="none" rtlCol="0">
            <a:spAutoFit/>
          </a:bodyPr>
          <a:lstStyle/>
          <a:p>
            <a:r>
              <a:rPr kumimoji="1" lang="en-US" altLang="ja-JP" sz="2400" b="1">
                <a:latin typeface="メイリオ" panose="020B0604030504040204" pitchFamily="50" charset="-128"/>
                <a:ea typeface="メイリオ" panose="020B0604030504040204" pitchFamily="50" charset="-128"/>
              </a:rPr>
              <a:t>C&amp;R</a:t>
            </a:r>
            <a:r>
              <a:rPr kumimoji="1" lang="ja-JP" altLang="en-US" sz="2400" b="1">
                <a:latin typeface="メイリオ" panose="020B0604030504040204" pitchFamily="50" charset="-128"/>
                <a:ea typeface="メイリオ" panose="020B0604030504040204" pitchFamily="50" charset="-128"/>
              </a:rPr>
              <a:t>社紹介　</a:t>
            </a:r>
            <a:r>
              <a:rPr kumimoji="1" lang="en-US" altLang="ja-JP" sz="1600" b="1">
                <a:latin typeface="メイリオ" panose="020B0604030504040204" pitchFamily="50" charset="-128"/>
                <a:ea typeface="メイリオ" panose="020B0604030504040204" pitchFamily="50" charset="-128"/>
              </a:rPr>
              <a:t>※</a:t>
            </a:r>
            <a:r>
              <a:rPr kumimoji="1" lang="ja-JP" altLang="en-US" sz="1600" b="1">
                <a:latin typeface="メイリオ" panose="020B0604030504040204" pitchFamily="50" charset="-128"/>
                <a:ea typeface="メイリオ" panose="020B0604030504040204" pitchFamily="50" charset="-128"/>
              </a:rPr>
              <a:t>本日</a:t>
            </a:r>
            <a:endParaRPr kumimoji="1" lang="ja-JP" altLang="en-US" sz="2400" b="1">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27384B27-E190-3138-8182-A54C14CE1531}"/>
              </a:ext>
            </a:extLst>
          </p:cNvPr>
          <p:cNvSpPr txBox="1"/>
          <p:nvPr/>
        </p:nvSpPr>
        <p:spPr>
          <a:xfrm>
            <a:off x="1859516" y="4778168"/>
            <a:ext cx="3031754" cy="461665"/>
          </a:xfrm>
          <a:prstGeom prst="rect">
            <a:avLst/>
          </a:prstGeom>
          <a:noFill/>
        </p:spPr>
        <p:txBody>
          <a:bodyPr wrap="square" rtlCol="0">
            <a:spAutoFit/>
          </a:bodyPr>
          <a:lstStyle/>
          <a:p>
            <a:r>
              <a:rPr lang="ja-JP" altLang="en-US" sz="2400" b="1">
                <a:latin typeface="メイリオ" panose="020B0604030504040204" pitchFamily="50" charset="-128"/>
                <a:ea typeface="メイリオ" panose="020B0604030504040204" pitchFamily="50" charset="-128"/>
              </a:rPr>
              <a:t>稼働開始</a:t>
            </a:r>
            <a:endParaRPr kumimoji="1" lang="ja-JP" altLang="en-US" sz="2400" b="1">
              <a:latin typeface="メイリオ" panose="020B0604030504040204" pitchFamily="50" charset="-128"/>
              <a:ea typeface="メイリオ" panose="020B0604030504040204" pitchFamily="50" charset="-128"/>
            </a:endParaRPr>
          </a:p>
        </p:txBody>
      </p:sp>
      <p:grpSp>
        <p:nvGrpSpPr>
          <p:cNvPr id="32" name="グループ化 31">
            <a:extLst>
              <a:ext uri="{FF2B5EF4-FFF2-40B4-BE49-F238E27FC236}">
                <a16:creationId xmlns:a16="http://schemas.microsoft.com/office/drawing/2014/main" id="{17FA751A-0B24-27AD-4CA2-7E4A20BC8EB7}"/>
              </a:ext>
            </a:extLst>
          </p:cNvPr>
          <p:cNvGrpSpPr/>
          <p:nvPr/>
        </p:nvGrpSpPr>
        <p:grpSpPr>
          <a:xfrm>
            <a:off x="1031075" y="1507328"/>
            <a:ext cx="529772" cy="529772"/>
            <a:chOff x="5493658" y="1770744"/>
            <a:chExt cx="529772" cy="529772"/>
          </a:xfrm>
        </p:grpSpPr>
        <p:sp>
          <p:nvSpPr>
            <p:cNvPr id="30" name="楕円 29">
              <a:extLst>
                <a:ext uri="{FF2B5EF4-FFF2-40B4-BE49-F238E27FC236}">
                  <a16:creationId xmlns:a16="http://schemas.microsoft.com/office/drawing/2014/main" id="{2F22255C-19B4-C379-770E-A9E8D4A1A586}"/>
                </a:ext>
              </a:extLst>
            </p:cNvPr>
            <p:cNvSpPr/>
            <p:nvPr/>
          </p:nvSpPr>
          <p:spPr bwMode="auto">
            <a:xfrm>
              <a:off x="5493658" y="1770744"/>
              <a:ext cx="529772" cy="529772"/>
            </a:xfrm>
            <a:prstGeom prst="ellipse">
              <a:avLst/>
            </a:prstGeom>
            <a:solidFill>
              <a:schemeClr val="bg1"/>
            </a:solidFill>
            <a:ln w="76200" algn="ctr">
              <a:solidFill>
                <a:schemeClr val="accent4">
                  <a:lumMod val="60000"/>
                  <a:lumOff val="4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E806F218-BC91-DEB0-EAEE-B60BAEF49877}"/>
                </a:ext>
              </a:extLst>
            </p:cNvPr>
            <p:cNvSpPr txBox="1"/>
            <p:nvPr/>
          </p:nvSpPr>
          <p:spPr>
            <a:xfrm>
              <a:off x="5541413" y="1837003"/>
              <a:ext cx="441146" cy="400110"/>
            </a:xfrm>
            <a:prstGeom prst="rect">
              <a:avLst/>
            </a:prstGeom>
            <a:noFill/>
          </p:spPr>
          <p:txBody>
            <a:bodyPr wrap="none" rtlCol="0">
              <a:spAutoFit/>
            </a:bodyPr>
            <a:lstStyle/>
            <a:p>
              <a:r>
                <a:rPr kumimoji="1" lang="ja-JP" altLang="en-US" sz="2000" b="1">
                  <a:solidFill>
                    <a:schemeClr val="accent4">
                      <a:lumMod val="50000"/>
                    </a:schemeClr>
                  </a:solidFill>
                  <a:latin typeface="メイリオ" panose="020B0604030504040204" pitchFamily="50" charset="-128"/>
                  <a:ea typeface="メイリオ" panose="020B0604030504040204" pitchFamily="50" charset="-128"/>
                </a:rPr>
                <a:t>１</a:t>
              </a:r>
            </a:p>
          </p:txBody>
        </p:sp>
      </p:grpSp>
      <p:grpSp>
        <p:nvGrpSpPr>
          <p:cNvPr id="33" name="グループ化 32">
            <a:extLst>
              <a:ext uri="{FF2B5EF4-FFF2-40B4-BE49-F238E27FC236}">
                <a16:creationId xmlns:a16="http://schemas.microsoft.com/office/drawing/2014/main" id="{C4D55E41-E3AB-FC16-1F21-20AA889D371D}"/>
              </a:ext>
            </a:extLst>
          </p:cNvPr>
          <p:cNvGrpSpPr/>
          <p:nvPr/>
        </p:nvGrpSpPr>
        <p:grpSpPr>
          <a:xfrm>
            <a:off x="1031075" y="2310890"/>
            <a:ext cx="529772" cy="529772"/>
            <a:chOff x="5493658" y="1770744"/>
            <a:chExt cx="529772" cy="529772"/>
          </a:xfrm>
        </p:grpSpPr>
        <p:sp>
          <p:nvSpPr>
            <p:cNvPr id="34" name="楕円 33">
              <a:extLst>
                <a:ext uri="{FF2B5EF4-FFF2-40B4-BE49-F238E27FC236}">
                  <a16:creationId xmlns:a16="http://schemas.microsoft.com/office/drawing/2014/main" id="{775CC8C2-4291-F5F6-B822-EDFB2BD39C3B}"/>
                </a:ext>
              </a:extLst>
            </p:cNvPr>
            <p:cNvSpPr/>
            <p:nvPr/>
          </p:nvSpPr>
          <p:spPr bwMode="auto">
            <a:xfrm>
              <a:off x="5493658" y="1770744"/>
              <a:ext cx="529772" cy="529772"/>
            </a:xfrm>
            <a:prstGeom prst="ellipse">
              <a:avLst/>
            </a:prstGeom>
            <a:solidFill>
              <a:schemeClr val="bg1"/>
            </a:solidFill>
            <a:ln w="76200" algn="ctr">
              <a:solidFill>
                <a:schemeClr val="accent3">
                  <a:lumMod val="60000"/>
                  <a:lumOff val="4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accent3">
                    <a:lumMod val="50000"/>
                  </a:schemeClr>
                </a:solidFill>
                <a:latin typeface="メイリオ" panose="020B0604030504040204" pitchFamily="50" charset="-128"/>
                <a:ea typeface="メイリオ" panose="020B0604030504040204" pitchFamily="50" charset="-128"/>
              </a:endParaRPr>
            </a:p>
          </p:txBody>
        </p:sp>
        <p:sp>
          <p:nvSpPr>
            <p:cNvPr id="35" name="テキスト ボックス 34">
              <a:extLst>
                <a:ext uri="{FF2B5EF4-FFF2-40B4-BE49-F238E27FC236}">
                  <a16:creationId xmlns:a16="http://schemas.microsoft.com/office/drawing/2014/main" id="{B5036B48-22E0-77C4-D5DA-FF6E4266CBBE}"/>
                </a:ext>
              </a:extLst>
            </p:cNvPr>
            <p:cNvSpPr txBox="1"/>
            <p:nvPr/>
          </p:nvSpPr>
          <p:spPr>
            <a:xfrm>
              <a:off x="5541413" y="1837003"/>
              <a:ext cx="441146" cy="400110"/>
            </a:xfrm>
            <a:prstGeom prst="rect">
              <a:avLst/>
            </a:prstGeom>
            <a:noFill/>
            <a:ln>
              <a:noFill/>
            </a:ln>
          </p:spPr>
          <p:txBody>
            <a:bodyPr wrap="none" rtlCol="0">
              <a:spAutoFit/>
            </a:bodyPr>
            <a:lstStyle/>
            <a:p>
              <a:r>
                <a:rPr kumimoji="1" lang="ja-JP" altLang="en-US" sz="2000" b="1">
                  <a:solidFill>
                    <a:schemeClr val="accent3">
                      <a:lumMod val="50000"/>
                    </a:schemeClr>
                  </a:solidFill>
                  <a:latin typeface="メイリオ" panose="020B0604030504040204" pitchFamily="50" charset="-128"/>
                  <a:ea typeface="メイリオ" panose="020B0604030504040204" pitchFamily="50" charset="-128"/>
                </a:rPr>
                <a:t>２</a:t>
              </a:r>
            </a:p>
          </p:txBody>
        </p:sp>
      </p:grpSp>
      <p:grpSp>
        <p:nvGrpSpPr>
          <p:cNvPr id="36" name="グループ化 35">
            <a:extLst>
              <a:ext uri="{FF2B5EF4-FFF2-40B4-BE49-F238E27FC236}">
                <a16:creationId xmlns:a16="http://schemas.microsoft.com/office/drawing/2014/main" id="{086D51AA-6918-1D78-37BA-163D86004CC6}"/>
              </a:ext>
            </a:extLst>
          </p:cNvPr>
          <p:cNvGrpSpPr/>
          <p:nvPr/>
        </p:nvGrpSpPr>
        <p:grpSpPr>
          <a:xfrm>
            <a:off x="1031075" y="3114452"/>
            <a:ext cx="529772" cy="529772"/>
            <a:chOff x="5493658" y="1770744"/>
            <a:chExt cx="529772" cy="529772"/>
          </a:xfrm>
        </p:grpSpPr>
        <p:sp>
          <p:nvSpPr>
            <p:cNvPr id="37" name="楕円 36">
              <a:extLst>
                <a:ext uri="{FF2B5EF4-FFF2-40B4-BE49-F238E27FC236}">
                  <a16:creationId xmlns:a16="http://schemas.microsoft.com/office/drawing/2014/main" id="{70316511-8FCF-3DC3-EA17-B3A2C9537B22}"/>
                </a:ext>
              </a:extLst>
            </p:cNvPr>
            <p:cNvSpPr/>
            <p:nvPr/>
          </p:nvSpPr>
          <p:spPr bwMode="auto">
            <a:xfrm>
              <a:off x="5493658" y="1770744"/>
              <a:ext cx="529772" cy="529772"/>
            </a:xfrm>
            <a:prstGeom prst="ellipse">
              <a:avLst/>
            </a:prstGeom>
            <a:solidFill>
              <a:schemeClr val="bg1"/>
            </a:solidFill>
            <a:ln w="76200" algn="ctr">
              <a:solidFill>
                <a:schemeClr val="accent2">
                  <a:lumMod val="60000"/>
                  <a:lumOff val="4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accent2">
                    <a:lumMod val="50000"/>
                  </a:schemeClr>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5F6D5889-AA0B-6E8F-5DA6-C0AE6174711C}"/>
                </a:ext>
              </a:extLst>
            </p:cNvPr>
            <p:cNvSpPr txBox="1"/>
            <p:nvPr/>
          </p:nvSpPr>
          <p:spPr>
            <a:xfrm>
              <a:off x="5541413" y="1837003"/>
              <a:ext cx="441146" cy="400110"/>
            </a:xfrm>
            <a:prstGeom prst="rect">
              <a:avLst/>
            </a:prstGeom>
            <a:noFill/>
            <a:ln>
              <a:noFill/>
            </a:ln>
          </p:spPr>
          <p:txBody>
            <a:bodyPr wrap="none" rtlCol="0">
              <a:spAutoFit/>
            </a:bodyPr>
            <a:lstStyle/>
            <a:p>
              <a:r>
                <a:rPr kumimoji="1" lang="ja-JP" altLang="en-US" sz="2000" b="1">
                  <a:solidFill>
                    <a:schemeClr val="accent2">
                      <a:lumMod val="50000"/>
                    </a:schemeClr>
                  </a:solidFill>
                  <a:latin typeface="メイリオ" panose="020B0604030504040204" pitchFamily="50" charset="-128"/>
                  <a:ea typeface="メイリオ" panose="020B0604030504040204" pitchFamily="50" charset="-128"/>
                </a:rPr>
                <a:t>３</a:t>
              </a:r>
            </a:p>
          </p:txBody>
        </p:sp>
      </p:grpSp>
      <p:grpSp>
        <p:nvGrpSpPr>
          <p:cNvPr id="39" name="グループ化 38">
            <a:extLst>
              <a:ext uri="{FF2B5EF4-FFF2-40B4-BE49-F238E27FC236}">
                <a16:creationId xmlns:a16="http://schemas.microsoft.com/office/drawing/2014/main" id="{959B41BF-A244-8A35-634F-586D059EC031}"/>
              </a:ext>
            </a:extLst>
          </p:cNvPr>
          <p:cNvGrpSpPr/>
          <p:nvPr/>
        </p:nvGrpSpPr>
        <p:grpSpPr>
          <a:xfrm>
            <a:off x="1031075" y="3918014"/>
            <a:ext cx="529772" cy="529772"/>
            <a:chOff x="5493658" y="1770744"/>
            <a:chExt cx="529772" cy="529772"/>
          </a:xfrm>
        </p:grpSpPr>
        <p:sp>
          <p:nvSpPr>
            <p:cNvPr id="40" name="楕円 39">
              <a:extLst>
                <a:ext uri="{FF2B5EF4-FFF2-40B4-BE49-F238E27FC236}">
                  <a16:creationId xmlns:a16="http://schemas.microsoft.com/office/drawing/2014/main" id="{4D961C18-B7DA-0626-FBD5-0ECF6CBEA7A0}"/>
                </a:ext>
              </a:extLst>
            </p:cNvPr>
            <p:cNvSpPr/>
            <p:nvPr/>
          </p:nvSpPr>
          <p:spPr bwMode="auto">
            <a:xfrm>
              <a:off x="5493658" y="1770744"/>
              <a:ext cx="529772" cy="529772"/>
            </a:xfrm>
            <a:prstGeom prst="ellipse">
              <a:avLst/>
            </a:prstGeom>
            <a:solidFill>
              <a:schemeClr val="bg1"/>
            </a:solidFill>
            <a:ln w="76200" algn="ctr">
              <a:solidFill>
                <a:schemeClr val="accent1">
                  <a:lumMod val="60000"/>
                  <a:lumOff val="4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accent1">
                    <a:lumMod val="75000"/>
                  </a:schemeClr>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3D963FAB-EBE2-0283-4C43-005B4D09693A}"/>
                </a:ext>
              </a:extLst>
            </p:cNvPr>
            <p:cNvSpPr txBox="1"/>
            <p:nvPr/>
          </p:nvSpPr>
          <p:spPr>
            <a:xfrm>
              <a:off x="5526899" y="1837003"/>
              <a:ext cx="441146" cy="400110"/>
            </a:xfrm>
            <a:prstGeom prst="rect">
              <a:avLst/>
            </a:prstGeom>
            <a:noFill/>
            <a:ln>
              <a:noFill/>
            </a:ln>
          </p:spPr>
          <p:txBody>
            <a:bodyPr wrap="none" rtlCol="0">
              <a:spAutoFit/>
            </a:bodyPr>
            <a:lstStyle/>
            <a:p>
              <a:r>
                <a:rPr kumimoji="1" lang="ja-JP" altLang="en-US" sz="2000" b="1">
                  <a:solidFill>
                    <a:schemeClr val="accent1">
                      <a:lumMod val="75000"/>
                    </a:schemeClr>
                  </a:solidFill>
                  <a:latin typeface="メイリオ" panose="020B0604030504040204" pitchFamily="50" charset="-128"/>
                  <a:ea typeface="メイリオ" panose="020B0604030504040204" pitchFamily="50" charset="-128"/>
                </a:rPr>
                <a:t>４</a:t>
              </a:r>
            </a:p>
          </p:txBody>
        </p:sp>
      </p:grpSp>
      <p:grpSp>
        <p:nvGrpSpPr>
          <p:cNvPr id="42" name="グループ化 41">
            <a:extLst>
              <a:ext uri="{FF2B5EF4-FFF2-40B4-BE49-F238E27FC236}">
                <a16:creationId xmlns:a16="http://schemas.microsoft.com/office/drawing/2014/main" id="{6DBA2F36-3A73-D4C1-591A-E60BC5FAC813}"/>
              </a:ext>
            </a:extLst>
          </p:cNvPr>
          <p:cNvGrpSpPr/>
          <p:nvPr/>
        </p:nvGrpSpPr>
        <p:grpSpPr>
          <a:xfrm>
            <a:off x="1031075" y="4721576"/>
            <a:ext cx="529772" cy="529772"/>
            <a:chOff x="5493658" y="1770744"/>
            <a:chExt cx="529772" cy="529772"/>
          </a:xfrm>
        </p:grpSpPr>
        <p:sp>
          <p:nvSpPr>
            <p:cNvPr id="43" name="楕円 42">
              <a:extLst>
                <a:ext uri="{FF2B5EF4-FFF2-40B4-BE49-F238E27FC236}">
                  <a16:creationId xmlns:a16="http://schemas.microsoft.com/office/drawing/2014/main" id="{0087BA9D-44F7-3DBA-3503-D0733AB01848}"/>
                </a:ext>
              </a:extLst>
            </p:cNvPr>
            <p:cNvSpPr/>
            <p:nvPr/>
          </p:nvSpPr>
          <p:spPr bwMode="auto">
            <a:xfrm>
              <a:off x="5493658" y="1770744"/>
              <a:ext cx="529772" cy="529772"/>
            </a:xfrm>
            <a:prstGeom prst="ellipse">
              <a:avLst/>
            </a:prstGeom>
            <a:solidFill>
              <a:schemeClr val="bg1"/>
            </a:solidFill>
            <a:ln w="76200" algn="ctr">
              <a:solidFill>
                <a:schemeClr val="accent6">
                  <a:lumMod val="60000"/>
                  <a:lumOff val="4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accent6">
                    <a:lumMod val="75000"/>
                  </a:schemeClr>
                </a:solidFill>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FEBBFE-3CD8-513C-91A4-E576B096BB6D}"/>
                </a:ext>
              </a:extLst>
            </p:cNvPr>
            <p:cNvSpPr txBox="1"/>
            <p:nvPr/>
          </p:nvSpPr>
          <p:spPr>
            <a:xfrm>
              <a:off x="5534156" y="1837003"/>
              <a:ext cx="441146" cy="400110"/>
            </a:xfrm>
            <a:prstGeom prst="rect">
              <a:avLst/>
            </a:prstGeom>
            <a:noFill/>
            <a:ln>
              <a:noFill/>
            </a:ln>
          </p:spPr>
          <p:txBody>
            <a:bodyPr wrap="none" rtlCol="0">
              <a:spAutoFit/>
            </a:bodyPr>
            <a:lstStyle/>
            <a:p>
              <a:r>
                <a:rPr kumimoji="1" lang="ja-JP" altLang="en-US" sz="2000" b="1">
                  <a:solidFill>
                    <a:schemeClr val="accent6">
                      <a:lumMod val="75000"/>
                    </a:schemeClr>
                  </a:solidFill>
                  <a:latin typeface="メイリオ" panose="020B0604030504040204" pitchFamily="50" charset="-128"/>
                  <a:ea typeface="メイリオ" panose="020B0604030504040204" pitchFamily="50" charset="-128"/>
                </a:rPr>
                <a:t>５</a:t>
              </a:r>
            </a:p>
          </p:txBody>
        </p:sp>
      </p:grpSp>
      <p:sp>
        <p:nvSpPr>
          <p:cNvPr id="48" name="吹き出し: 角を丸めた四角形 47">
            <a:extLst>
              <a:ext uri="{FF2B5EF4-FFF2-40B4-BE49-F238E27FC236}">
                <a16:creationId xmlns:a16="http://schemas.microsoft.com/office/drawing/2014/main" id="{CB63FA73-D127-5A84-A9FA-4C76A84F554B}"/>
              </a:ext>
            </a:extLst>
          </p:cNvPr>
          <p:cNvSpPr/>
          <p:nvPr/>
        </p:nvSpPr>
        <p:spPr bwMode="auto">
          <a:xfrm>
            <a:off x="4776903" y="2259588"/>
            <a:ext cx="6639512" cy="632375"/>
          </a:xfrm>
          <a:prstGeom prst="wedgeRoundRectCallout">
            <a:avLst>
              <a:gd name="adj1" fmla="val -53925"/>
              <a:gd name="adj2" fmla="val 10119"/>
              <a:gd name="adj3" fmla="val 16667"/>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ja-JP" altLang="en-US" sz="2000" b="1">
                <a:solidFill>
                  <a:schemeClr val="accent3">
                    <a:lumMod val="50000"/>
                  </a:schemeClr>
                </a:solidFill>
                <a:latin typeface="メイリオ" panose="020B0604030504040204" pitchFamily="50" charset="-128"/>
                <a:ea typeface="メイリオ" panose="020B0604030504040204" pitchFamily="50" charset="-128"/>
              </a:rPr>
              <a:t>貴社キーマンとのお打ち合わせ</a:t>
            </a:r>
            <a:endParaRPr kumimoji="1" lang="ja-JP" altLang="en-US" sz="2000" b="1" noProof="0">
              <a:solidFill>
                <a:schemeClr val="accent3">
                  <a:lumMod val="50000"/>
                </a:schemeClr>
              </a:solidFill>
              <a:latin typeface="メイリオ" panose="020B0604030504040204" pitchFamily="50" charset="-128"/>
              <a:ea typeface="メイリオ" panose="020B0604030504040204" pitchFamily="50" charset="-128"/>
            </a:endParaRPr>
          </a:p>
        </p:txBody>
      </p:sp>
      <p:sp>
        <p:nvSpPr>
          <p:cNvPr id="49" name="吹き出し: 角を丸めた四角形 48">
            <a:extLst>
              <a:ext uri="{FF2B5EF4-FFF2-40B4-BE49-F238E27FC236}">
                <a16:creationId xmlns:a16="http://schemas.microsoft.com/office/drawing/2014/main" id="{E7939682-8B20-56BE-625E-75D01D15FEA2}"/>
              </a:ext>
            </a:extLst>
          </p:cNvPr>
          <p:cNvSpPr/>
          <p:nvPr/>
        </p:nvSpPr>
        <p:spPr bwMode="auto">
          <a:xfrm>
            <a:off x="4776903" y="3030270"/>
            <a:ext cx="6639512" cy="632375"/>
          </a:xfrm>
          <a:prstGeom prst="wedgeRoundRectCallout">
            <a:avLst>
              <a:gd name="adj1" fmla="val -53925"/>
              <a:gd name="adj2" fmla="val 10119"/>
              <a:gd name="adj3" fmla="val 16667"/>
            </a:avLst>
          </a:prstGeom>
          <a:solidFill>
            <a:schemeClr val="accent2">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kumimoji="1" lang="ja-JP" altLang="en-US" sz="2000" b="1" noProof="0">
                <a:solidFill>
                  <a:schemeClr val="accent2">
                    <a:lumMod val="50000"/>
                  </a:schemeClr>
                </a:solidFill>
                <a:latin typeface="メイリオ" panose="020B0604030504040204" pitchFamily="50" charset="-128"/>
                <a:ea typeface="メイリオ" panose="020B0604030504040204" pitchFamily="50" charset="-128"/>
              </a:rPr>
              <a:t>当社サービスで支援できる範囲をご提案</a:t>
            </a:r>
          </a:p>
        </p:txBody>
      </p:sp>
      <p:sp>
        <p:nvSpPr>
          <p:cNvPr id="50" name="吹き出し: 角を丸めた四角形 49">
            <a:extLst>
              <a:ext uri="{FF2B5EF4-FFF2-40B4-BE49-F238E27FC236}">
                <a16:creationId xmlns:a16="http://schemas.microsoft.com/office/drawing/2014/main" id="{34E79EE9-63EA-DFA3-978B-CD9C59CDE884}"/>
              </a:ext>
            </a:extLst>
          </p:cNvPr>
          <p:cNvSpPr/>
          <p:nvPr/>
        </p:nvSpPr>
        <p:spPr bwMode="auto">
          <a:xfrm>
            <a:off x="4776903" y="3826273"/>
            <a:ext cx="6639512" cy="632375"/>
          </a:xfrm>
          <a:prstGeom prst="wedgeRoundRectCallout">
            <a:avLst>
              <a:gd name="adj1" fmla="val -53925"/>
              <a:gd name="adj2" fmla="val 10119"/>
              <a:gd name="adj3" fmla="val 16667"/>
            </a:avLst>
          </a:prstGeom>
          <a:solidFill>
            <a:schemeClr val="accent1">
              <a:lumMod val="20000"/>
              <a:lumOff val="80000"/>
            </a:schemeClr>
          </a:solidFill>
          <a:ln w="38100" algn="ctr">
            <a:noFill/>
            <a:miter lim="800000"/>
            <a:headEnd/>
            <a:tailEnd/>
          </a:ln>
          <a:effectLst/>
        </p:spPr>
        <p:txBody>
          <a:bodyPr wrap="none" lIns="90000" tIns="46800" rIns="90000" bIns="46800" rtlCol="0" anchor="ctr"/>
          <a:lstStyle/>
          <a:p>
            <a:pPr fontAlgn="base">
              <a:spcBef>
                <a:spcPct val="50000"/>
              </a:spcBef>
              <a:spcAft>
                <a:spcPct val="0"/>
              </a:spcAft>
            </a:pPr>
            <a:r>
              <a:rPr kumimoji="1" lang="ja-JP" altLang="en-US" sz="2000" b="1" noProof="0">
                <a:solidFill>
                  <a:schemeClr val="accent1">
                    <a:lumMod val="75000"/>
                  </a:schemeClr>
                </a:solidFill>
                <a:latin typeface="メイリオ" panose="020B0604030504040204" pitchFamily="50" charset="-128"/>
                <a:ea typeface="メイリオ" panose="020B0604030504040204" pitchFamily="50" charset="-128"/>
              </a:rPr>
              <a:t>プロジェクトの貴社専任エージェントが付きます</a:t>
            </a:r>
          </a:p>
        </p:txBody>
      </p:sp>
      <p:sp>
        <p:nvSpPr>
          <p:cNvPr id="51" name="吹き出し: 角を丸めた四角形 50">
            <a:extLst>
              <a:ext uri="{FF2B5EF4-FFF2-40B4-BE49-F238E27FC236}">
                <a16:creationId xmlns:a16="http://schemas.microsoft.com/office/drawing/2014/main" id="{78EA5770-8FE1-3F6C-A8B8-60AF180C3164}"/>
              </a:ext>
            </a:extLst>
          </p:cNvPr>
          <p:cNvSpPr/>
          <p:nvPr/>
        </p:nvSpPr>
        <p:spPr bwMode="auto">
          <a:xfrm>
            <a:off x="4786143" y="4618973"/>
            <a:ext cx="6639512" cy="632375"/>
          </a:xfrm>
          <a:prstGeom prst="wedgeRoundRectCallout">
            <a:avLst>
              <a:gd name="adj1" fmla="val -53925"/>
              <a:gd name="adj2" fmla="val 10119"/>
              <a:gd name="adj3" fmla="val 16667"/>
            </a:avLst>
          </a:prstGeom>
          <a:solidFill>
            <a:schemeClr val="accent6">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kumimoji="1" lang="ja-JP" altLang="en-US" sz="2000" b="1" noProof="0">
                <a:solidFill>
                  <a:schemeClr val="accent6">
                    <a:lumMod val="75000"/>
                  </a:schemeClr>
                </a:solidFill>
                <a:latin typeface="メイリオ" panose="020B0604030504040204" pitchFamily="50" charset="-128"/>
                <a:ea typeface="メイリオ" panose="020B0604030504040204" pitchFamily="50" charset="-128"/>
              </a:rPr>
              <a:t>最大、スタートの２か月前から対応可能</a:t>
            </a:r>
          </a:p>
        </p:txBody>
      </p:sp>
    </p:spTree>
    <p:extLst>
      <p:ext uri="{BB962C8B-B14F-4D97-AF65-F5344CB8AC3E}">
        <p14:creationId xmlns:p14="http://schemas.microsoft.com/office/powerpoint/2010/main" val="1429184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21">
            <a:extLst>
              <a:ext uri="{FF2B5EF4-FFF2-40B4-BE49-F238E27FC236}">
                <a16:creationId xmlns:a16="http://schemas.microsoft.com/office/drawing/2014/main" id="{D5E443BF-0E11-AD08-BA02-D1985C949BE5}"/>
              </a:ext>
            </a:extLst>
          </p:cNvPr>
          <p:cNvSpPr>
            <a:spLocks noGrp="1"/>
          </p:cNvSpPr>
          <p:nvPr>
            <p:ph idx="1"/>
          </p:nvPr>
        </p:nvSpPr>
        <p:spPr>
          <a:xfrm>
            <a:off x="486179" y="1610660"/>
            <a:ext cx="4805975" cy="4781847"/>
          </a:xfrm>
        </p:spPr>
        <p:txBody>
          <a:bodyPr>
            <a:noAutofit/>
          </a:bodyPr>
          <a:lstStyle/>
          <a:p>
            <a:pPr marL="0" indent="0">
              <a:lnSpc>
                <a:spcPct val="150000"/>
              </a:lnSpc>
              <a:buNone/>
            </a:pPr>
            <a:r>
              <a:rPr lang="en-US" altLang="ja-JP" sz="1400"/>
              <a:t>2D/3D</a:t>
            </a:r>
            <a:r>
              <a:rPr lang="ja-JP" altLang="en-US" sz="1400"/>
              <a:t>キャラクターデザイン、モデリング、アニメーション、</a:t>
            </a:r>
            <a:r>
              <a:rPr lang="en-US" altLang="ja-JP" sz="1400"/>
              <a:t>MV</a:t>
            </a:r>
            <a:r>
              <a:rPr lang="ja-JP" altLang="en-US" sz="1400"/>
              <a:t>制作まで</a:t>
            </a:r>
            <a:r>
              <a:rPr lang="en-US" altLang="ja-JP" sz="1400" err="1"/>
              <a:t>VTuber</a:t>
            </a:r>
            <a:r>
              <a:rPr lang="ja-JP" altLang="en-US" sz="1400"/>
              <a:t>の活動をトータルで支えます。</a:t>
            </a:r>
            <a:endParaRPr lang="en-US" altLang="ja-JP" sz="1400"/>
          </a:p>
          <a:p>
            <a:pPr marL="0" indent="0">
              <a:lnSpc>
                <a:spcPct val="150000"/>
              </a:lnSpc>
              <a:buNone/>
            </a:pPr>
            <a:r>
              <a:rPr lang="ja-JP" altLang="en-US" sz="1400" b="1"/>
              <a:t>制作メニュー</a:t>
            </a:r>
            <a:endParaRPr lang="en-US" altLang="ja-JP" sz="1400"/>
          </a:p>
          <a:p>
            <a:pPr marL="285750" indent="-285750">
              <a:lnSpc>
                <a:spcPct val="100000"/>
              </a:lnSpc>
              <a:buFont typeface="Arial" panose="020B0604020202020204" pitchFamily="34" charset="0"/>
              <a:buChar char="•"/>
            </a:pPr>
            <a:r>
              <a:rPr lang="ja-JP" altLang="en-US" sz="1400" b="1">
                <a:solidFill>
                  <a:srgbClr val="707070"/>
                </a:solidFill>
              </a:rPr>
              <a:t>キャラクターデザイン・衣装デザイン</a:t>
            </a:r>
            <a:endParaRPr lang="en-US" altLang="ja-JP" sz="1400" b="1">
              <a:solidFill>
                <a:srgbClr val="707070"/>
              </a:solidFill>
            </a:endParaRPr>
          </a:p>
          <a:p>
            <a:pPr marL="285750" indent="-285750">
              <a:lnSpc>
                <a:spcPct val="100000"/>
              </a:lnSpc>
              <a:buFont typeface="Arial" panose="020B0604020202020204" pitchFamily="34" charset="0"/>
              <a:buChar char="•"/>
            </a:pPr>
            <a:r>
              <a:rPr lang="ja-JP" altLang="en-US" sz="1400" b="1">
                <a:solidFill>
                  <a:srgbClr val="707070"/>
                </a:solidFill>
              </a:rPr>
              <a:t>モデリング・アバター制作</a:t>
            </a:r>
            <a:endParaRPr lang="en-US" altLang="ja-JP" sz="1400" b="1">
              <a:solidFill>
                <a:srgbClr val="707070"/>
              </a:solidFill>
            </a:endParaRPr>
          </a:p>
          <a:p>
            <a:pPr marL="285750" indent="-285750">
              <a:lnSpc>
                <a:spcPct val="100000"/>
              </a:lnSpc>
              <a:buFont typeface="Arial" panose="020B0604020202020204" pitchFamily="34" charset="0"/>
              <a:buChar char="•"/>
            </a:pPr>
            <a:r>
              <a:rPr lang="ja-JP" altLang="en-US" sz="1400" b="1">
                <a:solidFill>
                  <a:srgbClr val="707070"/>
                </a:solidFill>
              </a:rPr>
              <a:t>専用背景デザイン</a:t>
            </a:r>
            <a:endParaRPr lang="en-US" altLang="ja-JP" sz="1400" b="1">
              <a:solidFill>
                <a:srgbClr val="707070"/>
              </a:solidFill>
            </a:endParaRPr>
          </a:p>
          <a:p>
            <a:pPr marL="285750" indent="-285750">
              <a:lnSpc>
                <a:spcPct val="100000"/>
              </a:lnSpc>
              <a:buFont typeface="Arial" panose="020B0604020202020204" pitchFamily="34" charset="0"/>
              <a:buChar char="•"/>
            </a:pPr>
            <a:r>
              <a:rPr lang="ja-JP" altLang="en-US" sz="1400" b="1">
                <a:solidFill>
                  <a:srgbClr val="707070"/>
                </a:solidFill>
              </a:rPr>
              <a:t>チャンネルロゴ・アートデザイン</a:t>
            </a:r>
          </a:p>
          <a:p>
            <a:pPr marL="285750" indent="-285750">
              <a:lnSpc>
                <a:spcPct val="100000"/>
              </a:lnSpc>
              <a:buFont typeface="Arial" panose="020B0604020202020204" pitchFamily="34" charset="0"/>
              <a:buChar char="•"/>
            </a:pPr>
            <a:r>
              <a:rPr lang="en-US" altLang="ja-JP" sz="1400" b="1">
                <a:solidFill>
                  <a:srgbClr val="707070"/>
                </a:solidFill>
              </a:rPr>
              <a:t>MV</a:t>
            </a:r>
            <a:r>
              <a:rPr lang="ja-JP" altLang="en-US" sz="1400" b="1">
                <a:solidFill>
                  <a:srgbClr val="707070"/>
                </a:solidFill>
              </a:rPr>
              <a:t>、</a:t>
            </a:r>
            <a:r>
              <a:rPr lang="en-US" altLang="ja-JP" sz="1400" b="1">
                <a:solidFill>
                  <a:srgbClr val="707070"/>
                </a:solidFill>
              </a:rPr>
              <a:t>PV</a:t>
            </a:r>
            <a:r>
              <a:rPr lang="ja-JP" altLang="en-US" sz="1400" b="1">
                <a:solidFill>
                  <a:srgbClr val="707070"/>
                </a:solidFill>
              </a:rPr>
              <a:t>制作　</a:t>
            </a:r>
            <a:endParaRPr lang="en-US" altLang="ja-JP" sz="1400" b="1">
              <a:solidFill>
                <a:srgbClr val="707070"/>
              </a:solidFill>
            </a:endParaRPr>
          </a:p>
          <a:p>
            <a:pPr>
              <a:lnSpc>
                <a:spcPct val="100000"/>
              </a:lnSpc>
            </a:pPr>
            <a:endParaRPr lang="en-US" altLang="ja-JP" sz="1400" b="1"/>
          </a:p>
          <a:p>
            <a:pPr>
              <a:lnSpc>
                <a:spcPct val="100000"/>
              </a:lnSpc>
            </a:pPr>
            <a:r>
              <a:rPr lang="ja-JP" altLang="en-US" sz="1400" b="1"/>
              <a:t>納品までの流れ　</a:t>
            </a:r>
            <a:r>
              <a:rPr lang="en-US" altLang="ja-JP" sz="1100" b="1"/>
              <a:t>※</a:t>
            </a:r>
            <a:r>
              <a:rPr lang="ja-JP" altLang="en-US" sz="1100" b="1"/>
              <a:t>まずはお気軽にお見積もりください</a:t>
            </a:r>
            <a:endParaRPr lang="en-US" altLang="ja-JP" sz="1100" b="1"/>
          </a:p>
          <a:p>
            <a:pPr>
              <a:lnSpc>
                <a:spcPct val="100000"/>
              </a:lnSpc>
            </a:pPr>
            <a:endParaRPr lang="ja-JP" altLang="en-US" sz="1800" b="1">
              <a:solidFill>
                <a:srgbClr val="707070"/>
              </a:solidFill>
            </a:endParaRPr>
          </a:p>
          <a:p>
            <a:pPr marL="0" indent="0">
              <a:lnSpc>
                <a:spcPct val="150000"/>
              </a:lnSpc>
              <a:buNone/>
            </a:pPr>
            <a:endParaRPr lang="en-US" altLang="ja-JP" sz="1400"/>
          </a:p>
        </p:txBody>
      </p:sp>
      <p:sp>
        <p:nvSpPr>
          <p:cNvPr id="3" name="タイトル 2">
            <a:extLst>
              <a:ext uri="{FF2B5EF4-FFF2-40B4-BE49-F238E27FC236}">
                <a16:creationId xmlns:a16="http://schemas.microsoft.com/office/drawing/2014/main" id="{5D7E8768-628D-158D-D3AA-D0785C17A056}"/>
              </a:ext>
            </a:extLst>
          </p:cNvPr>
          <p:cNvSpPr>
            <a:spLocks noGrp="1"/>
          </p:cNvSpPr>
          <p:nvPr>
            <p:ph type="title"/>
          </p:nvPr>
        </p:nvSpPr>
        <p:spPr/>
        <p:txBody>
          <a:bodyPr>
            <a:normAutofit/>
          </a:bodyPr>
          <a:lstStyle/>
          <a:p>
            <a:r>
              <a:rPr lang="en-US" altLang="ja-JP" err="1"/>
              <a:t>VTuber</a:t>
            </a:r>
            <a:r>
              <a:rPr lang="ja-JP" altLang="en-US"/>
              <a:t>コンテンツ制作サービス</a:t>
            </a:r>
          </a:p>
        </p:txBody>
      </p:sp>
      <p:sp>
        <p:nvSpPr>
          <p:cNvPr id="4" name="スライド番号プレースホルダー 3">
            <a:extLst>
              <a:ext uri="{FF2B5EF4-FFF2-40B4-BE49-F238E27FC236}">
                <a16:creationId xmlns:a16="http://schemas.microsoft.com/office/drawing/2014/main" id="{959D5E2B-5A11-7C78-8856-71A3D2896320}"/>
              </a:ext>
            </a:extLst>
          </p:cNvPr>
          <p:cNvSpPr>
            <a:spLocks noGrp="1"/>
          </p:cNvSpPr>
          <p:nvPr>
            <p:ph type="sldNum" sz="quarter" idx="11"/>
          </p:nvPr>
        </p:nvSpPr>
        <p:spPr/>
        <p:txBody>
          <a:bodyPr/>
          <a:lstStyle/>
          <a:p>
            <a:fld id="{B75FDD43-FCEC-4ECC-8189-A5C6D2E08DC6}" type="slidenum">
              <a:rPr lang="ja-JP" altLang="en-US" smtClean="0"/>
              <a:pPr/>
              <a:t>36</a:t>
            </a:fld>
            <a:endParaRPr lang="ja-JP" altLang="en-US"/>
          </a:p>
        </p:txBody>
      </p:sp>
      <p:sp>
        <p:nvSpPr>
          <p:cNvPr id="5" name="四角形: 角を丸くする 4">
            <a:extLst>
              <a:ext uri="{FF2B5EF4-FFF2-40B4-BE49-F238E27FC236}">
                <a16:creationId xmlns:a16="http://schemas.microsoft.com/office/drawing/2014/main" id="{7E6B4E9F-8E53-CDA5-EFEE-78E56AB10A80}"/>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en-US" altLang="ja-JP" sz="1600" b="1" noProof="0" err="1">
                <a:solidFill>
                  <a:schemeClr val="bg1"/>
                </a:solidFill>
                <a:latin typeface="メイリオ" panose="020B0604030504040204" pitchFamily="50" charset="-128"/>
                <a:ea typeface="メイリオ" panose="020B0604030504040204" pitchFamily="50" charset="-128"/>
              </a:rPr>
              <a:t>VTuber</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6" name="四角形: 角を丸くする 5">
            <a:extLst>
              <a:ext uri="{FF2B5EF4-FFF2-40B4-BE49-F238E27FC236}">
                <a16:creationId xmlns:a16="http://schemas.microsoft.com/office/drawing/2014/main" id="{ABA43314-3EC6-A4DC-7C42-CEBB61C889E7}"/>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en-US" altLang="ja-JP" sz="1600" b="1" dirty="0">
                <a:solidFill>
                  <a:schemeClr val="bg1"/>
                </a:solidFill>
                <a:latin typeface="メイリオ" panose="020B0604030504040204" pitchFamily="50" charset="-128"/>
                <a:ea typeface="メイリオ" panose="020B0604030504040204" pitchFamily="50" charset="-128"/>
              </a:rPr>
              <a:t>MV/PV</a:t>
            </a:r>
            <a:endParaRPr kumimoji="1" lang="ja-JP" altLang="en-US" sz="1600" b="1" noProof="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6C4A986C-5600-0A76-F75C-269B0E42C467}"/>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ツール</a:t>
            </a:r>
            <a:r>
              <a:rPr kumimoji="1" lang="ja-JP" altLang="en-US" sz="1600" b="1" noProof="0">
                <a:solidFill>
                  <a:schemeClr val="bg1"/>
                </a:solidFill>
                <a:latin typeface="メイリオ" panose="020B0604030504040204" pitchFamily="50" charset="-128"/>
                <a:ea typeface="メイリオ" panose="020B0604030504040204" pitchFamily="50" charset="-128"/>
              </a:rPr>
              <a:t>支援</a:t>
            </a:r>
          </a:p>
        </p:txBody>
      </p:sp>
      <p:pic>
        <p:nvPicPr>
          <p:cNvPr id="11" name="図 10">
            <a:extLst>
              <a:ext uri="{FF2B5EF4-FFF2-40B4-BE49-F238E27FC236}">
                <a16:creationId xmlns:a16="http://schemas.microsoft.com/office/drawing/2014/main" id="{1FEFAEC2-796C-42D1-689B-3746E066D88E}"/>
              </a:ext>
            </a:extLst>
          </p:cNvPr>
          <p:cNvPicPr>
            <a:picLocks noChangeAspect="1"/>
          </p:cNvPicPr>
          <p:nvPr/>
        </p:nvPicPr>
        <p:blipFill rotWithShape="1">
          <a:blip r:embed="rId3"/>
          <a:srcRect l="790"/>
          <a:stretch/>
        </p:blipFill>
        <p:spPr>
          <a:xfrm>
            <a:off x="5527269" y="4079667"/>
            <a:ext cx="3621316" cy="2048691"/>
          </a:xfrm>
          <a:prstGeom prst="rect">
            <a:avLst/>
          </a:prstGeom>
        </p:spPr>
      </p:pic>
      <p:sp>
        <p:nvSpPr>
          <p:cNvPr id="18" name="テキスト ボックス 20">
            <a:extLst>
              <a:ext uri="{FF2B5EF4-FFF2-40B4-BE49-F238E27FC236}">
                <a16:creationId xmlns:a16="http://schemas.microsoft.com/office/drawing/2014/main" id="{15B5A9E9-DA10-02CE-2D51-0C368EDA2810}"/>
              </a:ext>
            </a:extLst>
          </p:cNvPr>
          <p:cNvSpPr txBox="1"/>
          <p:nvPr/>
        </p:nvSpPr>
        <p:spPr>
          <a:xfrm>
            <a:off x="5457717" y="3759550"/>
            <a:ext cx="4765756" cy="303929"/>
          </a:xfrm>
          <a:prstGeom prst="rect">
            <a:avLst/>
          </a:prstGeom>
          <a:noFill/>
        </p:spPr>
        <p:txBody>
          <a:bodyPr wrap="square" lIns="91440" tIns="45720" rIns="91440" bIns="45720" rtlCol="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50000"/>
              </a:lnSpc>
            </a:pPr>
            <a:r>
              <a:rPr lang="ja-JP" altLang="en-US" sz="1000" b="1">
                <a:solidFill>
                  <a:schemeClr val="accent4">
                    <a:lumMod val="75000"/>
                  </a:schemeClr>
                </a:solidFill>
                <a:latin typeface="メイリオ" panose="020B0604030504040204" pitchFamily="50" charset="-128"/>
                <a:ea typeface="メイリオ" panose="020B0604030504040204" pitchFamily="50" charset="-128"/>
                <a:hlinkClick r:id="rId4">
                  <a:extLst>
                    <a:ext uri="{A12FA001-AC4F-418D-AE19-62706E023703}">
                      <ahyp:hlinkClr xmlns:ahyp="http://schemas.microsoft.com/office/drawing/2018/hyperlinkcolor" val="tx"/>
                    </a:ext>
                  </a:extLst>
                </a:hlinkClick>
              </a:rPr>
              <a:t>▼デモリール：</a:t>
            </a:r>
            <a:r>
              <a:rPr lang="en-US" altLang="ja-JP" sz="1000" b="1" err="1">
                <a:solidFill>
                  <a:schemeClr val="accent4">
                    <a:lumMod val="75000"/>
                  </a:schemeClr>
                </a:solidFill>
                <a:latin typeface="メイリオ" panose="020B0604030504040204" pitchFamily="50" charset="-128"/>
                <a:ea typeface="メイリオ" panose="020B0604030504040204" pitchFamily="50" charset="-128"/>
                <a:hlinkClick r:id="rId4">
                  <a:extLst>
                    <a:ext uri="{A12FA001-AC4F-418D-AE19-62706E023703}">
                      <ahyp:hlinkClr xmlns:ahyp="http://schemas.microsoft.com/office/drawing/2018/hyperlinkcolor" val="tx"/>
                    </a:ext>
                  </a:extLst>
                </a:hlinkClick>
              </a:rPr>
              <a:t>PlaNetStudio</a:t>
            </a:r>
            <a:r>
              <a:rPr lang="ja-JP" altLang="en-US" sz="1000" b="1">
                <a:solidFill>
                  <a:schemeClr val="accent4">
                    <a:lumMod val="75000"/>
                  </a:schemeClr>
                </a:solidFill>
                <a:latin typeface="メイリオ" panose="020B0604030504040204" pitchFamily="50" charset="-128"/>
                <a:ea typeface="メイリオ" panose="020B0604030504040204" pitchFamily="50" charset="-128"/>
                <a:hlinkClick r:id="rId4">
                  <a:extLst>
                    <a:ext uri="{A12FA001-AC4F-418D-AE19-62706E023703}">
                      <ahyp:hlinkClr xmlns:ahyp="http://schemas.microsoft.com/office/drawing/2018/hyperlinkcolor" val="tx"/>
                    </a:ext>
                  </a:extLst>
                </a:hlinkClick>
              </a:rPr>
              <a:t>アンバサダー「星奈いるる」</a:t>
            </a:r>
            <a:endParaRPr kumimoji="1" lang="ja-JP" altLang="en-US" sz="1000" b="1">
              <a:solidFill>
                <a:schemeClr val="accent4">
                  <a:lumMod val="75000"/>
                </a:schemeClr>
              </a:solidFill>
              <a:latin typeface="メイリオ" panose="020B0604030504040204" pitchFamily="50" charset="-128"/>
              <a:ea typeface="メイリオ" panose="020B0604030504040204" pitchFamily="50" charset="-128"/>
            </a:endParaRPr>
          </a:p>
        </p:txBody>
      </p:sp>
      <p:sp>
        <p:nvSpPr>
          <p:cNvPr id="19" name="テキスト ボックス 20">
            <a:extLst>
              <a:ext uri="{FF2B5EF4-FFF2-40B4-BE49-F238E27FC236}">
                <a16:creationId xmlns:a16="http://schemas.microsoft.com/office/drawing/2014/main" id="{CC81475F-518A-56B0-05DB-4C05747E6EF8}"/>
              </a:ext>
            </a:extLst>
          </p:cNvPr>
          <p:cNvSpPr txBox="1"/>
          <p:nvPr/>
        </p:nvSpPr>
        <p:spPr>
          <a:xfrm>
            <a:off x="5409669" y="6447191"/>
            <a:ext cx="4054653" cy="303929"/>
          </a:xfrm>
          <a:prstGeom prst="rect">
            <a:avLst/>
          </a:prstGeom>
          <a:noFill/>
        </p:spPr>
        <p:txBody>
          <a:bodyPr wrap="square" lIns="91440" tIns="45720" rIns="91440" bIns="45720" rtlCol="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lnSpc>
                <a:spcPct val="150000"/>
              </a:lnSpc>
            </a:pPr>
            <a:r>
              <a:rPr lang="ja-JP" altLang="en-US" sz="1000" b="1">
                <a:solidFill>
                  <a:schemeClr val="accent4">
                    <a:lumMod val="7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▶３</a:t>
            </a:r>
            <a:r>
              <a:rPr lang="en-US" altLang="ja-JP" sz="1000" b="1">
                <a:solidFill>
                  <a:schemeClr val="accent4">
                    <a:lumMod val="7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D</a:t>
            </a:r>
            <a:r>
              <a:rPr lang="ja-JP" altLang="en-US" sz="1000" b="1">
                <a:solidFill>
                  <a:schemeClr val="accent4">
                    <a:lumMod val="7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モデルブランド</a:t>
            </a:r>
            <a:r>
              <a:rPr lang="en-US" altLang="ja-JP" sz="1000" b="1">
                <a:solidFill>
                  <a:schemeClr val="accent4">
                    <a:lumMod val="7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『MEMED</a:t>
            </a:r>
            <a:r>
              <a:rPr lang="ja-JP" altLang="en-US" sz="1000" b="1">
                <a:solidFill>
                  <a:schemeClr val="accent4">
                    <a:lumMod val="7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（ミームド）</a:t>
            </a:r>
            <a:r>
              <a:rPr lang="en-US" altLang="ja-JP" sz="1000" b="1">
                <a:solidFill>
                  <a:schemeClr val="accent4">
                    <a:lumMod val="7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a:t>
            </a:r>
            <a:r>
              <a:rPr lang="ja-JP" altLang="en-US" sz="1000" b="1">
                <a:solidFill>
                  <a:schemeClr val="accent4">
                    <a:lumMod val="7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より「ネーヴェ」</a:t>
            </a:r>
            <a:endParaRPr kumimoji="1" lang="ja-JP" altLang="en-US" sz="1000" b="1">
              <a:solidFill>
                <a:schemeClr val="accent4">
                  <a:lumMod val="75000"/>
                </a:schemeClr>
              </a:solidFill>
              <a:latin typeface="メイリオ" panose="020B0604030504040204" pitchFamily="50" charset="-128"/>
              <a:ea typeface="メイリオ" panose="020B0604030504040204" pitchFamily="50" charset="-128"/>
            </a:endParaRPr>
          </a:p>
        </p:txBody>
      </p:sp>
      <p:sp>
        <p:nvSpPr>
          <p:cNvPr id="20" name="楕円 19">
            <a:extLst>
              <a:ext uri="{FF2B5EF4-FFF2-40B4-BE49-F238E27FC236}">
                <a16:creationId xmlns:a16="http://schemas.microsoft.com/office/drawing/2014/main" id="{A4C150D4-E6AF-A0BA-13FB-09AA85B701B5}"/>
              </a:ext>
            </a:extLst>
          </p:cNvPr>
          <p:cNvSpPr/>
          <p:nvPr/>
        </p:nvSpPr>
        <p:spPr bwMode="auto">
          <a:xfrm>
            <a:off x="916411" y="5357665"/>
            <a:ext cx="1003769" cy="1003769"/>
          </a:xfrm>
          <a:prstGeom prst="ellipse">
            <a:avLst/>
          </a:prstGeom>
          <a:solidFill>
            <a:schemeClr val="accent2">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1" name="楕円 20">
            <a:extLst>
              <a:ext uri="{FF2B5EF4-FFF2-40B4-BE49-F238E27FC236}">
                <a16:creationId xmlns:a16="http://schemas.microsoft.com/office/drawing/2014/main" id="{0C82DF4B-7AED-4784-AE47-198DA0112B6F}"/>
              </a:ext>
            </a:extLst>
          </p:cNvPr>
          <p:cNvSpPr/>
          <p:nvPr/>
        </p:nvSpPr>
        <p:spPr bwMode="auto">
          <a:xfrm>
            <a:off x="2372025" y="5367373"/>
            <a:ext cx="1003769" cy="1003769"/>
          </a:xfrm>
          <a:prstGeom prst="ellipse">
            <a:avLst/>
          </a:prstGeom>
          <a:solidFill>
            <a:schemeClr val="accent3">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2" name="楕円 21">
            <a:extLst>
              <a:ext uri="{FF2B5EF4-FFF2-40B4-BE49-F238E27FC236}">
                <a16:creationId xmlns:a16="http://schemas.microsoft.com/office/drawing/2014/main" id="{14BA6183-E0CE-D9D4-DAEC-FC8685737258}"/>
              </a:ext>
            </a:extLst>
          </p:cNvPr>
          <p:cNvSpPr/>
          <p:nvPr/>
        </p:nvSpPr>
        <p:spPr bwMode="auto">
          <a:xfrm>
            <a:off x="3801900" y="5367561"/>
            <a:ext cx="1003769" cy="1003769"/>
          </a:xfrm>
          <a:prstGeom prst="ellipse">
            <a:avLst/>
          </a:prstGeom>
          <a:solidFill>
            <a:schemeClr val="accent4">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pic>
        <p:nvPicPr>
          <p:cNvPr id="24" name="図 23">
            <a:extLst>
              <a:ext uri="{FF2B5EF4-FFF2-40B4-BE49-F238E27FC236}">
                <a16:creationId xmlns:a16="http://schemas.microsoft.com/office/drawing/2014/main" id="{6C00A88D-C028-146F-34CD-1AF42D22615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1065" y="5304546"/>
            <a:ext cx="924861" cy="836061"/>
          </a:xfrm>
          <a:prstGeom prst="rect">
            <a:avLst/>
          </a:prstGeom>
        </p:spPr>
      </p:pic>
      <p:pic>
        <p:nvPicPr>
          <p:cNvPr id="26" name="図 25">
            <a:extLst>
              <a:ext uri="{FF2B5EF4-FFF2-40B4-BE49-F238E27FC236}">
                <a16:creationId xmlns:a16="http://schemas.microsoft.com/office/drawing/2014/main" id="{0B816B33-8AC1-94EB-69E9-A68AFD90BCA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71102" y="5247341"/>
            <a:ext cx="869848" cy="804813"/>
          </a:xfrm>
          <a:prstGeom prst="rect">
            <a:avLst/>
          </a:prstGeom>
        </p:spPr>
      </p:pic>
      <p:pic>
        <p:nvPicPr>
          <p:cNvPr id="28" name="図 27">
            <a:extLst>
              <a:ext uri="{FF2B5EF4-FFF2-40B4-BE49-F238E27FC236}">
                <a16:creationId xmlns:a16="http://schemas.microsoft.com/office/drawing/2014/main" id="{6511AC75-C7E7-7BC3-221D-D1711420344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51626" y="5393058"/>
            <a:ext cx="1077548" cy="761518"/>
          </a:xfrm>
          <a:prstGeom prst="rect">
            <a:avLst/>
          </a:prstGeom>
        </p:spPr>
      </p:pic>
      <p:sp>
        <p:nvSpPr>
          <p:cNvPr id="29" name="テキスト ボックス 28">
            <a:extLst>
              <a:ext uri="{FF2B5EF4-FFF2-40B4-BE49-F238E27FC236}">
                <a16:creationId xmlns:a16="http://schemas.microsoft.com/office/drawing/2014/main" id="{D7189013-3523-8548-DA30-7F21C5D77926}"/>
              </a:ext>
            </a:extLst>
          </p:cNvPr>
          <p:cNvSpPr txBox="1"/>
          <p:nvPr/>
        </p:nvSpPr>
        <p:spPr>
          <a:xfrm>
            <a:off x="950795" y="6269086"/>
            <a:ext cx="889987" cy="430887"/>
          </a:xfrm>
          <a:prstGeom prst="rect">
            <a:avLst/>
          </a:prstGeom>
          <a:noFill/>
        </p:spPr>
        <p:txBody>
          <a:bodyPr wrap="none" rtlCol="0">
            <a:spAutoFit/>
          </a:bodyPr>
          <a:lstStyle/>
          <a:p>
            <a:pPr algn="ctr"/>
            <a:r>
              <a:rPr kumimoji="1" lang="ja-JP" altLang="en-US" sz="1050" b="1" dirty="0">
                <a:latin typeface="メイリオ" panose="020B0604030504040204" pitchFamily="50" charset="-128"/>
                <a:ea typeface="メイリオ" panose="020B0604030504040204" pitchFamily="50" charset="-128"/>
              </a:rPr>
              <a:t>ヒアリング</a:t>
            </a:r>
            <a:endParaRPr kumimoji="1" lang="en-US" altLang="ja-JP" sz="1050" b="1" dirty="0">
              <a:latin typeface="メイリオ" panose="020B0604030504040204" pitchFamily="50" charset="-128"/>
              <a:ea typeface="メイリオ" panose="020B0604030504040204" pitchFamily="50" charset="-128"/>
            </a:endParaRPr>
          </a:p>
          <a:p>
            <a:pPr algn="ctr"/>
            <a:r>
              <a:rPr kumimoji="1" lang="ja-JP" altLang="en-US" sz="1050" b="1" dirty="0">
                <a:latin typeface="メイリオ" panose="020B0604030504040204" pitchFamily="50" charset="-128"/>
                <a:ea typeface="メイリオ" panose="020B0604030504040204" pitchFamily="50" charset="-128"/>
              </a:rPr>
              <a:t>見積もり</a:t>
            </a:r>
          </a:p>
        </p:txBody>
      </p:sp>
      <p:sp>
        <p:nvSpPr>
          <p:cNvPr id="30" name="テキスト ボックス 29">
            <a:extLst>
              <a:ext uri="{FF2B5EF4-FFF2-40B4-BE49-F238E27FC236}">
                <a16:creationId xmlns:a16="http://schemas.microsoft.com/office/drawing/2014/main" id="{9FD33092-8521-2D60-D276-03714339EBB2}"/>
              </a:ext>
            </a:extLst>
          </p:cNvPr>
          <p:cNvSpPr txBox="1"/>
          <p:nvPr/>
        </p:nvSpPr>
        <p:spPr>
          <a:xfrm>
            <a:off x="2441659" y="6239442"/>
            <a:ext cx="723275" cy="415498"/>
          </a:xfrm>
          <a:prstGeom prst="rect">
            <a:avLst/>
          </a:prstGeom>
          <a:noFill/>
        </p:spPr>
        <p:txBody>
          <a:bodyPr wrap="none" rtlCol="0">
            <a:spAutoFit/>
          </a:bodyPr>
          <a:lstStyle/>
          <a:p>
            <a:pPr algn="ctr"/>
            <a:r>
              <a:rPr lang="ja-JP" altLang="en-US" sz="1050" b="1">
                <a:latin typeface="メイリオ" panose="020B0604030504040204" pitchFamily="50" charset="-128"/>
                <a:ea typeface="メイリオ" panose="020B0604030504040204" pitchFamily="50" charset="-128"/>
              </a:rPr>
              <a:t>制作</a:t>
            </a:r>
            <a:endParaRPr lang="en-US" altLang="ja-JP" sz="1050" b="1">
              <a:latin typeface="メイリオ" panose="020B0604030504040204" pitchFamily="50" charset="-128"/>
              <a:ea typeface="メイリオ" panose="020B0604030504040204" pitchFamily="50" charset="-128"/>
            </a:endParaRPr>
          </a:p>
          <a:p>
            <a:pPr algn="ctr"/>
            <a:r>
              <a:rPr kumimoji="1" lang="ja-JP" altLang="en-US" sz="1050" b="1">
                <a:latin typeface="メイリオ" panose="020B0604030504040204" pitchFamily="50" charset="-128"/>
                <a:ea typeface="メイリオ" panose="020B0604030504040204" pitchFamily="50" charset="-128"/>
              </a:rPr>
              <a:t>定例報告</a:t>
            </a:r>
            <a:endParaRPr kumimoji="1" lang="en-US" altLang="ja-JP" sz="1050" b="1">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943DBE96-3BAB-9E24-20A8-84BB84878D27}"/>
              </a:ext>
            </a:extLst>
          </p:cNvPr>
          <p:cNvSpPr txBox="1"/>
          <p:nvPr/>
        </p:nvSpPr>
        <p:spPr>
          <a:xfrm>
            <a:off x="3907037" y="6209697"/>
            <a:ext cx="857927" cy="415498"/>
          </a:xfrm>
          <a:prstGeom prst="rect">
            <a:avLst/>
          </a:prstGeom>
          <a:noFill/>
        </p:spPr>
        <p:txBody>
          <a:bodyPr wrap="none" rtlCol="0">
            <a:spAutoFit/>
          </a:bodyPr>
          <a:lstStyle/>
          <a:p>
            <a:pPr algn="ctr"/>
            <a:r>
              <a:rPr lang="ja-JP" altLang="en-US" sz="1050" b="1">
                <a:latin typeface="メイリオ" panose="020B0604030504040204" pitchFamily="50" charset="-128"/>
                <a:ea typeface="メイリオ" panose="020B0604030504040204" pitchFamily="50" charset="-128"/>
              </a:rPr>
              <a:t>動作テスト</a:t>
            </a:r>
            <a:endParaRPr lang="en-US" altLang="ja-JP" sz="1050" b="1">
              <a:latin typeface="メイリオ" panose="020B0604030504040204" pitchFamily="50" charset="-128"/>
              <a:ea typeface="メイリオ" panose="020B0604030504040204" pitchFamily="50" charset="-128"/>
            </a:endParaRPr>
          </a:p>
          <a:p>
            <a:pPr algn="ctr"/>
            <a:r>
              <a:rPr kumimoji="1" lang="ja-JP" altLang="en-US" sz="1050" b="1">
                <a:latin typeface="メイリオ" panose="020B0604030504040204" pitchFamily="50" charset="-128"/>
                <a:ea typeface="メイリオ" panose="020B0604030504040204" pitchFamily="50" charset="-128"/>
              </a:rPr>
              <a:t>納品</a:t>
            </a:r>
            <a:endParaRPr kumimoji="1" lang="en-US" altLang="ja-JP" sz="1050" b="1">
              <a:latin typeface="メイリオ" panose="020B0604030504040204" pitchFamily="50" charset="-128"/>
              <a:ea typeface="メイリオ" panose="020B0604030504040204" pitchFamily="50" charset="-128"/>
            </a:endParaRPr>
          </a:p>
        </p:txBody>
      </p:sp>
      <p:sp>
        <p:nvSpPr>
          <p:cNvPr id="32" name="二等辺三角形 31">
            <a:extLst>
              <a:ext uri="{FF2B5EF4-FFF2-40B4-BE49-F238E27FC236}">
                <a16:creationId xmlns:a16="http://schemas.microsoft.com/office/drawing/2014/main" id="{BFFB208B-EFC8-F9F4-A685-3C13ACE2C869}"/>
              </a:ext>
            </a:extLst>
          </p:cNvPr>
          <p:cNvSpPr/>
          <p:nvPr/>
        </p:nvSpPr>
        <p:spPr bwMode="auto">
          <a:xfrm rot="5400000">
            <a:off x="2002580" y="5776016"/>
            <a:ext cx="265312" cy="218965"/>
          </a:xfrm>
          <a:prstGeom prst="triangle">
            <a:avLst/>
          </a:prstGeom>
          <a:solidFill>
            <a:schemeClr val="accent1">
              <a:lumMod val="60000"/>
              <a:lumOff val="4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33" name="二等辺三角形 32">
            <a:extLst>
              <a:ext uri="{FF2B5EF4-FFF2-40B4-BE49-F238E27FC236}">
                <a16:creationId xmlns:a16="http://schemas.microsoft.com/office/drawing/2014/main" id="{9629D7C5-3521-4465-A002-6D8D3FC5454E}"/>
              </a:ext>
            </a:extLst>
          </p:cNvPr>
          <p:cNvSpPr/>
          <p:nvPr/>
        </p:nvSpPr>
        <p:spPr bwMode="auto">
          <a:xfrm rot="5400000">
            <a:off x="3468208" y="5780997"/>
            <a:ext cx="265312" cy="218965"/>
          </a:xfrm>
          <a:prstGeom prst="triangle">
            <a:avLst/>
          </a:prstGeom>
          <a:solidFill>
            <a:schemeClr val="accent1">
              <a:lumMod val="60000"/>
              <a:lumOff val="4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pic>
        <p:nvPicPr>
          <p:cNvPr id="35" name="図 34">
            <a:extLst>
              <a:ext uri="{FF2B5EF4-FFF2-40B4-BE49-F238E27FC236}">
                <a16:creationId xmlns:a16="http://schemas.microsoft.com/office/drawing/2014/main" id="{2416AD92-96A8-541A-F5CD-A8BA3539030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505447" y="1040502"/>
            <a:ext cx="5656954" cy="2623820"/>
          </a:xfrm>
          <a:prstGeom prst="rect">
            <a:avLst/>
          </a:prstGeom>
        </p:spPr>
      </p:pic>
      <p:pic>
        <p:nvPicPr>
          <p:cNvPr id="36" name="図 35">
            <a:extLst>
              <a:ext uri="{FF2B5EF4-FFF2-40B4-BE49-F238E27FC236}">
                <a16:creationId xmlns:a16="http://schemas.microsoft.com/office/drawing/2014/main" id="{64F3FC9D-5DC7-880E-7362-392948B5B55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026604" y="3352531"/>
            <a:ext cx="3507971" cy="3507971"/>
          </a:xfrm>
          <a:prstGeom prst="rect">
            <a:avLst/>
          </a:prstGeom>
        </p:spPr>
      </p:pic>
      <p:sp>
        <p:nvSpPr>
          <p:cNvPr id="37" name="テキスト ボックス 20">
            <a:extLst>
              <a:ext uri="{FF2B5EF4-FFF2-40B4-BE49-F238E27FC236}">
                <a16:creationId xmlns:a16="http://schemas.microsoft.com/office/drawing/2014/main" id="{49931E8E-ECE5-55DC-C557-0B37D6F21E8A}"/>
              </a:ext>
            </a:extLst>
          </p:cNvPr>
          <p:cNvSpPr txBox="1"/>
          <p:nvPr/>
        </p:nvSpPr>
        <p:spPr>
          <a:xfrm>
            <a:off x="8074999" y="740681"/>
            <a:ext cx="3184005" cy="303929"/>
          </a:xfrm>
          <a:prstGeom prst="rect">
            <a:avLst/>
          </a:prstGeom>
          <a:noFill/>
        </p:spPr>
        <p:txBody>
          <a:bodyPr wrap="square" lIns="91440" tIns="45720" rIns="91440" bIns="45720" rtlCol="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lnSpc>
                <a:spcPct val="150000"/>
              </a:lnSpc>
            </a:pPr>
            <a:r>
              <a:rPr lang="ja-JP" altLang="en-US" sz="1000" b="1">
                <a:latin typeface="メイリオ" panose="020B0604030504040204" pitchFamily="50" charset="-128"/>
                <a:ea typeface="メイリオ" panose="020B0604030504040204" pitchFamily="50" charset="-128"/>
              </a:rPr>
              <a:t>▼キャラクターデザイン画サンプル</a:t>
            </a:r>
            <a:endParaRPr kumimoji="1" lang="ja-JP" altLang="en-US" sz="1000" b="1">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5982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21">
            <a:extLst>
              <a:ext uri="{FF2B5EF4-FFF2-40B4-BE49-F238E27FC236}">
                <a16:creationId xmlns:a16="http://schemas.microsoft.com/office/drawing/2014/main" id="{D5E443BF-0E11-AD08-BA02-D1985C949BE5}"/>
              </a:ext>
            </a:extLst>
          </p:cNvPr>
          <p:cNvSpPr>
            <a:spLocks noGrp="1"/>
          </p:cNvSpPr>
          <p:nvPr>
            <p:ph idx="1"/>
          </p:nvPr>
        </p:nvSpPr>
        <p:spPr>
          <a:xfrm>
            <a:off x="608081" y="2395721"/>
            <a:ext cx="4377801" cy="4155627"/>
          </a:xfrm>
        </p:spPr>
        <p:txBody>
          <a:bodyPr>
            <a:noAutofit/>
          </a:bodyPr>
          <a:lstStyle/>
          <a:p>
            <a:pPr marL="0" indent="0">
              <a:lnSpc>
                <a:spcPct val="150000"/>
              </a:lnSpc>
              <a:buNone/>
            </a:pPr>
            <a:r>
              <a:rPr lang="ja-JP" altLang="en-US" sz="1400"/>
              <a:t>金銭的な理由で夢を諦めようとしている方、</a:t>
            </a:r>
            <a:endParaRPr lang="en-US" altLang="ja-JP" sz="1400"/>
          </a:p>
          <a:p>
            <a:pPr marL="0" indent="0">
              <a:lnSpc>
                <a:spcPct val="150000"/>
              </a:lnSpc>
              <a:buNone/>
            </a:pPr>
            <a:r>
              <a:rPr lang="ja-JP" altLang="en-US" sz="1400"/>
              <a:t>優秀な若手が欲しいが育てる時間がない企業、</a:t>
            </a:r>
            <a:endParaRPr lang="en-US" altLang="ja-JP" sz="1400"/>
          </a:p>
          <a:p>
            <a:pPr marL="0" indent="0">
              <a:lnSpc>
                <a:spcPct val="150000"/>
              </a:lnSpc>
              <a:buNone/>
            </a:pPr>
            <a:r>
              <a:rPr lang="ja-JP" altLang="en-US" sz="1400"/>
              <a:t>未経験のクリエイター、企業双方の課題を解決するために当社が運営している</a:t>
            </a:r>
            <a:r>
              <a:rPr lang="ja-JP" altLang="en-US" sz="1400" b="1">
                <a:solidFill>
                  <a:schemeClr val="accent6">
                    <a:lumMod val="75000"/>
                  </a:schemeClr>
                </a:solidFill>
              </a:rPr>
              <a:t>完全無料の育成講座</a:t>
            </a:r>
            <a:r>
              <a:rPr lang="ja-JP" altLang="en-US" sz="1400"/>
              <a:t>です。</a:t>
            </a:r>
            <a:endParaRPr lang="en-US" altLang="ja-JP" sz="1400"/>
          </a:p>
        </p:txBody>
      </p:sp>
      <p:sp>
        <p:nvSpPr>
          <p:cNvPr id="3" name="タイトル 2">
            <a:extLst>
              <a:ext uri="{FF2B5EF4-FFF2-40B4-BE49-F238E27FC236}">
                <a16:creationId xmlns:a16="http://schemas.microsoft.com/office/drawing/2014/main" id="{5D7E8768-628D-158D-D3AA-D0785C17A056}"/>
              </a:ext>
            </a:extLst>
          </p:cNvPr>
          <p:cNvSpPr>
            <a:spLocks noGrp="1"/>
          </p:cNvSpPr>
          <p:nvPr>
            <p:ph type="title"/>
          </p:nvPr>
        </p:nvSpPr>
        <p:spPr/>
        <p:txBody>
          <a:bodyPr>
            <a:normAutofit/>
          </a:bodyPr>
          <a:lstStyle/>
          <a:p>
            <a:r>
              <a:rPr lang="ja-JP" altLang="en-US"/>
              <a:t>教育事業　</a:t>
            </a:r>
            <a:r>
              <a:rPr lang="en-US" altLang="ja-JP"/>
              <a:t>C&amp;R Creative Academy</a:t>
            </a:r>
            <a:endParaRPr lang="ja-JP" altLang="en-US"/>
          </a:p>
        </p:txBody>
      </p:sp>
      <p:sp>
        <p:nvSpPr>
          <p:cNvPr id="4" name="スライド番号プレースホルダー 3">
            <a:extLst>
              <a:ext uri="{FF2B5EF4-FFF2-40B4-BE49-F238E27FC236}">
                <a16:creationId xmlns:a16="http://schemas.microsoft.com/office/drawing/2014/main" id="{959D5E2B-5A11-7C78-8856-71A3D2896320}"/>
              </a:ext>
            </a:extLst>
          </p:cNvPr>
          <p:cNvSpPr>
            <a:spLocks noGrp="1"/>
          </p:cNvSpPr>
          <p:nvPr>
            <p:ph type="sldNum" sz="quarter" idx="11"/>
          </p:nvPr>
        </p:nvSpPr>
        <p:spPr/>
        <p:txBody>
          <a:bodyPr/>
          <a:lstStyle/>
          <a:p>
            <a:fld id="{B75FDD43-FCEC-4ECC-8189-A5C6D2E08DC6}" type="slidenum">
              <a:rPr lang="ja-JP" altLang="en-US" smtClean="0"/>
              <a:pPr/>
              <a:t>37</a:t>
            </a:fld>
            <a:endParaRPr lang="ja-JP" altLang="en-US"/>
          </a:p>
        </p:txBody>
      </p:sp>
      <p:sp>
        <p:nvSpPr>
          <p:cNvPr id="5" name="四角形: 角を丸くする 4">
            <a:extLst>
              <a:ext uri="{FF2B5EF4-FFF2-40B4-BE49-F238E27FC236}">
                <a16:creationId xmlns:a16="http://schemas.microsoft.com/office/drawing/2014/main" id="{7E6B4E9F-8E53-CDA5-EFEE-78E56AB10A80}"/>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ゲーム</a:t>
            </a:r>
          </a:p>
        </p:txBody>
      </p:sp>
      <p:sp>
        <p:nvSpPr>
          <p:cNvPr id="6" name="四角形: 角を丸くする 5">
            <a:extLst>
              <a:ext uri="{FF2B5EF4-FFF2-40B4-BE49-F238E27FC236}">
                <a16:creationId xmlns:a16="http://schemas.microsoft.com/office/drawing/2014/main" id="{ABA43314-3EC6-A4DC-7C42-CEBB61C889E7}"/>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教育</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6C4A986C-5600-0A76-F75C-269B0E42C467}"/>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育成</a:t>
            </a:r>
          </a:p>
        </p:txBody>
      </p:sp>
      <p:sp>
        <p:nvSpPr>
          <p:cNvPr id="15" name="テキスト ボックス 14">
            <a:extLst>
              <a:ext uri="{FF2B5EF4-FFF2-40B4-BE49-F238E27FC236}">
                <a16:creationId xmlns:a16="http://schemas.microsoft.com/office/drawing/2014/main" id="{06675C4B-C6D6-C63E-F21C-E4F2B79A1AA2}"/>
              </a:ext>
            </a:extLst>
          </p:cNvPr>
          <p:cNvSpPr txBox="1"/>
          <p:nvPr/>
        </p:nvSpPr>
        <p:spPr>
          <a:xfrm>
            <a:off x="5420156" y="2098096"/>
            <a:ext cx="2281498" cy="3568477"/>
          </a:xfrm>
          <a:prstGeom prst="rect">
            <a:avLst/>
          </a:prstGeom>
          <a:noFill/>
        </p:spPr>
        <p:txBody>
          <a:bodyPr wrap="square" rtlCol="0">
            <a:spAutoFit/>
          </a:bodyPr>
          <a:lstStyle/>
          <a:p>
            <a:pPr>
              <a:lnSpc>
                <a:spcPct val="150000"/>
              </a:lnSpc>
            </a:pPr>
            <a:r>
              <a:rPr kumimoji="1" lang="ja-JP" altLang="en-US" sz="2000" b="1">
                <a:latin typeface="メイリオ" panose="020B0604030504040204" pitchFamily="50" charset="-128"/>
                <a:ea typeface="メイリオ" panose="020B0604030504040204" pitchFamily="50" charset="-128"/>
              </a:rPr>
              <a:t>開設クラス</a:t>
            </a:r>
            <a:endParaRPr kumimoji="1" lang="en-US" altLang="ja-JP" sz="2000" b="1">
              <a:latin typeface="メイリオ" panose="020B0604030504040204" pitchFamily="50" charset="-128"/>
              <a:ea typeface="メイリオ" panose="020B0604030504040204" pitchFamily="50" charset="-128"/>
            </a:endParaRPr>
          </a:p>
          <a:p>
            <a:pPr>
              <a:lnSpc>
                <a:spcPct val="150000"/>
              </a:lnSpc>
            </a:pP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3DCG</a:t>
            </a:r>
            <a:r>
              <a:rPr kumimoji="1" lang="ja-JP" altLang="en-US" sz="1200">
                <a:latin typeface="メイリオ" panose="020B0604030504040204" pitchFamily="50" charset="-128"/>
                <a:ea typeface="メイリオ" panose="020B0604030504040204" pitchFamily="50" charset="-128"/>
              </a:rPr>
              <a:t>モデラーコース</a:t>
            </a:r>
            <a:endParaRPr kumimoji="1" lang="en-US" altLang="ja-JP" sz="1200">
              <a:latin typeface="メイリオ" panose="020B0604030504040204" pitchFamily="50" charset="-128"/>
              <a:ea typeface="メイリオ" panose="020B0604030504040204" pitchFamily="50" charset="-128"/>
            </a:endParaRPr>
          </a:p>
          <a:p>
            <a:pPr>
              <a:lnSpc>
                <a:spcPct val="150000"/>
              </a:lnSpc>
            </a:pPr>
            <a:r>
              <a:rPr lang="ja-JP" altLang="en-US" sz="1200">
                <a:latin typeface="メイリオ" panose="020B0604030504040204" pitchFamily="50" charset="-128"/>
                <a:ea typeface="メイリオ" panose="020B0604030504040204" pitchFamily="50" charset="-128"/>
              </a:rPr>
              <a:t>・</a:t>
            </a:r>
            <a:r>
              <a:rPr lang="en-US" altLang="ja-JP" sz="1200">
                <a:latin typeface="メイリオ" panose="020B0604030504040204" pitchFamily="50" charset="-128"/>
                <a:ea typeface="メイリオ" panose="020B0604030504040204" pitchFamily="50" charset="-128"/>
              </a:rPr>
              <a:t>3DCG</a:t>
            </a:r>
            <a:r>
              <a:rPr lang="ja-JP" altLang="en-US" sz="1200">
                <a:latin typeface="メイリオ" panose="020B0604030504040204" pitchFamily="50" charset="-128"/>
                <a:ea typeface="メイリオ" panose="020B0604030504040204" pitchFamily="50" charset="-128"/>
              </a:rPr>
              <a:t>モーションクラス</a:t>
            </a:r>
            <a:endParaRPr lang="en-US" altLang="ja-JP" sz="1200">
              <a:latin typeface="メイリオ" panose="020B0604030504040204" pitchFamily="50" charset="-128"/>
              <a:ea typeface="メイリオ" panose="020B0604030504040204" pitchFamily="50" charset="-128"/>
            </a:endParaRPr>
          </a:p>
          <a:p>
            <a:pPr>
              <a:lnSpc>
                <a:spcPct val="150000"/>
              </a:lnSpc>
            </a:pPr>
            <a:r>
              <a:rPr kumimoji="1" lang="ja-JP" altLang="en-US" sz="1200">
                <a:latin typeface="メイリオ" panose="020B0604030504040204" pitchFamily="50" charset="-128"/>
                <a:ea typeface="メイリオ" panose="020B0604030504040204" pitchFamily="50" charset="-128"/>
              </a:rPr>
              <a:t>・ゲームエフェクトクラス</a:t>
            </a:r>
            <a:endParaRPr kumimoji="1" lang="en-US" altLang="ja-JP" sz="1200">
              <a:latin typeface="メイリオ" panose="020B0604030504040204" pitchFamily="50" charset="-128"/>
              <a:ea typeface="メイリオ" panose="020B0604030504040204" pitchFamily="50" charset="-128"/>
            </a:endParaRPr>
          </a:p>
          <a:p>
            <a:pPr>
              <a:lnSpc>
                <a:spcPct val="150000"/>
              </a:lnSpc>
            </a:pP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CG</a:t>
            </a:r>
            <a:r>
              <a:rPr kumimoji="1" lang="ja-JP" altLang="en-US" sz="1200">
                <a:latin typeface="メイリオ" panose="020B0604030504040204" pitchFamily="50" charset="-128"/>
                <a:ea typeface="メイリオ" panose="020B0604030504040204" pitchFamily="50" charset="-128"/>
              </a:rPr>
              <a:t>ブラッシュアップクラス</a:t>
            </a:r>
            <a:br>
              <a:rPr kumimoji="1" lang="en-US" altLang="ja-JP" sz="1200">
                <a:latin typeface="メイリオ" panose="020B0604030504040204" pitchFamily="50" charset="-128"/>
                <a:ea typeface="メイリオ" panose="020B0604030504040204" pitchFamily="50" charset="-128"/>
              </a:rPr>
            </a:br>
            <a:r>
              <a:rPr kumimoji="1" lang="ja-JP" altLang="en-US" sz="1200">
                <a:latin typeface="メイリオ" panose="020B0604030504040204" pitchFamily="50" charset="-128"/>
                <a:ea typeface="メイリオ" panose="020B0604030504040204" pitchFamily="50" charset="-128"/>
              </a:rPr>
              <a:t>　</a:t>
            </a:r>
            <a:r>
              <a:rPr kumimoji="1" lang="en-US" altLang="ja-JP" sz="1200">
                <a:latin typeface="メイリオ" panose="020B0604030504040204" pitchFamily="50" charset="-128"/>
                <a:ea typeface="メイリオ" panose="020B0604030504040204" pitchFamily="50" charset="-128"/>
              </a:rPr>
              <a:t>【</a:t>
            </a:r>
            <a:r>
              <a:rPr kumimoji="1" lang="ja-JP" altLang="en-US" sz="1200">
                <a:latin typeface="メイリオ" panose="020B0604030504040204" pitchFamily="50" charset="-128"/>
                <a:ea typeface="メイリオ" panose="020B0604030504040204" pitchFamily="50" charset="-128"/>
              </a:rPr>
              <a:t>学生限定</a:t>
            </a:r>
            <a:r>
              <a:rPr kumimoji="1" lang="en-US" altLang="ja-JP" sz="1200">
                <a:latin typeface="メイリオ" panose="020B0604030504040204" pitchFamily="50" charset="-128"/>
                <a:ea typeface="メイリオ" panose="020B0604030504040204" pitchFamily="50" charset="-128"/>
              </a:rPr>
              <a:t>】</a:t>
            </a:r>
          </a:p>
          <a:p>
            <a:pPr>
              <a:lnSpc>
                <a:spcPct val="150000"/>
              </a:lnSpc>
            </a:pPr>
            <a:r>
              <a:rPr lang="ja-JP" altLang="en-US" sz="1200">
                <a:latin typeface="メイリオ" panose="020B0604030504040204" pitchFamily="50" charset="-128"/>
                <a:ea typeface="メイリオ" panose="020B0604030504040204" pitchFamily="50" charset="-128"/>
              </a:rPr>
              <a:t>・夜間</a:t>
            </a:r>
            <a:r>
              <a:rPr lang="en-US" altLang="ja-JP" sz="1200">
                <a:latin typeface="メイリオ" panose="020B0604030504040204" pitchFamily="50" charset="-128"/>
                <a:ea typeface="メイリオ" panose="020B0604030504040204" pitchFamily="50" charset="-128"/>
              </a:rPr>
              <a:t>3DCG</a:t>
            </a:r>
            <a:r>
              <a:rPr lang="ja-JP" altLang="en-US" sz="1200">
                <a:latin typeface="メイリオ" panose="020B0604030504040204" pitchFamily="50" charset="-128"/>
                <a:ea typeface="メイリオ" panose="020B0604030504040204" pitchFamily="50" charset="-128"/>
              </a:rPr>
              <a:t>モデラーコース</a:t>
            </a:r>
            <a:br>
              <a:rPr lang="en-US" altLang="ja-JP" sz="1200">
                <a:latin typeface="メイリオ" panose="020B0604030504040204" pitchFamily="50" charset="-128"/>
                <a:ea typeface="メイリオ" panose="020B0604030504040204" pitchFamily="50" charset="-128"/>
              </a:rPr>
            </a:br>
            <a:r>
              <a:rPr lang="ja-JP" altLang="en-US" sz="1200">
                <a:latin typeface="メイリオ" panose="020B0604030504040204" pitchFamily="50" charset="-128"/>
                <a:ea typeface="メイリオ" panose="020B0604030504040204" pitchFamily="50" charset="-128"/>
              </a:rPr>
              <a:t>　</a:t>
            </a:r>
            <a:r>
              <a:rPr lang="en-US" altLang="ja-JP" sz="1200">
                <a:latin typeface="メイリオ" panose="020B0604030504040204" pitchFamily="50" charset="-128"/>
                <a:ea typeface="メイリオ" panose="020B0604030504040204" pitchFamily="50" charset="-128"/>
              </a:rPr>
              <a:t>【</a:t>
            </a:r>
            <a:r>
              <a:rPr lang="ja-JP" altLang="en-US" sz="1200">
                <a:latin typeface="メイリオ" panose="020B0604030504040204" pitchFamily="50" charset="-128"/>
                <a:ea typeface="メイリオ" panose="020B0604030504040204" pitchFamily="50" charset="-128"/>
              </a:rPr>
              <a:t>社会人向け</a:t>
            </a:r>
            <a:r>
              <a:rPr lang="en-US" altLang="ja-JP" sz="1200">
                <a:latin typeface="メイリオ" panose="020B0604030504040204" pitchFamily="50" charset="-128"/>
                <a:ea typeface="メイリオ" panose="020B0604030504040204" pitchFamily="50" charset="-128"/>
              </a:rPr>
              <a:t>】</a:t>
            </a:r>
          </a:p>
          <a:p>
            <a:pPr>
              <a:lnSpc>
                <a:spcPct val="150000"/>
              </a:lnSpc>
            </a:pPr>
            <a:r>
              <a:rPr kumimoji="1" lang="ja-JP" altLang="en-US" sz="1200">
                <a:latin typeface="メイリオ" panose="020B0604030504040204" pitchFamily="50" charset="-128"/>
                <a:ea typeface="メイリオ" panose="020B0604030504040204" pitchFamily="50" charset="-128"/>
              </a:rPr>
              <a:t>・</a:t>
            </a:r>
            <a:r>
              <a:rPr lang="ja-JP" altLang="en-US" sz="1200">
                <a:latin typeface="メイリオ" panose="020B0604030504040204" pitchFamily="50" charset="-128"/>
                <a:ea typeface="メイリオ" panose="020B0604030504040204" pitchFamily="50" charset="-128"/>
              </a:rPr>
              <a:t>ゲームエンジニアクラス</a:t>
            </a:r>
            <a:endParaRPr kumimoji="1" lang="en-US" altLang="ja-JP" sz="1200">
              <a:latin typeface="メイリオ" panose="020B0604030504040204" pitchFamily="50" charset="-128"/>
              <a:ea typeface="メイリオ" panose="020B0604030504040204" pitchFamily="50" charset="-128"/>
            </a:endParaRPr>
          </a:p>
          <a:p>
            <a:pPr>
              <a:lnSpc>
                <a:spcPct val="150000"/>
              </a:lnSpc>
            </a:pPr>
            <a:r>
              <a:rPr lang="ja-JP" altLang="en-US" sz="1200">
                <a:latin typeface="メイリオ" panose="020B0604030504040204" pitchFamily="50" charset="-128"/>
                <a:ea typeface="メイリオ" panose="020B0604030504040204" pitchFamily="50" charset="-128"/>
              </a:rPr>
              <a:t>・ゲームプランナークラス</a:t>
            </a:r>
            <a:endParaRPr lang="en-US" altLang="ja-JP" sz="1200">
              <a:latin typeface="メイリオ" panose="020B0604030504040204" pitchFamily="50" charset="-128"/>
              <a:ea typeface="メイリオ" panose="020B0604030504040204" pitchFamily="50" charset="-128"/>
            </a:endParaRPr>
          </a:p>
          <a:p>
            <a:pPr>
              <a:lnSpc>
                <a:spcPct val="150000"/>
              </a:lnSpc>
            </a:pPr>
            <a:r>
              <a:rPr lang="ja-JP" altLang="en-US" sz="1200">
                <a:latin typeface="メイリオ" panose="020B0604030504040204" pitchFamily="50" charset="-128"/>
                <a:ea typeface="メイリオ" panose="020B0604030504040204" pitchFamily="50" charset="-128"/>
              </a:rPr>
              <a:t>・モーショングラフィックスクラス</a:t>
            </a:r>
            <a:endParaRPr lang="en-US" altLang="ja-JP" sz="1200">
              <a:latin typeface="メイリオ" panose="020B0604030504040204" pitchFamily="50" charset="-128"/>
              <a:ea typeface="メイリオ" panose="020B0604030504040204" pitchFamily="50" charset="-128"/>
            </a:endParaRPr>
          </a:p>
        </p:txBody>
      </p:sp>
      <p:grpSp>
        <p:nvGrpSpPr>
          <p:cNvPr id="8" name="グループ化 7">
            <a:extLst>
              <a:ext uri="{FF2B5EF4-FFF2-40B4-BE49-F238E27FC236}">
                <a16:creationId xmlns:a16="http://schemas.microsoft.com/office/drawing/2014/main" id="{7EA643A2-FB44-EFE3-6CEC-1EA546A54DA4}"/>
              </a:ext>
            </a:extLst>
          </p:cNvPr>
          <p:cNvGrpSpPr/>
          <p:nvPr/>
        </p:nvGrpSpPr>
        <p:grpSpPr>
          <a:xfrm>
            <a:off x="561478" y="4350520"/>
            <a:ext cx="4538842" cy="1922725"/>
            <a:chOff x="526447" y="3618852"/>
            <a:chExt cx="6543286" cy="2771841"/>
          </a:xfrm>
        </p:grpSpPr>
        <p:pic>
          <p:nvPicPr>
            <p:cNvPr id="18" name="図 17">
              <a:extLst>
                <a:ext uri="{FF2B5EF4-FFF2-40B4-BE49-F238E27FC236}">
                  <a16:creationId xmlns:a16="http://schemas.microsoft.com/office/drawing/2014/main" id="{69C82632-B893-5226-C3BB-58D05FDC307C}"/>
                </a:ext>
              </a:extLst>
            </p:cNvPr>
            <p:cNvPicPr>
              <a:picLocks noChangeAspect="1"/>
            </p:cNvPicPr>
            <p:nvPr/>
          </p:nvPicPr>
          <p:blipFill>
            <a:blip r:embed="rId3"/>
            <a:stretch>
              <a:fillRect/>
            </a:stretch>
          </p:blipFill>
          <p:spPr>
            <a:xfrm>
              <a:off x="2110862" y="3618852"/>
              <a:ext cx="4958871" cy="2771841"/>
            </a:xfrm>
            <a:prstGeom prst="rect">
              <a:avLst/>
            </a:prstGeom>
          </p:spPr>
        </p:pic>
        <p:pic>
          <p:nvPicPr>
            <p:cNvPr id="20" name="図 19">
              <a:extLst>
                <a:ext uri="{FF2B5EF4-FFF2-40B4-BE49-F238E27FC236}">
                  <a16:creationId xmlns:a16="http://schemas.microsoft.com/office/drawing/2014/main" id="{E33B9F60-132A-0877-01E9-CFEA6CE89CF6}"/>
                </a:ext>
              </a:extLst>
            </p:cNvPr>
            <p:cNvPicPr>
              <a:picLocks noChangeAspect="1"/>
            </p:cNvPicPr>
            <p:nvPr/>
          </p:nvPicPr>
          <p:blipFill>
            <a:blip r:embed="rId4"/>
            <a:stretch>
              <a:fillRect/>
            </a:stretch>
          </p:blipFill>
          <p:spPr>
            <a:xfrm>
              <a:off x="526447" y="4416321"/>
              <a:ext cx="1574602" cy="1974372"/>
            </a:xfrm>
            <a:prstGeom prst="rect">
              <a:avLst/>
            </a:prstGeom>
          </p:spPr>
        </p:pic>
      </p:grpSp>
      <p:pic>
        <p:nvPicPr>
          <p:cNvPr id="7" name="図 6">
            <a:extLst>
              <a:ext uri="{FF2B5EF4-FFF2-40B4-BE49-F238E27FC236}">
                <a16:creationId xmlns:a16="http://schemas.microsoft.com/office/drawing/2014/main" id="{D712D140-1ED8-6D44-EBED-561FA4492951}"/>
              </a:ext>
            </a:extLst>
          </p:cNvPr>
          <p:cNvPicPr>
            <a:picLocks noChangeAspect="1"/>
          </p:cNvPicPr>
          <p:nvPr/>
        </p:nvPicPr>
        <p:blipFill>
          <a:blip r:embed="rId5"/>
          <a:srcRect t="18463"/>
          <a:stretch>
            <a:fillRect/>
          </a:stretch>
        </p:blipFill>
        <p:spPr>
          <a:xfrm>
            <a:off x="7586996" y="2229378"/>
            <a:ext cx="4347670" cy="4155627"/>
          </a:xfrm>
          <a:prstGeom prst="rect">
            <a:avLst/>
          </a:prstGeom>
        </p:spPr>
      </p:pic>
      <p:pic>
        <p:nvPicPr>
          <p:cNvPr id="14" name="図 13" descr="図形&#10;&#10;中程度の精度で自動的に生成された説明">
            <a:extLst>
              <a:ext uri="{FF2B5EF4-FFF2-40B4-BE49-F238E27FC236}">
                <a16:creationId xmlns:a16="http://schemas.microsoft.com/office/drawing/2014/main" id="{6F094780-2F3A-FF5E-4282-8FBC2A38129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3770" y="1800470"/>
            <a:ext cx="3560414" cy="595251"/>
          </a:xfrm>
          <a:prstGeom prst="rect">
            <a:avLst/>
          </a:prstGeom>
        </p:spPr>
      </p:pic>
      <p:grpSp>
        <p:nvGrpSpPr>
          <p:cNvPr id="19" name="グループ化 18">
            <a:extLst>
              <a:ext uri="{FF2B5EF4-FFF2-40B4-BE49-F238E27FC236}">
                <a16:creationId xmlns:a16="http://schemas.microsoft.com/office/drawing/2014/main" id="{55061921-FBBF-BAC5-8646-BC1833BD4568}"/>
              </a:ext>
            </a:extLst>
          </p:cNvPr>
          <p:cNvGrpSpPr/>
          <p:nvPr/>
        </p:nvGrpSpPr>
        <p:grpSpPr>
          <a:xfrm>
            <a:off x="7586996" y="1070226"/>
            <a:ext cx="4347670" cy="386081"/>
            <a:chOff x="6444269" y="-1236302"/>
            <a:chExt cx="4937136" cy="386081"/>
          </a:xfrm>
        </p:grpSpPr>
        <p:sp>
          <p:nvSpPr>
            <p:cNvPr id="10" name="正方形/長方形 9">
              <a:extLst>
                <a:ext uri="{FF2B5EF4-FFF2-40B4-BE49-F238E27FC236}">
                  <a16:creationId xmlns:a16="http://schemas.microsoft.com/office/drawing/2014/main" id="{197F83BB-D3AE-34BD-FF72-2AA1B92AC064}"/>
                </a:ext>
              </a:extLst>
            </p:cNvPr>
            <p:cNvSpPr/>
            <p:nvPr/>
          </p:nvSpPr>
          <p:spPr bwMode="auto">
            <a:xfrm>
              <a:off x="6444269" y="-1236302"/>
              <a:ext cx="1584960" cy="386081"/>
            </a:xfrm>
            <a:prstGeom prst="rect">
              <a:avLst/>
            </a:prstGeom>
            <a:solidFill>
              <a:schemeClr val="accent3"/>
            </a:solidFill>
            <a:ln w="38100" algn="ctr">
              <a:noFill/>
              <a:miter lim="800000"/>
              <a:headEnd/>
              <a:tailEnd/>
            </a:ln>
            <a:effectLst/>
          </p:spPr>
          <p:txBody>
            <a:bodyPr wrap="none" lIns="90000" tIns="46800" rIns="90000" bIns="46800" rtlCol="0" anchor="b"/>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受講料</a:t>
              </a:r>
            </a:p>
          </p:txBody>
        </p:sp>
        <p:sp>
          <p:nvSpPr>
            <p:cNvPr id="11" name="正方形/長方形 10">
              <a:extLst>
                <a:ext uri="{FF2B5EF4-FFF2-40B4-BE49-F238E27FC236}">
                  <a16:creationId xmlns:a16="http://schemas.microsoft.com/office/drawing/2014/main" id="{25EDE880-5482-190F-1156-A57981B6BDF5}"/>
                </a:ext>
              </a:extLst>
            </p:cNvPr>
            <p:cNvSpPr/>
            <p:nvPr/>
          </p:nvSpPr>
          <p:spPr bwMode="auto">
            <a:xfrm>
              <a:off x="8120357" y="-1236302"/>
              <a:ext cx="1584960" cy="386081"/>
            </a:xfrm>
            <a:prstGeom prst="rect">
              <a:avLst/>
            </a:prstGeom>
            <a:solidFill>
              <a:schemeClr val="accent3"/>
            </a:solidFill>
            <a:ln w="38100" algn="ctr">
              <a:noFill/>
              <a:miter lim="800000"/>
              <a:headEnd/>
              <a:tailEnd/>
            </a:ln>
            <a:effectLst/>
          </p:spPr>
          <p:txBody>
            <a:bodyPr wrap="none" lIns="90000" tIns="46800" rIns="90000" bIns="46800" rtlCol="0" anchor="b"/>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業界就業</a:t>
              </a:r>
            </a:p>
          </p:txBody>
        </p:sp>
        <p:sp>
          <p:nvSpPr>
            <p:cNvPr id="12" name="正方形/長方形 11">
              <a:extLst>
                <a:ext uri="{FF2B5EF4-FFF2-40B4-BE49-F238E27FC236}">
                  <a16:creationId xmlns:a16="http://schemas.microsoft.com/office/drawing/2014/main" id="{977DC432-E11B-7F60-BA56-B4B6597D589F}"/>
                </a:ext>
              </a:extLst>
            </p:cNvPr>
            <p:cNvSpPr/>
            <p:nvPr/>
          </p:nvSpPr>
          <p:spPr bwMode="auto">
            <a:xfrm>
              <a:off x="9796445" y="-1236302"/>
              <a:ext cx="1584960" cy="386081"/>
            </a:xfrm>
            <a:prstGeom prst="rect">
              <a:avLst/>
            </a:prstGeom>
            <a:solidFill>
              <a:schemeClr val="accent3"/>
            </a:solidFill>
            <a:ln w="38100" algn="ctr">
              <a:noFill/>
              <a:miter lim="800000"/>
              <a:headEnd/>
              <a:tailEnd/>
            </a:ln>
            <a:effectLst/>
          </p:spPr>
          <p:txBody>
            <a:bodyPr wrap="none" lIns="90000" tIns="46800" rIns="90000" bIns="46800" rtlCol="0" anchor="b"/>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業界就職率</a:t>
              </a:r>
            </a:p>
          </p:txBody>
        </p:sp>
      </p:grpSp>
      <p:grpSp>
        <p:nvGrpSpPr>
          <p:cNvPr id="21" name="グループ化 20">
            <a:extLst>
              <a:ext uri="{FF2B5EF4-FFF2-40B4-BE49-F238E27FC236}">
                <a16:creationId xmlns:a16="http://schemas.microsoft.com/office/drawing/2014/main" id="{03198151-93A4-A11F-77CD-B698AD0B8A36}"/>
              </a:ext>
            </a:extLst>
          </p:cNvPr>
          <p:cNvGrpSpPr/>
          <p:nvPr/>
        </p:nvGrpSpPr>
        <p:grpSpPr>
          <a:xfrm>
            <a:off x="7415810" y="1517862"/>
            <a:ext cx="4633033" cy="615553"/>
            <a:chOff x="6502400" y="-717548"/>
            <a:chExt cx="5050079" cy="615553"/>
          </a:xfrm>
        </p:grpSpPr>
        <p:sp>
          <p:nvSpPr>
            <p:cNvPr id="13" name="テキスト ボックス 12">
              <a:extLst>
                <a:ext uri="{FF2B5EF4-FFF2-40B4-BE49-F238E27FC236}">
                  <a16:creationId xmlns:a16="http://schemas.microsoft.com/office/drawing/2014/main" id="{8A34257D-2A05-800E-2E90-A6E28AB87384}"/>
                </a:ext>
              </a:extLst>
            </p:cNvPr>
            <p:cNvSpPr txBox="1"/>
            <p:nvPr/>
          </p:nvSpPr>
          <p:spPr>
            <a:xfrm>
              <a:off x="6502400" y="-717548"/>
              <a:ext cx="1875098" cy="615553"/>
            </a:xfrm>
            <a:prstGeom prst="rect">
              <a:avLst/>
            </a:prstGeom>
            <a:noFill/>
          </p:spPr>
          <p:txBody>
            <a:bodyPr wrap="square" rtlCol="0" anchor="b">
              <a:spAutoFit/>
            </a:bodyPr>
            <a:lstStyle/>
            <a:p>
              <a:pPr algn="ctr"/>
              <a:r>
                <a:rPr lang="ja-JP" altLang="en-US" sz="2400" b="1">
                  <a:solidFill>
                    <a:schemeClr val="accent1"/>
                  </a:solidFill>
                  <a:latin typeface="メイリオ" panose="020B0604030504040204" pitchFamily="50" charset="-128"/>
                  <a:ea typeface="メイリオ" panose="020B0604030504040204" pitchFamily="50" charset="-128"/>
                </a:rPr>
                <a:t>完全無料</a:t>
              </a:r>
              <a:endParaRPr lang="en-US" altLang="ja-JP" sz="2400" b="1">
                <a:solidFill>
                  <a:schemeClr val="accent1"/>
                </a:solidFill>
                <a:latin typeface="メイリオ" panose="020B0604030504040204" pitchFamily="50" charset="-128"/>
                <a:ea typeface="メイリオ" panose="020B0604030504040204" pitchFamily="50" charset="-128"/>
              </a:endParaRPr>
            </a:p>
            <a:p>
              <a:pPr algn="ctr"/>
              <a:r>
                <a:rPr lang="ja-JP" altLang="en-US" sz="900" b="1">
                  <a:latin typeface="メイリオ" panose="020B0604030504040204" pitchFamily="50" charset="-128"/>
                  <a:ea typeface="メイリオ" panose="020B0604030504040204" pitchFamily="50" charset="-128"/>
                </a:rPr>
                <a:t>（</a:t>
              </a:r>
              <a:r>
                <a:rPr lang="ja-JP" altLang="en-US" sz="900">
                  <a:latin typeface="メイリオ" panose="020B0604030504040204" pitchFamily="50" charset="-128"/>
                  <a:ea typeface="メイリオ" panose="020B0604030504040204" pitchFamily="50" charset="-128"/>
                </a:rPr>
                <a:t>入校面接あり）</a:t>
              </a:r>
              <a:endParaRPr lang="en-US" altLang="ja-JP" sz="90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9FBF441C-DCA5-7D2E-4510-A9FBF9DF4B2E}"/>
                </a:ext>
              </a:extLst>
            </p:cNvPr>
            <p:cNvSpPr txBox="1"/>
            <p:nvPr/>
          </p:nvSpPr>
          <p:spPr>
            <a:xfrm>
              <a:off x="8111874" y="-717548"/>
              <a:ext cx="1875098" cy="615553"/>
            </a:xfrm>
            <a:prstGeom prst="rect">
              <a:avLst/>
            </a:prstGeom>
            <a:noFill/>
          </p:spPr>
          <p:txBody>
            <a:bodyPr wrap="square" rtlCol="0" anchor="b">
              <a:spAutoFit/>
            </a:bodyPr>
            <a:lstStyle/>
            <a:p>
              <a:pPr algn="ctr"/>
              <a:r>
                <a:rPr lang="en-US" altLang="ja-JP" sz="2400" b="1">
                  <a:solidFill>
                    <a:schemeClr val="accent1"/>
                  </a:solidFill>
                  <a:latin typeface="メイリオ" panose="020B0604030504040204" pitchFamily="50" charset="-128"/>
                  <a:ea typeface="メイリオ" panose="020B0604030504040204" pitchFamily="50" charset="-128"/>
                </a:rPr>
                <a:t>600</a:t>
              </a:r>
              <a:r>
                <a:rPr lang="ja-JP" altLang="en-US" sz="2400" b="1">
                  <a:solidFill>
                    <a:schemeClr val="accent1"/>
                  </a:solidFill>
                  <a:latin typeface="メイリオ" panose="020B0604030504040204" pitchFamily="50" charset="-128"/>
                  <a:ea typeface="メイリオ" panose="020B0604030504040204" pitchFamily="50" charset="-128"/>
                </a:rPr>
                <a:t>名</a:t>
              </a:r>
              <a:r>
                <a:rPr lang="ja-JP" altLang="en-US" sz="1600" b="1">
                  <a:solidFill>
                    <a:schemeClr val="accent1"/>
                  </a:solidFill>
                  <a:latin typeface="メイリオ" panose="020B0604030504040204" pitchFamily="50" charset="-128"/>
                  <a:ea typeface="メイリオ" panose="020B0604030504040204" pitchFamily="50" charset="-128"/>
                </a:rPr>
                <a:t>以上</a:t>
              </a:r>
              <a:endParaRPr lang="en-US" altLang="ja-JP" sz="2400" b="1">
                <a:solidFill>
                  <a:schemeClr val="accent1"/>
                </a:solidFill>
                <a:latin typeface="メイリオ" panose="020B0604030504040204" pitchFamily="50" charset="-128"/>
                <a:ea typeface="メイリオ" panose="020B0604030504040204" pitchFamily="50" charset="-128"/>
              </a:endParaRPr>
            </a:p>
            <a:p>
              <a:pPr algn="ctr"/>
              <a:r>
                <a:rPr lang="ja-JP" altLang="en-US" sz="900" b="1">
                  <a:latin typeface="メイリオ" panose="020B0604030504040204" pitchFamily="50" charset="-128"/>
                  <a:ea typeface="メイリオ" panose="020B0604030504040204" pitchFamily="50" charset="-128"/>
                </a:rPr>
                <a:t>（</a:t>
              </a:r>
              <a:r>
                <a:rPr lang="ja-JP" altLang="en-US" sz="900">
                  <a:latin typeface="メイリオ" panose="020B0604030504040204" pitchFamily="50" charset="-128"/>
                  <a:ea typeface="メイリオ" panose="020B0604030504040204" pitchFamily="50" charset="-128"/>
                </a:rPr>
                <a:t>過去</a:t>
              </a:r>
              <a:r>
                <a:rPr lang="en-US" altLang="ja-JP" sz="900">
                  <a:latin typeface="メイリオ" panose="020B0604030504040204" pitchFamily="50" charset="-128"/>
                  <a:ea typeface="メイリオ" panose="020B0604030504040204" pitchFamily="50" charset="-128"/>
                </a:rPr>
                <a:t>6</a:t>
              </a:r>
              <a:r>
                <a:rPr lang="ja-JP" altLang="en-US" sz="900">
                  <a:latin typeface="メイリオ" panose="020B0604030504040204" pitchFamily="50" charset="-128"/>
                  <a:ea typeface="メイリオ" panose="020B0604030504040204" pitchFamily="50" charset="-128"/>
                </a:rPr>
                <a:t>年の実績）</a:t>
              </a:r>
              <a:endParaRPr lang="en-US" altLang="ja-JP" sz="90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B762A59F-F2EB-3AA0-01C8-8F9CC473C257}"/>
                </a:ext>
              </a:extLst>
            </p:cNvPr>
            <p:cNvSpPr txBox="1"/>
            <p:nvPr/>
          </p:nvSpPr>
          <p:spPr>
            <a:xfrm>
              <a:off x="9876391" y="-717548"/>
              <a:ext cx="1676088" cy="615553"/>
            </a:xfrm>
            <a:prstGeom prst="rect">
              <a:avLst/>
            </a:prstGeom>
            <a:noFill/>
          </p:spPr>
          <p:txBody>
            <a:bodyPr wrap="square" rtlCol="0" anchor="b">
              <a:spAutoFit/>
            </a:bodyPr>
            <a:lstStyle/>
            <a:p>
              <a:pPr algn="ctr"/>
              <a:r>
                <a:rPr lang="en-US" altLang="ja-JP" sz="2400" b="1">
                  <a:solidFill>
                    <a:schemeClr val="accent1"/>
                  </a:solidFill>
                  <a:latin typeface="メイリオ" panose="020B0604030504040204" pitchFamily="50" charset="-128"/>
                  <a:ea typeface="メイリオ" panose="020B0604030504040204" pitchFamily="50" charset="-128"/>
                </a:rPr>
                <a:t>95</a:t>
              </a:r>
              <a:r>
                <a:rPr lang="en-US" altLang="ja-JP" sz="1600" b="1">
                  <a:solidFill>
                    <a:schemeClr val="accent1"/>
                  </a:solidFill>
                  <a:latin typeface="メイリオ" panose="020B0604030504040204" pitchFamily="50" charset="-128"/>
                  <a:ea typeface="メイリオ" panose="020B0604030504040204" pitchFamily="50" charset="-128"/>
                </a:rPr>
                <a:t>%</a:t>
              </a:r>
              <a:endParaRPr lang="en-US" altLang="ja-JP" sz="2400" b="1">
                <a:solidFill>
                  <a:schemeClr val="accent1"/>
                </a:solidFill>
                <a:latin typeface="メイリオ" panose="020B0604030504040204" pitchFamily="50" charset="-128"/>
                <a:ea typeface="メイリオ" panose="020B0604030504040204" pitchFamily="50" charset="-128"/>
              </a:endParaRPr>
            </a:p>
            <a:p>
              <a:pPr algn="ctr"/>
              <a:r>
                <a:rPr lang="ja-JP" altLang="en-US" sz="900">
                  <a:latin typeface="メイリオ" panose="020B0604030504040204" pitchFamily="50" charset="-128"/>
                  <a:ea typeface="メイリオ" panose="020B0604030504040204" pitchFamily="50" charset="-128"/>
                </a:rPr>
                <a:t>（</a:t>
              </a:r>
              <a:r>
                <a:rPr lang="en-US" altLang="ja-JP" sz="900">
                  <a:latin typeface="メイリオ" panose="020B0604030504040204" pitchFamily="50" charset="-128"/>
                  <a:ea typeface="メイリオ" panose="020B0604030504040204" pitchFamily="50" charset="-128"/>
                </a:rPr>
                <a:t>2025</a:t>
              </a:r>
              <a:r>
                <a:rPr lang="ja-JP" altLang="en-US" sz="900">
                  <a:latin typeface="メイリオ" panose="020B0604030504040204" pitchFamily="50" charset="-128"/>
                  <a:ea typeface="メイリオ" panose="020B0604030504040204" pitchFamily="50" charset="-128"/>
                </a:rPr>
                <a:t>年半期実績）</a:t>
              </a:r>
              <a:endParaRPr lang="en-US" altLang="ja-JP" sz="900">
                <a:latin typeface="メイリオ" panose="020B0604030504040204" pitchFamily="50" charset="-128"/>
                <a:ea typeface="メイリオ" panose="020B0604030504040204" pitchFamily="50" charset="-128"/>
              </a:endParaRPr>
            </a:p>
          </p:txBody>
        </p:sp>
      </p:grpSp>
    </p:spTree>
    <p:extLst>
      <p:ext uri="{BB962C8B-B14F-4D97-AF65-F5344CB8AC3E}">
        <p14:creationId xmlns:p14="http://schemas.microsoft.com/office/powerpoint/2010/main" val="3742175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BDAC9433-ED96-6B14-F38C-7124B9B01C35}"/>
              </a:ext>
            </a:extLst>
          </p:cNvPr>
          <p:cNvSpPr>
            <a:spLocks noGrp="1"/>
          </p:cNvSpPr>
          <p:nvPr>
            <p:ph idx="10"/>
          </p:nvPr>
        </p:nvSpPr>
        <p:spPr/>
        <p:txBody>
          <a:bodyPr/>
          <a:lstStyle/>
          <a:p>
            <a:r>
              <a:rPr kumimoji="1" lang="ja-JP" altLang="en-US"/>
              <a:t>プロ</a:t>
            </a:r>
            <a:r>
              <a:rPr lang="ja-JP" altLang="en-US"/>
              <a:t>レベルの審美眼や観察眼</a:t>
            </a:r>
            <a:r>
              <a:rPr kumimoji="1" lang="ja-JP" altLang="en-US"/>
              <a:t>、社会人教養を満たしたジュニアを輩出しています。</a:t>
            </a:r>
            <a:endParaRPr kumimoji="1" lang="en-US" altLang="ja-JP"/>
          </a:p>
        </p:txBody>
      </p:sp>
      <p:sp>
        <p:nvSpPr>
          <p:cNvPr id="3" name="タイトル 2">
            <a:extLst>
              <a:ext uri="{FF2B5EF4-FFF2-40B4-BE49-F238E27FC236}">
                <a16:creationId xmlns:a16="http://schemas.microsoft.com/office/drawing/2014/main" id="{C22A60D3-9624-DC8C-C212-0AA4C2057B74}"/>
              </a:ext>
            </a:extLst>
          </p:cNvPr>
          <p:cNvSpPr>
            <a:spLocks noGrp="1"/>
          </p:cNvSpPr>
          <p:nvPr>
            <p:ph type="title"/>
          </p:nvPr>
        </p:nvSpPr>
        <p:spPr/>
        <p:txBody>
          <a:bodyPr>
            <a:normAutofit/>
          </a:bodyPr>
          <a:lstStyle/>
          <a:p>
            <a:r>
              <a:rPr lang="en-US" altLang="ja-JP"/>
              <a:t>C&amp;R Creative Academy</a:t>
            </a:r>
            <a:r>
              <a:rPr lang="ja-JP" altLang="en-US"/>
              <a:t>による若手育成</a:t>
            </a:r>
            <a:endParaRPr kumimoji="1" lang="ja-JP" altLang="en-US"/>
          </a:p>
        </p:txBody>
      </p:sp>
      <p:sp>
        <p:nvSpPr>
          <p:cNvPr id="4" name="スライド番号プレースホルダー 3">
            <a:extLst>
              <a:ext uri="{FF2B5EF4-FFF2-40B4-BE49-F238E27FC236}">
                <a16:creationId xmlns:a16="http://schemas.microsoft.com/office/drawing/2014/main" id="{82966E13-6D53-5166-96C2-5A5F90EBC643}"/>
              </a:ext>
            </a:extLst>
          </p:cNvPr>
          <p:cNvSpPr>
            <a:spLocks noGrp="1"/>
          </p:cNvSpPr>
          <p:nvPr>
            <p:ph type="sldNum" sz="quarter" idx="11"/>
          </p:nvPr>
        </p:nvSpPr>
        <p:spPr/>
        <p:txBody>
          <a:bodyPr/>
          <a:lstStyle/>
          <a:p>
            <a:fld id="{B75FDD43-FCEC-4ECC-8189-A5C6D2E08DC6}" type="slidenum">
              <a:rPr lang="ja-JP" altLang="en-US" smtClean="0"/>
              <a:pPr/>
              <a:t>38</a:t>
            </a:fld>
            <a:endParaRPr lang="ja-JP" altLang="en-US"/>
          </a:p>
        </p:txBody>
      </p:sp>
      <p:grpSp>
        <p:nvGrpSpPr>
          <p:cNvPr id="98" name="グループ化 97">
            <a:extLst>
              <a:ext uri="{FF2B5EF4-FFF2-40B4-BE49-F238E27FC236}">
                <a16:creationId xmlns:a16="http://schemas.microsoft.com/office/drawing/2014/main" id="{A5B49AB4-9F83-E983-D1DA-26ACA468DDEC}"/>
              </a:ext>
            </a:extLst>
          </p:cNvPr>
          <p:cNvGrpSpPr/>
          <p:nvPr/>
        </p:nvGrpSpPr>
        <p:grpSpPr>
          <a:xfrm>
            <a:off x="5783195" y="1648566"/>
            <a:ext cx="6070137" cy="3392102"/>
            <a:chOff x="5604597" y="1634394"/>
            <a:chExt cx="6363479" cy="3556027"/>
          </a:xfrm>
        </p:grpSpPr>
        <p:pic>
          <p:nvPicPr>
            <p:cNvPr id="14" name="図 13" descr="山々の黒い影&#10;&#10;中程度の精度で自動的に生成された説明">
              <a:extLst>
                <a:ext uri="{FF2B5EF4-FFF2-40B4-BE49-F238E27FC236}">
                  <a16:creationId xmlns:a16="http://schemas.microsoft.com/office/drawing/2014/main" id="{9B3D6FB7-7F0B-AAE3-C1EB-EAA207ABEE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16289" y="1634395"/>
              <a:ext cx="3551787" cy="3551787"/>
            </a:xfrm>
            <a:prstGeom prst="rect">
              <a:avLst/>
            </a:prstGeom>
          </p:spPr>
        </p:pic>
        <p:pic>
          <p:nvPicPr>
            <p:cNvPr id="17" name="図 16" descr="橋を渡る電車&#10;&#10;中程度の精度で自動的に生成された説明">
              <a:extLst>
                <a:ext uri="{FF2B5EF4-FFF2-40B4-BE49-F238E27FC236}">
                  <a16:creationId xmlns:a16="http://schemas.microsoft.com/office/drawing/2014/main" id="{2DF4A380-CCA4-CC1F-EAD4-02A5FB0B64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04597" y="1634394"/>
              <a:ext cx="2666419" cy="3556027"/>
            </a:xfrm>
            <a:prstGeom prst="rect">
              <a:avLst/>
            </a:prstGeom>
          </p:spPr>
        </p:pic>
      </p:grpSp>
      <p:sp>
        <p:nvSpPr>
          <p:cNvPr id="5" name="四角形: 角を丸くする 4">
            <a:extLst>
              <a:ext uri="{FF2B5EF4-FFF2-40B4-BE49-F238E27FC236}">
                <a16:creationId xmlns:a16="http://schemas.microsoft.com/office/drawing/2014/main" id="{13F9FECE-7E31-B686-3F65-B8DFCAC19488}"/>
              </a:ext>
            </a:extLst>
          </p:cNvPr>
          <p:cNvSpPr/>
          <p:nvPr/>
        </p:nvSpPr>
        <p:spPr bwMode="auto">
          <a:xfrm>
            <a:off x="839028" y="1096821"/>
            <a:ext cx="4549650" cy="365822"/>
          </a:xfrm>
          <a:prstGeom prst="roundRect">
            <a:avLst/>
          </a:prstGeom>
          <a:solidFill>
            <a:schemeClr val="accent4"/>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lang="ja-JP" altLang="en-US" sz="2000" b="1">
                <a:solidFill>
                  <a:schemeClr val="bg1"/>
                </a:solidFill>
                <a:latin typeface="メイリオ" panose="020B0604030504040204" pitchFamily="50" charset="-128"/>
                <a:ea typeface="メイリオ" panose="020B0604030504040204" pitchFamily="50" charset="-128"/>
              </a:rPr>
              <a:t>プロレベルのディレクション</a:t>
            </a:r>
            <a:r>
              <a:rPr kumimoji="1" lang="ja-JP" altLang="en-US" sz="2000" b="1" noProof="0">
                <a:solidFill>
                  <a:schemeClr val="bg1"/>
                </a:solidFill>
                <a:latin typeface="メイリオ" panose="020B0604030504040204" pitchFamily="50" charset="-128"/>
                <a:ea typeface="メイリオ" panose="020B0604030504040204" pitchFamily="50" charset="-128"/>
              </a:rPr>
              <a:t>に触れる</a:t>
            </a:r>
          </a:p>
        </p:txBody>
      </p:sp>
      <p:sp>
        <p:nvSpPr>
          <p:cNvPr id="6" name="テキスト ボックス 5">
            <a:extLst>
              <a:ext uri="{FF2B5EF4-FFF2-40B4-BE49-F238E27FC236}">
                <a16:creationId xmlns:a16="http://schemas.microsoft.com/office/drawing/2014/main" id="{D839382E-E193-DB23-8043-BF522B2BFA60}"/>
              </a:ext>
            </a:extLst>
          </p:cNvPr>
          <p:cNvSpPr txBox="1"/>
          <p:nvPr/>
        </p:nvSpPr>
        <p:spPr>
          <a:xfrm>
            <a:off x="878890" y="1651759"/>
            <a:ext cx="4302469" cy="307777"/>
          </a:xfrm>
          <a:prstGeom prst="rect">
            <a:avLst/>
          </a:prstGeom>
          <a:noFill/>
        </p:spPr>
        <p:txBody>
          <a:bodyPr wrap="square" rtlCol="0">
            <a:spAutoFit/>
          </a:bodyPr>
          <a:lstStyle/>
          <a:p>
            <a:r>
              <a:rPr lang="ja-JP" altLang="en-US" sz="1400">
                <a:latin typeface="メイリオ" panose="020B0604030504040204" pitchFamily="50" charset="-128"/>
                <a:ea typeface="メイリオ" panose="020B0604030504040204" pitchFamily="50" charset="-128"/>
              </a:rPr>
              <a:t>著名クリエイターが指導しています。</a:t>
            </a:r>
            <a:endParaRPr lang="en-US" altLang="ja-JP" sz="1400">
              <a:latin typeface="メイリオ" panose="020B0604030504040204" pitchFamily="50" charset="-128"/>
              <a:ea typeface="メイリオ" panose="020B0604030504040204" pitchFamily="50" charset="-128"/>
            </a:endParaRPr>
          </a:p>
        </p:txBody>
      </p:sp>
      <p:sp>
        <p:nvSpPr>
          <p:cNvPr id="7" name="四角形: 角を丸くする 6">
            <a:extLst>
              <a:ext uri="{FF2B5EF4-FFF2-40B4-BE49-F238E27FC236}">
                <a16:creationId xmlns:a16="http://schemas.microsoft.com/office/drawing/2014/main" id="{8E024AA8-A828-3D82-41CF-46DFC3A7EBF1}"/>
              </a:ext>
            </a:extLst>
          </p:cNvPr>
          <p:cNvSpPr/>
          <p:nvPr/>
        </p:nvSpPr>
        <p:spPr bwMode="auto">
          <a:xfrm>
            <a:off x="791284" y="3727609"/>
            <a:ext cx="4549650" cy="343831"/>
          </a:xfrm>
          <a:prstGeom prst="roundRect">
            <a:avLst/>
          </a:prstGeom>
          <a:solidFill>
            <a:schemeClr val="accent3"/>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lang="ja-JP" altLang="en-US" sz="2000" b="1">
                <a:solidFill>
                  <a:schemeClr val="bg1"/>
                </a:solidFill>
                <a:latin typeface="メイリオ" panose="020B0604030504040204" pitchFamily="50" charset="-128"/>
                <a:ea typeface="メイリオ" panose="020B0604030504040204" pitchFamily="50" charset="-128"/>
              </a:rPr>
              <a:t>戦力のスタートダッシュを計る</a:t>
            </a: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aphicFrame>
        <p:nvGraphicFramePr>
          <p:cNvPr id="61" name="グラフ 60">
            <a:extLst>
              <a:ext uri="{FF2B5EF4-FFF2-40B4-BE49-F238E27FC236}">
                <a16:creationId xmlns:a16="http://schemas.microsoft.com/office/drawing/2014/main" id="{AD765D38-F058-7967-0E16-8D28C4C16B1D}"/>
              </a:ext>
            </a:extLst>
          </p:cNvPr>
          <p:cNvGraphicFramePr/>
          <p:nvPr>
            <p:extLst>
              <p:ext uri="{D42A27DB-BD31-4B8C-83A1-F6EECF244321}">
                <p14:modId xmlns:p14="http://schemas.microsoft.com/office/powerpoint/2010/main" val="3885517934"/>
              </p:ext>
            </p:extLst>
          </p:nvPr>
        </p:nvGraphicFramePr>
        <p:xfrm>
          <a:off x="883750" y="4321297"/>
          <a:ext cx="4108410" cy="2536703"/>
        </p:xfrm>
        <a:graphic>
          <a:graphicData uri="http://schemas.openxmlformats.org/drawingml/2006/chart">
            <c:chart xmlns:c="http://schemas.openxmlformats.org/drawingml/2006/chart" xmlns:r="http://schemas.openxmlformats.org/officeDocument/2006/relationships" r:id="rId5"/>
          </a:graphicData>
        </a:graphic>
      </p:graphicFrame>
      <p:sp>
        <p:nvSpPr>
          <p:cNvPr id="62" name="テキスト ボックス 61">
            <a:extLst>
              <a:ext uri="{FF2B5EF4-FFF2-40B4-BE49-F238E27FC236}">
                <a16:creationId xmlns:a16="http://schemas.microsoft.com/office/drawing/2014/main" id="{55B38376-D8CC-D98C-7548-880F230F7B84}"/>
              </a:ext>
            </a:extLst>
          </p:cNvPr>
          <p:cNvSpPr txBox="1"/>
          <p:nvPr/>
        </p:nvSpPr>
        <p:spPr>
          <a:xfrm>
            <a:off x="828545" y="4105853"/>
            <a:ext cx="4057521" cy="215444"/>
          </a:xfrm>
          <a:prstGeom prst="rect">
            <a:avLst/>
          </a:prstGeom>
          <a:noFill/>
        </p:spPr>
        <p:txBody>
          <a:bodyPr wrap="none" rtlCol="0">
            <a:spAutoFit/>
          </a:bodyPr>
          <a:lstStyle/>
          <a:p>
            <a:r>
              <a:rPr lang="ja-JP" altLang="en-US" sz="800">
                <a:latin typeface="メイリオ" panose="020B0604030504040204" pitchFamily="50" charset="-128"/>
                <a:ea typeface="メイリオ" panose="020B0604030504040204" pitchFamily="50" charset="-128"/>
              </a:rPr>
              <a:t>人月　</a:t>
            </a:r>
            <a:r>
              <a:rPr lang="en-US" altLang="ja-JP" sz="800">
                <a:latin typeface="メイリオ" panose="020B0604030504040204" pitchFamily="50" charset="-128"/>
                <a:ea typeface="メイリオ" panose="020B0604030504040204" pitchFamily="50" charset="-128"/>
              </a:rPr>
              <a:t>※</a:t>
            </a:r>
            <a:r>
              <a:rPr lang="ja-JP" altLang="en-US" sz="800">
                <a:latin typeface="メイリオ" panose="020B0604030504040204" pitchFamily="50" charset="-128"/>
                <a:ea typeface="メイリオ" panose="020B0604030504040204" pitchFamily="50" charset="-128"/>
              </a:rPr>
              <a:t>中途採用</a:t>
            </a:r>
            <a:r>
              <a:rPr lang="en-US" altLang="ja-JP" sz="800">
                <a:latin typeface="メイリオ" panose="020B0604030504040204" pitchFamily="50" charset="-128"/>
                <a:ea typeface="メイリオ" panose="020B0604030504040204" pitchFamily="50" charset="-128"/>
              </a:rPr>
              <a:t>1</a:t>
            </a:r>
            <a:r>
              <a:rPr lang="ja-JP" altLang="en-US" sz="800">
                <a:latin typeface="メイリオ" panose="020B0604030504040204" pitchFamily="50" charset="-128"/>
                <a:ea typeface="メイリオ" panose="020B0604030504040204" pitchFamily="50" charset="-128"/>
              </a:rPr>
              <a:t>人月と比較した際の戦力イメージです（</a:t>
            </a:r>
            <a:r>
              <a:rPr lang="en-US" altLang="ja-JP" sz="800">
                <a:latin typeface="メイリオ" panose="020B0604030504040204" pitchFamily="50" charset="-128"/>
                <a:ea typeface="メイリオ" panose="020B0604030504040204" pitchFamily="50" charset="-128"/>
              </a:rPr>
              <a:t>C&amp;R</a:t>
            </a:r>
            <a:r>
              <a:rPr lang="ja-JP" altLang="en-US" sz="800">
                <a:latin typeface="メイリオ" panose="020B0604030504040204" pitchFamily="50" charset="-128"/>
                <a:ea typeface="メイリオ" panose="020B0604030504040204" pitchFamily="50" charset="-128"/>
              </a:rPr>
              <a:t>社 自社採用調べ）</a:t>
            </a:r>
            <a:endParaRPr kumimoji="1" lang="ja-JP" altLang="en-US" sz="800">
              <a:latin typeface="メイリオ" panose="020B0604030504040204" pitchFamily="50" charset="-128"/>
              <a:ea typeface="メイリオ" panose="020B0604030504040204" pitchFamily="50" charset="-128"/>
            </a:endParaRPr>
          </a:p>
        </p:txBody>
      </p:sp>
      <p:sp>
        <p:nvSpPr>
          <p:cNvPr id="63" name="吹き出し: 角を丸めた四角形 62">
            <a:extLst>
              <a:ext uri="{FF2B5EF4-FFF2-40B4-BE49-F238E27FC236}">
                <a16:creationId xmlns:a16="http://schemas.microsoft.com/office/drawing/2014/main" id="{3DB6821A-36ED-4830-8194-A97FC036FEE2}"/>
              </a:ext>
            </a:extLst>
          </p:cNvPr>
          <p:cNvSpPr/>
          <p:nvPr/>
        </p:nvSpPr>
        <p:spPr bwMode="auto">
          <a:xfrm>
            <a:off x="1350347" y="4367958"/>
            <a:ext cx="3871761" cy="295367"/>
          </a:xfrm>
          <a:prstGeom prst="wedgeRoundRectCallout">
            <a:avLst>
              <a:gd name="adj1" fmla="val -38606"/>
              <a:gd name="adj2" fmla="val 129797"/>
              <a:gd name="adj3" fmla="val 16667"/>
            </a:avLst>
          </a:prstGeom>
          <a:solidFill>
            <a:schemeClr val="accent1">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アカデミー卒業後、入社時</a:t>
            </a:r>
            <a:r>
              <a:rPr kumimoji="1" lang="ja-JP" altLang="en-US" sz="1100" b="1" noProof="0">
                <a:latin typeface="メイリオ" panose="020B0604030504040204" pitchFamily="50" charset="-128"/>
                <a:ea typeface="メイリオ" panose="020B0604030504040204" pitchFamily="50" charset="-128"/>
              </a:rPr>
              <a:t>で</a:t>
            </a:r>
            <a:r>
              <a:rPr kumimoji="1" lang="en-US" altLang="ja-JP" sz="1100" b="1" noProof="0">
                <a:latin typeface="メイリオ" panose="020B0604030504040204" pitchFamily="50" charset="-128"/>
                <a:ea typeface="メイリオ" panose="020B0604030504040204" pitchFamily="50" charset="-128"/>
              </a:rPr>
              <a:t>0.7</a:t>
            </a:r>
            <a:r>
              <a:rPr kumimoji="1" lang="ja-JP" altLang="en-US" sz="1100" b="1" noProof="0">
                <a:latin typeface="メイリオ" panose="020B0604030504040204" pitchFamily="50" charset="-128"/>
                <a:ea typeface="メイリオ" panose="020B0604030504040204" pitchFamily="50" charset="-128"/>
              </a:rPr>
              <a:t>人月のパフォーマンス</a:t>
            </a:r>
          </a:p>
        </p:txBody>
      </p:sp>
      <p:sp>
        <p:nvSpPr>
          <p:cNvPr id="64" name="吹き出し: 角を丸めた四角形 63">
            <a:extLst>
              <a:ext uri="{FF2B5EF4-FFF2-40B4-BE49-F238E27FC236}">
                <a16:creationId xmlns:a16="http://schemas.microsoft.com/office/drawing/2014/main" id="{F3936824-5E8C-E288-BD00-9BA851ED9880}"/>
              </a:ext>
            </a:extLst>
          </p:cNvPr>
          <p:cNvSpPr/>
          <p:nvPr/>
        </p:nvSpPr>
        <p:spPr bwMode="auto">
          <a:xfrm>
            <a:off x="1650793" y="5655334"/>
            <a:ext cx="3530565" cy="295367"/>
          </a:xfrm>
          <a:prstGeom prst="wedgeRoundRectCallout">
            <a:avLst>
              <a:gd name="adj1" fmla="val -36610"/>
              <a:gd name="adj2" fmla="val -89141"/>
              <a:gd name="adj3" fmla="val 16667"/>
            </a:avLst>
          </a:prstGeom>
          <a:solidFill>
            <a:schemeClr val="accent2">
              <a:lumMod val="40000"/>
              <a:lumOff val="6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ja-JP" altLang="en-US" sz="1100" b="1">
                <a:latin typeface="メイリオ" panose="020B0604030504040204" pitchFamily="50" charset="-128"/>
                <a:ea typeface="メイリオ" panose="020B0604030504040204" pitchFamily="50" charset="-128"/>
              </a:rPr>
              <a:t>ゼロベースで育成した場合の戦力化計画（研修等）</a:t>
            </a:r>
            <a:endParaRPr kumimoji="1" lang="ja-JP" altLang="en-US" sz="1100" b="1" noProof="0">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6CBA96B1-0739-78F1-D45C-15C57C839A1A}"/>
              </a:ext>
            </a:extLst>
          </p:cNvPr>
          <p:cNvCxnSpPr>
            <a:cxnSpLocks/>
          </p:cNvCxnSpPr>
          <p:nvPr/>
        </p:nvCxnSpPr>
        <p:spPr>
          <a:xfrm flipV="1">
            <a:off x="4566218" y="5114320"/>
            <a:ext cx="388762" cy="126241"/>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71" name="四角形: 角を丸くする 70">
            <a:extLst>
              <a:ext uri="{FF2B5EF4-FFF2-40B4-BE49-F238E27FC236}">
                <a16:creationId xmlns:a16="http://schemas.microsoft.com/office/drawing/2014/main" id="{E33FB4C3-BCB8-F395-5674-22278BD66F9C}"/>
              </a:ext>
            </a:extLst>
          </p:cNvPr>
          <p:cNvSpPr/>
          <p:nvPr/>
        </p:nvSpPr>
        <p:spPr bwMode="auto">
          <a:xfrm>
            <a:off x="5604574" y="5508565"/>
            <a:ext cx="6363502" cy="343831"/>
          </a:xfrm>
          <a:prstGeom prst="roundRect">
            <a:avLst/>
          </a:prstGeom>
          <a:solidFill>
            <a:schemeClr val="accent1"/>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lang="ja-JP" altLang="en-US" sz="2000" b="1">
                <a:solidFill>
                  <a:schemeClr val="bg1"/>
                </a:solidFill>
                <a:latin typeface="メイリオ" panose="020B0604030504040204" pitchFamily="50" charset="-128"/>
                <a:ea typeface="メイリオ" panose="020B0604030504040204" pitchFamily="50" charset="-128"/>
              </a:rPr>
              <a:t>マインドを育む</a:t>
            </a: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72" name="四角形: 角を丸くする 71">
            <a:extLst>
              <a:ext uri="{FF2B5EF4-FFF2-40B4-BE49-F238E27FC236}">
                <a16:creationId xmlns:a16="http://schemas.microsoft.com/office/drawing/2014/main" id="{1EA171CD-FB51-0034-D554-A4A7F21A298A}"/>
              </a:ext>
            </a:extLst>
          </p:cNvPr>
          <p:cNvSpPr/>
          <p:nvPr/>
        </p:nvSpPr>
        <p:spPr bwMode="auto">
          <a:xfrm>
            <a:off x="5604574" y="1109184"/>
            <a:ext cx="6363502" cy="365822"/>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t"/>
          <a:lstStyle/>
          <a:p>
            <a:pPr algn="l" defTabSz="914400" fontAlgn="base">
              <a:spcBef>
                <a:spcPct val="50000"/>
              </a:spcBef>
              <a:spcAft>
                <a:spcPct val="0"/>
              </a:spcAft>
            </a:pPr>
            <a:r>
              <a:rPr lang="ja-JP" altLang="en-US" sz="2000" b="1">
                <a:solidFill>
                  <a:schemeClr val="bg1"/>
                </a:solidFill>
                <a:latin typeface="メイリオ" panose="020B0604030504040204" pitchFamily="50" charset="-128"/>
                <a:ea typeface="メイリオ" panose="020B0604030504040204" pitchFamily="50" charset="-128"/>
              </a:rPr>
              <a:t>取り組んだ作品はポートフォリオとして活用</a:t>
            </a: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5F26998F-B2F4-5A92-308A-5025D94C7357}"/>
              </a:ext>
            </a:extLst>
          </p:cNvPr>
          <p:cNvSpPr txBox="1"/>
          <p:nvPr/>
        </p:nvSpPr>
        <p:spPr>
          <a:xfrm>
            <a:off x="8563977" y="5096885"/>
            <a:ext cx="3307369" cy="369332"/>
          </a:xfrm>
          <a:prstGeom prst="rect">
            <a:avLst/>
          </a:prstGeom>
          <a:noFill/>
        </p:spPr>
        <p:txBody>
          <a:bodyPr wrap="square" rtlCol="0">
            <a:spAutoFit/>
          </a:bodyPr>
          <a:lstStyle/>
          <a:p>
            <a:pPr algn="r"/>
            <a:r>
              <a:rPr kumimoji="1" lang="ja-JP" altLang="en-US" sz="900">
                <a:solidFill>
                  <a:schemeClr val="accent4">
                    <a:lumMod val="75000"/>
                  </a:schemeClr>
                </a:solidFill>
                <a:latin typeface="メイリオ" panose="020B0604030504040204" pitchFamily="50" charset="-128"/>
                <a:ea typeface="メイリオ" panose="020B0604030504040204" pitchFamily="50" charset="-128"/>
              </a:rPr>
              <a:t>▲</a:t>
            </a:r>
            <a:r>
              <a:rPr kumimoji="1" lang="en-US" altLang="ja-JP"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CGWORLD.jp</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a:t>
            </a:r>
            <a:r>
              <a:rPr kumimoji="1" lang="en-US" altLang="ja-JP"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WHO'S NEXT</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a:t>
            </a:r>
            <a:r>
              <a:rPr kumimoji="1" lang="en-US" altLang="ja-JP"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2024</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年第</a:t>
            </a:r>
            <a:r>
              <a:rPr kumimoji="1" lang="en-US" altLang="ja-JP"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1</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弾</a:t>
            </a:r>
          </a:p>
          <a:p>
            <a:pPr algn="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キャラクター部門の優秀作品　第</a:t>
            </a:r>
            <a:r>
              <a:rPr kumimoji="1" lang="en-US" altLang="ja-JP"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2</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位に入賞</a:t>
            </a:r>
            <a:endParaRPr kumimoji="1" lang="ja-JP" altLang="en-US" sz="900">
              <a:solidFill>
                <a:schemeClr val="accent4">
                  <a:lumMod val="75000"/>
                </a:schemeClr>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4DF5180F-5909-CEE2-292C-B265249B6231}"/>
              </a:ext>
            </a:extLst>
          </p:cNvPr>
          <p:cNvSpPr txBox="1"/>
          <p:nvPr/>
        </p:nvSpPr>
        <p:spPr>
          <a:xfrm>
            <a:off x="8106009" y="5975822"/>
            <a:ext cx="3747323" cy="646331"/>
          </a:xfrm>
          <a:prstGeom prst="rect">
            <a:avLst/>
          </a:prstGeom>
          <a:noFill/>
        </p:spPr>
        <p:txBody>
          <a:bodyPr wrap="square" rtlCol="0">
            <a:spAutoFit/>
          </a:bodyPr>
          <a:lstStyle/>
          <a:p>
            <a:r>
              <a:rPr kumimoji="1" lang="ja-JP" altLang="en-US" sz="1200" b="1">
                <a:latin typeface="メイリオ" panose="020B0604030504040204" pitchFamily="50" charset="-128"/>
                <a:ea typeface="メイリオ" panose="020B0604030504040204" pitchFamily="50" charset="-128"/>
              </a:rPr>
              <a:t>能動的に学ぶ姿勢、スキルアップへの意欲</a:t>
            </a:r>
            <a:endParaRPr kumimoji="1" lang="en-US" altLang="ja-JP" sz="1200" b="1">
              <a:latin typeface="メイリオ" panose="020B0604030504040204" pitchFamily="50" charset="-128"/>
              <a:ea typeface="メイリオ" panose="020B0604030504040204" pitchFamily="50" charset="-128"/>
            </a:endParaRPr>
          </a:p>
          <a:p>
            <a:r>
              <a:rPr lang="ja-JP" altLang="en-US" sz="1200" b="1">
                <a:latin typeface="メイリオ" panose="020B0604030504040204" pitchFamily="50" charset="-128"/>
                <a:ea typeface="メイリオ" panose="020B0604030504040204" pitchFamily="50" charset="-128"/>
              </a:rPr>
              <a:t>チームコミュニケーションの大切さ</a:t>
            </a:r>
            <a:endParaRPr kumimoji="1" lang="en-US" altLang="ja-JP" sz="1200" b="1">
              <a:latin typeface="メイリオ" panose="020B0604030504040204" pitchFamily="50" charset="-128"/>
              <a:ea typeface="メイリオ" panose="020B0604030504040204" pitchFamily="50" charset="-128"/>
            </a:endParaRPr>
          </a:p>
          <a:p>
            <a:r>
              <a:rPr kumimoji="1" lang="ja-JP" altLang="en-US" sz="1200" b="1">
                <a:latin typeface="メイリオ" panose="020B0604030504040204" pitchFamily="50" charset="-128"/>
                <a:ea typeface="メイリオ" panose="020B0604030504040204" pitchFamily="50" charset="-128"/>
              </a:rPr>
              <a:t>時間遵守、遅刻･欠勤を厳しく査定</a:t>
            </a:r>
            <a:endParaRPr kumimoji="1" lang="en-US" altLang="ja-JP" sz="1200" b="1">
              <a:latin typeface="メイリオ" panose="020B0604030504040204" pitchFamily="50" charset="-128"/>
              <a:ea typeface="メイリオ" panose="020B0604030504040204" pitchFamily="50" charset="-128"/>
            </a:endParaRPr>
          </a:p>
        </p:txBody>
      </p:sp>
      <p:grpSp>
        <p:nvGrpSpPr>
          <p:cNvPr id="81" name="グループ化 80">
            <a:extLst>
              <a:ext uri="{FF2B5EF4-FFF2-40B4-BE49-F238E27FC236}">
                <a16:creationId xmlns:a16="http://schemas.microsoft.com/office/drawing/2014/main" id="{C10B6B37-9506-5AD3-43A8-CD87F79C2C68}"/>
              </a:ext>
            </a:extLst>
          </p:cNvPr>
          <p:cNvGrpSpPr/>
          <p:nvPr/>
        </p:nvGrpSpPr>
        <p:grpSpPr>
          <a:xfrm>
            <a:off x="7120191" y="5936959"/>
            <a:ext cx="977839" cy="711124"/>
            <a:chOff x="9535905" y="5961691"/>
            <a:chExt cx="977839" cy="711124"/>
          </a:xfrm>
        </p:grpSpPr>
        <p:grpSp>
          <p:nvGrpSpPr>
            <p:cNvPr id="79" name="グループ化 78">
              <a:extLst>
                <a:ext uri="{FF2B5EF4-FFF2-40B4-BE49-F238E27FC236}">
                  <a16:creationId xmlns:a16="http://schemas.microsoft.com/office/drawing/2014/main" id="{E51EA600-5ECC-E699-0A75-86129B167D05}"/>
                </a:ext>
              </a:extLst>
            </p:cNvPr>
            <p:cNvGrpSpPr/>
            <p:nvPr/>
          </p:nvGrpSpPr>
          <p:grpSpPr>
            <a:xfrm>
              <a:off x="9669263" y="5961691"/>
              <a:ext cx="711124" cy="711124"/>
              <a:chOff x="10624996" y="5992073"/>
              <a:chExt cx="622818" cy="622818"/>
            </a:xfrm>
          </p:grpSpPr>
          <p:sp>
            <p:nvSpPr>
              <p:cNvPr id="77" name="四角形: 角を丸くする 76">
                <a:extLst>
                  <a:ext uri="{FF2B5EF4-FFF2-40B4-BE49-F238E27FC236}">
                    <a16:creationId xmlns:a16="http://schemas.microsoft.com/office/drawing/2014/main" id="{C5678DF3-6A89-6FE1-72E0-1DA23DF95183}"/>
                  </a:ext>
                </a:extLst>
              </p:cNvPr>
              <p:cNvSpPr/>
              <p:nvPr/>
            </p:nvSpPr>
            <p:spPr bwMode="auto">
              <a:xfrm>
                <a:off x="10624996" y="5992073"/>
                <a:ext cx="622818" cy="622818"/>
              </a:xfrm>
              <a:prstGeom prst="roundRect">
                <a:avLst/>
              </a:prstGeom>
              <a:solidFill>
                <a:schemeClr val="accent1">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pic>
            <p:nvPicPr>
              <p:cNvPr id="78" name="グラフィックス 77" descr="時計 単色塗りつぶし">
                <a:extLst>
                  <a:ext uri="{FF2B5EF4-FFF2-40B4-BE49-F238E27FC236}">
                    <a16:creationId xmlns:a16="http://schemas.microsoft.com/office/drawing/2014/main" id="{E32AF61D-8DC9-3795-D43A-798AA6244FC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21929" y="6026110"/>
                <a:ext cx="430227" cy="430227"/>
              </a:xfrm>
              <a:prstGeom prst="rect">
                <a:avLst/>
              </a:prstGeom>
            </p:spPr>
          </p:pic>
        </p:grpSp>
        <p:sp>
          <p:nvSpPr>
            <p:cNvPr id="80" name="テキスト ボックス 79">
              <a:extLst>
                <a:ext uri="{FF2B5EF4-FFF2-40B4-BE49-F238E27FC236}">
                  <a16:creationId xmlns:a16="http://schemas.microsoft.com/office/drawing/2014/main" id="{811DB0DD-3FE3-2D4C-37A1-501EE1B25C9F}"/>
                </a:ext>
              </a:extLst>
            </p:cNvPr>
            <p:cNvSpPr txBox="1"/>
            <p:nvPr/>
          </p:nvSpPr>
          <p:spPr>
            <a:xfrm>
              <a:off x="9535905" y="6426593"/>
              <a:ext cx="977839" cy="230832"/>
            </a:xfrm>
            <a:prstGeom prst="rect">
              <a:avLst/>
            </a:prstGeom>
            <a:noFill/>
          </p:spPr>
          <p:txBody>
            <a:bodyPr wrap="square" rtlCol="0">
              <a:spAutoFit/>
            </a:bodyPr>
            <a:lstStyle/>
            <a:p>
              <a:pPr algn="ctr"/>
              <a:r>
                <a:rPr kumimoji="1" lang="ja-JP" altLang="en-US" sz="900" b="1">
                  <a:solidFill>
                    <a:schemeClr val="accent1">
                      <a:lumMod val="75000"/>
                    </a:schemeClr>
                  </a:solidFill>
                  <a:latin typeface="メイリオ" panose="020B0604030504040204" pitchFamily="50" charset="-128"/>
                  <a:ea typeface="メイリオ" panose="020B0604030504040204" pitchFamily="50" charset="-128"/>
                </a:rPr>
                <a:t>勤怠管理</a:t>
              </a:r>
              <a:endParaRPr kumimoji="1" lang="en-US" altLang="ja-JP" sz="900" b="1">
                <a:solidFill>
                  <a:schemeClr val="accent1">
                    <a:lumMod val="75000"/>
                  </a:schemeClr>
                </a:solidFill>
                <a:latin typeface="メイリオ" panose="020B0604030504040204" pitchFamily="50" charset="-128"/>
                <a:ea typeface="メイリオ" panose="020B0604030504040204" pitchFamily="50" charset="-128"/>
              </a:endParaRPr>
            </a:p>
          </p:txBody>
        </p:sp>
      </p:grpSp>
      <p:grpSp>
        <p:nvGrpSpPr>
          <p:cNvPr id="97" name="グループ化 96">
            <a:extLst>
              <a:ext uri="{FF2B5EF4-FFF2-40B4-BE49-F238E27FC236}">
                <a16:creationId xmlns:a16="http://schemas.microsoft.com/office/drawing/2014/main" id="{8413633B-E227-33F9-CDEC-F047F9CE082A}"/>
              </a:ext>
            </a:extLst>
          </p:cNvPr>
          <p:cNvGrpSpPr/>
          <p:nvPr/>
        </p:nvGrpSpPr>
        <p:grpSpPr>
          <a:xfrm>
            <a:off x="6316207" y="5938442"/>
            <a:ext cx="977839" cy="711124"/>
            <a:chOff x="6316207" y="5994282"/>
            <a:chExt cx="977839" cy="711124"/>
          </a:xfrm>
        </p:grpSpPr>
        <p:grpSp>
          <p:nvGrpSpPr>
            <p:cNvPr id="87" name="グループ化 86">
              <a:extLst>
                <a:ext uri="{FF2B5EF4-FFF2-40B4-BE49-F238E27FC236}">
                  <a16:creationId xmlns:a16="http://schemas.microsoft.com/office/drawing/2014/main" id="{7A53258F-0EC5-4255-5B85-D4D558C4C5BA}"/>
                </a:ext>
              </a:extLst>
            </p:cNvPr>
            <p:cNvGrpSpPr/>
            <p:nvPr/>
          </p:nvGrpSpPr>
          <p:grpSpPr>
            <a:xfrm>
              <a:off x="6316207" y="5994282"/>
              <a:ext cx="977839" cy="711124"/>
              <a:chOff x="9535905" y="5961691"/>
              <a:chExt cx="977839" cy="711124"/>
            </a:xfrm>
          </p:grpSpPr>
          <p:sp>
            <p:nvSpPr>
              <p:cNvPr id="90" name="四角形: 角を丸くする 89">
                <a:extLst>
                  <a:ext uri="{FF2B5EF4-FFF2-40B4-BE49-F238E27FC236}">
                    <a16:creationId xmlns:a16="http://schemas.microsoft.com/office/drawing/2014/main" id="{14A65E9C-1322-D3F2-01FB-0277B8552880}"/>
                  </a:ext>
                </a:extLst>
              </p:cNvPr>
              <p:cNvSpPr/>
              <p:nvPr/>
            </p:nvSpPr>
            <p:spPr bwMode="auto">
              <a:xfrm>
                <a:off x="9669263" y="5961691"/>
                <a:ext cx="711124" cy="711124"/>
              </a:xfrm>
              <a:prstGeom prst="roundRect">
                <a:avLst/>
              </a:prstGeom>
              <a:solidFill>
                <a:schemeClr val="accent1">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ACC93D01-0C61-9E22-599C-D1074E756306}"/>
                  </a:ext>
                </a:extLst>
              </p:cNvPr>
              <p:cNvSpPr txBox="1"/>
              <p:nvPr/>
            </p:nvSpPr>
            <p:spPr>
              <a:xfrm>
                <a:off x="9535905" y="6426593"/>
                <a:ext cx="977839" cy="230832"/>
              </a:xfrm>
              <a:prstGeom prst="rect">
                <a:avLst/>
              </a:prstGeom>
              <a:noFill/>
            </p:spPr>
            <p:txBody>
              <a:bodyPr wrap="square" rtlCol="0">
                <a:spAutoFit/>
              </a:bodyPr>
              <a:lstStyle/>
              <a:p>
                <a:pPr algn="ctr"/>
                <a:r>
                  <a:rPr kumimoji="1" lang="ja-JP" altLang="en-US" sz="900" b="1">
                    <a:solidFill>
                      <a:schemeClr val="accent1">
                        <a:lumMod val="75000"/>
                      </a:schemeClr>
                    </a:solidFill>
                    <a:latin typeface="メイリオ" panose="020B0604030504040204" pitchFamily="50" charset="-128"/>
                    <a:ea typeface="メイリオ" panose="020B0604030504040204" pitchFamily="50" charset="-128"/>
                  </a:rPr>
                  <a:t>報連相</a:t>
                </a:r>
                <a:endParaRPr kumimoji="1" lang="en-US" altLang="ja-JP" sz="900" b="1">
                  <a:solidFill>
                    <a:schemeClr val="accent1">
                      <a:lumMod val="75000"/>
                    </a:schemeClr>
                  </a:solidFill>
                  <a:latin typeface="メイリオ" panose="020B0604030504040204" pitchFamily="50" charset="-128"/>
                  <a:ea typeface="メイリオ" panose="020B0604030504040204" pitchFamily="50" charset="-128"/>
                </a:endParaRPr>
              </a:p>
            </p:txBody>
          </p:sp>
        </p:grpSp>
        <p:pic>
          <p:nvPicPr>
            <p:cNvPr id="93" name="グラフィックス 92" descr="グループでのブレーンストーミング 単色塗りつぶし">
              <a:extLst>
                <a:ext uri="{FF2B5EF4-FFF2-40B4-BE49-F238E27FC236}">
                  <a16:creationId xmlns:a16="http://schemas.microsoft.com/office/drawing/2014/main" id="{BBD72AAA-04DE-0500-83F9-BF22448E043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63924" y="6031662"/>
              <a:ext cx="457200" cy="457200"/>
            </a:xfrm>
            <a:prstGeom prst="rect">
              <a:avLst/>
            </a:prstGeom>
          </p:spPr>
        </p:pic>
      </p:grpSp>
      <p:grpSp>
        <p:nvGrpSpPr>
          <p:cNvPr id="96" name="グループ化 95">
            <a:extLst>
              <a:ext uri="{FF2B5EF4-FFF2-40B4-BE49-F238E27FC236}">
                <a16:creationId xmlns:a16="http://schemas.microsoft.com/office/drawing/2014/main" id="{A6950A41-FCD8-3DBC-FDED-0D193B8545D6}"/>
              </a:ext>
            </a:extLst>
          </p:cNvPr>
          <p:cNvGrpSpPr/>
          <p:nvPr/>
        </p:nvGrpSpPr>
        <p:grpSpPr>
          <a:xfrm>
            <a:off x="5522964" y="5936959"/>
            <a:ext cx="977839" cy="711124"/>
            <a:chOff x="5522964" y="5992799"/>
            <a:chExt cx="977839" cy="711124"/>
          </a:xfrm>
        </p:grpSpPr>
        <p:grpSp>
          <p:nvGrpSpPr>
            <p:cNvPr id="82" name="グループ化 81">
              <a:extLst>
                <a:ext uri="{FF2B5EF4-FFF2-40B4-BE49-F238E27FC236}">
                  <a16:creationId xmlns:a16="http://schemas.microsoft.com/office/drawing/2014/main" id="{AF436E2E-7C5E-CC2D-B85B-5ABB4DD95EB8}"/>
                </a:ext>
              </a:extLst>
            </p:cNvPr>
            <p:cNvGrpSpPr/>
            <p:nvPr/>
          </p:nvGrpSpPr>
          <p:grpSpPr>
            <a:xfrm>
              <a:off x="5522964" y="5992799"/>
              <a:ext cx="977839" cy="711124"/>
              <a:chOff x="9535905" y="5961691"/>
              <a:chExt cx="977839" cy="711124"/>
            </a:xfrm>
          </p:grpSpPr>
          <p:sp>
            <p:nvSpPr>
              <p:cNvPr id="85" name="四角形: 角を丸くする 84">
                <a:extLst>
                  <a:ext uri="{FF2B5EF4-FFF2-40B4-BE49-F238E27FC236}">
                    <a16:creationId xmlns:a16="http://schemas.microsoft.com/office/drawing/2014/main" id="{8115EBE6-C8E1-05DA-940E-C37457B45D42}"/>
                  </a:ext>
                </a:extLst>
              </p:cNvPr>
              <p:cNvSpPr/>
              <p:nvPr/>
            </p:nvSpPr>
            <p:spPr bwMode="auto">
              <a:xfrm>
                <a:off x="9669263" y="5961691"/>
                <a:ext cx="711124" cy="711124"/>
              </a:xfrm>
              <a:prstGeom prst="roundRect">
                <a:avLst/>
              </a:prstGeom>
              <a:solidFill>
                <a:schemeClr val="accent1">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FE28C89B-565B-AFAF-E087-B29D220ACDE5}"/>
                  </a:ext>
                </a:extLst>
              </p:cNvPr>
              <p:cNvSpPr txBox="1"/>
              <p:nvPr/>
            </p:nvSpPr>
            <p:spPr>
              <a:xfrm>
                <a:off x="9535905" y="6426593"/>
                <a:ext cx="977839" cy="230832"/>
              </a:xfrm>
              <a:prstGeom prst="rect">
                <a:avLst/>
              </a:prstGeom>
              <a:noFill/>
            </p:spPr>
            <p:txBody>
              <a:bodyPr wrap="square" rtlCol="0">
                <a:spAutoFit/>
              </a:bodyPr>
              <a:lstStyle/>
              <a:p>
                <a:pPr algn="ctr"/>
                <a:r>
                  <a:rPr kumimoji="1" lang="ja-JP" altLang="en-US" sz="900" b="1">
                    <a:solidFill>
                      <a:schemeClr val="accent1">
                        <a:lumMod val="75000"/>
                      </a:schemeClr>
                    </a:solidFill>
                    <a:latin typeface="メイリオ" panose="020B0604030504040204" pitchFamily="50" charset="-128"/>
                    <a:ea typeface="メイリオ" panose="020B0604030504040204" pitchFamily="50" charset="-128"/>
                  </a:rPr>
                  <a:t>自己研鑚</a:t>
                </a:r>
                <a:endParaRPr kumimoji="1" lang="en-US" altLang="ja-JP" sz="900" b="1">
                  <a:solidFill>
                    <a:schemeClr val="accent1">
                      <a:lumMod val="75000"/>
                    </a:schemeClr>
                  </a:solidFill>
                  <a:latin typeface="メイリオ" panose="020B0604030504040204" pitchFamily="50" charset="-128"/>
                  <a:ea typeface="メイリオ" panose="020B0604030504040204" pitchFamily="50" charset="-128"/>
                </a:endParaRPr>
              </a:p>
            </p:txBody>
          </p:sp>
        </p:grpSp>
        <p:pic>
          <p:nvPicPr>
            <p:cNvPr id="95" name="グラフィックス 94" descr="本 単色塗りつぶし">
              <a:extLst>
                <a:ext uri="{FF2B5EF4-FFF2-40B4-BE49-F238E27FC236}">
                  <a16:creationId xmlns:a16="http://schemas.microsoft.com/office/drawing/2014/main" id="{58F1B71C-2C92-D0C6-1BF2-4EB4106E5B5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12579" y="6070953"/>
              <a:ext cx="416850" cy="416850"/>
            </a:xfrm>
            <a:prstGeom prst="rect">
              <a:avLst/>
            </a:prstGeom>
          </p:spPr>
        </p:pic>
      </p:grpSp>
      <p:cxnSp>
        <p:nvCxnSpPr>
          <p:cNvPr id="99" name="直線コネクタ 98">
            <a:extLst>
              <a:ext uri="{FF2B5EF4-FFF2-40B4-BE49-F238E27FC236}">
                <a16:creationId xmlns:a16="http://schemas.microsoft.com/office/drawing/2014/main" id="{6A433D23-8BAA-D97A-4D4C-8DA16E18377A}"/>
              </a:ext>
            </a:extLst>
          </p:cNvPr>
          <p:cNvCxnSpPr>
            <a:cxnSpLocks/>
          </p:cNvCxnSpPr>
          <p:nvPr/>
        </p:nvCxnSpPr>
        <p:spPr>
          <a:xfrm flipV="1">
            <a:off x="4603398" y="4663325"/>
            <a:ext cx="351582" cy="52625"/>
          </a:xfrm>
          <a:prstGeom prst="line">
            <a:avLst/>
          </a:prstGeom>
          <a:ln w="28575">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9783742C-B961-946C-5F9F-197BB678174B}"/>
              </a:ext>
            </a:extLst>
          </p:cNvPr>
          <p:cNvSpPr txBox="1"/>
          <p:nvPr/>
        </p:nvSpPr>
        <p:spPr>
          <a:xfrm>
            <a:off x="5181360" y="5096885"/>
            <a:ext cx="3193418" cy="369332"/>
          </a:xfrm>
          <a:prstGeom prst="rect">
            <a:avLst/>
          </a:prstGeom>
          <a:noFill/>
        </p:spPr>
        <p:txBody>
          <a:bodyPr wrap="square" rtlCol="0">
            <a:spAutoFit/>
          </a:bodyPr>
          <a:lstStyle/>
          <a:p>
            <a:pPr algn="r"/>
            <a:r>
              <a:rPr kumimoji="1" lang="ja-JP" altLang="en-US" sz="900">
                <a:solidFill>
                  <a:schemeClr val="accent4">
                    <a:lumMod val="75000"/>
                  </a:schemeClr>
                </a:solidFill>
                <a:latin typeface="メイリオ" panose="020B0604030504040204" pitchFamily="50" charset="-128"/>
                <a:ea typeface="メイリオ" panose="020B0604030504040204" pitchFamily="50" charset="-128"/>
              </a:rPr>
              <a:t>▲</a:t>
            </a:r>
            <a:r>
              <a:rPr kumimoji="1" lang="en-US" altLang="ja-JP"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CGWORLD.jp</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a:t>
            </a:r>
            <a:r>
              <a:rPr kumimoji="1" lang="en-US" altLang="ja-JP"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WHO‘S NEXT</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a:t>
            </a:r>
            <a:r>
              <a:rPr kumimoji="1" lang="en-US" altLang="ja-JP"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2024</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年第</a:t>
            </a:r>
            <a:r>
              <a:rPr kumimoji="1" lang="en-US" altLang="ja-JP"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1</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弾</a:t>
            </a:r>
            <a:endParaRPr kumimoji="1" lang="en-US" altLang="ja-JP"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endParaRPr>
          </a:p>
          <a:p>
            <a:pPr algn="r"/>
            <a:r>
              <a:rPr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背景・プロップ</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部門の優秀作品</a:t>
            </a:r>
            <a:r>
              <a:rPr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　</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第</a:t>
            </a:r>
            <a:r>
              <a:rPr kumimoji="1" lang="en-US" altLang="ja-JP"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8</a:t>
            </a:r>
            <a:r>
              <a:rPr kumimoji="1" lang="ja-JP" altLang="en-US" sz="900">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位に入賞</a:t>
            </a:r>
            <a:endParaRPr kumimoji="1" lang="ja-JP" altLang="en-US" sz="900">
              <a:solidFill>
                <a:schemeClr val="accent4">
                  <a:lumMod val="75000"/>
                </a:schemeClr>
              </a:solidFill>
              <a:latin typeface="メイリオ" panose="020B0604030504040204" pitchFamily="50" charset="-128"/>
              <a:ea typeface="メイリオ" panose="020B0604030504040204" pitchFamily="50" charset="-128"/>
            </a:endParaRPr>
          </a:p>
        </p:txBody>
      </p:sp>
      <p:pic>
        <p:nvPicPr>
          <p:cNvPr id="107" name="図 106" descr="白いシャツを着ている男は黒い髪がある&#10;&#10;中程度の精度で自動的に生成された説明">
            <a:extLst>
              <a:ext uri="{FF2B5EF4-FFF2-40B4-BE49-F238E27FC236}">
                <a16:creationId xmlns:a16="http://schemas.microsoft.com/office/drawing/2014/main" id="{92066569-FBA2-3388-7E99-192CFA669F1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98811" y="2007017"/>
            <a:ext cx="1282743" cy="760144"/>
          </a:xfrm>
          <a:prstGeom prst="rect">
            <a:avLst/>
          </a:prstGeom>
        </p:spPr>
      </p:pic>
      <p:pic>
        <p:nvPicPr>
          <p:cNvPr id="109" name="図 108" descr="グラフィカル ユーザー インターフェイス が含まれている画像&#10;&#10;自動的に生成された説明">
            <a:extLst>
              <a:ext uri="{FF2B5EF4-FFF2-40B4-BE49-F238E27FC236}">
                <a16:creationId xmlns:a16="http://schemas.microsoft.com/office/drawing/2014/main" id="{E2431FAE-AF7E-7AFA-7EE0-AAE05A7E132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622750" y="2499693"/>
            <a:ext cx="755933" cy="1066479"/>
          </a:xfrm>
          <a:prstGeom prst="rect">
            <a:avLst/>
          </a:prstGeom>
        </p:spPr>
      </p:pic>
      <p:sp>
        <p:nvSpPr>
          <p:cNvPr id="110" name="テキスト ボックス 109">
            <a:extLst>
              <a:ext uri="{FF2B5EF4-FFF2-40B4-BE49-F238E27FC236}">
                <a16:creationId xmlns:a16="http://schemas.microsoft.com/office/drawing/2014/main" id="{F2F6FA28-C2A7-322D-A4EF-14B0C299DFD2}"/>
              </a:ext>
            </a:extLst>
          </p:cNvPr>
          <p:cNvSpPr txBox="1"/>
          <p:nvPr/>
        </p:nvSpPr>
        <p:spPr>
          <a:xfrm>
            <a:off x="1099824" y="2813002"/>
            <a:ext cx="1695284" cy="663067"/>
          </a:xfrm>
          <a:prstGeom prst="rect">
            <a:avLst/>
          </a:prstGeom>
          <a:noFill/>
        </p:spPr>
        <p:txBody>
          <a:bodyPr wrap="square" rtlCol="0">
            <a:spAutoFit/>
          </a:bodyPr>
          <a:lstStyle/>
          <a:p>
            <a:pPr>
              <a:lnSpc>
                <a:spcPct val="150000"/>
              </a:lnSpc>
            </a:pPr>
            <a:r>
              <a:rPr lang="ja-JP" altLang="en-US" sz="700" b="0" i="0">
                <a:solidFill>
                  <a:srgbClr val="1C1F22"/>
                </a:solidFill>
                <a:effectLst/>
              </a:rPr>
              <a:t>＜</a:t>
            </a:r>
            <a:r>
              <a:rPr lang="en-US" altLang="ja-JP" sz="700" b="0" i="0">
                <a:solidFill>
                  <a:srgbClr val="1C1F22"/>
                </a:solidFill>
                <a:effectLst/>
              </a:rPr>
              <a:t>CG</a:t>
            </a:r>
            <a:r>
              <a:rPr lang="ja-JP" altLang="en-US" sz="700" b="0" i="0">
                <a:solidFill>
                  <a:srgbClr val="1C1F22"/>
                </a:solidFill>
                <a:effectLst/>
              </a:rPr>
              <a:t>ブラッシュアップコース＞</a:t>
            </a:r>
            <a:endParaRPr lang="en-US" altLang="ja-JP" sz="700" b="0" i="0">
              <a:solidFill>
                <a:srgbClr val="1C1F22"/>
              </a:solidFill>
              <a:effectLst/>
            </a:endParaRPr>
          </a:p>
          <a:p>
            <a:pPr>
              <a:lnSpc>
                <a:spcPct val="150000"/>
              </a:lnSpc>
            </a:pPr>
            <a:r>
              <a:rPr lang="ja-JP" altLang="en-US" sz="700" b="0" i="0">
                <a:solidFill>
                  <a:srgbClr val="1C1F22"/>
                </a:solidFill>
                <a:effectLst/>
              </a:rPr>
              <a:t>＜昼間</a:t>
            </a:r>
            <a:r>
              <a:rPr lang="en-US" altLang="ja-JP" sz="700" b="0" i="0">
                <a:solidFill>
                  <a:srgbClr val="1C1F22"/>
                </a:solidFill>
                <a:effectLst/>
              </a:rPr>
              <a:t>3DCG</a:t>
            </a:r>
            <a:r>
              <a:rPr lang="ja-JP" altLang="en-US" sz="700" b="0" i="0">
                <a:solidFill>
                  <a:srgbClr val="1C1F22"/>
                </a:solidFill>
                <a:effectLst/>
              </a:rPr>
              <a:t>モデルコース＞</a:t>
            </a:r>
            <a:endParaRPr lang="en-US" altLang="ja-JP" sz="700" b="0" i="0">
              <a:solidFill>
                <a:srgbClr val="1C1F22"/>
              </a:solidFill>
              <a:effectLst/>
            </a:endParaRPr>
          </a:p>
          <a:p>
            <a:pPr>
              <a:lnSpc>
                <a:spcPct val="150000"/>
              </a:lnSpc>
            </a:pPr>
            <a:r>
              <a:rPr lang="ja-JP" altLang="en-US" sz="1200" b="1" i="0">
                <a:solidFill>
                  <a:srgbClr val="1C1F22"/>
                </a:solidFill>
                <a:effectLst/>
              </a:rPr>
              <a:t>講師：</a:t>
            </a:r>
            <a:r>
              <a:rPr lang="ja-JP" altLang="en-US" sz="1200" b="1" i="0">
                <a:solidFill>
                  <a:schemeClr val="accent4">
                    <a:lumMod val="75000"/>
                  </a:schemeClr>
                </a:solidFill>
                <a:effectLst/>
                <a:hlinkClick r:id="rId12">
                  <a:extLst>
                    <a:ext uri="{A12FA001-AC4F-418D-AE19-62706E023703}">
                      <ahyp:hlinkClr xmlns:ahyp="http://schemas.microsoft.com/office/drawing/2018/hyperlinkcolor" val="tx"/>
                    </a:ext>
                  </a:extLst>
                </a:hlinkClick>
              </a:rPr>
              <a:t>佐藤 智幸</a:t>
            </a:r>
            <a:endParaRPr lang="en-US" altLang="ja-JP" sz="1200" b="1">
              <a:solidFill>
                <a:schemeClr val="accent4">
                  <a:lumMod val="75000"/>
                </a:schemeClr>
              </a:solidFill>
            </a:endParaRPr>
          </a:p>
        </p:txBody>
      </p:sp>
      <p:sp>
        <p:nvSpPr>
          <p:cNvPr id="111" name="テキスト ボックス 110">
            <a:extLst>
              <a:ext uri="{FF2B5EF4-FFF2-40B4-BE49-F238E27FC236}">
                <a16:creationId xmlns:a16="http://schemas.microsoft.com/office/drawing/2014/main" id="{6CA2ABB7-B801-D236-8CE2-020A08699644}"/>
              </a:ext>
            </a:extLst>
          </p:cNvPr>
          <p:cNvSpPr txBox="1"/>
          <p:nvPr/>
        </p:nvSpPr>
        <p:spPr>
          <a:xfrm>
            <a:off x="2533918" y="1972268"/>
            <a:ext cx="1048589" cy="514693"/>
          </a:xfrm>
          <a:prstGeom prst="rect">
            <a:avLst/>
          </a:prstGeom>
          <a:noFill/>
        </p:spPr>
        <p:txBody>
          <a:bodyPr wrap="square" rtlCol="0">
            <a:spAutoFit/>
          </a:bodyPr>
          <a:lstStyle/>
          <a:p>
            <a:pPr>
              <a:lnSpc>
                <a:spcPct val="150000"/>
              </a:lnSpc>
            </a:pPr>
            <a:r>
              <a:rPr lang="ja-JP" altLang="en-US" sz="700" b="0" i="0">
                <a:solidFill>
                  <a:srgbClr val="1C1F22"/>
                </a:solidFill>
                <a:effectLst/>
              </a:rPr>
              <a:t>▽著書</a:t>
            </a:r>
            <a:r>
              <a:rPr lang="en-US" altLang="ja-JP" sz="600" b="1">
                <a:solidFill>
                  <a:schemeClr val="accent4">
                    <a:lumMod val="75000"/>
                  </a:schemeClr>
                </a:solidFill>
                <a:hlinkClick r:id="rId13">
                  <a:extLst>
                    <a:ext uri="{A12FA001-AC4F-418D-AE19-62706E023703}">
                      <ahyp:hlinkClr xmlns:ahyp="http://schemas.microsoft.com/office/drawing/2018/hyperlinkcolor" val="tx"/>
                    </a:ext>
                  </a:extLst>
                </a:hlinkClick>
              </a:rPr>
              <a:t>『CG</a:t>
            </a:r>
            <a:r>
              <a:rPr lang="ja-JP" altLang="en-US" sz="600" b="1">
                <a:solidFill>
                  <a:schemeClr val="accent4">
                    <a:lumMod val="75000"/>
                  </a:schemeClr>
                </a:solidFill>
                <a:hlinkClick r:id="rId13">
                  <a:extLst>
                    <a:ext uri="{A12FA001-AC4F-418D-AE19-62706E023703}">
                      <ahyp:hlinkClr xmlns:ahyp="http://schemas.microsoft.com/office/drawing/2018/hyperlinkcolor" val="tx"/>
                    </a:ext>
                  </a:extLst>
                </a:hlinkClick>
              </a:rPr>
              <a:t>クリエイターになるためのポートフォリオ制作の教科書</a:t>
            </a:r>
            <a:r>
              <a:rPr lang="en-US" altLang="ja-JP" sz="600" b="1">
                <a:solidFill>
                  <a:schemeClr val="accent4">
                    <a:lumMod val="75000"/>
                  </a:schemeClr>
                </a:solidFill>
                <a:hlinkClick r:id="rId13">
                  <a:extLst>
                    <a:ext uri="{A12FA001-AC4F-418D-AE19-62706E023703}">
                      <ahyp:hlinkClr xmlns:ahyp="http://schemas.microsoft.com/office/drawing/2018/hyperlinkcolor" val="tx"/>
                    </a:ext>
                  </a:extLst>
                </a:hlinkClick>
              </a:rPr>
              <a:t>』</a:t>
            </a:r>
            <a:endParaRPr lang="en-US" altLang="ja-JP" sz="600" b="1">
              <a:solidFill>
                <a:schemeClr val="accent4">
                  <a:lumMod val="75000"/>
                </a:schemeClr>
              </a:solidFill>
            </a:endParaRPr>
          </a:p>
        </p:txBody>
      </p:sp>
      <p:pic>
        <p:nvPicPr>
          <p:cNvPr id="9" name="図 8" descr="シャツを着ている男はスマイルしている&#10;&#10;中程度の精度で自動的に生成された説明">
            <a:extLst>
              <a:ext uri="{FF2B5EF4-FFF2-40B4-BE49-F238E27FC236}">
                <a16:creationId xmlns:a16="http://schemas.microsoft.com/office/drawing/2014/main" id="{4F389E9D-BDC7-4102-7DFA-39BD49B517D7}"/>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582507" y="2001229"/>
            <a:ext cx="1264709" cy="749457"/>
          </a:xfrm>
          <a:prstGeom prst="rect">
            <a:avLst/>
          </a:prstGeom>
        </p:spPr>
      </p:pic>
      <p:sp>
        <p:nvSpPr>
          <p:cNvPr id="10" name="テキスト ボックス 9">
            <a:extLst>
              <a:ext uri="{FF2B5EF4-FFF2-40B4-BE49-F238E27FC236}">
                <a16:creationId xmlns:a16="http://schemas.microsoft.com/office/drawing/2014/main" id="{7C99B960-048D-4444-2491-F3804172A273}"/>
              </a:ext>
            </a:extLst>
          </p:cNvPr>
          <p:cNvSpPr txBox="1"/>
          <p:nvPr/>
        </p:nvSpPr>
        <p:spPr>
          <a:xfrm>
            <a:off x="3482419" y="2809430"/>
            <a:ext cx="1717201" cy="878126"/>
          </a:xfrm>
          <a:prstGeom prst="rect">
            <a:avLst/>
          </a:prstGeom>
          <a:noFill/>
        </p:spPr>
        <p:txBody>
          <a:bodyPr wrap="square" rtlCol="0">
            <a:spAutoFit/>
          </a:bodyPr>
          <a:lstStyle/>
          <a:p>
            <a:pPr>
              <a:lnSpc>
                <a:spcPct val="150000"/>
              </a:lnSpc>
            </a:pPr>
            <a:r>
              <a:rPr lang="ja-JP" altLang="en-US" sz="700" b="0" i="0">
                <a:solidFill>
                  <a:srgbClr val="1C1F22"/>
                </a:solidFill>
                <a:effectLst/>
              </a:rPr>
              <a:t>＜昼間</a:t>
            </a:r>
            <a:r>
              <a:rPr lang="en-US" altLang="ja-JP" sz="700" b="0" i="0">
                <a:solidFill>
                  <a:srgbClr val="1C1F22"/>
                </a:solidFill>
                <a:effectLst/>
              </a:rPr>
              <a:t>3DCG</a:t>
            </a:r>
            <a:r>
              <a:rPr lang="ja-JP" altLang="en-US" sz="700" b="0" i="0">
                <a:solidFill>
                  <a:srgbClr val="1C1F22"/>
                </a:solidFill>
                <a:effectLst/>
              </a:rPr>
              <a:t>モデルコース特別講師＞</a:t>
            </a:r>
            <a:endParaRPr lang="en-US" altLang="ja-JP" sz="700" b="0" i="0">
              <a:solidFill>
                <a:srgbClr val="1C1F22"/>
              </a:solidFill>
              <a:effectLst/>
            </a:endParaRPr>
          </a:p>
          <a:p>
            <a:pPr>
              <a:lnSpc>
                <a:spcPct val="150000"/>
              </a:lnSpc>
            </a:pPr>
            <a:endParaRPr lang="en-US" altLang="ja-JP" sz="700" b="0" i="0">
              <a:solidFill>
                <a:srgbClr val="1C1F22"/>
              </a:solidFill>
              <a:effectLst/>
            </a:endParaRPr>
          </a:p>
          <a:p>
            <a:pPr>
              <a:lnSpc>
                <a:spcPct val="150000"/>
              </a:lnSpc>
            </a:pPr>
            <a:r>
              <a:rPr lang="ja-JP" altLang="en-US" sz="1200" b="1">
                <a:solidFill>
                  <a:srgbClr val="1C1F22"/>
                </a:solidFill>
              </a:rPr>
              <a:t>特別</a:t>
            </a:r>
            <a:r>
              <a:rPr lang="ja-JP" altLang="en-US" sz="1200" b="1" i="0">
                <a:solidFill>
                  <a:srgbClr val="1C1F22"/>
                </a:solidFill>
                <a:effectLst/>
              </a:rPr>
              <a:t>講師：</a:t>
            </a:r>
            <a:r>
              <a:rPr lang="ja-JP" altLang="en-US" sz="1200" b="1" i="0">
                <a:solidFill>
                  <a:srgbClr val="24A4A1"/>
                </a:solidFill>
                <a:effectLst/>
                <a:hlinkClick r:id="rId15">
                  <a:extLst>
                    <a:ext uri="{A12FA001-AC4F-418D-AE19-62706E023703}">
                      <ahyp:hlinkClr xmlns:ahyp="http://schemas.microsoft.com/office/drawing/2018/hyperlinkcolor" val="tx"/>
                    </a:ext>
                  </a:extLst>
                </a:hlinkClick>
              </a:rPr>
              <a:t>北田 栄二</a:t>
            </a:r>
            <a:endParaRPr lang="en-US" altLang="ja-JP" sz="1200" b="1" i="0">
              <a:solidFill>
                <a:srgbClr val="24A4A1"/>
              </a:solidFill>
              <a:effectLst/>
            </a:endParaRPr>
          </a:p>
          <a:p>
            <a:pPr>
              <a:lnSpc>
                <a:spcPct val="150000"/>
              </a:lnSpc>
            </a:pPr>
            <a:r>
              <a:rPr lang="ja-JP" altLang="en-US" sz="900" b="1">
                <a:solidFill>
                  <a:srgbClr val="24A4A1"/>
                </a:solidFill>
              </a:rPr>
              <a:t>（</a:t>
            </a:r>
            <a:r>
              <a:rPr lang="ja-JP" altLang="en-US" sz="900" b="0" i="0">
                <a:solidFill>
                  <a:srgbClr val="24A4A1"/>
                </a:solidFill>
                <a:effectLst/>
                <a:latin typeface="+mn-ea"/>
                <a:hlinkClick r:id="rId16">
                  <a:extLst>
                    <a:ext uri="{A12FA001-AC4F-418D-AE19-62706E023703}">
                      <ahyp:hlinkClr xmlns:ahyp="http://schemas.microsoft.com/office/drawing/2018/hyperlinkcolor" val="tx"/>
                    </a:ext>
                  </a:extLst>
                </a:hlinkClick>
              </a:rPr>
              <a:t>株式会社</a:t>
            </a:r>
            <a:r>
              <a:rPr lang="en-US" altLang="ja-JP" sz="900" b="0" i="0" err="1">
                <a:solidFill>
                  <a:srgbClr val="24A4A1"/>
                </a:solidFill>
                <a:effectLst/>
                <a:latin typeface="+mn-ea"/>
                <a:hlinkClick r:id="rId16">
                  <a:extLst>
                    <a:ext uri="{A12FA001-AC4F-418D-AE19-62706E023703}">
                      <ahyp:hlinkClr xmlns:ahyp="http://schemas.microsoft.com/office/drawing/2018/hyperlinkcolor" val="tx"/>
                    </a:ext>
                  </a:extLst>
                </a:hlinkClick>
              </a:rPr>
              <a:t>ModelingCafe</a:t>
            </a:r>
            <a:r>
              <a:rPr lang="ja-JP" altLang="en-US" sz="900" b="1">
                <a:solidFill>
                  <a:srgbClr val="24A4A1"/>
                </a:solidFill>
              </a:rPr>
              <a:t>）</a:t>
            </a:r>
            <a:endParaRPr lang="en-US" altLang="ja-JP" sz="900" b="1">
              <a:solidFill>
                <a:srgbClr val="24A4A1"/>
              </a:solidFill>
            </a:endParaRPr>
          </a:p>
        </p:txBody>
      </p:sp>
    </p:spTree>
    <p:extLst>
      <p:ext uri="{BB962C8B-B14F-4D97-AF65-F5344CB8AC3E}">
        <p14:creationId xmlns:p14="http://schemas.microsoft.com/office/powerpoint/2010/main" val="19818267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B7B89-44BD-5684-1F06-91116B9B056B}"/>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E5EE4CE-79AB-07FC-DCA5-26A47E0C082F}"/>
              </a:ext>
            </a:extLst>
          </p:cNvPr>
          <p:cNvSpPr>
            <a:spLocks noGrp="1"/>
          </p:cNvSpPr>
          <p:nvPr>
            <p:ph idx="10"/>
          </p:nvPr>
        </p:nvSpPr>
        <p:spPr/>
        <p:txBody>
          <a:bodyPr/>
          <a:lstStyle/>
          <a:p>
            <a:r>
              <a:rPr kumimoji="1" lang="en-US" altLang="ja-JP"/>
              <a:t>C&amp;R</a:t>
            </a:r>
            <a:r>
              <a:rPr kumimoji="1" lang="ja-JP" altLang="en-US"/>
              <a:t>クリエイティブスタジオ主催で、クリエイター交流イベントも積極的に開催しています。</a:t>
            </a:r>
          </a:p>
        </p:txBody>
      </p:sp>
      <p:sp>
        <p:nvSpPr>
          <p:cNvPr id="3" name="タイトル 2">
            <a:extLst>
              <a:ext uri="{FF2B5EF4-FFF2-40B4-BE49-F238E27FC236}">
                <a16:creationId xmlns:a16="http://schemas.microsoft.com/office/drawing/2014/main" id="{B855012F-91BA-FA07-60FB-DC6D5E88097F}"/>
              </a:ext>
            </a:extLst>
          </p:cNvPr>
          <p:cNvSpPr>
            <a:spLocks noGrp="1"/>
          </p:cNvSpPr>
          <p:nvPr>
            <p:ph type="title"/>
          </p:nvPr>
        </p:nvSpPr>
        <p:spPr/>
        <p:txBody>
          <a:bodyPr/>
          <a:lstStyle/>
          <a:p>
            <a:r>
              <a:rPr kumimoji="1" lang="en-US" altLang="ja-JP"/>
              <a:t>2024</a:t>
            </a:r>
            <a:r>
              <a:rPr kumimoji="1" lang="ja-JP" altLang="en-US"/>
              <a:t>年 クリエイター交流会イベント実績（一部）</a:t>
            </a:r>
          </a:p>
        </p:txBody>
      </p:sp>
      <p:sp>
        <p:nvSpPr>
          <p:cNvPr id="4" name="スライド番号プレースホルダー 3">
            <a:extLst>
              <a:ext uri="{FF2B5EF4-FFF2-40B4-BE49-F238E27FC236}">
                <a16:creationId xmlns:a16="http://schemas.microsoft.com/office/drawing/2014/main" id="{D82D5C51-2464-1E14-FD36-7CA6ECBC2E0B}"/>
              </a:ext>
            </a:extLst>
          </p:cNvPr>
          <p:cNvSpPr>
            <a:spLocks noGrp="1"/>
          </p:cNvSpPr>
          <p:nvPr>
            <p:ph type="sldNum" sz="quarter" idx="11"/>
          </p:nvPr>
        </p:nvSpPr>
        <p:spPr/>
        <p:txBody>
          <a:bodyPr/>
          <a:lstStyle/>
          <a:p>
            <a:fld id="{B75FDD43-FCEC-4ECC-8189-A5C6D2E08DC6}" type="slidenum">
              <a:rPr lang="ja-JP" altLang="en-US" smtClean="0"/>
              <a:pPr/>
              <a:t>39</a:t>
            </a:fld>
            <a:endParaRPr lang="ja-JP" altLang="en-US"/>
          </a:p>
        </p:txBody>
      </p:sp>
      <p:sp>
        <p:nvSpPr>
          <p:cNvPr id="9" name="テキスト ボックス 8">
            <a:extLst>
              <a:ext uri="{FF2B5EF4-FFF2-40B4-BE49-F238E27FC236}">
                <a16:creationId xmlns:a16="http://schemas.microsoft.com/office/drawing/2014/main" id="{2DCC8672-0A29-B2A8-52D8-131FAC353A79}"/>
              </a:ext>
            </a:extLst>
          </p:cNvPr>
          <p:cNvSpPr txBox="1"/>
          <p:nvPr/>
        </p:nvSpPr>
        <p:spPr>
          <a:xfrm>
            <a:off x="4401454" y="6396308"/>
            <a:ext cx="7007937" cy="184666"/>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引用：</a:t>
            </a:r>
            <a:r>
              <a:rPr lang="ja-JP" altLang="en-US" sz="1200">
                <a:latin typeface="メイリオ" panose="020B0604030504040204" pitchFamily="50" charset="-128"/>
                <a:ea typeface="メイリオ" panose="020B0604030504040204" pitchFamily="50" charset="-128"/>
              </a:rPr>
              <a:t>「</a:t>
            </a:r>
            <a:r>
              <a:rPr lang="en-US" altLang="ja-JP" sz="1200">
                <a:latin typeface="メイリオ" panose="020B0604030504040204" pitchFamily="50" charset="-128"/>
                <a:ea typeface="メイリオ" panose="020B0604030504040204" pitchFamily="50" charset="-128"/>
              </a:rPr>
              <a:t>CREATIVE VILLAGE</a:t>
            </a:r>
            <a:r>
              <a:rPr lang="ja-JP" altLang="en-US" sz="1200">
                <a:latin typeface="メイリオ" panose="020B0604030504040204" pitchFamily="50" charset="-128"/>
                <a:ea typeface="メイリオ" panose="020B0604030504040204" pitchFamily="50" charset="-128"/>
              </a:rPr>
              <a:t>」等の</a:t>
            </a: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ニュースリリースより抜粋</a:t>
            </a:r>
            <a:endPar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p:txBody>
      </p:sp>
      <p:pic>
        <p:nvPicPr>
          <p:cNvPr id="7" name="図 6" descr="グラフィカル ユーザー インターフェイス&#10;&#10;自動的に生成された説明">
            <a:extLst>
              <a:ext uri="{FF2B5EF4-FFF2-40B4-BE49-F238E27FC236}">
                <a16:creationId xmlns:a16="http://schemas.microsoft.com/office/drawing/2014/main" id="{DDCAFB28-C423-7418-6C32-EF2595C76F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4234" y="4564803"/>
            <a:ext cx="2912359" cy="1638202"/>
          </a:xfrm>
          <a:prstGeom prst="rect">
            <a:avLst/>
          </a:prstGeom>
        </p:spPr>
      </p:pic>
      <p:pic>
        <p:nvPicPr>
          <p:cNvPr id="13" name="図 12" descr="グラフィカル ユーザー インターフェイス, テキスト, アプリケーション&#10;&#10;自動的に生成された説明">
            <a:extLst>
              <a:ext uri="{FF2B5EF4-FFF2-40B4-BE49-F238E27FC236}">
                <a16:creationId xmlns:a16="http://schemas.microsoft.com/office/drawing/2014/main" id="{138E7B46-7BE9-8FA9-C30C-6E9109F813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1308" y="4564803"/>
            <a:ext cx="2912359" cy="1638202"/>
          </a:xfrm>
          <a:prstGeom prst="rect">
            <a:avLst/>
          </a:prstGeom>
        </p:spPr>
      </p:pic>
      <p:pic>
        <p:nvPicPr>
          <p:cNvPr id="15" name="図 14" descr="テキスト, 新聞, 男, 人 が含まれている画像&#10;&#10;自動的に生成された説明">
            <a:extLst>
              <a:ext uri="{FF2B5EF4-FFF2-40B4-BE49-F238E27FC236}">
                <a16:creationId xmlns:a16="http://schemas.microsoft.com/office/drawing/2014/main" id="{9F3954A7-AAE1-5D0C-B5CA-90BFEAB8722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54449" y="1111705"/>
            <a:ext cx="2912359" cy="1639970"/>
          </a:xfrm>
          <a:prstGeom prst="rect">
            <a:avLst/>
          </a:prstGeom>
        </p:spPr>
      </p:pic>
      <p:pic>
        <p:nvPicPr>
          <p:cNvPr id="19" name="図 18" descr="人, 建物, テーブル, 立つ が含まれている画像&#10;&#10;自動的に生成された説明">
            <a:extLst>
              <a:ext uri="{FF2B5EF4-FFF2-40B4-BE49-F238E27FC236}">
                <a16:creationId xmlns:a16="http://schemas.microsoft.com/office/drawing/2014/main" id="{F15A4B58-4776-2808-470B-94622404F1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41308" y="1109149"/>
            <a:ext cx="2919827" cy="1630236"/>
          </a:xfrm>
          <a:prstGeom prst="rect">
            <a:avLst/>
          </a:prstGeom>
        </p:spPr>
      </p:pic>
      <p:pic>
        <p:nvPicPr>
          <p:cNvPr id="21" name="図 20" descr="テキスト&#10;&#10;自動的に生成された説明">
            <a:extLst>
              <a:ext uri="{FF2B5EF4-FFF2-40B4-BE49-F238E27FC236}">
                <a16:creationId xmlns:a16="http://schemas.microsoft.com/office/drawing/2014/main" id="{72E39F75-9FEE-DA0F-B87B-B2D1710D75E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31370" y="2835348"/>
            <a:ext cx="2919827" cy="1642402"/>
          </a:xfrm>
          <a:prstGeom prst="rect">
            <a:avLst/>
          </a:prstGeom>
        </p:spPr>
      </p:pic>
      <p:pic>
        <p:nvPicPr>
          <p:cNvPr id="23" name="図 22">
            <a:extLst>
              <a:ext uri="{FF2B5EF4-FFF2-40B4-BE49-F238E27FC236}">
                <a16:creationId xmlns:a16="http://schemas.microsoft.com/office/drawing/2014/main" id="{651C49F1-2C32-9D1C-0488-97CB080A20AF}"/>
              </a:ext>
            </a:extLst>
          </p:cNvPr>
          <p:cNvPicPr>
            <a:picLocks noChangeAspect="1"/>
          </p:cNvPicPr>
          <p:nvPr/>
        </p:nvPicPr>
        <p:blipFill>
          <a:blip r:embed="rId7"/>
          <a:stretch>
            <a:fillRect/>
          </a:stretch>
        </p:blipFill>
        <p:spPr>
          <a:xfrm>
            <a:off x="4551525" y="2835980"/>
            <a:ext cx="2919827" cy="1648748"/>
          </a:xfrm>
          <a:prstGeom prst="rect">
            <a:avLst/>
          </a:prstGeom>
        </p:spPr>
      </p:pic>
      <p:pic>
        <p:nvPicPr>
          <p:cNvPr id="25" name="図 24" descr="グラフィカル ユーザー インターフェイス, Web サイト&#10;&#10;自動的に生成された説明">
            <a:extLst>
              <a:ext uri="{FF2B5EF4-FFF2-40B4-BE49-F238E27FC236}">
                <a16:creationId xmlns:a16="http://schemas.microsoft.com/office/drawing/2014/main" id="{97D455E1-022C-20D3-C297-72892965C94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530501" y="1100075"/>
            <a:ext cx="2919827" cy="1642911"/>
          </a:xfrm>
          <a:prstGeom prst="rect">
            <a:avLst/>
          </a:prstGeom>
        </p:spPr>
      </p:pic>
      <p:pic>
        <p:nvPicPr>
          <p:cNvPr id="27" name="図 26">
            <a:extLst>
              <a:ext uri="{FF2B5EF4-FFF2-40B4-BE49-F238E27FC236}">
                <a16:creationId xmlns:a16="http://schemas.microsoft.com/office/drawing/2014/main" id="{73F1B540-FEEB-2BC1-7BD3-5EE6CCB6CA53}"/>
              </a:ext>
            </a:extLst>
          </p:cNvPr>
          <p:cNvPicPr>
            <a:picLocks noChangeAspect="1"/>
          </p:cNvPicPr>
          <p:nvPr/>
        </p:nvPicPr>
        <p:blipFill>
          <a:blip r:embed="rId9"/>
          <a:stretch>
            <a:fillRect/>
          </a:stretch>
        </p:blipFill>
        <p:spPr>
          <a:xfrm>
            <a:off x="7559687" y="4557483"/>
            <a:ext cx="2919827" cy="1544631"/>
          </a:xfrm>
          <a:prstGeom prst="rect">
            <a:avLst/>
          </a:prstGeom>
        </p:spPr>
      </p:pic>
      <p:pic>
        <p:nvPicPr>
          <p:cNvPr id="29" name="図 28">
            <a:extLst>
              <a:ext uri="{FF2B5EF4-FFF2-40B4-BE49-F238E27FC236}">
                <a16:creationId xmlns:a16="http://schemas.microsoft.com/office/drawing/2014/main" id="{AEB5A339-F1AE-C665-1C48-A0A74B910ACF}"/>
              </a:ext>
            </a:extLst>
          </p:cNvPr>
          <p:cNvPicPr>
            <a:picLocks noChangeAspect="1"/>
          </p:cNvPicPr>
          <p:nvPr/>
        </p:nvPicPr>
        <p:blipFill>
          <a:blip r:embed="rId10"/>
          <a:stretch>
            <a:fillRect/>
          </a:stretch>
        </p:blipFill>
        <p:spPr>
          <a:xfrm>
            <a:off x="7546981" y="2835980"/>
            <a:ext cx="2919827" cy="1651044"/>
          </a:xfrm>
          <a:prstGeom prst="rect">
            <a:avLst/>
          </a:prstGeom>
        </p:spPr>
      </p:pic>
    </p:spTree>
    <p:extLst>
      <p:ext uri="{BB962C8B-B14F-4D97-AF65-F5344CB8AC3E}">
        <p14:creationId xmlns:p14="http://schemas.microsoft.com/office/powerpoint/2010/main" val="6632826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A6F4B-5FEC-1A93-BCC0-91A171DED9C7}"/>
            </a:ext>
          </a:extLst>
        </p:cNvPr>
        <p:cNvGrpSpPr/>
        <p:nvPr/>
      </p:nvGrpSpPr>
      <p:grpSpPr>
        <a:xfrm>
          <a:off x="0" y="0"/>
          <a:ext cx="0" cy="0"/>
          <a:chOff x="0" y="0"/>
          <a:chExt cx="0" cy="0"/>
        </a:xfrm>
      </p:grpSpPr>
      <p:grpSp>
        <p:nvGrpSpPr>
          <p:cNvPr id="348" name="グループ化 347">
            <a:extLst>
              <a:ext uri="{FF2B5EF4-FFF2-40B4-BE49-F238E27FC236}">
                <a16:creationId xmlns:a16="http://schemas.microsoft.com/office/drawing/2014/main" id="{32F79773-9F11-2103-1D2B-6BBC9B404DD8}"/>
              </a:ext>
            </a:extLst>
          </p:cNvPr>
          <p:cNvGrpSpPr/>
          <p:nvPr/>
        </p:nvGrpSpPr>
        <p:grpSpPr>
          <a:xfrm>
            <a:off x="691858" y="3347105"/>
            <a:ext cx="4003815" cy="1441411"/>
            <a:chOff x="1681140" y="3444016"/>
            <a:chExt cx="3480391" cy="1274567"/>
          </a:xfrm>
        </p:grpSpPr>
        <p:sp>
          <p:nvSpPr>
            <p:cNvPr id="349" name="四角形: 角を丸くする 348">
              <a:extLst>
                <a:ext uri="{FF2B5EF4-FFF2-40B4-BE49-F238E27FC236}">
                  <a16:creationId xmlns:a16="http://schemas.microsoft.com/office/drawing/2014/main" id="{D2652591-BC59-4E9F-FDA1-626252EA0CF6}"/>
                </a:ext>
              </a:extLst>
            </p:cNvPr>
            <p:cNvSpPr/>
            <p:nvPr/>
          </p:nvSpPr>
          <p:spPr bwMode="auto">
            <a:xfrm>
              <a:off x="1681140" y="3444016"/>
              <a:ext cx="3480391" cy="1274567"/>
            </a:xfrm>
            <a:prstGeom prst="roundRect">
              <a:avLst>
                <a:gd name="adj" fmla="val 5262"/>
              </a:avLst>
            </a:prstGeom>
            <a:noFill/>
            <a:ln w="76200" algn="ctr">
              <a:solidFill>
                <a:schemeClr val="accent1">
                  <a:lumMod val="40000"/>
                  <a:lumOff val="6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cxnSp>
          <p:nvCxnSpPr>
            <p:cNvPr id="350" name="直線コネクタ 349">
              <a:extLst>
                <a:ext uri="{FF2B5EF4-FFF2-40B4-BE49-F238E27FC236}">
                  <a16:creationId xmlns:a16="http://schemas.microsoft.com/office/drawing/2014/main" id="{BE96C64A-CDE0-3412-3A6D-E4ED8E526A86}"/>
                </a:ext>
              </a:extLst>
            </p:cNvPr>
            <p:cNvCxnSpPr>
              <a:cxnSpLocks/>
            </p:cNvCxnSpPr>
            <p:nvPr/>
          </p:nvCxnSpPr>
          <p:spPr>
            <a:xfrm>
              <a:off x="1780999" y="3880965"/>
              <a:ext cx="3280672"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351" name="テキスト ボックス 350">
              <a:extLst>
                <a:ext uri="{FF2B5EF4-FFF2-40B4-BE49-F238E27FC236}">
                  <a16:creationId xmlns:a16="http://schemas.microsoft.com/office/drawing/2014/main" id="{DE14A43A-9F8C-F497-A8CB-44050DB4E277}"/>
                </a:ext>
              </a:extLst>
            </p:cNvPr>
            <p:cNvSpPr txBox="1"/>
            <p:nvPr/>
          </p:nvSpPr>
          <p:spPr>
            <a:xfrm>
              <a:off x="2488289" y="3524588"/>
              <a:ext cx="1866096" cy="326582"/>
            </a:xfrm>
            <a:prstGeom prst="rect">
              <a:avLst/>
            </a:prstGeom>
            <a:noFill/>
          </p:spPr>
          <p:txBody>
            <a:bodyPr wrap="none" rtlCol="0">
              <a:spAutoFit/>
            </a:bodyPr>
            <a:lstStyle/>
            <a:p>
              <a:pPr algn="ctr"/>
              <a:r>
                <a:rPr kumimoji="1" lang="ja-JP" altLang="en-US" b="1">
                  <a:latin typeface="メイリオ" panose="020B0604030504040204" pitchFamily="50" charset="-128"/>
                  <a:ea typeface="メイリオ" panose="020B0604030504040204" pitchFamily="50" charset="-128"/>
                </a:rPr>
                <a:t>品質管理･言語管理</a:t>
              </a:r>
            </a:p>
          </p:txBody>
        </p:sp>
      </p:grpSp>
      <p:grpSp>
        <p:nvGrpSpPr>
          <p:cNvPr id="337" name="グループ化 336">
            <a:extLst>
              <a:ext uri="{FF2B5EF4-FFF2-40B4-BE49-F238E27FC236}">
                <a16:creationId xmlns:a16="http://schemas.microsoft.com/office/drawing/2014/main" id="{8F0FF38D-5728-81AA-A776-18E3FDF81D5D}"/>
              </a:ext>
            </a:extLst>
          </p:cNvPr>
          <p:cNvGrpSpPr/>
          <p:nvPr/>
        </p:nvGrpSpPr>
        <p:grpSpPr>
          <a:xfrm>
            <a:off x="700911" y="1636835"/>
            <a:ext cx="3973445" cy="1441411"/>
            <a:chOff x="1681140" y="3444016"/>
            <a:chExt cx="3480391" cy="1274567"/>
          </a:xfrm>
        </p:grpSpPr>
        <p:sp>
          <p:nvSpPr>
            <p:cNvPr id="338" name="四角形: 角を丸くする 337">
              <a:extLst>
                <a:ext uri="{FF2B5EF4-FFF2-40B4-BE49-F238E27FC236}">
                  <a16:creationId xmlns:a16="http://schemas.microsoft.com/office/drawing/2014/main" id="{A7DC2F0B-F956-12F6-6099-0F65B3AE7469}"/>
                </a:ext>
              </a:extLst>
            </p:cNvPr>
            <p:cNvSpPr/>
            <p:nvPr/>
          </p:nvSpPr>
          <p:spPr bwMode="auto">
            <a:xfrm>
              <a:off x="1681140" y="3444016"/>
              <a:ext cx="3480391" cy="1274567"/>
            </a:xfrm>
            <a:prstGeom prst="roundRect">
              <a:avLst>
                <a:gd name="adj" fmla="val 5262"/>
              </a:avLst>
            </a:prstGeom>
            <a:noFill/>
            <a:ln w="76200" algn="ctr">
              <a:solidFill>
                <a:schemeClr val="accent1">
                  <a:lumMod val="40000"/>
                  <a:lumOff val="6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cxnSp>
          <p:nvCxnSpPr>
            <p:cNvPr id="339" name="直線コネクタ 338">
              <a:extLst>
                <a:ext uri="{FF2B5EF4-FFF2-40B4-BE49-F238E27FC236}">
                  <a16:creationId xmlns:a16="http://schemas.microsoft.com/office/drawing/2014/main" id="{C08FD089-095C-A3DA-BEB1-2E6CEA5E70D7}"/>
                </a:ext>
              </a:extLst>
            </p:cNvPr>
            <p:cNvCxnSpPr>
              <a:cxnSpLocks/>
            </p:cNvCxnSpPr>
            <p:nvPr/>
          </p:nvCxnSpPr>
          <p:spPr>
            <a:xfrm>
              <a:off x="1780999" y="3880965"/>
              <a:ext cx="3280672"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340" name="テキスト ボックス 339">
              <a:extLst>
                <a:ext uri="{FF2B5EF4-FFF2-40B4-BE49-F238E27FC236}">
                  <a16:creationId xmlns:a16="http://schemas.microsoft.com/office/drawing/2014/main" id="{C16BE5E5-C67D-CB4C-EE65-9B9C6374D785}"/>
                </a:ext>
              </a:extLst>
            </p:cNvPr>
            <p:cNvSpPr txBox="1"/>
            <p:nvPr/>
          </p:nvSpPr>
          <p:spPr>
            <a:xfrm>
              <a:off x="2733889" y="3524588"/>
              <a:ext cx="1374885" cy="326582"/>
            </a:xfrm>
            <a:prstGeom prst="rect">
              <a:avLst/>
            </a:prstGeom>
            <a:noFill/>
          </p:spPr>
          <p:txBody>
            <a:bodyPr wrap="none" rtlCol="0">
              <a:spAutoFit/>
            </a:bodyPr>
            <a:lstStyle/>
            <a:p>
              <a:pPr algn="ctr"/>
              <a:r>
                <a:rPr kumimoji="1" lang="ja-JP" altLang="en-US" b="1">
                  <a:latin typeface="メイリオ" panose="020B0604030504040204" pitchFamily="50" charset="-128"/>
                  <a:ea typeface="メイリオ" panose="020B0604030504040204" pitchFamily="50" charset="-128"/>
                </a:rPr>
                <a:t>プロデュース</a:t>
              </a:r>
            </a:p>
          </p:txBody>
        </p:sp>
      </p:grpSp>
      <p:sp>
        <p:nvSpPr>
          <p:cNvPr id="14" name="コンテンツ プレースホルダー 13">
            <a:extLst>
              <a:ext uri="{FF2B5EF4-FFF2-40B4-BE49-F238E27FC236}">
                <a16:creationId xmlns:a16="http://schemas.microsoft.com/office/drawing/2014/main" id="{80BE769A-06AE-C9A4-3B50-1542B7DED79F}"/>
              </a:ext>
            </a:extLst>
          </p:cNvPr>
          <p:cNvSpPr>
            <a:spLocks noGrp="1"/>
          </p:cNvSpPr>
          <p:nvPr>
            <p:ph idx="10"/>
          </p:nvPr>
        </p:nvSpPr>
        <p:spPr>
          <a:xfrm>
            <a:off x="653802" y="652081"/>
            <a:ext cx="11086078" cy="915855"/>
          </a:xfrm>
        </p:spPr>
        <p:txBody>
          <a:bodyPr>
            <a:normAutofit/>
          </a:bodyPr>
          <a:lstStyle/>
          <a:p>
            <a:pPr marL="0" indent="0">
              <a:lnSpc>
                <a:spcPct val="150000"/>
              </a:lnSpc>
              <a:buNone/>
            </a:pPr>
            <a:r>
              <a:rPr lang="ja-JP" altLang="en-US" sz="1600"/>
              <a:t>大手求人メディア、人気の飲食店情報サイト、美容、住宅情報などの情報ポータルサイト運用で</a:t>
            </a:r>
            <a:br>
              <a:rPr lang="en-US" altLang="ja-JP" sz="1600"/>
            </a:br>
            <a:r>
              <a:rPr lang="ja-JP" altLang="en-US" sz="1600"/>
              <a:t>培ったネットワークによりフレキシブルな取材撮影対応・チームの構築が可能です。</a:t>
            </a:r>
            <a:endParaRPr lang="en-US" altLang="ja-JP" sz="1600"/>
          </a:p>
        </p:txBody>
      </p:sp>
      <p:sp>
        <p:nvSpPr>
          <p:cNvPr id="3" name="タイトル 2">
            <a:extLst>
              <a:ext uri="{FF2B5EF4-FFF2-40B4-BE49-F238E27FC236}">
                <a16:creationId xmlns:a16="http://schemas.microsoft.com/office/drawing/2014/main" id="{8E103997-04DF-BD15-D6A9-BC2E17061E8E}"/>
              </a:ext>
            </a:extLst>
          </p:cNvPr>
          <p:cNvSpPr>
            <a:spLocks noGrp="1"/>
          </p:cNvSpPr>
          <p:nvPr>
            <p:ph type="title"/>
          </p:nvPr>
        </p:nvSpPr>
        <p:spPr/>
        <p:txBody>
          <a:bodyPr>
            <a:normAutofit/>
          </a:bodyPr>
          <a:lstStyle/>
          <a:p>
            <a:r>
              <a:rPr lang="ja-JP" altLang="en-US">
                <a:latin typeface="+mn-lt"/>
              </a:rPr>
              <a:t>取材・撮影ネットワーク</a:t>
            </a:r>
          </a:p>
        </p:txBody>
      </p:sp>
      <p:sp>
        <p:nvSpPr>
          <p:cNvPr id="4" name="スライド番号プレースホルダー 3">
            <a:extLst>
              <a:ext uri="{FF2B5EF4-FFF2-40B4-BE49-F238E27FC236}">
                <a16:creationId xmlns:a16="http://schemas.microsoft.com/office/drawing/2014/main" id="{08EF439B-897E-C16E-0846-5851D8CBBAFA}"/>
              </a:ext>
            </a:extLst>
          </p:cNvPr>
          <p:cNvSpPr>
            <a:spLocks noGrp="1"/>
          </p:cNvSpPr>
          <p:nvPr>
            <p:ph type="sldNum" sz="quarter" idx="11"/>
          </p:nvPr>
        </p:nvSpPr>
        <p:spPr/>
        <p:txBody>
          <a:bodyPr/>
          <a:lstStyle/>
          <a:p>
            <a:fld id="{B75FDD43-FCEC-4ECC-8189-A5C6D2E08DC6}" type="slidenum">
              <a:rPr lang="ja-JP" altLang="en-US" smtClean="0"/>
              <a:pPr/>
              <a:t>40</a:t>
            </a:fld>
            <a:endParaRPr lang="ja-JP" altLang="en-US"/>
          </a:p>
        </p:txBody>
      </p:sp>
      <p:pic>
        <p:nvPicPr>
          <p:cNvPr id="44" name="図 43" descr="マップ&#10;&#10;自動的に生成された説明">
            <a:extLst>
              <a:ext uri="{FF2B5EF4-FFF2-40B4-BE49-F238E27FC236}">
                <a16:creationId xmlns:a16="http://schemas.microsoft.com/office/drawing/2014/main" id="{8CA9F313-F551-23CB-DACD-2F81D15615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8272" y="1502338"/>
            <a:ext cx="5501368" cy="5330826"/>
          </a:xfrm>
          <a:prstGeom prst="rect">
            <a:avLst/>
          </a:prstGeom>
        </p:spPr>
      </p:pic>
      <p:sp>
        <p:nvSpPr>
          <p:cNvPr id="46" name="テキスト ボックス 45">
            <a:extLst>
              <a:ext uri="{FF2B5EF4-FFF2-40B4-BE49-F238E27FC236}">
                <a16:creationId xmlns:a16="http://schemas.microsoft.com/office/drawing/2014/main" id="{B82792B6-1A90-8E2E-CAFC-5BB0AFD1B131}"/>
              </a:ext>
            </a:extLst>
          </p:cNvPr>
          <p:cNvSpPr txBox="1"/>
          <p:nvPr/>
        </p:nvSpPr>
        <p:spPr>
          <a:xfrm>
            <a:off x="10154934" y="1104491"/>
            <a:ext cx="1800657" cy="276999"/>
          </a:xfrm>
          <a:prstGeom prst="rect">
            <a:avLst/>
          </a:prstGeom>
          <a:noFill/>
        </p:spPr>
        <p:txBody>
          <a:bodyPr wrap="square" rtlCol="0">
            <a:spAutoFit/>
          </a:bodyPr>
          <a:lstStyle/>
          <a:p>
            <a:pPr algn="ctr"/>
            <a:r>
              <a:rPr kumimoji="1" lang="ja-JP" altLang="en-US" sz="1200" b="1">
                <a:latin typeface="メイリオ" panose="020B0604030504040204" pitchFamily="50" charset="-128"/>
                <a:ea typeface="メイリオ" panose="020B0604030504040204" pitchFamily="50" charset="-128"/>
              </a:rPr>
              <a:t>全国ネットワーク</a:t>
            </a:r>
          </a:p>
        </p:txBody>
      </p:sp>
      <p:grpSp>
        <p:nvGrpSpPr>
          <p:cNvPr id="102" name="グループ化 101">
            <a:extLst>
              <a:ext uri="{FF2B5EF4-FFF2-40B4-BE49-F238E27FC236}">
                <a16:creationId xmlns:a16="http://schemas.microsoft.com/office/drawing/2014/main" id="{7824E75A-B972-430E-EF47-691CE5AB563F}"/>
              </a:ext>
            </a:extLst>
          </p:cNvPr>
          <p:cNvGrpSpPr/>
          <p:nvPr/>
        </p:nvGrpSpPr>
        <p:grpSpPr>
          <a:xfrm>
            <a:off x="10164474" y="2747790"/>
            <a:ext cx="726222" cy="798845"/>
            <a:chOff x="5669511" y="2932386"/>
            <a:chExt cx="860608" cy="946670"/>
          </a:xfrm>
        </p:grpSpPr>
        <p:pic>
          <p:nvPicPr>
            <p:cNvPr id="103" name="図 102" descr="アイコン が含まれている画像&#10;&#10;自動的に生成された説明">
              <a:extLst>
                <a:ext uri="{FF2B5EF4-FFF2-40B4-BE49-F238E27FC236}">
                  <a16:creationId xmlns:a16="http://schemas.microsoft.com/office/drawing/2014/main" id="{C32E31EB-F953-7088-06B3-EFBB461A95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9511" y="2932386"/>
              <a:ext cx="860608" cy="946670"/>
            </a:xfrm>
            <a:prstGeom prst="rect">
              <a:avLst/>
            </a:prstGeom>
          </p:spPr>
        </p:pic>
        <p:grpSp>
          <p:nvGrpSpPr>
            <p:cNvPr id="104" name="グループ化 103">
              <a:extLst>
                <a:ext uri="{FF2B5EF4-FFF2-40B4-BE49-F238E27FC236}">
                  <a16:creationId xmlns:a16="http://schemas.microsoft.com/office/drawing/2014/main" id="{D5255DFE-4814-286C-70B2-849EDCB2BAE1}"/>
                </a:ext>
              </a:extLst>
            </p:cNvPr>
            <p:cNvGrpSpPr/>
            <p:nvPr/>
          </p:nvGrpSpPr>
          <p:grpSpPr>
            <a:xfrm>
              <a:off x="5750746" y="3016323"/>
              <a:ext cx="709150" cy="819738"/>
              <a:chOff x="2898710" y="4034475"/>
              <a:chExt cx="709150" cy="819738"/>
            </a:xfrm>
          </p:grpSpPr>
          <p:sp>
            <p:nvSpPr>
              <p:cNvPr id="105" name="楕円 104">
                <a:extLst>
                  <a:ext uri="{FF2B5EF4-FFF2-40B4-BE49-F238E27FC236}">
                    <a16:creationId xmlns:a16="http://schemas.microsoft.com/office/drawing/2014/main" id="{2B9E3D70-5519-6CD2-DDCB-F164F7841690}"/>
                  </a:ext>
                </a:extLst>
              </p:cNvPr>
              <p:cNvSpPr/>
              <p:nvPr/>
            </p:nvSpPr>
            <p:spPr bwMode="auto">
              <a:xfrm>
                <a:off x="2898710" y="4034475"/>
                <a:ext cx="691495" cy="691493"/>
              </a:xfrm>
              <a:prstGeom prst="ellipse">
                <a:avLst/>
              </a:prstGeom>
              <a:solidFill>
                <a:schemeClr val="accent2">
                  <a:lumMod val="40000"/>
                  <a:lumOff val="6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EE40255E-27A8-0AAB-7E1C-6933239D4349}"/>
                  </a:ext>
                </a:extLst>
              </p:cNvPr>
              <p:cNvSpPr txBox="1"/>
              <p:nvPr/>
            </p:nvSpPr>
            <p:spPr>
              <a:xfrm>
                <a:off x="2992716" y="4074062"/>
                <a:ext cx="492386" cy="273547"/>
              </a:xfrm>
              <a:prstGeom prst="rect">
                <a:avLst/>
              </a:prstGeom>
              <a:noFill/>
            </p:spPr>
            <p:txBody>
              <a:bodyPr wrap="none" rtlCol="0">
                <a:spAutoFit/>
              </a:bodyPr>
              <a:lstStyle/>
              <a:p>
                <a:pPr algn="ctr"/>
                <a:r>
                  <a:rPr lang="ja-JP" altLang="en-US" sz="900" b="1">
                    <a:latin typeface="メイリオ" panose="020B0604030504040204" pitchFamily="50" charset="-128"/>
                    <a:ea typeface="メイリオ" panose="020B0604030504040204" pitchFamily="50" charset="-128"/>
                  </a:rPr>
                  <a:t>東北</a:t>
                </a:r>
                <a:endParaRPr kumimoji="1" lang="ja-JP" altLang="en-US" sz="900" b="1">
                  <a:latin typeface="メイリオ" panose="020B0604030504040204" pitchFamily="50" charset="-128"/>
                  <a:ea typeface="メイリオ" panose="020B0604030504040204" pitchFamily="50" charset="-128"/>
                </a:endParaRPr>
              </a:p>
            </p:txBody>
          </p:sp>
          <p:sp>
            <p:nvSpPr>
              <p:cNvPr id="107" name="テキスト ボックス 106">
                <a:extLst>
                  <a:ext uri="{FF2B5EF4-FFF2-40B4-BE49-F238E27FC236}">
                    <a16:creationId xmlns:a16="http://schemas.microsoft.com/office/drawing/2014/main" id="{AFC5AE77-AE68-611F-8782-8C51F62DF6CC}"/>
                  </a:ext>
                </a:extLst>
              </p:cNvPr>
              <p:cNvSpPr txBox="1"/>
              <p:nvPr/>
            </p:nvSpPr>
            <p:spPr>
              <a:xfrm>
                <a:off x="2904930" y="4234172"/>
                <a:ext cx="702930" cy="620041"/>
              </a:xfrm>
              <a:prstGeom prst="rect">
                <a:avLst/>
              </a:prstGeom>
              <a:noFill/>
            </p:spPr>
            <p:txBody>
              <a:bodyPr wrap="square" rtlCol="0">
                <a:spAutoFit/>
              </a:bodyPr>
              <a:lstStyle/>
              <a:p>
                <a:pPr algn="ctr"/>
                <a:r>
                  <a:rPr lang="en-US" altLang="ja-JP" sz="2000" b="1">
                    <a:latin typeface="メイリオ" panose="020B0604030504040204" pitchFamily="50" charset="-128"/>
                    <a:ea typeface="メイリオ" panose="020B0604030504040204" pitchFamily="50" charset="-128"/>
                  </a:rPr>
                  <a:t>15</a:t>
                </a:r>
                <a:r>
                  <a:rPr kumimoji="1" lang="ja-JP" altLang="en-US" sz="800" b="1">
                    <a:latin typeface="メイリオ" panose="020B0604030504040204" pitchFamily="50" charset="-128"/>
                    <a:ea typeface="メイリオ" panose="020B0604030504040204" pitchFamily="50" charset="-128"/>
                  </a:rPr>
                  <a:t>名</a:t>
                </a:r>
                <a:endParaRPr kumimoji="1" lang="ja-JP" altLang="en-US" sz="1050" b="1">
                  <a:latin typeface="メイリオ" panose="020B0604030504040204" pitchFamily="50" charset="-128"/>
                  <a:ea typeface="メイリオ" panose="020B0604030504040204" pitchFamily="50" charset="-128"/>
                </a:endParaRPr>
              </a:p>
            </p:txBody>
          </p:sp>
        </p:grpSp>
      </p:grpSp>
      <p:grpSp>
        <p:nvGrpSpPr>
          <p:cNvPr id="114" name="グループ化 113">
            <a:extLst>
              <a:ext uri="{FF2B5EF4-FFF2-40B4-BE49-F238E27FC236}">
                <a16:creationId xmlns:a16="http://schemas.microsoft.com/office/drawing/2014/main" id="{1E4A155D-7313-DA76-C7AF-9DA206E78DD9}"/>
              </a:ext>
            </a:extLst>
          </p:cNvPr>
          <p:cNvGrpSpPr/>
          <p:nvPr/>
        </p:nvGrpSpPr>
        <p:grpSpPr>
          <a:xfrm>
            <a:off x="9332628" y="4441543"/>
            <a:ext cx="860608" cy="946670"/>
            <a:chOff x="5669511" y="2932386"/>
            <a:chExt cx="860608" cy="946670"/>
          </a:xfrm>
        </p:grpSpPr>
        <p:pic>
          <p:nvPicPr>
            <p:cNvPr id="115" name="図 114" descr="アイコン が含まれている画像&#10;&#10;自動的に生成された説明">
              <a:extLst>
                <a:ext uri="{FF2B5EF4-FFF2-40B4-BE49-F238E27FC236}">
                  <a16:creationId xmlns:a16="http://schemas.microsoft.com/office/drawing/2014/main" id="{5F45EE27-1CCF-42F7-40C6-CC43C12383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9511" y="2932386"/>
              <a:ext cx="860608" cy="946670"/>
            </a:xfrm>
            <a:prstGeom prst="rect">
              <a:avLst/>
            </a:prstGeom>
          </p:spPr>
        </p:pic>
        <p:grpSp>
          <p:nvGrpSpPr>
            <p:cNvPr id="116" name="グループ化 115">
              <a:extLst>
                <a:ext uri="{FF2B5EF4-FFF2-40B4-BE49-F238E27FC236}">
                  <a16:creationId xmlns:a16="http://schemas.microsoft.com/office/drawing/2014/main" id="{71ED8332-679D-CD6C-148F-442A4A2C2219}"/>
                </a:ext>
              </a:extLst>
            </p:cNvPr>
            <p:cNvGrpSpPr/>
            <p:nvPr/>
          </p:nvGrpSpPr>
          <p:grpSpPr>
            <a:xfrm>
              <a:off x="5750746" y="3013501"/>
              <a:ext cx="709150" cy="691493"/>
              <a:chOff x="2898710" y="4031653"/>
              <a:chExt cx="709150" cy="691493"/>
            </a:xfrm>
          </p:grpSpPr>
          <p:sp>
            <p:nvSpPr>
              <p:cNvPr id="117" name="楕円 116">
                <a:extLst>
                  <a:ext uri="{FF2B5EF4-FFF2-40B4-BE49-F238E27FC236}">
                    <a16:creationId xmlns:a16="http://schemas.microsoft.com/office/drawing/2014/main" id="{A9C32EA3-C14E-B8B3-055F-122F79F9C6B2}"/>
                  </a:ext>
                </a:extLst>
              </p:cNvPr>
              <p:cNvSpPr/>
              <p:nvPr/>
            </p:nvSpPr>
            <p:spPr bwMode="auto">
              <a:xfrm>
                <a:off x="2898710" y="4031653"/>
                <a:ext cx="691495" cy="691493"/>
              </a:xfrm>
              <a:prstGeom prst="ellipse">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F8EE59DB-6F79-5255-ED20-C3D191794EAB}"/>
                  </a:ext>
                </a:extLst>
              </p:cNvPr>
              <p:cNvSpPr txBox="1"/>
              <p:nvPr/>
            </p:nvSpPr>
            <p:spPr>
              <a:xfrm>
                <a:off x="3031162" y="4100227"/>
                <a:ext cx="415498" cy="230832"/>
              </a:xfrm>
              <a:prstGeom prst="rect">
                <a:avLst/>
              </a:prstGeom>
              <a:noFill/>
            </p:spPr>
            <p:txBody>
              <a:bodyPr wrap="none" rtlCol="0">
                <a:spAutoFit/>
              </a:bodyPr>
              <a:lstStyle/>
              <a:p>
                <a:pPr algn="ctr"/>
                <a:r>
                  <a:rPr lang="ja-JP" altLang="en-US" sz="900" b="1">
                    <a:latin typeface="メイリオ" panose="020B0604030504040204" pitchFamily="50" charset="-128"/>
                    <a:ea typeface="メイリオ" panose="020B0604030504040204" pitchFamily="50" charset="-128"/>
                  </a:rPr>
                  <a:t>中京</a:t>
                </a:r>
                <a:endParaRPr kumimoji="1" lang="ja-JP" altLang="en-US" sz="900" b="1">
                  <a:latin typeface="メイリオ" panose="020B0604030504040204" pitchFamily="50" charset="-128"/>
                  <a:ea typeface="メイリオ" panose="020B0604030504040204" pitchFamily="50" charset="-128"/>
                </a:endParaRPr>
              </a:p>
            </p:txBody>
          </p:sp>
          <p:sp>
            <p:nvSpPr>
              <p:cNvPr id="119" name="テキスト ボックス 118">
                <a:extLst>
                  <a:ext uri="{FF2B5EF4-FFF2-40B4-BE49-F238E27FC236}">
                    <a16:creationId xmlns:a16="http://schemas.microsoft.com/office/drawing/2014/main" id="{60E82F7C-E48C-1ED9-52E8-272441845040}"/>
                  </a:ext>
                </a:extLst>
              </p:cNvPr>
              <p:cNvSpPr txBox="1"/>
              <p:nvPr/>
            </p:nvSpPr>
            <p:spPr>
              <a:xfrm>
                <a:off x="2904930" y="4273421"/>
                <a:ext cx="702930" cy="400110"/>
              </a:xfrm>
              <a:prstGeom prst="rect">
                <a:avLst/>
              </a:prstGeom>
              <a:noFill/>
            </p:spPr>
            <p:txBody>
              <a:bodyPr wrap="square" rtlCol="0">
                <a:spAutoFit/>
              </a:bodyPr>
              <a:lstStyle/>
              <a:p>
                <a:pPr algn="ctr"/>
                <a:r>
                  <a:rPr lang="en-US" altLang="ja-JP" sz="2000" b="1">
                    <a:latin typeface="メイリオ" panose="020B0604030504040204" pitchFamily="50" charset="-128"/>
                    <a:ea typeface="メイリオ" panose="020B0604030504040204" pitchFamily="50" charset="-128"/>
                  </a:rPr>
                  <a:t>3</a:t>
                </a:r>
                <a:r>
                  <a:rPr kumimoji="1" lang="en-US" altLang="ja-JP" sz="2000" b="1">
                    <a:latin typeface="メイリオ" panose="020B0604030504040204" pitchFamily="50" charset="-128"/>
                    <a:ea typeface="メイリオ" panose="020B0604030504040204" pitchFamily="50" charset="-128"/>
                  </a:rPr>
                  <a:t>0</a:t>
                </a:r>
                <a:r>
                  <a:rPr kumimoji="1" lang="ja-JP" altLang="en-US" sz="800" b="1">
                    <a:latin typeface="メイリオ" panose="020B0604030504040204" pitchFamily="50" charset="-128"/>
                    <a:ea typeface="メイリオ" panose="020B0604030504040204" pitchFamily="50" charset="-128"/>
                  </a:rPr>
                  <a:t>名</a:t>
                </a:r>
                <a:endParaRPr kumimoji="1" lang="ja-JP" altLang="en-US" sz="1050" b="1">
                  <a:latin typeface="メイリオ" panose="020B0604030504040204" pitchFamily="50" charset="-128"/>
                  <a:ea typeface="メイリオ" panose="020B0604030504040204" pitchFamily="50" charset="-128"/>
                </a:endParaRPr>
              </a:p>
            </p:txBody>
          </p:sp>
        </p:grpSp>
      </p:grpSp>
      <p:grpSp>
        <p:nvGrpSpPr>
          <p:cNvPr id="138" name="グループ化 137">
            <a:extLst>
              <a:ext uri="{FF2B5EF4-FFF2-40B4-BE49-F238E27FC236}">
                <a16:creationId xmlns:a16="http://schemas.microsoft.com/office/drawing/2014/main" id="{B73F6ED3-5A27-FCBA-9747-90829C8ADE94}"/>
              </a:ext>
            </a:extLst>
          </p:cNvPr>
          <p:cNvGrpSpPr/>
          <p:nvPr/>
        </p:nvGrpSpPr>
        <p:grpSpPr>
          <a:xfrm>
            <a:off x="7006884" y="5431111"/>
            <a:ext cx="1022075" cy="929158"/>
            <a:chOff x="5668830" y="2954250"/>
            <a:chExt cx="946670" cy="860608"/>
          </a:xfrm>
        </p:grpSpPr>
        <p:pic>
          <p:nvPicPr>
            <p:cNvPr id="139" name="図 138" descr="アイコン が含まれている画像&#10;&#10;自動的に生成された説明">
              <a:extLst>
                <a:ext uri="{FF2B5EF4-FFF2-40B4-BE49-F238E27FC236}">
                  <a16:creationId xmlns:a16="http://schemas.microsoft.com/office/drawing/2014/main" id="{244570AE-CB6D-E96D-E256-CE79B1F8F4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8330654">
              <a:off x="5711861" y="2911219"/>
              <a:ext cx="860608" cy="946670"/>
            </a:xfrm>
            <a:prstGeom prst="rect">
              <a:avLst/>
            </a:prstGeom>
          </p:spPr>
        </p:pic>
        <p:grpSp>
          <p:nvGrpSpPr>
            <p:cNvPr id="140" name="グループ化 139">
              <a:extLst>
                <a:ext uri="{FF2B5EF4-FFF2-40B4-BE49-F238E27FC236}">
                  <a16:creationId xmlns:a16="http://schemas.microsoft.com/office/drawing/2014/main" id="{63BEEE13-CF74-3A71-6875-3D04DD5B5210}"/>
                </a:ext>
              </a:extLst>
            </p:cNvPr>
            <p:cNvGrpSpPr/>
            <p:nvPr/>
          </p:nvGrpSpPr>
          <p:grpSpPr>
            <a:xfrm>
              <a:off x="5734689" y="3019790"/>
              <a:ext cx="747849" cy="685204"/>
              <a:chOff x="2882653" y="4037942"/>
              <a:chExt cx="747849" cy="685204"/>
            </a:xfrm>
          </p:grpSpPr>
          <p:sp>
            <p:nvSpPr>
              <p:cNvPr id="141" name="楕円 140">
                <a:extLst>
                  <a:ext uri="{FF2B5EF4-FFF2-40B4-BE49-F238E27FC236}">
                    <a16:creationId xmlns:a16="http://schemas.microsoft.com/office/drawing/2014/main" id="{A0E48CD3-4C6E-814D-CDD0-BA3D08EABBB0}"/>
                  </a:ext>
                </a:extLst>
              </p:cNvPr>
              <p:cNvSpPr/>
              <p:nvPr/>
            </p:nvSpPr>
            <p:spPr bwMode="auto">
              <a:xfrm>
                <a:off x="2904999" y="4037942"/>
                <a:ext cx="685206" cy="685204"/>
              </a:xfrm>
              <a:prstGeom prst="ellipse">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42" name="テキスト ボックス 141">
                <a:extLst>
                  <a:ext uri="{FF2B5EF4-FFF2-40B4-BE49-F238E27FC236}">
                    <a16:creationId xmlns:a16="http://schemas.microsoft.com/office/drawing/2014/main" id="{0BB97123-FAEC-2EBB-9786-C2D222D1DF08}"/>
                  </a:ext>
                </a:extLst>
              </p:cNvPr>
              <p:cNvSpPr txBox="1"/>
              <p:nvPr/>
            </p:nvSpPr>
            <p:spPr>
              <a:xfrm>
                <a:off x="3028675" y="4100227"/>
                <a:ext cx="420478" cy="235183"/>
              </a:xfrm>
              <a:prstGeom prst="rect">
                <a:avLst/>
              </a:prstGeom>
              <a:noFill/>
            </p:spPr>
            <p:txBody>
              <a:bodyPr wrap="none" rtlCol="0">
                <a:spAutoFit/>
              </a:bodyPr>
              <a:lstStyle/>
              <a:p>
                <a:pPr algn="ctr"/>
                <a:r>
                  <a:rPr lang="ja-JP" altLang="en-US" sz="1050" b="1">
                    <a:latin typeface="メイリオ" panose="020B0604030504040204" pitchFamily="50" charset="-128"/>
                    <a:ea typeface="メイリオ" panose="020B0604030504040204" pitchFamily="50" charset="-128"/>
                  </a:rPr>
                  <a:t>九州</a:t>
                </a:r>
                <a:endParaRPr kumimoji="1" lang="ja-JP" altLang="en-US" sz="1050" b="1">
                  <a:latin typeface="メイリオ" panose="020B0604030504040204" pitchFamily="50" charset="-128"/>
                  <a:ea typeface="メイリオ" panose="020B0604030504040204" pitchFamily="50" charset="-128"/>
                </a:endParaRPr>
              </a:p>
            </p:txBody>
          </p:sp>
          <p:sp>
            <p:nvSpPr>
              <p:cNvPr id="143" name="テキスト ボックス 142">
                <a:extLst>
                  <a:ext uri="{FF2B5EF4-FFF2-40B4-BE49-F238E27FC236}">
                    <a16:creationId xmlns:a16="http://schemas.microsoft.com/office/drawing/2014/main" id="{3A2F001B-8E1B-6DE7-8A5D-64584E761E13}"/>
                  </a:ext>
                </a:extLst>
              </p:cNvPr>
              <p:cNvSpPr txBox="1"/>
              <p:nvPr/>
            </p:nvSpPr>
            <p:spPr>
              <a:xfrm>
                <a:off x="2882653" y="4260186"/>
                <a:ext cx="747849" cy="427605"/>
              </a:xfrm>
              <a:prstGeom prst="rect">
                <a:avLst/>
              </a:prstGeom>
              <a:noFill/>
            </p:spPr>
            <p:txBody>
              <a:bodyPr wrap="square" rtlCol="0">
                <a:spAutoFit/>
              </a:bodyPr>
              <a:lstStyle/>
              <a:p>
                <a:pPr algn="ctr"/>
                <a:r>
                  <a:rPr lang="en-US" altLang="ja-JP" sz="2400" b="1">
                    <a:latin typeface="メイリオ" panose="020B0604030504040204" pitchFamily="50" charset="-128"/>
                    <a:ea typeface="メイリオ" panose="020B0604030504040204" pitchFamily="50" charset="-128"/>
                  </a:rPr>
                  <a:t>5</a:t>
                </a:r>
                <a:r>
                  <a:rPr kumimoji="1" lang="en-US" altLang="ja-JP" sz="2400" b="1">
                    <a:latin typeface="メイリオ" panose="020B0604030504040204" pitchFamily="50" charset="-128"/>
                    <a:ea typeface="メイリオ" panose="020B0604030504040204" pitchFamily="50" charset="-128"/>
                  </a:rPr>
                  <a:t>0</a:t>
                </a:r>
                <a:r>
                  <a:rPr kumimoji="1" lang="ja-JP" altLang="en-US" sz="900" b="1">
                    <a:latin typeface="メイリオ" panose="020B0604030504040204" pitchFamily="50" charset="-128"/>
                    <a:ea typeface="メイリオ" panose="020B0604030504040204" pitchFamily="50" charset="-128"/>
                  </a:rPr>
                  <a:t>名</a:t>
                </a:r>
                <a:endParaRPr kumimoji="1" lang="ja-JP" altLang="en-US" sz="1100" b="1">
                  <a:latin typeface="メイリオ" panose="020B0604030504040204" pitchFamily="50" charset="-128"/>
                  <a:ea typeface="メイリオ" panose="020B0604030504040204" pitchFamily="50" charset="-128"/>
                </a:endParaRPr>
              </a:p>
            </p:txBody>
          </p:sp>
        </p:grpSp>
      </p:grpSp>
      <p:grpSp>
        <p:nvGrpSpPr>
          <p:cNvPr id="144" name="グループ化 143">
            <a:extLst>
              <a:ext uri="{FF2B5EF4-FFF2-40B4-BE49-F238E27FC236}">
                <a16:creationId xmlns:a16="http://schemas.microsoft.com/office/drawing/2014/main" id="{2F92D879-AA38-5CA7-AA59-FA6B74347600}"/>
              </a:ext>
            </a:extLst>
          </p:cNvPr>
          <p:cNvGrpSpPr/>
          <p:nvPr/>
        </p:nvGrpSpPr>
        <p:grpSpPr>
          <a:xfrm>
            <a:off x="9664427" y="3660986"/>
            <a:ext cx="726222" cy="798845"/>
            <a:chOff x="5669511" y="2932386"/>
            <a:chExt cx="860608" cy="946670"/>
          </a:xfrm>
        </p:grpSpPr>
        <p:pic>
          <p:nvPicPr>
            <p:cNvPr id="145" name="図 144" descr="アイコン が含まれている画像&#10;&#10;自動的に生成された説明">
              <a:extLst>
                <a:ext uri="{FF2B5EF4-FFF2-40B4-BE49-F238E27FC236}">
                  <a16:creationId xmlns:a16="http://schemas.microsoft.com/office/drawing/2014/main" id="{E30F18EB-8DCB-C4C3-BF88-A80F1A44E2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9511" y="2932386"/>
              <a:ext cx="860608" cy="946670"/>
            </a:xfrm>
            <a:prstGeom prst="rect">
              <a:avLst/>
            </a:prstGeom>
          </p:spPr>
        </p:pic>
        <p:grpSp>
          <p:nvGrpSpPr>
            <p:cNvPr id="146" name="グループ化 145">
              <a:extLst>
                <a:ext uri="{FF2B5EF4-FFF2-40B4-BE49-F238E27FC236}">
                  <a16:creationId xmlns:a16="http://schemas.microsoft.com/office/drawing/2014/main" id="{D171E000-4CA2-08AA-B640-361AF94A7F27}"/>
                </a:ext>
              </a:extLst>
            </p:cNvPr>
            <p:cNvGrpSpPr/>
            <p:nvPr/>
          </p:nvGrpSpPr>
          <p:grpSpPr>
            <a:xfrm>
              <a:off x="5750746" y="3016323"/>
              <a:ext cx="709150" cy="819738"/>
              <a:chOff x="2898710" y="4034475"/>
              <a:chExt cx="709150" cy="819738"/>
            </a:xfrm>
          </p:grpSpPr>
          <p:sp>
            <p:nvSpPr>
              <p:cNvPr id="147" name="楕円 146">
                <a:extLst>
                  <a:ext uri="{FF2B5EF4-FFF2-40B4-BE49-F238E27FC236}">
                    <a16:creationId xmlns:a16="http://schemas.microsoft.com/office/drawing/2014/main" id="{5A96C8D5-FFDE-92E5-4EE8-99EBC93166CE}"/>
                  </a:ext>
                </a:extLst>
              </p:cNvPr>
              <p:cNvSpPr/>
              <p:nvPr/>
            </p:nvSpPr>
            <p:spPr bwMode="auto">
              <a:xfrm>
                <a:off x="2898710" y="4034475"/>
                <a:ext cx="691495" cy="691493"/>
              </a:xfrm>
              <a:prstGeom prst="ellipse">
                <a:avLst/>
              </a:prstGeom>
              <a:solidFill>
                <a:schemeClr val="accent2">
                  <a:lumMod val="40000"/>
                  <a:lumOff val="6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48" name="テキスト ボックス 147">
                <a:extLst>
                  <a:ext uri="{FF2B5EF4-FFF2-40B4-BE49-F238E27FC236}">
                    <a16:creationId xmlns:a16="http://schemas.microsoft.com/office/drawing/2014/main" id="{32003AE1-2152-DACF-9632-C90773BFA516}"/>
                  </a:ext>
                </a:extLst>
              </p:cNvPr>
              <p:cNvSpPr txBox="1"/>
              <p:nvPr/>
            </p:nvSpPr>
            <p:spPr>
              <a:xfrm>
                <a:off x="2924330" y="4074062"/>
                <a:ext cx="629161" cy="273547"/>
              </a:xfrm>
              <a:prstGeom prst="rect">
                <a:avLst/>
              </a:prstGeom>
              <a:noFill/>
            </p:spPr>
            <p:txBody>
              <a:bodyPr wrap="none" rtlCol="0">
                <a:spAutoFit/>
              </a:bodyPr>
              <a:lstStyle/>
              <a:p>
                <a:pPr algn="ctr"/>
                <a:r>
                  <a:rPr lang="ja-JP" altLang="en-US" sz="900" b="1">
                    <a:latin typeface="メイリオ" panose="020B0604030504040204" pitchFamily="50" charset="-128"/>
                    <a:ea typeface="メイリオ" panose="020B0604030504040204" pitchFamily="50" charset="-128"/>
                  </a:rPr>
                  <a:t>北関東</a:t>
                </a:r>
                <a:endParaRPr kumimoji="1" lang="ja-JP" altLang="en-US" sz="900" b="1">
                  <a:latin typeface="メイリオ" panose="020B0604030504040204" pitchFamily="50" charset="-128"/>
                  <a:ea typeface="メイリオ" panose="020B0604030504040204" pitchFamily="50" charset="-128"/>
                </a:endParaRPr>
              </a:p>
            </p:txBody>
          </p:sp>
          <p:sp>
            <p:nvSpPr>
              <p:cNvPr id="149" name="テキスト ボックス 148">
                <a:extLst>
                  <a:ext uri="{FF2B5EF4-FFF2-40B4-BE49-F238E27FC236}">
                    <a16:creationId xmlns:a16="http://schemas.microsoft.com/office/drawing/2014/main" id="{965FA700-0DFE-9A7B-75DC-D7F007BDD07E}"/>
                  </a:ext>
                </a:extLst>
              </p:cNvPr>
              <p:cNvSpPr txBox="1"/>
              <p:nvPr/>
            </p:nvSpPr>
            <p:spPr>
              <a:xfrm>
                <a:off x="2904930" y="4234172"/>
                <a:ext cx="702930" cy="620041"/>
              </a:xfrm>
              <a:prstGeom prst="rect">
                <a:avLst/>
              </a:prstGeom>
              <a:noFill/>
            </p:spPr>
            <p:txBody>
              <a:bodyPr wrap="square" rtlCol="0">
                <a:spAutoFit/>
              </a:bodyPr>
              <a:lstStyle/>
              <a:p>
                <a:pPr algn="ctr"/>
                <a:r>
                  <a:rPr kumimoji="1" lang="en-US" altLang="ja-JP" sz="2000" b="1">
                    <a:latin typeface="メイリオ" panose="020B0604030504040204" pitchFamily="50" charset="-128"/>
                    <a:ea typeface="メイリオ" panose="020B0604030504040204" pitchFamily="50" charset="-128"/>
                  </a:rPr>
                  <a:t>20</a:t>
                </a:r>
                <a:r>
                  <a:rPr kumimoji="1" lang="ja-JP" altLang="en-US" sz="800" b="1">
                    <a:latin typeface="メイリオ" panose="020B0604030504040204" pitchFamily="50" charset="-128"/>
                    <a:ea typeface="メイリオ" panose="020B0604030504040204" pitchFamily="50" charset="-128"/>
                  </a:rPr>
                  <a:t>名</a:t>
                </a:r>
                <a:endParaRPr kumimoji="1" lang="ja-JP" altLang="en-US" sz="1050" b="1">
                  <a:latin typeface="メイリオ" panose="020B0604030504040204" pitchFamily="50" charset="-128"/>
                  <a:ea typeface="メイリオ" panose="020B0604030504040204" pitchFamily="50" charset="-128"/>
                </a:endParaRPr>
              </a:p>
            </p:txBody>
          </p:sp>
        </p:grpSp>
      </p:grpSp>
      <p:grpSp>
        <p:nvGrpSpPr>
          <p:cNvPr id="156" name="グループ化 155">
            <a:extLst>
              <a:ext uri="{FF2B5EF4-FFF2-40B4-BE49-F238E27FC236}">
                <a16:creationId xmlns:a16="http://schemas.microsoft.com/office/drawing/2014/main" id="{3EEA8048-E515-DB32-F23D-19E8A95B76BB}"/>
              </a:ext>
            </a:extLst>
          </p:cNvPr>
          <p:cNvGrpSpPr/>
          <p:nvPr/>
        </p:nvGrpSpPr>
        <p:grpSpPr>
          <a:xfrm>
            <a:off x="10207786" y="5354739"/>
            <a:ext cx="726222" cy="798845"/>
            <a:chOff x="5669511" y="2932386"/>
            <a:chExt cx="860608" cy="946670"/>
          </a:xfrm>
        </p:grpSpPr>
        <p:pic>
          <p:nvPicPr>
            <p:cNvPr id="157" name="図 156" descr="アイコン が含まれている画像&#10;&#10;自動的に生成された説明">
              <a:extLst>
                <a:ext uri="{FF2B5EF4-FFF2-40B4-BE49-F238E27FC236}">
                  <a16:creationId xmlns:a16="http://schemas.microsoft.com/office/drawing/2014/main" id="{B2CECA81-273B-70CC-37A9-0F93052322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9511" y="2932386"/>
              <a:ext cx="860608" cy="946670"/>
            </a:xfrm>
            <a:prstGeom prst="rect">
              <a:avLst/>
            </a:prstGeom>
          </p:spPr>
        </p:pic>
        <p:grpSp>
          <p:nvGrpSpPr>
            <p:cNvPr id="158" name="グループ化 157">
              <a:extLst>
                <a:ext uri="{FF2B5EF4-FFF2-40B4-BE49-F238E27FC236}">
                  <a16:creationId xmlns:a16="http://schemas.microsoft.com/office/drawing/2014/main" id="{CB8089EB-2795-93A3-6D35-F5F7A9DC9513}"/>
                </a:ext>
              </a:extLst>
            </p:cNvPr>
            <p:cNvGrpSpPr/>
            <p:nvPr/>
          </p:nvGrpSpPr>
          <p:grpSpPr>
            <a:xfrm>
              <a:off x="5750746" y="3016323"/>
              <a:ext cx="709150" cy="819738"/>
              <a:chOff x="2898710" y="4034475"/>
              <a:chExt cx="709150" cy="819738"/>
            </a:xfrm>
          </p:grpSpPr>
          <p:sp>
            <p:nvSpPr>
              <p:cNvPr id="159" name="楕円 158">
                <a:extLst>
                  <a:ext uri="{FF2B5EF4-FFF2-40B4-BE49-F238E27FC236}">
                    <a16:creationId xmlns:a16="http://schemas.microsoft.com/office/drawing/2014/main" id="{48596F71-52E6-5080-9759-3AADF4DB19BC}"/>
                  </a:ext>
                </a:extLst>
              </p:cNvPr>
              <p:cNvSpPr/>
              <p:nvPr/>
            </p:nvSpPr>
            <p:spPr bwMode="auto">
              <a:xfrm>
                <a:off x="2898710" y="4034475"/>
                <a:ext cx="691495" cy="691493"/>
              </a:xfrm>
              <a:prstGeom prst="ellipse">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60" name="テキスト ボックス 159">
                <a:extLst>
                  <a:ext uri="{FF2B5EF4-FFF2-40B4-BE49-F238E27FC236}">
                    <a16:creationId xmlns:a16="http://schemas.microsoft.com/office/drawing/2014/main" id="{01658FF0-3C73-7B2B-F669-B7A26982D8C7}"/>
                  </a:ext>
                </a:extLst>
              </p:cNvPr>
              <p:cNvSpPr txBox="1"/>
              <p:nvPr/>
            </p:nvSpPr>
            <p:spPr>
              <a:xfrm>
                <a:off x="2992718" y="4074062"/>
                <a:ext cx="492385" cy="273547"/>
              </a:xfrm>
              <a:prstGeom prst="rect">
                <a:avLst/>
              </a:prstGeom>
              <a:noFill/>
            </p:spPr>
            <p:txBody>
              <a:bodyPr wrap="none" rtlCol="0">
                <a:spAutoFit/>
              </a:bodyPr>
              <a:lstStyle/>
              <a:p>
                <a:pPr algn="ctr"/>
                <a:r>
                  <a:rPr lang="ja-JP" altLang="en-US" sz="900" b="1">
                    <a:latin typeface="メイリオ" panose="020B0604030504040204" pitchFamily="50" charset="-128"/>
                    <a:ea typeface="メイリオ" panose="020B0604030504040204" pitchFamily="50" charset="-128"/>
                  </a:rPr>
                  <a:t>沖縄</a:t>
                </a:r>
                <a:endParaRPr kumimoji="1" lang="ja-JP" altLang="en-US" sz="900" b="1">
                  <a:latin typeface="メイリオ" panose="020B0604030504040204" pitchFamily="50" charset="-128"/>
                  <a:ea typeface="メイリオ" panose="020B0604030504040204" pitchFamily="50" charset="-128"/>
                </a:endParaRPr>
              </a:p>
            </p:txBody>
          </p:sp>
          <p:sp>
            <p:nvSpPr>
              <p:cNvPr id="161" name="テキスト ボックス 160">
                <a:extLst>
                  <a:ext uri="{FF2B5EF4-FFF2-40B4-BE49-F238E27FC236}">
                    <a16:creationId xmlns:a16="http://schemas.microsoft.com/office/drawing/2014/main" id="{A9976D91-3498-788E-870C-E826201E6DA4}"/>
                  </a:ext>
                </a:extLst>
              </p:cNvPr>
              <p:cNvSpPr txBox="1"/>
              <p:nvPr/>
            </p:nvSpPr>
            <p:spPr>
              <a:xfrm>
                <a:off x="2904930" y="4234172"/>
                <a:ext cx="702930" cy="620041"/>
              </a:xfrm>
              <a:prstGeom prst="rect">
                <a:avLst/>
              </a:prstGeom>
              <a:noFill/>
            </p:spPr>
            <p:txBody>
              <a:bodyPr wrap="square" rtlCol="0">
                <a:spAutoFit/>
              </a:bodyPr>
              <a:lstStyle/>
              <a:p>
                <a:pPr algn="ctr"/>
                <a:r>
                  <a:rPr lang="en-US" altLang="ja-JP" sz="2000" b="1">
                    <a:latin typeface="メイリオ" panose="020B0604030504040204" pitchFamily="50" charset="-128"/>
                    <a:ea typeface="メイリオ" panose="020B0604030504040204" pitchFamily="50" charset="-128"/>
                  </a:rPr>
                  <a:t>3</a:t>
                </a:r>
                <a:r>
                  <a:rPr kumimoji="1" lang="en-US" altLang="ja-JP" sz="2000" b="1">
                    <a:latin typeface="メイリオ" panose="020B0604030504040204" pitchFamily="50" charset="-128"/>
                    <a:ea typeface="メイリオ" panose="020B0604030504040204" pitchFamily="50" charset="-128"/>
                  </a:rPr>
                  <a:t>0</a:t>
                </a:r>
                <a:r>
                  <a:rPr kumimoji="1" lang="ja-JP" altLang="en-US" sz="800" b="1">
                    <a:latin typeface="メイリオ" panose="020B0604030504040204" pitchFamily="50" charset="-128"/>
                    <a:ea typeface="メイリオ" panose="020B0604030504040204" pitchFamily="50" charset="-128"/>
                  </a:rPr>
                  <a:t>名</a:t>
                </a:r>
                <a:endParaRPr kumimoji="1" lang="ja-JP" altLang="en-US" sz="1050" b="1">
                  <a:latin typeface="メイリオ" panose="020B0604030504040204" pitchFamily="50" charset="-128"/>
                  <a:ea typeface="メイリオ" panose="020B0604030504040204" pitchFamily="50" charset="-128"/>
                </a:endParaRPr>
              </a:p>
            </p:txBody>
          </p:sp>
        </p:grpSp>
      </p:grpSp>
      <p:grpSp>
        <p:nvGrpSpPr>
          <p:cNvPr id="162" name="グループ化 161">
            <a:extLst>
              <a:ext uri="{FF2B5EF4-FFF2-40B4-BE49-F238E27FC236}">
                <a16:creationId xmlns:a16="http://schemas.microsoft.com/office/drawing/2014/main" id="{D80839E4-0245-35E7-8C7A-647F1DA13329}"/>
              </a:ext>
            </a:extLst>
          </p:cNvPr>
          <p:cNvGrpSpPr/>
          <p:nvPr/>
        </p:nvGrpSpPr>
        <p:grpSpPr>
          <a:xfrm>
            <a:off x="8338790" y="4080583"/>
            <a:ext cx="1036975" cy="1120005"/>
            <a:chOff x="5669511" y="2932386"/>
            <a:chExt cx="876489" cy="946670"/>
          </a:xfrm>
        </p:grpSpPr>
        <p:pic>
          <p:nvPicPr>
            <p:cNvPr id="163" name="図 162" descr="アイコン が含まれている画像&#10;&#10;自動的に生成された説明">
              <a:extLst>
                <a:ext uri="{FF2B5EF4-FFF2-40B4-BE49-F238E27FC236}">
                  <a16:creationId xmlns:a16="http://schemas.microsoft.com/office/drawing/2014/main" id="{4C9A5414-28DB-1223-A246-C8127060FE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9511" y="2932386"/>
              <a:ext cx="860608" cy="946670"/>
            </a:xfrm>
            <a:prstGeom prst="rect">
              <a:avLst/>
            </a:prstGeom>
          </p:spPr>
        </p:pic>
        <p:grpSp>
          <p:nvGrpSpPr>
            <p:cNvPr id="164" name="グループ化 163">
              <a:extLst>
                <a:ext uri="{FF2B5EF4-FFF2-40B4-BE49-F238E27FC236}">
                  <a16:creationId xmlns:a16="http://schemas.microsoft.com/office/drawing/2014/main" id="{CFB36C10-5C58-6AA5-E8B7-188D3217AA20}"/>
                </a:ext>
              </a:extLst>
            </p:cNvPr>
            <p:cNvGrpSpPr/>
            <p:nvPr/>
          </p:nvGrpSpPr>
          <p:grpSpPr>
            <a:xfrm>
              <a:off x="5677180" y="3003147"/>
              <a:ext cx="868820" cy="804677"/>
              <a:chOff x="2825144" y="4021299"/>
              <a:chExt cx="868820" cy="804677"/>
            </a:xfrm>
          </p:grpSpPr>
          <p:sp>
            <p:nvSpPr>
              <p:cNvPr id="165" name="楕円 164">
                <a:extLst>
                  <a:ext uri="{FF2B5EF4-FFF2-40B4-BE49-F238E27FC236}">
                    <a16:creationId xmlns:a16="http://schemas.microsoft.com/office/drawing/2014/main" id="{533CFB70-427C-C5C6-E40D-DCDCECEDDAE9}"/>
                  </a:ext>
                </a:extLst>
              </p:cNvPr>
              <p:cNvSpPr/>
              <p:nvPr/>
            </p:nvSpPr>
            <p:spPr bwMode="auto">
              <a:xfrm>
                <a:off x="2890369" y="4021299"/>
                <a:ext cx="715133" cy="715131"/>
              </a:xfrm>
              <a:prstGeom prst="ellipse">
                <a:avLst/>
              </a:prstGeom>
              <a:solidFill>
                <a:schemeClr val="accent4">
                  <a:lumMod val="40000"/>
                  <a:lumOff val="6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66" name="テキスト ボックス 165">
                <a:extLst>
                  <a:ext uri="{FF2B5EF4-FFF2-40B4-BE49-F238E27FC236}">
                    <a16:creationId xmlns:a16="http://schemas.microsoft.com/office/drawing/2014/main" id="{6F0216C7-6C9B-675E-3656-413D00F85262}"/>
                  </a:ext>
                </a:extLst>
              </p:cNvPr>
              <p:cNvSpPr txBox="1"/>
              <p:nvPr/>
            </p:nvSpPr>
            <p:spPr>
              <a:xfrm>
                <a:off x="3005452" y="4091370"/>
                <a:ext cx="459588" cy="260145"/>
              </a:xfrm>
              <a:prstGeom prst="rect">
                <a:avLst/>
              </a:prstGeom>
              <a:noFill/>
            </p:spPr>
            <p:txBody>
              <a:bodyPr wrap="none" rtlCol="0">
                <a:spAutoFit/>
              </a:bodyPr>
              <a:lstStyle/>
              <a:p>
                <a:pPr algn="ctr"/>
                <a:r>
                  <a:rPr kumimoji="1" lang="ja-JP" altLang="en-US" sz="1400" b="1">
                    <a:latin typeface="メイリオ" panose="020B0604030504040204" pitchFamily="50" charset="-128"/>
                    <a:ea typeface="メイリオ" panose="020B0604030504040204" pitchFamily="50" charset="-128"/>
                  </a:rPr>
                  <a:t>関西</a:t>
                </a:r>
              </a:p>
            </p:txBody>
          </p:sp>
          <p:sp>
            <p:nvSpPr>
              <p:cNvPr id="167" name="テキスト ボックス 166">
                <a:extLst>
                  <a:ext uri="{FF2B5EF4-FFF2-40B4-BE49-F238E27FC236}">
                    <a16:creationId xmlns:a16="http://schemas.microsoft.com/office/drawing/2014/main" id="{32DE5E70-6C6D-31B2-12AA-CD9041CAC696}"/>
                  </a:ext>
                </a:extLst>
              </p:cNvPr>
              <p:cNvSpPr txBox="1"/>
              <p:nvPr/>
            </p:nvSpPr>
            <p:spPr>
              <a:xfrm>
                <a:off x="2825144" y="4253659"/>
                <a:ext cx="868820" cy="572317"/>
              </a:xfrm>
              <a:prstGeom prst="rect">
                <a:avLst/>
              </a:prstGeom>
              <a:noFill/>
            </p:spPr>
            <p:txBody>
              <a:bodyPr wrap="square" rtlCol="0">
                <a:spAutoFit/>
              </a:bodyPr>
              <a:lstStyle/>
              <a:p>
                <a:pPr algn="ctr"/>
                <a:r>
                  <a:rPr lang="en-US" altLang="ja-JP" sz="2800" b="1">
                    <a:latin typeface="メイリオ" panose="020B0604030504040204" pitchFamily="50" charset="-128"/>
                    <a:ea typeface="メイリオ" panose="020B0604030504040204" pitchFamily="50" charset="-128"/>
                  </a:rPr>
                  <a:t>15</a:t>
                </a:r>
                <a:r>
                  <a:rPr kumimoji="1" lang="en-US" altLang="ja-JP" sz="2800" b="1">
                    <a:latin typeface="メイリオ" panose="020B0604030504040204" pitchFamily="50" charset="-128"/>
                    <a:ea typeface="メイリオ" panose="020B0604030504040204" pitchFamily="50" charset="-128"/>
                  </a:rPr>
                  <a:t>0</a:t>
                </a:r>
                <a:r>
                  <a:rPr kumimoji="1" lang="ja-JP" altLang="en-US" sz="1000" b="1">
                    <a:latin typeface="メイリオ" panose="020B0604030504040204" pitchFamily="50" charset="-128"/>
                    <a:ea typeface="メイリオ" panose="020B0604030504040204" pitchFamily="50" charset="-128"/>
                  </a:rPr>
                  <a:t>名</a:t>
                </a:r>
                <a:endParaRPr kumimoji="1" lang="ja-JP" altLang="en-US" sz="1200" b="1">
                  <a:latin typeface="メイリオ" panose="020B0604030504040204" pitchFamily="50" charset="-128"/>
                  <a:ea typeface="メイリオ" panose="020B0604030504040204" pitchFamily="50" charset="-128"/>
                </a:endParaRPr>
              </a:p>
            </p:txBody>
          </p:sp>
        </p:grpSp>
      </p:grpSp>
      <p:grpSp>
        <p:nvGrpSpPr>
          <p:cNvPr id="168" name="グループ化 167">
            <a:extLst>
              <a:ext uri="{FF2B5EF4-FFF2-40B4-BE49-F238E27FC236}">
                <a16:creationId xmlns:a16="http://schemas.microsoft.com/office/drawing/2014/main" id="{DE109EEB-000C-25B6-98CF-AC4F6F439B1E}"/>
              </a:ext>
            </a:extLst>
          </p:cNvPr>
          <p:cNvGrpSpPr/>
          <p:nvPr/>
        </p:nvGrpSpPr>
        <p:grpSpPr>
          <a:xfrm>
            <a:off x="7664333" y="4671104"/>
            <a:ext cx="726222" cy="798845"/>
            <a:chOff x="5669511" y="2932386"/>
            <a:chExt cx="860608" cy="946670"/>
          </a:xfrm>
        </p:grpSpPr>
        <p:pic>
          <p:nvPicPr>
            <p:cNvPr id="169" name="図 168" descr="アイコン が含まれている画像&#10;&#10;自動的に生成された説明">
              <a:extLst>
                <a:ext uri="{FF2B5EF4-FFF2-40B4-BE49-F238E27FC236}">
                  <a16:creationId xmlns:a16="http://schemas.microsoft.com/office/drawing/2014/main" id="{3A04A7CC-AE1E-4E8A-9B2B-5D02DF6797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9511" y="2932386"/>
              <a:ext cx="860608" cy="946670"/>
            </a:xfrm>
            <a:prstGeom prst="rect">
              <a:avLst/>
            </a:prstGeom>
          </p:spPr>
        </p:pic>
        <p:grpSp>
          <p:nvGrpSpPr>
            <p:cNvPr id="170" name="グループ化 169">
              <a:extLst>
                <a:ext uri="{FF2B5EF4-FFF2-40B4-BE49-F238E27FC236}">
                  <a16:creationId xmlns:a16="http://schemas.microsoft.com/office/drawing/2014/main" id="{4CAF69AC-F8AB-D5AF-06A9-AB5A4EC0A032}"/>
                </a:ext>
              </a:extLst>
            </p:cNvPr>
            <p:cNvGrpSpPr/>
            <p:nvPr/>
          </p:nvGrpSpPr>
          <p:grpSpPr>
            <a:xfrm>
              <a:off x="5750746" y="3016323"/>
              <a:ext cx="709150" cy="819738"/>
              <a:chOff x="2898710" y="4034475"/>
              <a:chExt cx="709150" cy="819738"/>
            </a:xfrm>
          </p:grpSpPr>
          <p:sp>
            <p:nvSpPr>
              <p:cNvPr id="171" name="楕円 170">
                <a:extLst>
                  <a:ext uri="{FF2B5EF4-FFF2-40B4-BE49-F238E27FC236}">
                    <a16:creationId xmlns:a16="http://schemas.microsoft.com/office/drawing/2014/main" id="{479C4659-58E4-F218-67F5-5F07DE7C82DF}"/>
                  </a:ext>
                </a:extLst>
              </p:cNvPr>
              <p:cNvSpPr/>
              <p:nvPr/>
            </p:nvSpPr>
            <p:spPr bwMode="auto">
              <a:xfrm>
                <a:off x="2898710" y="4034475"/>
                <a:ext cx="691495" cy="691493"/>
              </a:xfrm>
              <a:prstGeom prst="ellipse">
                <a:avLst/>
              </a:prstGeom>
              <a:solidFill>
                <a:schemeClr val="accent2">
                  <a:lumMod val="40000"/>
                  <a:lumOff val="6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72" name="テキスト ボックス 171">
                <a:extLst>
                  <a:ext uri="{FF2B5EF4-FFF2-40B4-BE49-F238E27FC236}">
                    <a16:creationId xmlns:a16="http://schemas.microsoft.com/office/drawing/2014/main" id="{65A0B809-4961-D582-64A1-4402F827D8FA}"/>
                  </a:ext>
                </a:extLst>
              </p:cNvPr>
              <p:cNvSpPr txBox="1"/>
              <p:nvPr/>
            </p:nvSpPr>
            <p:spPr>
              <a:xfrm>
                <a:off x="2992718" y="4074062"/>
                <a:ext cx="492385" cy="273547"/>
              </a:xfrm>
              <a:prstGeom prst="rect">
                <a:avLst/>
              </a:prstGeom>
              <a:noFill/>
            </p:spPr>
            <p:txBody>
              <a:bodyPr wrap="none" rtlCol="0">
                <a:spAutoFit/>
              </a:bodyPr>
              <a:lstStyle/>
              <a:p>
                <a:pPr algn="ctr"/>
                <a:r>
                  <a:rPr kumimoji="1" lang="ja-JP" altLang="en-US" sz="900" b="1">
                    <a:latin typeface="メイリオ" panose="020B0604030504040204" pitchFamily="50" charset="-128"/>
                    <a:ea typeface="メイリオ" panose="020B0604030504040204" pitchFamily="50" charset="-128"/>
                  </a:rPr>
                  <a:t>中国</a:t>
                </a:r>
              </a:p>
            </p:txBody>
          </p:sp>
          <p:sp>
            <p:nvSpPr>
              <p:cNvPr id="173" name="テキスト ボックス 172">
                <a:extLst>
                  <a:ext uri="{FF2B5EF4-FFF2-40B4-BE49-F238E27FC236}">
                    <a16:creationId xmlns:a16="http://schemas.microsoft.com/office/drawing/2014/main" id="{DCA3B0C2-446D-F268-27ED-790664F0A47F}"/>
                  </a:ext>
                </a:extLst>
              </p:cNvPr>
              <p:cNvSpPr txBox="1"/>
              <p:nvPr/>
            </p:nvSpPr>
            <p:spPr>
              <a:xfrm>
                <a:off x="2904930" y="4234172"/>
                <a:ext cx="702930" cy="620041"/>
              </a:xfrm>
              <a:prstGeom prst="rect">
                <a:avLst/>
              </a:prstGeom>
              <a:noFill/>
            </p:spPr>
            <p:txBody>
              <a:bodyPr wrap="square" rtlCol="0">
                <a:spAutoFit/>
              </a:bodyPr>
              <a:lstStyle/>
              <a:p>
                <a:pPr algn="ctr"/>
                <a:r>
                  <a:rPr lang="en-US" altLang="ja-JP" sz="2000" b="1">
                    <a:latin typeface="メイリオ" panose="020B0604030504040204" pitchFamily="50" charset="-128"/>
                    <a:ea typeface="メイリオ" panose="020B0604030504040204" pitchFamily="50" charset="-128"/>
                  </a:rPr>
                  <a:t>15</a:t>
                </a:r>
                <a:r>
                  <a:rPr kumimoji="1" lang="ja-JP" altLang="en-US" sz="800" b="1">
                    <a:latin typeface="メイリオ" panose="020B0604030504040204" pitchFamily="50" charset="-128"/>
                    <a:ea typeface="メイリオ" panose="020B0604030504040204" pitchFamily="50" charset="-128"/>
                  </a:rPr>
                  <a:t>名</a:t>
                </a:r>
                <a:endParaRPr kumimoji="1" lang="ja-JP" altLang="en-US" sz="1050" b="1">
                  <a:latin typeface="メイリオ" panose="020B0604030504040204" pitchFamily="50" charset="-128"/>
                  <a:ea typeface="メイリオ" panose="020B0604030504040204" pitchFamily="50" charset="-128"/>
                </a:endParaRPr>
              </a:p>
            </p:txBody>
          </p:sp>
        </p:grpSp>
      </p:grpSp>
      <p:grpSp>
        <p:nvGrpSpPr>
          <p:cNvPr id="174" name="グループ化 173">
            <a:extLst>
              <a:ext uri="{FF2B5EF4-FFF2-40B4-BE49-F238E27FC236}">
                <a16:creationId xmlns:a16="http://schemas.microsoft.com/office/drawing/2014/main" id="{EA66D713-EC90-36E5-0F4A-AC8156ADDE64}"/>
              </a:ext>
            </a:extLst>
          </p:cNvPr>
          <p:cNvGrpSpPr/>
          <p:nvPr/>
        </p:nvGrpSpPr>
        <p:grpSpPr>
          <a:xfrm>
            <a:off x="8177813" y="5160068"/>
            <a:ext cx="726222" cy="798845"/>
            <a:chOff x="5669511" y="2932386"/>
            <a:chExt cx="860608" cy="946670"/>
          </a:xfrm>
        </p:grpSpPr>
        <p:pic>
          <p:nvPicPr>
            <p:cNvPr id="175" name="図 174" descr="アイコン が含まれている画像&#10;&#10;自動的に生成された説明">
              <a:extLst>
                <a:ext uri="{FF2B5EF4-FFF2-40B4-BE49-F238E27FC236}">
                  <a16:creationId xmlns:a16="http://schemas.microsoft.com/office/drawing/2014/main" id="{AB3F15B8-0085-1174-97F6-DA96D00D2F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9511" y="2932386"/>
              <a:ext cx="860608" cy="946670"/>
            </a:xfrm>
            <a:prstGeom prst="rect">
              <a:avLst/>
            </a:prstGeom>
          </p:spPr>
        </p:pic>
        <p:grpSp>
          <p:nvGrpSpPr>
            <p:cNvPr id="176" name="グループ化 175">
              <a:extLst>
                <a:ext uri="{FF2B5EF4-FFF2-40B4-BE49-F238E27FC236}">
                  <a16:creationId xmlns:a16="http://schemas.microsoft.com/office/drawing/2014/main" id="{0A3AF655-8F3B-CB36-310E-33AE412AD128}"/>
                </a:ext>
              </a:extLst>
            </p:cNvPr>
            <p:cNvGrpSpPr/>
            <p:nvPr/>
          </p:nvGrpSpPr>
          <p:grpSpPr>
            <a:xfrm>
              <a:off x="5750746" y="3016323"/>
              <a:ext cx="709150" cy="691493"/>
              <a:chOff x="2898710" y="4034475"/>
              <a:chExt cx="709150" cy="691493"/>
            </a:xfrm>
          </p:grpSpPr>
          <p:sp>
            <p:nvSpPr>
              <p:cNvPr id="177" name="楕円 176">
                <a:extLst>
                  <a:ext uri="{FF2B5EF4-FFF2-40B4-BE49-F238E27FC236}">
                    <a16:creationId xmlns:a16="http://schemas.microsoft.com/office/drawing/2014/main" id="{D72C16EA-1423-3CEA-23D4-3D2A6C84C8F9}"/>
                  </a:ext>
                </a:extLst>
              </p:cNvPr>
              <p:cNvSpPr/>
              <p:nvPr/>
            </p:nvSpPr>
            <p:spPr bwMode="auto">
              <a:xfrm>
                <a:off x="2898710" y="4034475"/>
                <a:ext cx="691495" cy="691493"/>
              </a:xfrm>
              <a:prstGeom prst="ellipse">
                <a:avLst/>
              </a:prstGeom>
              <a:solidFill>
                <a:schemeClr val="accent6">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78" name="テキスト ボックス 177">
                <a:extLst>
                  <a:ext uri="{FF2B5EF4-FFF2-40B4-BE49-F238E27FC236}">
                    <a16:creationId xmlns:a16="http://schemas.microsoft.com/office/drawing/2014/main" id="{2E38316E-5779-50CD-CC18-DB73532EC9C2}"/>
                  </a:ext>
                </a:extLst>
              </p:cNvPr>
              <p:cNvSpPr txBox="1"/>
              <p:nvPr/>
            </p:nvSpPr>
            <p:spPr>
              <a:xfrm>
                <a:off x="2992719" y="4074062"/>
                <a:ext cx="492385" cy="273547"/>
              </a:xfrm>
              <a:prstGeom prst="rect">
                <a:avLst/>
              </a:prstGeom>
              <a:noFill/>
            </p:spPr>
            <p:txBody>
              <a:bodyPr wrap="none" rtlCol="0">
                <a:spAutoFit/>
              </a:bodyPr>
              <a:lstStyle/>
              <a:p>
                <a:pPr algn="ctr"/>
                <a:r>
                  <a:rPr kumimoji="1" lang="ja-JP" altLang="en-US" sz="900" b="1">
                    <a:latin typeface="メイリオ" panose="020B0604030504040204" pitchFamily="50" charset="-128"/>
                    <a:ea typeface="メイリオ" panose="020B0604030504040204" pitchFamily="50" charset="-128"/>
                  </a:rPr>
                  <a:t>四国</a:t>
                </a:r>
              </a:p>
            </p:txBody>
          </p:sp>
          <p:sp>
            <p:nvSpPr>
              <p:cNvPr id="179" name="テキスト ボックス 178">
                <a:extLst>
                  <a:ext uri="{FF2B5EF4-FFF2-40B4-BE49-F238E27FC236}">
                    <a16:creationId xmlns:a16="http://schemas.microsoft.com/office/drawing/2014/main" id="{F8D7F495-3694-26E8-46FF-DCF55E44CF1A}"/>
                  </a:ext>
                </a:extLst>
              </p:cNvPr>
              <p:cNvSpPr txBox="1"/>
              <p:nvPr/>
            </p:nvSpPr>
            <p:spPr>
              <a:xfrm>
                <a:off x="2904930" y="4234172"/>
                <a:ext cx="702930" cy="474149"/>
              </a:xfrm>
              <a:prstGeom prst="rect">
                <a:avLst/>
              </a:prstGeom>
              <a:noFill/>
            </p:spPr>
            <p:txBody>
              <a:bodyPr wrap="square" rtlCol="0">
                <a:spAutoFit/>
              </a:bodyPr>
              <a:lstStyle/>
              <a:p>
                <a:pPr algn="ctr"/>
                <a:r>
                  <a:rPr lang="en-US" altLang="ja-JP" sz="2000" b="1">
                    <a:latin typeface="メイリオ" panose="020B0604030504040204" pitchFamily="50" charset="-128"/>
                    <a:ea typeface="メイリオ" panose="020B0604030504040204" pitchFamily="50" charset="-128"/>
                  </a:rPr>
                  <a:t>5</a:t>
                </a:r>
                <a:r>
                  <a:rPr kumimoji="1" lang="ja-JP" altLang="en-US" sz="800" b="1">
                    <a:latin typeface="メイリオ" panose="020B0604030504040204" pitchFamily="50" charset="-128"/>
                    <a:ea typeface="メイリオ" panose="020B0604030504040204" pitchFamily="50" charset="-128"/>
                  </a:rPr>
                  <a:t>名</a:t>
                </a:r>
                <a:endParaRPr kumimoji="1" lang="ja-JP" altLang="en-US" sz="1050" b="1">
                  <a:latin typeface="メイリオ" panose="020B0604030504040204" pitchFamily="50" charset="-128"/>
                  <a:ea typeface="メイリオ" panose="020B0604030504040204" pitchFamily="50" charset="-128"/>
                </a:endParaRPr>
              </a:p>
            </p:txBody>
          </p:sp>
        </p:grpSp>
      </p:grpSp>
      <p:grpSp>
        <p:nvGrpSpPr>
          <p:cNvPr id="180" name="グループ化 179">
            <a:extLst>
              <a:ext uri="{FF2B5EF4-FFF2-40B4-BE49-F238E27FC236}">
                <a16:creationId xmlns:a16="http://schemas.microsoft.com/office/drawing/2014/main" id="{67039C86-A9D2-1393-C500-A0EB774F58A1}"/>
              </a:ext>
            </a:extLst>
          </p:cNvPr>
          <p:cNvGrpSpPr/>
          <p:nvPr/>
        </p:nvGrpSpPr>
        <p:grpSpPr>
          <a:xfrm>
            <a:off x="10586457" y="1571456"/>
            <a:ext cx="860608" cy="946670"/>
            <a:chOff x="5669511" y="2932386"/>
            <a:chExt cx="860608" cy="946670"/>
          </a:xfrm>
        </p:grpSpPr>
        <p:pic>
          <p:nvPicPr>
            <p:cNvPr id="181" name="図 180" descr="アイコン が含まれている画像&#10;&#10;自動的に生成された説明">
              <a:extLst>
                <a:ext uri="{FF2B5EF4-FFF2-40B4-BE49-F238E27FC236}">
                  <a16:creationId xmlns:a16="http://schemas.microsoft.com/office/drawing/2014/main" id="{343D757C-0C49-1F2C-F571-F733BD181F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9511" y="2932386"/>
              <a:ext cx="860608" cy="946670"/>
            </a:xfrm>
            <a:prstGeom prst="rect">
              <a:avLst/>
            </a:prstGeom>
          </p:spPr>
        </p:pic>
        <p:grpSp>
          <p:nvGrpSpPr>
            <p:cNvPr id="182" name="グループ化 181">
              <a:extLst>
                <a:ext uri="{FF2B5EF4-FFF2-40B4-BE49-F238E27FC236}">
                  <a16:creationId xmlns:a16="http://schemas.microsoft.com/office/drawing/2014/main" id="{1F9A2772-F0EB-517C-F39B-A6AB45EB7D4F}"/>
                </a:ext>
              </a:extLst>
            </p:cNvPr>
            <p:cNvGrpSpPr/>
            <p:nvPr/>
          </p:nvGrpSpPr>
          <p:grpSpPr>
            <a:xfrm>
              <a:off x="5750746" y="3013501"/>
              <a:ext cx="709150" cy="691493"/>
              <a:chOff x="2898710" y="4031653"/>
              <a:chExt cx="709150" cy="691493"/>
            </a:xfrm>
          </p:grpSpPr>
          <p:sp>
            <p:nvSpPr>
              <p:cNvPr id="183" name="楕円 182">
                <a:extLst>
                  <a:ext uri="{FF2B5EF4-FFF2-40B4-BE49-F238E27FC236}">
                    <a16:creationId xmlns:a16="http://schemas.microsoft.com/office/drawing/2014/main" id="{15FB14D4-FA8E-D881-D265-1731F22DC519}"/>
                  </a:ext>
                </a:extLst>
              </p:cNvPr>
              <p:cNvSpPr/>
              <p:nvPr/>
            </p:nvSpPr>
            <p:spPr bwMode="auto">
              <a:xfrm>
                <a:off x="2898710" y="4031653"/>
                <a:ext cx="691495" cy="691493"/>
              </a:xfrm>
              <a:prstGeom prst="ellipse">
                <a:avLst/>
              </a:prstGeom>
              <a:solidFill>
                <a:schemeClr val="accent3">
                  <a:lumMod val="40000"/>
                  <a:lumOff val="6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84" name="テキスト ボックス 183">
                <a:extLst>
                  <a:ext uri="{FF2B5EF4-FFF2-40B4-BE49-F238E27FC236}">
                    <a16:creationId xmlns:a16="http://schemas.microsoft.com/office/drawing/2014/main" id="{3B6C9EEE-F6F5-1B76-BE1E-23A8468E9D8F}"/>
                  </a:ext>
                </a:extLst>
              </p:cNvPr>
              <p:cNvSpPr txBox="1"/>
              <p:nvPr/>
            </p:nvSpPr>
            <p:spPr>
              <a:xfrm>
                <a:off x="2973455" y="4100227"/>
                <a:ext cx="530915" cy="230832"/>
              </a:xfrm>
              <a:prstGeom prst="rect">
                <a:avLst/>
              </a:prstGeom>
              <a:noFill/>
            </p:spPr>
            <p:txBody>
              <a:bodyPr wrap="none" rtlCol="0">
                <a:spAutoFit/>
              </a:bodyPr>
              <a:lstStyle/>
              <a:p>
                <a:pPr algn="ctr"/>
                <a:r>
                  <a:rPr lang="ja-JP" altLang="en-US" sz="900" b="1">
                    <a:latin typeface="メイリオ" panose="020B0604030504040204" pitchFamily="50" charset="-128"/>
                    <a:ea typeface="メイリオ" panose="020B0604030504040204" pitchFamily="50" charset="-128"/>
                  </a:rPr>
                  <a:t>北海道</a:t>
                </a:r>
                <a:endParaRPr kumimoji="1" lang="ja-JP" altLang="en-US" sz="900" b="1">
                  <a:latin typeface="メイリオ" panose="020B0604030504040204" pitchFamily="50" charset="-128"/>
                  <a:ea typeface="メイリオ" panose="020B0604030504040204" pitchFamily="50" charset="-128"/>
                </a:endParaRPr>
              </a:p>
            </p:txBody>
          </p:sp>
          <p:sp>
            <p:nvSpPr>
              <p:cNvPr id="185" name="テキスト ボックス 184">
                <a:extLst>
                  <a:ext uri="{FF2B5EF4-FFF2-40B4-BE49-F238E27FC236}">
                    <a16:creationId xmlns:a16="http://schemas.microsoft.com/office/drawing/2014/main" id="{D9FB5937-D024-2DFA-8DA2-041881D6F65A}"/>
                  </a:ext>
                </a:extLst>
              </p:cNvPr>
              <p:cNvSpPr txBox="1"/>
              <p:nvPr/>
            </p:nvSpPr>
            <p:spPr>
              <a:xfrm>
                <a:off x="2904930" y="4273421"/>
                <a:ext cx="702930" cy="400110"/>
              </a:xfrm>
              <a:prstGeom prst="rect">
                <a:avLst/>
              </a:prstGeom>
              <a:noFill/>
            </p:spPr>
            <p:txBody>
              <a:bodyPr wrap="square" rtlCol="0">
                <a:spAutoFit/>
              </a:bodyPr>
              <a:lstStyle/>
              <a:p>
                <a:pPr algn="ctr"/>
                <a:r>
                  <a:rPr lang="en-US" altLang="ja-JP" sz="2000" b="1">
                    <a:latin typeface="メイリオ" panose="020B0604030504040204" pitchFamily="50" charset="-128"/>
                    <a:ea typeface="メイリオ" panose="020B0604030504040204" pitchFamily="50" charset="-128"/>
                  </a:rPr>
                  <a:t>3</a:t>
                </a:r>
                <a:r>
                  <a:rPr kumimoji="1" lang="en-US" altLang="ja-JP" sz="2000" b="1">
                    <a:latin typeface="メイリオ" panose="020B0604030504040204" pitchFamily="50" charset="-128"/>
                    <a:ea typeface="メイリオ" panose="020B0604030504040204" pitchFamily="50" charset="-128"/>
                  </a:rPr>
                  <a:t>0</a:t>
                </a:r>
                <a:r>
                  <a:rPr kumimoji="1" lang="ja-JP" altLang="en-US" sz="800" b="1">
                    <a:latin typeface="メイリオ" panose="020B0604030504040204" pitchFamily="50" charset="-128"/>
                    <a:ea typeface="メイリオ" panose="020B0604030504040204" pitchFamily="50" charset="-128"/>
                  </a:rPr>
                  <a:t>名</a:t>
                </a:r>
                <a:endParaRPr kumimoji="1" lang="ja-JP" altLang="en-US" sz="1050" b="1">
                  <a:latin typeface="メイリオ" panose="020B0604030504040204" pitchFamily="50" charset="-128"/>
                  <a:ea typeface="メイリオ" panose="020B0604030504040204" pitchFamily="50" charset="-128"/>
                </a:endParaRPr>
              </a:p>
            </p:txBody>
          </p:sp>
        </p:grpSp>
      </p:grpSp>
      <p:grpSp>
        <p:nvGrpSpPr>
          <p:cNvPr id="192" name="グループ化 191">
            <a:extLst>
              <a:ext uri="{FF2B5EF4-FFF2-40B4-BE49-F238E27FC236}">
                <a16:creationId xmlns:a16="http://schemas.microsoft.com/office/drawing/2014/main" id="{F48E52AB-F5DB-481C-AF7F-E9533BB63E8F}"/>
              </a:ext>
            </a:extLst>
          </p:cNvPr>
          <p:cNvGrpSpPr/>
          <p:nvPr/>
        </p:nvGrpSpPr>
        <p:grpSpPr>
          <a:xfrm>
            <a:off x="10266818" y="3801580"/>
            <a:ext cx="1607103" cy="1461003"/>
            <a:chOff x="3109797" y="2450308"/>
            <a:chExt cx="1607103" cy="1461003"/>
          </a:xfrm>
        </p:grpSpPr>
        <p:pic>
          <p:nvPicPr>
            <p:cNvPr id="187" name="図 186" descr="アイコン&#10;&#10;中程度の精度で自動的に生成された説明">
              <a:extLst>
                <a:ext uri="{FF2B5EF4-FFF2-40B4-BE49-F238E27FC236}">
                  <a16:creationId xmlns:a16="http://schemas.microsoft.com/office/drawing/2014/main" id="{9E4150C5-7B76-C312-ABB1-A25ED812A5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3428556">
              <a:off x="3182847" y="2377258"/>
              <a:ext cx="1461003" cy="1607103"/>
            </a:xfrm>
            <a:prstGeom prst="rect">
              <a:avLst/>
            </a:prstGeom>
          </p:spPr>
        </p:pic>
        <p:grpSp>
          <p:nvGrpSpPr>
            <p:cNvPr id="188" name="グループ化 187">
              <a:extLst>
                <a:ext uri="{FF2B5EF4-FFF2-40B4-BE49-F238E27FC236}">
                  <a16:creationId xmlns:a16="http://schemas.microsoft.com/office/drawing/2014/main" id="{62F4C850-4B5D-5681-1911-7FC6805F1A56}"/>
                </a:ext>
              </a:extLst>
            </p:cNvPr>
            <p:cNvGrpSpPr/>
            <p:nvPr/>
          </p:nvGrpSpPr>
          <p:grpSpPr>
            <a:xfrm>
              <a:off x="3316379" y="2518715"/>
              <a:ext cx="1350255" cy="1230828"/>
              <a:chOff x="2865405" y="4021503"/>
              <a:chExt cx="779373" cy="710439"/>
            </a:xfrm>
          </p:grpSpPr>
          <p:sp>
            <p:nvSpPr>
              <p:cNvPr id="189" name="楕円 188">
                <a:extLst>
                  <a:ext uri="{FF2B5EF4-FFF2-40B4-BE49-F238E27FC236}">
                    <a16:creationId xmlns:a16="http://schemas.microsoft.com/office/drawing/2014/main" id="{31283DA9-E516-D494-A6F0-F5A98E82D1CB}"/>
                  </a:ext>
                </a:extLst>
              </p:cNvPr>
              <p:cNvSpPr/>
              <p:nvPr/>
            </p:nvSpPr>
            <p:spPr bwMode="auto">
              <a:xfrm>
                <a:off x="2892960" y="4021503"/>
                <a:ext cx="710440" cy="710439"/>
              </a:xfrm>
              <a:prstGeom prst="ellipse">
                <a:avLst/>
              </a:prstGeom>
              <a:solidFill>
                <a:schemeClr val="accent4">
                  <a:lumMod val="40000"/>
                  <a:lumOff val="6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90" name="テキスト ボックス 189">
                <a:extLst>
                  <a:ext uri="{FF2B5EF4-FFF2-40B4-BE49-F238E27FC236}">
                    <a16:creationId xmlns:a16="http://schemas.microsoft.com/office/drawing/2014/main" id="{41D91801-357D-6E01-DB33-4EE5D2EE7F16}"/>
                  </a:ext>
                </a:extLst>
              </p:cNvPr>
              <p:cNvSpPr txBox="1"/>
              <p:nvPr/>
            </p:nvSpPr>
            <p:spPr>
              <a:xfrm>
                <a:off x="3042609" y="4119550"/>
                <a:ext cx="417477" cy="177650"/>
              </a:xfrm>
              <a:prstGeom prst="rect">
                <a:avLst/>
              </a:prstGeom>
              <a:noFill/>
            </p:spPr>
            <p:txBody>
              <a:bodyPr wrap="none" rtlCol="0">
                <a:spAutoFit/>
              </a:bodyPr>
              <a:lstStyle/>
              <a:p>
                <a:pPr algn="ctr"/>
                <a:r>
                  <a:rPr kumimoji="1" lang="ja-JP" altLang="en-US" sz="1400" b="1">
                    <a:latin typeface="メイリオ" panose="020B0604030504040204" pitchFamily="50" charset="-128"/>
                    <a:ea typeface="メイリオ" panose="020B0604030504040204" pitchFamily="50" charset="-128"/>
                  </a:rPr>
                  <a:t>首都圏</a:t>
                </a:r>
              </a:p>
            </p:txBody>
          </p:sp>
          <p:sp>
            <p:nvSpPr>
              <p:cNvPr id="191" name="テキスト ボックス 190">
                <a:extLst>
                  <a:ext uri="{FF2B5EF4-FFF2-40B4-BE49-F238E27FC236}">
                    <a16:creationId xmlns:a16="http://schemas.microsoft.com/office/drawing/2014/main" id="{425B30A4-B6F5-50A4-BCD8-1745BE5EDDAC}"/>
                  </a:ext>
                </a:extLst>
              </p:cNvPr>
              <p:cNvSpPr txBox="1"/>
              <p:nvPr/>
            </p:nvSpPr>
            <p:spPr>
              <a:xfrm>
                <a:off x="2865405" y="4256196"/>
                <a:ext cx="779373" cy="373065"/>
              </a:xfrm>
              <a:prstGeom prst="rect">
                <a:avLst/>
              </a:prstGeom>
              <a:noFill/>
            </p:spPr>
            <p:txBody>
              <a:bodyPr wrap="square" rtlCol="0">
                <a:spAutoFit/>
              </a:bodyPr>
              <a:lstStyle/>
              <a:p>
                <a:pPr algn="ctr"/>
                <a:r>
                  <a:rPr lang="en-US" altLang="ja-JP" sz="3600" b="1">
                    <a:latin typeface="メイリオ" panose="020B0604030504040204" pitchFamily="50" charset="-128"/>
                    <a:ea typeface="メイリオ" panose="020B0604030504040204" pitchFamily="50" charset="-128"/>
                  </a:rPr>
                  <a:t>25</a:t>
                </a:r>
                <a:r>
                  <a:rPr kumimoji="1" lang="en-US" altLang="ja-JP" sz="3600" b="1">
                    <a:latin typeface="メイリオ" panose="020B0604030504040204" pitchFamily="50" charset="-128"/>
                    <a:ea typeface="メイリオ" panose="020B0604030504040204" pitchFamily="50" charset="-128"/>
                  </a:rPr>
                  <a:t>0</a:t>
                </a:r>
                <a:r>
                  <a:rPr kumimoji="1" lang="ja-JP" altLang="en-US" sz="1100" b="1">
                    <a:latin typeface="メイリオ" panose="020B0604030504040204" pitchFamily="50" charset="-128"/>
                    <a:ea typeface="メイリオ" panose="020B0604030504040204" pitchFamily="50" charset="-128"/>
                  </a:rPr>
                  <a:t>名</a:t>
                </a:r>
                <a:endParaRPr kumimoji="1" lang="ja-JP" altLang="en-US" sz="1600" b="1">
                  <a:latin typeface="メイリオ" panose="020B0604030504040204" pitchFamily="50" charset="-128"/>
                  <a:ea typeface="メイリオ" panose="020B0604030504040204" pitchFamily="50" charset="-128"/>
                </a:endParaRPr>
              </a:p>
            </p:txBody>
          </p:sp>
        </p:grpSp>
      </p:grpSp>
      <p:grpSp>
        <p:nvGrpSpPr>
          <p:cNvPr id="342" name="グループ化 341">
            <a:extLst>
              <a:ext uri="{FF2B5EF4-FFF2-40B4-BE49-F238E27FC236}">
                <a16:creationId xmlns:a16="http://schemas.microsoft.com/office/drawing/2014/main" id="{487A4616-B582-6AB2-B2B9-D3404E303576}"/>
              </a:ext>
            </a:extLst>
          </p:cNvPr>
          <p:cNvGrpSpPr/>
          <p:nvPr/>
        </p:nvGrpSpPr>
        <p:grpSpPr>
          <a:xfrm>
            <a:off x="929825" y="2232866"/>
            <a:ext cx="823780" cy="711124"/>
            <a:chOff x="1310298" y="5833782"/>
            <a:chExt cx="823780" cy="711124"/>
          </a:xfrm>
        </p:grpSpPr>
        <p:grpSp>
          <p:nvGrpSpPr>
            <p:cNvPr id="294" name="グループ化 293">
              <a:extLst>
                <a:ext uri="{FF2B5EF4-FFF2-40B4-BE49-F238E27FC236}">
                  <a16:creationId xmlns:a16="http://schemas.microsoft.com/office/drawing/2014/main" id="{D3979505-3EBD-1A28-2476-A58F21069430}"/>
                </a:ext>
              </a:extLst>
            </p:cNvPr>
            <p:cNvGrpSpPr/>
            <p:nvPr/>
          </p:nvGrpSpPr>
          <p:grpSpPr>
            <a:xfrm>
              <a:off x="1310298" y="5833782"/>
              <a:ext cx="823780" cy="711124"/>
              <a:chOff x="9628468" y="5961691"/>
              <a:chExt cx="823780" cy="711124"/>
            </a:xfrm>
          </p:grpSpPr>
          <p:sp>
            <p:nvSpPr>
              <p:cNvPr id="304" name="四角形: 角を丸くする 303">
                <a:extLst>
                  <a:ext uri="{FF2B5EF4-FFF2-40B4-BE49-F238E27FC236}">
                    <a16:creationId xmlns:a16="http://schemas.microsoft.com/office/drawing/2014/main" id="{2B889AFB-FD75-14F3-FAEB-64F5B9B262D6}"/>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05" name="テキスト ボックス 304">
                <a:extLst>
                  <a:ext uri="{FF2B5EF4-FFF2-40B4-BE49-F238E27FC236}">
                    <a16:creationId xmlns:a16="http://schemas.microsoft.com/office/drawing/2014/main" id="{3229227E-DAF3-ADEF-EF93-30D7E14F3192}"/>
                  </a:ext>
                </a:extLst>
              </p:cNvPr>
              <p:cNvSpPr txBox="1"/>
              <p:nvPr/>
            </p:nvSpPr>
            <p:spPr>
              <a:xfrm>
                <a:off x="9628468" y="6415112"/>
                <a:ext cx="823780" cy="230832"/>
              </a:xfrm>
              <a:prstGeom prst="rect">
                <a:avLst/>
              </a:prstGeom>
              <a:noFill/>
            </p:spPr>
            <p:txBody>
              <a:bodyPr wrap="square" rtlCol="0">
                <a:spAutoFit/>
              </a:bodyPr>
              <a:lstStyle/>
              <a:p>
                <a:pPr algn="ctr"/>
                <a:r>
                  <a:rPr kumimoji="1" lang="ja-JP" altLang="en-US" sz="900" b="1">
                    <a:latin typeface="メイリオ" panose="020B0604030504040204" pitchFamily="50" charset="-128"/>
                    <a:ea typeface="メイリオ" panose="020B0604030504040204" pitchFamily="50" charset="-128"/>
                  </a:rPr>
                  <a:t>企画･設計</a:t>
                </a:r>
                <a:endParaRPr kumimoji="1" lang="en-US" altLang="ja-JP" sz="900" b="1">
                  <a:latin typeface="メイリオ" panose="020B0604030504040204" pitchFamily="50" charset="-128"/>
                  <a:ea typeface="メイリオ" panose="020B0604030504040204" pitchFamily="50" charset="-128"/>
                </a:endParaRPr>
              </a:p>
            </p:txBody>
          </p:sp>
        </p:grpSp>
        <p:pic>
          <p:nvPicPr>
            <p:cNvPr id="306" name="グラフィックス 305" descr="アイデアが浮かんだ人 単色塗りつぶし">
              <a:extLst>
                <a:ext uri="{FF2B5EF4-FFF2-40B4-BE49-F238E27FC236}">
                  <a16:creationId xmlns:a16="http://schemas.microsoft.com/office/drawing/2014/main" id="{2A42517D-8A37-C045-3ED2-29B9143B34E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11325" y="5893938"/>
              <a:ext cx="396701" cy="396701"/>
            </a:xfrm>
            <a:prstGeom prst="rect">
              <a:avLst/>
            </a:prstGeom>
          </p:spPr>
        </p:pic>
      </p:grpSp>
      <p:grpSp>
        <p:nvGrpSpPr>
          <p:cNvPr id="352" name="グループ化 351">
            <a:extLst>
              <a:ext uri="{FF2B5EF4-FFF2-40B4-BE49-F238E27FC236}">
                <a16:creationId xmlns:a16="http://schemas.microsoft.com/office/drawing/2014/main" id="{664788DE-7948-7675-DBB1-B00778803905}"/>
              </a:ext>
            </a:extLst>
          </p:cNvPr>
          <p:cNvGrpSpPr/>
          <p:nvPr/>
        </p:nvGrpSpPr>
        <p:grpSpPr>
          <a:xfrm>
            <a:off x="912787" y="3953435"/>
            <a:ext cx="823627" cy="711124"/>
            <a:chOff x="2194552" y="5833782"/>
            <a:chExt cx="823627" cy="711124"/>
          </a:xfrm>
        </p:grpSpPr>
        <p:grpSp>
          <p:nvGrpSpPr>
            <p:cNvPr id="295" name="グループ化 294">
              <a:extLst>
                <a:ext uri="{FF2B5EF4-FFF2-40B4-BE49-F238E27FC236}">
                  <a16:creationId xmlns:a16="http://schemas.microsoft.com/office/drawing/2014/main" id="{520F9613-C488-DF18-F013-FCD8B83C77A2}"/>
                </a:ext>
              </a:extLst>
            </p:cNvPr>
            <p:cNvGrpSpPr/>
            <p:nvPr/>
          </p:nvGrpSpPr>
          <p:grpSpPr>
            <a:xfrm>
              <a:off x="2194552" y="5833782"/>
              <a:ext cx="823627" cy="711124"/>
              <a:chOff x="9618579" y="5961691"/>
              <a:chExt cx="823627" cy="711124"/>
            </a:xfrm>
          </p:grpSpPr>
          <p:sp>
            <p:nvSpPr>
              <p:cNvPr id="302" name="四角形: 角を丸くする 301">
                <a:extLst>
                  <a:ext uri="{FF2B5EF4-FFF2-40B4-BE49-F238E27FC236}">
                    <a16:creationId xmlns:a16="http://schemas.microsoft.com/office/drawing/2014/main" id="{156BD9F7-EAC5-2C66-80FC-D85AAD261B02}"/>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03" name="テキスト ボックス 302">
                <a:extLst>
                  <a:ext uri="{FF2B5EF4-FFF2-40B4-BE49-F238E27FC236}">
                    <a16:creationId xmlns:a16="http://schemas.microsoft.com/office/drawing/2014/main" id="{F1306D42-A1D1-78DD-1377-A372CC7A0003}"/>
                  </a:ext>
                </a:extLst>
              </p:cNvPr>
              <p:cNvSpPr txBox="1"/>
              <p:nvPr/>
            </p:nvSpPr>
            <p:spPr>
              <a:xfrm>
                <a:off x="9618579" y="6407582"/>
                <a:ext cx="823627"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フロー設計</a:t>
                </a:r>
                <a:endParaRPr kumimoji="1" lang="en-US" altLang="ja-JP" sz="900" b="1">
                  <a:latin typeface="メイリオ" panose="020B0604030504040204" pitchFamily="50" charset="-128"/>
                  <a:ea typeface="メイリオ" panose="020B0604030504040204" pitchFamily="50" charset="-128"/>
                </a:endParaRPr>
              </a:p>
            </p:txBody>
          </p:sp>
        </p:grpSp>
        <p:pic>
          <p:nvPicPr>
            <p:cNvPr id="309" name="グラフィックス 308" descr="プレイブック 単色塗りつぶし">
              <a:extLst>
                <a:ext uri="{FF2B5EF4-FFF2-40B4-BE49-F238E27FC236}">
                  <a16:creationId xmlns:a16="http://schemas.microsoft.com/office/drawing/2014/main" id="{6ED2CDE3-3155-08E2-2345-51C7124F90D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360888" y="5879629"/>
              <a:ext cx="448568" cy="448568"/>
            </a:xfrm>
            <a:prstGeom prst="rect">
              <a:avLst/>
            </a:prstGeom>
          </p:spPr>
        </p:pic>
      </p:grpSp>
      <p:grpSp>
        <p:nvGrpSpPr>
          <p:cNvPr id="313" name="グループ化 312">
            <a:extLst>
              <a:ext uri="{FF2B5EF4-FFF2-40B4-BE49-F238E27FC236}">
                <a16:creationId xmlns:a16="http://schemas.microsoft.com/office/drawing/2014/main" id="{08C5F9AE-CA04-2EA9-E581-BACCDB6B9F92}"/>
              </a:ext>
            </a:extLst>
          </p:cNvPr>
          <p:cNvGrpSpPr/>
          <p:nvPr/>
        </p:nvGrpSpPr>
        <p:grpSpPr>
          <a:xfrm>
            <a:off x="1811316" y="2232866"/>
            <a:ext cx="814047" cy="711124"/>
            <a:chOff x="9618462" y="5961691"/>
            <a:chExt cx="814047" cy="711124"/>
          </a:xfrm>
        </p:grpSpPr>
        <p:sp>
          <p:nvSpPr>
            <p:cNvPr id="317" name="四角形: 角を丸くする 316">
              <a:extLst>
                <a:ext uri="{FF2B5EF4-FFF2-40B4-BE49-F238E27FC236}">
                  <a16:creationId xmlns:a16="http://schemas.microsoft.com/office/drawing/2014/main" id="{8A1D8E30-CABE-3FEC-1E55-D01009D052A3}"/>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18" name="テキスト ボックス 317">
              <a:extLst>
                <a:ext uri="{FF2B5EF4-FFF2-40B4-BE49-F238E27FC236}">
                  <a16:creationId xmlns:a16="http://schemas.microsoft.com/office/drawing/2014/main" id="{2754CACF-2AAB-A231-CAE0-9C7F501B83A2}"/>
                </a:ext>
              </a:extLst>
            </p:cNvPr>
            <p:cNvSpPr txBox="1"/>
            <p:nvPr/>
          </p:nvSpPr>
          <p:spPr>
            <a:xfrm>
              <a:off x="9618462" y="6411424"/>
              <a:ext cx="814047"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規格統一</a:t>
              </a:r>
              <a:endParaRPr lang="en-US" altLang="ja-JP" sz="900" b="1">
                <a:latin typeface="メイリオ" panose="020B0604030504040204" pitchFamily="50" charset="-128"/>
                <a:ea typeface="メイリオ" panose="020B0604030504040204" pitchFamily="50" charset="-128"/>
              </a:endParaRPr>
            </a:p>
          </p:txBody>
        </p:sp>
      </p:grpSp>
      <p:grpSp>
        <p:nvGrpSpPr>
          <p:cNvPr id="336" name="グループ化 335">
            <a:extLst>
              <a:ext uri="{FF2B5EF4-FFF2-40B4-BE49-F238E27FC236}">
                <a16:creationId xmlns:a16="http://schemas.microsoft.com/office/drawing/2014/main" id="{CA766064-392C-3CEF-F02C-DE0492023425}"/>
              </a:ext>
            </a:extLst>
          </p:cNvPr>
          <p:cNvGrpSpPr/>
          <p:nvPr/>
        </p:nvGrpSpPr>
        <p:grpSpPr>
          <a:xfrm>
            <a:off x="2765838" y="2232866"/>
            <a:ext cx="711124" cy="711124"/>
            <a:chOff x="4036522" y="4931653"/>
            <a:chExt cx="711124" cy="711124"/>
          </a:xfrm>
        </p:grpSpPr>
        <p:grpSp>
          <p:nvGrpSpPr>
            <p:cNvPr id="280" name="グループ化 279">
              <a:extLst>
                <a:ext uri="{FF2B5EF4-FFF2-40B4-BE49-F238E27FC236}">
                  <a16:creationId xmlns:a16="http://schemas.microsoft.com/office/drawing/2014/main" id="{E1BD1011-80A5-C6E2-2C54-90B62D1E35C1}"/>
                </a:ext>
              </a:extLst>
            </p:cNvPr>
            <p:cNvGrpSpPr/>
            <p:nvPr/>
          </p:nvGrpSpPr>
          <p:grpSpPr>
            <a:xfrm>
              <a:off x="4036522" y="4931653"/>
              <a:ext cx="711124" cy="711124"/>
              <a:chOff x="9669263" y="5961691"/>
              <a:chExt cx="711124" cy="711124"/>
            </a:xfrm>
          </p:grpSpPr>
          <p:sp>
            <p:nvSpPr>
              <p:cNvPr id="281" name="四角形: 角を丸くする 280">
                <a:extLst>
                  <a:ext uri="{FF2B5EF4-FFF2-40B4-BE49-F238E27FC236}">
                    <a16:creationId xmlns:a16="http://schemas.microsoft.com/office/drawing/2014/main" id="{0064C6C8-0CF5-1C09-9B61-16650690384E}"/>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282" name="テキスト ボックス 281">
                <a:extLst>
                  <a:ext uri="{FF2B5EF4-FFF2-40B4-BE49-F238E27FC236}">
                    <a16:creationId xmlns:a16="http://schemas.microsoft.com/office/drawing/2014/main" id="{F8022CD6-E41E-7C85-9E13-E7A93F6D016B}"/>
                  </a:ext>
                </a:extLst>
              </p:cNvPr>
              <p:cNvSpPr txBox="1"/>
              <p:nvPr/>
            </p:nvSpPr>
            <p:spPr>
              <a:xfrm>
                <a:off x="9674632" y="6420360"/>
                <a:ext cx="687912"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体制提案</a:t>
                </a:r>
                <a:endParaRPr kumimoji="1" lang="en-US" altLang="ja-JP" sz="900" b="1">
                  <a:latin typeface="メイリオ" panose="020B0604030504040204" pitchFamily="50" charset="-128"/>
                  <a:ea typeface="メイリオ" panose="020B0604030504040204" pitchFamily="50" charset="-128"/>
                </a:endParaRPr>
              </a:p>
            </p:txBody>
          </p:sp>
        </p:grpSp>
        <p:pic>
          <p:nvPicPr>
            <p:cNvPr id="335" name="グラフィックス 334" descr="マネジメント 単色塗りつぶし">
              <a:extLst>
                <a:ext uri="{FF2B5EF4-FFF2-40B4-BE49-F238E27FC236}">
                  <a16:creationId xmlns:a16="http://schemas.microsoft.com/office/drawing/2014/main" id="{85E2587D-71A7-B831-2DF3-3463D964890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70413" y="4964912"/>
              <a:ext cx="445705" cy="445705"/>
            </a:xfrm>
            <a:prstGeom prst="rect">
              <a:avLst/>
            </a:prstGeom>
          </p:spPr>
        </p:pic>
      </p:grpSp>
      <p:grpSp>
        <p:nvGrpSpPr>
          <p:cNvPr id="356" name="グループ化 355">
            <a:extLst>
              <a:ext uri="{FF2B5EF4-FFF2-40B4-BE49-F238E27FC236}">
                <a16:creationId xmlns:a16="http://schemas.microsoft.com/office/drawing/2014/main" id="{186F5C1A-E89A-FFDD-ED0F-2157ECA20323}"/>
              </a:ext>
            </a:extLst>
          </p:cNvPr>
          <p:cNvGrpSpPr/>
          <p:nvPr/>
        </p:nvGrpSpPr>
        <p:grpSpPr>
          <a:xfrm>
            <a:off x="3620384" y="2232866"/>
            <a:ext cx="814047" cy="711124"/>
            <a:chOff x="2818368" y="3581436"/>
            <a:chExt cx="814047" cy="711124"/>
          </a:xfrm>
        </p:grpSpPr>
        <p:grpSp>
          <p:nvGrpSpPr>
            <p:cNvPr id="357" name="グループ化 356">
              <a:extLst>
                <a:ext uri="{FF2B5EF4-FFF2-40B4-BE49-F238E27FC236}">
                  <a16:creationId xmlns:a16="http://schemas.microsoft.com/office/drawing/2014/main" id="{4A9C7855-63E5-D9CD-2706-74B625CDBC8F}"/>
                </a:ext>
              </a:extLst>
            </p:cNvPr>
            <p:cNvGrpSpPr/>
            <p:nvPr/>
          </p:nvGrpSpPr>
          <p:grpSpPr>
            <a:xfrm>
              <a:off x="2818368" y="3581436"/>
              <a:ext cx="814047" cy="711124"/>
              <a:chOff x="9618462" y="5961691"/>
              <a:chExt cx="814047" cy="711124"/>
            </a:xfrm>
          </p:grpSpPr>
          <p:sp>
            <p:nvSpPr>
              <p:cNvPr id="359" name="四角形: 角を丸くする 358">
                <a:extLst>
                  <a:ext uri="{FF2B5EF4-FFF2-40B4-BE49-F238E27FC236}">
                    <a16:creationId xmlns:a16="http://schemas.microsoft.com/office/drawing/2014/main" id="{5E9F4776-1EE8-AAC1-20D8-2286F9DAC975}"/>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60" name="テキスト ボックス 359">
                <a:extLst>
                  <a:ext uri="{FF2B5EF4-FFF2-40B4-BE49-F238E27FC236}">
                    <a16:creationId xmlns:a16="http://schemas.microsoft.com/office/drawing/2014/main" id="{67378D62-63FB-8C11-9509-FEBCB18A6E85}"/>
                  </a:ext>
                </a:extLst>
              </p:cNvPr>
              <p:cNvSpPr txBox="1"/>
              <p:nvPr/>
            </p:nvSpPr>
            <p:spPr>
              <a:xfrm>
                <a:off x="9618462" y="6411424"/>
                <a:ext cx="814047"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制作・構築</a:t>
                </a:r>
                <a:endParaRPr lang="en-US" altLang="ja-JP" sz="900" b="1">
                  <a:latin typeface="メイリオ" panose="020B0604030504040204" pitchFamily="50" charset="-128"/>
                  <a:ea typeface="メイリオ" panose="020B0604030504040204" pitchFamily="50" charset="-128"/>
                </a:endParaRPr>
              </a:p>
            </p:txBody>
          </p:sp>
        </p:grpSp>
        <p:pic>
          <p:nvPicPr>
            <p:cNvPr id="358" name="グラフィックス 357" descr="インターネット 単色塗りつぶし">
              <a:extLst>
                <a:ext uri="{FF2B5EF4-FFF2-40B4-BE49-F238E27FC236}">
                  <a16:creationId xmlns:a16="http://schemas.microsoft.com/office/drawing/2014/main" id="{E7C53C58-84A9-3681-1C5D-BCEE11D57DA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002648" y="3618336"/>
              <a:ext cx="457200" cy="457200"/>
            </a:xfrm>
            <a:prstGeom prst="rect">
              <a:avLst/>
            </a:prstGeom>
          </p:spPr>
        </p:pic>
      </p:grpSp>
      <p:pic>
        <p:nvPicPr>
          <p:cNvPr id="361" name="グラフィックス 360" descr="ドキュメント 単色塗りつぶし">
            <a:extLst>
              <a:ext uri="{FF2B5EF4-FFF2-40B4-BE49-F238E27FC236}">
                <a16:creationId xmlns:a16="http://schemas.microsoft.com/office/drawing/2014/main" id="{9C5E8A9E-B59C-210B-3B8E-CEE1392E6FB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44811" y="2303873"/>
            <a:ext cx="361370" cy="361370"/>
          </a:xfrm>
          <a:prstGeom prst="rect">
            <a:avLst/>
          </a:prstGeom>
        </p:spPr>
      </p:pic>
      <p:grpSp>
        <p:nvGrpSpPr>
          <p:cNvPr id="377" name="グループ化 376">
            <a:extLst>
              <a:ext uri="{FF2B5EF4-FFF2-40B4-BE49-F238E27FC236}">
                <a16:creationId xmlns:a16="http://schemas.microsoft.com/office/drawing/2014/main" id="{2A9B1276-5FBF-29B4-D239-ACE82DB54A37}"/>
              </a:ext>
            </a:extLst>
          </p:cNvPr>
          <p:cNvGrpSpPr/>
          <p:nvPr/>
        </p:nvGrpSpPr>
        <p:grpSpPr>
          <a:xfrm>
            <a:off x="1850530" y="3953435"/>
            <a:ext cx="719155" cy="711124"/>
            <a:chOff x="1856124" y="5662247"/>
            <a:chExt cx="719155" cy="711124"/>
          </a:xfrm>
        </p:grpSpPr>
        <p:grpSp>
          <p:nvGrpSpPr>
            <p:cNvPr id="296" name="グループ化 295">
              <a:extLst>
                <a:ext uri="{FF2B5EF4-FFF2-40B4-BE49-F238E27FC236}">
                  <a16:creationId xmlns:a16="http://schemas.microsoft.com/office/drawing/2014/main" id="{E341962A-B96C-A61B-E2B2-A7B3DB46EE0C}"/>
                </a:ext>
              </a:extLst>
            </p:cNvPr>
            <p:cNvGrpSpPr/>
            <p:nvPr/>
          </p:nvGrpSpPr>
          <p:grpSpPr>
            <a:xfrm>
              <a:off x="1856124" y="5662247"/>
              <a:ext cx="719155" cy="711124"/>
              <a:chOff x="9661232" y="5961691"/>
              <a:chExt cx="719155" cy="711124"/>
            </a:xfrm>
          </p:grpSpPr>
          <p:sp>
            <p:nvSpPr>
              <p:cNvPr id="300" name="四角形: 角を丸くする 299">
                <a:extLst>
                  <a:ext uri="{FF2B5EF4-FFF2-40B4-BE49-F238E27FC236}">
                    <a16:creationId xmlns:a16="http://schemas.microsoft.com/office/drawing/2014/main" id="{3AB9ABA1-EDBD-2E1F-C375-1AE95C1E76AC}"/>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01" name="テキスト ボックス 300">
                <a:extLst>
                  <a:ext uri="{FF2B5EF4-FFF2-40B4-BE49-F238E27FC236}">
                    <a16:creationId xmlns:a16="http://schemas.microsoft.com/office/drawing/2014/main" id="{F0FFFBE7-388D-955E-760B-F3BBAE3B1A46}"/>
                  </a:ext>
                </a:extLst>
              </p:cNvPr>
              <p:cNvSpPr txBox="1"/>
              <p:nvPr/>
            </p:nvSpPr>
            <p:spPr>
              <a:xfrm>
                <a:off x="9661232" y="6393622"/>
                <a:ext cx="711124"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導入支援</a:t>
                </a:r>
                <a:endParaRPr kumimoji="1" lang="en-US" altLang="ja-JP" sz="900" b="1">
                  <a:latin typeface="メイリオ" panose="020B0604030504040204" pitchFamily="50" charset="-128"/>
                  <a:ea typeface="メイリオ" panose="020B0604030504040204" pitchFamily="50" charset="-128"/>
                </a:endParaRPr>
              </a:p>
            </p:txBody>
          </p:sp>
        </p:grpSp>
        <p:pic>
          <p:nvPicPr>
            <p:cNvPr id="362" name="グラフィックス 361" descr="コール センター 単色塗りつぶし">
              <a:extLst>
                <a:ext uri="{FF2B5EF4-FFF2-40B4-BE49-F238E27FC236}">
                  <a16:creationId xmlns:a16="http://schemas.microsoft.com/office/drawing/2014/main" id="{C944D6C8-3AE6-B2FB-C76A-45DFEAB47E9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042484" y="5755774"/>
              <a:ext cx="338404" cy="338404"/>
            </a:xfrm>
            <a:prstGeom prst="rect">
              <a:avLst/>
            </a:prstGeom>
          </p:spPr>
        </p:pic>
      </p:grpSp>
      <p:grpSp>
        <p:nvGrpSpPr>
          <p:cNvPr id="378" name="グループ化 377">
            <a:extLst>
              <a:ext uri="{FF2B5EF4-FFF2-40B4-BE49-F238E27FC236}">
                <a16:creationId xmlns:a16="http://schemas.microsoft.com/office/drawing/2014/main" id="{A625ADED-5B77-C3FD-1CB4-A2A4EAFF55E5}"/>
              </a:ext>
            </a:extLst>
          </p:cNvPr>
          <p:cNvGrpSpPr/>
          <p:nvPr/>
        </p:nvGrpSpPr>
        <p:grpSpPr>
          <a:xfrm>
            <a:off x="2758320" y="3954913"/>
            <a:ext cx="717053" cy="711124"/>
            <a:chOff x="2751214" y="5663725"/>
            <a:chExt cx="717053" cy="711124"/>
          </a:xfrm>
        </p:grpSpPr>
        <p:grpSp>
          <p:nvGrpSpPr>
            <p:cNvPr id="297" name="グループ化 296">
              <a:extLst>
                <a:ext uri="{FF2B5EF4-FFF2-40B4-BE49-F238E27FC236}">
                  <a16:creationId xmlns:a16="http://schemas.microsoft.com/office/drawing/2014/main" id="{7EEC20FF-AE10-46AE-8879-12C5333C3F98}"/>
                </a:ext>
              </a:extLst>
            </p:cNvPr>
            <p:cNvGrpSpPr/>
            <p:nvPr/>
          </p:nvGrpSpPr>
          <p:grpSpPr>
            <a:xfrm>
              <a:off x="2751214" y="5663725"/>
              <a:ext cx="717053" cy="711124"/>
              <a:chOff x="9669263" y="5961691"/>
              <a:chExt cx="717053" cy="711124"/>
            </a:xfrm>
          </p:grpSpPr>
          <p:sp>
            <p:nvSpPr>
              <p:cNvPr id="298" name="四角形: 角を丸くする 297">
                <a:extLst>
                  <a:ext uri="{FF2B5EF4-FFF2-40B4-BE49-F238E27FC236}">
                    <a16:creationId xmlns:a16="http://schemas.microsoft.com/office/drawing/2014/main" id="{90CA21B1-46E4-D3DF-F391-45B179DAD054}"/>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299" name="テキスト ボックス 298">
                <a:extLst>
                  <a:ext uri="{FF2B5EF4-FFF2-40B4-BE49-F238E27FC236}">
                    <a16:creationId xmlns:a16="http://schemas.microsoft.com/office/drawing/2014/main" id="{DC5074B6-57E8-D9C5-9DCC-79FB6F674C4C}"/>
                  </a:ext>
                </a:extLst>
              </p:cNvPr>
              <p:cNvSpPr txBox="1"/>
              <p:nvPr/>
            </p:nvSpPr>
            <p:spPr>
              <a:xfrm>
                <a:off x="9675192" y="6400602"/>
                <a:ext cx="711124"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校正･校閲</a:t>
                </a:r>
                <a:endParaRPr kumimoji="1" lang="en-US" altLang="ja-JP" sz="900" b="1">
                  <a:latin typeface="メイリオ" panose="020B0604030504040204" pitchFamily="50" charset="-128"/>
                  <a:ea typeface="メイリオ" panose="020B0604030504040204" pitchFamily="50" charset="-128"/>
                </a:endParaRPr>
              </a:p>
            </p:txBody>
          </p:sp>
        </p:grpSp>
        <p:pic>
          <p:nvPicPr>
            <p:cNvPr id="367" name="グラフィックス 366" descr="フォルダー検索 単色塗りつぶし">
              <a:extLst>
                <a:ext uri="{FF2B5EF4-FFF2-40B4-BE49-F238E27FC236}">
                  <a16:creationId xmlns:a16="http://schemas.microsoft.com/office/drawing/2014/main" id="{79C2F946-2C1C-C44C-43BC-4B99CCE20C5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902544" y="5708094"/>
              <a:ext cx="412920" cy="412920"/>
            </a:xfrm>
            <a:prstGeom prst="rect">
              <a:avLst/>
            </a:prstGeom>
          </p:spPr>
        </p:pic>
      </p:grpSp>
      <p:grpSp>
        <p:nvGrpSpPr>
          <p:cNvPr id="376" name="グループ化 375">
            <a:extLst>
              <a:ext uri="{FF2B5EF4-FFF2-40B4-BE49-F238E27FC236}">
                <a16:creationId xmlns:a16="http://schemas.microsoft.com/office/drawing/2014/main" id="{0D4CA4C9-FCE7-2EAE-4D3E-4E6AA650D0E9}"/>
              </a:ext>
            </a:extLst>
          </p:cNvPr>
          <p:cNvGrpSpPr/>
          <p:nvPr/>
        </p:nvGrpSpPr>
        <p:grpSpPr>
          <a:xfrm>
            <a:off x="3658395" y="3954376"/>
            <a:ext cx="725338" cy="711124"/>
            <a:chOff x="3606839" y="5663188"/>
            <a:chExt cx="725338" cy="711124"/>
          </a:xfrm>
        </p:grpSpPr>
        <p:grpSp>
          <p:nvGrpSpPr>
            <p:cNvPr id="363" name="グループ化 362">
              <a:extLst>
                <a:ext uri="{FF2B5EF4-FFF2-40B4-BE49-F238E27FC236}">
                  <a16:creationId xmlns:a16="http://schemas.microsoft.com/office/drawing/2014/main" id="{66050CC9-DCB5-11F3-2E99-A42EE10B16CD}"/>
                </a:ext>
              </a:extLst>
            </p:cNvPr>
            <p:cNvGrpSpPr/>
            <p:nvPr/>
          </p:nvGrpSpPr>
          <p:grpSpPr>
            <a:xfrm>
              <a:off x="3606839" y="5663188"/>
              <a:ext cx="725338" cy="711124"/>
              <a:chOff x="9675192" y="5961691"/>
              <a:chExt cx="725338" cy="711124"/>
            </a:xfrm>
          </p:grpSpPr>
          <p:sp>
            <p:nvSpPr>
              <p:cNvPr id="364" name="四角形: 角を丸くする 363">
                <a:extLst>
                  <a:ext uri="{FF2B5EF4-FFF2-40B4-BE49-F238E27FC236}">
                    <a16:creationId xmlns:a16="http://schemas.microsoft.com/office/drawing/2014/main" id="{30D0D344-EE84-7B55-C837-2C375542831E}"/>
                  </a:ext>
                </a:extLst>
              </p:cNvPr>
              <p:cNvSpPr/>
              <p:nvPr/>
            </p:nvSpPr>
            <p:spPr bwMode="auto">
              <a:xfrm>
                <a:off x="9689406"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65" name="テキスト ボックス 364">
                <a:extLst>
                  <a:ext uri="{FF2B5EF4-FFF2-40B4-BE49-F238E27FC236}">
                    <a16:creationId xmlns:a16="http://schemas.microsoft.com/office/drawing/2014/main" id="{E386D6EC-DB5E-71BC-CAA1-BD279DB2D786}"/>
                  </a:ext>
                </a:extLst>
              </p:cNvPr>
              <p:cNvSpPr txBox="1"/>
              <p:nvPr/>
            </p:nvSpPr>
            <p:spPr>
              <a:xfrm>
                <a:off x="9675192" y="6362502"/>
                <a:ext cx="711124" cy="307777"/>
              </a:xfrm>
              <a:prstGeom prst="rect">
                <a:avLst/>
              </a:prstGeom>
              <a:noFill/>
            </p:spPr>
            <p:txBody>
              <a:bodyPr wrap="square" rtlCol="0">
                <a:spAutoFit/>
              </a:bodyPr>
              <a:lstStyle/>
              <a:p>
                <a:pPr algn="ctr"/>
                <a:r>
                  <a:rPr lang="ja-JP" altLang="en-US" sz="700" b="1">
                    <a:latin typeface="メイリオ" panose="020B0604030504040204" pitchFamily="50" charset="-128"/>
                    <a:ea typeface="メイリオ" panose="020B0604030504040204" pitchFamily="50" charset="-128"/>
                  </a:rPr>
                  <a:t>コンプライアンス</a:t>
                </a:r>
                <a:endParaRPr kumimoji="1" lang="en-US" altLang="ja-JP" sz="700" b="1">
                  <a:latin typeface="メイリオ" panose="020B0604030504040204" pitchFamily="50" charset="-128"/>
                  <a:ea typeface="メイリオ" panose="020B0604030504040204" pitchFamily="50" charset="-128"/>
                </a:endParaRPr>
              </a:p>
            </p:txBody>
          </p:sp>
        </p:grpSp>
        <p:pic>
          <p:nvPicPr>
            <p:cNvPr id="369" name="グラフィックス 368" descr="裁きの天秤 単色塗りつぶし">
              <a:extLst>
                <a:ext uri="{FF2B5EF4-FFF2-40B4-BE49-F238E27FC236}">
                  <a16:creationId xmlns:a16="http://schemas.microsoft.com/office/drawing/2014/main" id="{6AC71BF7-E5D9-4052-6A31-C2505E1168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782631" y="5710576"/>
              <a:ext cx="368516" cy="368516"/>
            </a:xfrm>
            <a:prstGeom prst="rect">
              <a:avLst/>
            </a:prstGeom>
          </p:spPr>
        </p:pic>
      </p:grpSp>
      <p:sp>
        <p:nvSpPr>
          <p:cNvPr id="371" name="矢印: 右 370">
            <a:extLst>
              <a:ext uri="{FF2B5EF4-FFF2-40B4-BE49-F238E27FC236}">
                <a16:creationId xmlns:a16="http://schemas.microsoft.com/office/drawing/2014/main" id="{4BBA824B-C937-C2AF-5519-4B4630A82106}"/>
              </a:ext>
            </a:extLst>
          </p:cNvPr>
          <p:cNvSpPr/>
          <p:nvPr/>
        </p:nvSpPr>
        <p:spPr bwMode="auto">
          <a:xfrm>
            <a:off x="4701931" y="2143735"/>
            <a:ext cx="218458" cy="417299"/>
          </a:xfrm>
          <a:prstGeom prst="rightArrow">
            <a:avLst/>
          </a:prstGeom>
          <a:solidFill>
            <a:schemeClr val="accent1">
              <a:lumMod val="60000"/>
              <a:lumOff val="4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72" name="矢印: 右 371">
            <a:extLst>
              <a:ext uri="{FF2B5EF4-FFF2-40B4-BE49-F238E27FC236}">
                <a16:creationId xmlns:a16="http://schemas.microsoft.com/office/drawing/2014/main" id="{59A95140-CC59-C5FF-6A05-DD5A5A1EFB75}"/>
              </a:ext>
            </a:extLst>
          </p:cNvPr>
          <p:cNvSpPr/>
          <p:nvPr/>
        </p:nvSpPr>
        <p:spPr bwMode="auto">
          <a:xfrm>
            <a:off x="4727578" y="3838312"/>
            <a:ext cx="218458" cy="417299"/>
          </a:xfrm>
          <a:prstGeom prst="rightArrow">
            <a:avLst/>
          </a:prstGeom>
          <a:solidFill>
            <a:schemeClr val="accent1">
              <a:lumMod val="60000"/>
              <a:lumOff val="4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nvGrpSpPr>
          <p:cNvPr id="389" name="グループ化 388">
            <a:extLst>
              <a:ext uri="{FF2B5EF4-FFF2-40B4-BE49-F238E27FC236}">
                <a16:creationId xmlns:a16="http://schemas.microsoft.com/office/drawing/2014/main" id="{7DF5C142-E40D-00EC-84DB-60242A4575CC}"/>
              </a:ext>
            </a:extLst>
          </p:cNvPr>
          <p:cNvGrpSpPr/>
          <p:nvPr/>
        </p:nvGrpSpPr>
        <p:grpSpPr>
          <a:xfrm>
            <a:off x="706911" y="5064083"/>
            <a:ext cx="6338239" cy="1441411"/>
            <a:chOff x="731255" y="1656032"/>
            <a:chExt cx="6338239" cy="1441411"/>
          </a:xfrm>
        </p:grpSpPr>
        <p:grpSp>
          <p:nvGrpSpPr>
            <p:cNvPr id="258" name="グループ化 257">
              <a:extLst>
                <a:ext uri="{FF2B5EF4-FFF2-40B4-BE49-F238E27FC236}">
                  <a16:creationId xmlns:a16="http://schemas.microsoft.com/office/drawing/2014/main" id="{193F6772-A25A-68CC-57CC-54038CE317AB}"/>
                </a:ext>
              </a:extLst>
            </p:cNvPr>
            <p:cNvGrpSpPr/>
            <p:nvPr/>
          </p:nvGrpSpPr>
          <p:grpSpPr>
            <a:xfrm>
              <a:off x="731255" y="1656032"/>
              <a:ext cx="3961395" cy="1441411"/>
              <a:chOff x="1681140" y="3444016"/>
              <a:chExt cx="3480391" cy="1274567"/>
            </a:xfrm>
          </p:grpSpPr>
          <p:sp>
            <p:nvSpPr>
              <p:cNvPr id="259" name="四角形: 角を丸くする 258">
                <a:extLst>
                  <a:ext uri="{FF2B5EF4-FFF2-40B4-BE49-F238E27FC236}">
                    <a16:creationId xmlns:a16="http://schemas.microsoft.com/office/drawing/2014/main" id="{09AFD04A-A7BE-B583-52B2-8E4AC1750AF3}"/>
                  </a:ext>
                </a:extLst>
              </p:cNvPr>
              <p:cNvSpPr/>
              <p:nvPr/>
            </p:nvSpPr>
            <p:spPr bwMode="auto">
              <a:xfrm>
                <a:off x="1681140" y="3444016"/>
                <a:ext cx="3480391" cy="1274567"/>
              </a:xfrm>
              <a:prstGeom prst="roundRect">
                <a:avLst>
                  <a:gd name="adj" fmla="val 5262"/>
                </a:avLst>
              </a:prstGeom>
              <a:noFill/>
              <a:ln w="76200" algn="ctr">
                <a:solidFill>
                  <a:schemeClr val="accent1">
                    <a:lumMod val="40000"/>
                    <a:lumOff val="6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cxnSp>
            <p:nvCxnSpPr>
              <p:cNvPr id="260" name="直線コネクタ 259">
                <a:extLst>
                  <a:ext uri="{FF2B5EF4-FFF2-40B4-BE49-F238E27FC236}">
                    <a16:creationId xmlns:a16="http://schemas.microsoft.com/office/drawing/2014/main" id="{FACFF67E-CDB0-DF9C-9E49-F57B94F5069F}"/>
                  </a:ext>
                </a:extLst>
              </p:cNvPr>
              <p:cNvCxnSpPr>
                <a:cxnSpLocks/>
              </p:cNvCxnSpPr>
              <p:nvPr/>
            </p:nvCxnSpPr>
            <p:spPr>
              <a:xfrm>
                <a:off x="1780999" y="3880965"/>
                <a:ext cx="3280672"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61" name="テキスト ボックス 260">
                <a:extLst>
                  <a:ext uri="{FF2B5EF4-FFF2-40B4-BE49-F238E27FC236}">
                    <a16:creationId xmlns:a16="http://schemas.microsoft.com/office/drawing/2014/main" id="{6F378A98-6A90-D9A7-5AB4-D1CA4D26988F}"/>
                  </a:ext>
                </a:extLst>
              </p:cNvPr>
              <p:cNvSpPr txBox="1"/>
              <p:nvPr/>
            </p:nvSpPr>
            <p:spPr>
              <a:xfrm>
                <a:off x="2731801" y="3524588"/>
                <a:ext cx="1379067" cy="326582"/>
              </a:xfrm>
              <a:prstGeom prst="rect">
                <a:avLst/>
              </a:prstGeom>
              <a:noFill/>
            </p:spPr>
            <p:txBody>
              <a:bodyPr wrap="none" rtlCol="0">
                <a:spAutoFit/>
              </a:bodyPr>
              <a:lstStyle/>
              <a:p>
                <a:pPr algn="ctr"/>
                <a:r>
                  <a:rPr kumimoji="1" lang="ja-JP" altLang="en-US" b="1">
                    <a:latin typeface="メイリオ" panose="020B0604030504040204" pitchFamily="50" charset="-128"/>
                    <a:ea typeface="メイリオ" panose="020B0604030504040204" pitchFamily="50" charset="-128"/>
                  </a:rPr>
                  <a:t>スタッフ</a:t>
                </a:r>
                <a:r>
                  <a:rPr lang="ja-JP" altLang="en-US" b="1">
                    <a:latin typeface="メイリオ" panose="020B0604030504040204" pitchFamily="50" charset="-128"/>
                    <a:ea typeface="メイリオ" panose="020B0604030504040204" pitchFamily="50" charset="-128"/>
                  </a:rPr>
                  <a:t>管理</a:t>
                </a:r>
                <a:endParaRPr kumimoji="1" lang="ja-JP" altLang="en-US" b="1">
                  <a:latin typeface="メイリオ" panose="020B0604030504040204" pitchFamily="50" charset="-128"/>
                  <a:ea typeface="メイリオ" panose="020B0604030504040204" pitchFamily="50" charset="-128"/>
                </a:endParaRPr>
              </a:p>
            </p:txBody>
          </p:sp>
        </p:grpSp>
        <p:grpSp>
          <p:nvGrpSpPr>
            <p:cNvPr id="332" name="グループ化 331">
              <a:extLst>
                <a:ext uri="{FF2B5EF4-FFF2-40B4-BE49-F238E27FC236}">
                  <a16:creationId xmlns:a16="http://schemas.microsoft.com/office/drawing/2014/main" id="{949D57AD-8FC1-449C-74C2-80E9EFA52D3C}"/>
                </a:ext>
              </a:extLst>
            </p:cNvPr>
            <p:cNvGrpSpPr/>
            <p:nvPr/>
          </p:nvGrpSpPr>
          <p:grpSpPr>
            <a:xfrm>
              <a:off x="2769195" y="2257148"/>
              <a:ext cx="711124" cy="711124"/>
              <a:chOff x="2220512" y="4931653"/>
              <a:chExt cx="711124" cy="711124"/>
            </a:xfrm>
          </p:grpSpPr>
          <p:grpSp>
            <p:nvGrpSpPr>
              <p:cNvPr id="278" name="グループ化 277">
                <a:extLst>
                  <a:ext uri="{FF2B5EF4-FFF2-40B4-BE49-F238E27FC236}">
                    <a16:creationId xmlns:a16="http://schemas.microsoft.com/office/drawing/2014/main" id="{FA97ADDA-1168-48C1-EB15-FCE101F904CF}"/>
                  </a:ext>
                </a:extLst>
              </p:cNvPr>
              <p:cNvGrpSpPr/>
              <p:nvPr/>
            </p:nvGrpSpPr>
            <p:grpSpPr>
              <a:xfrm>
                <a:off x="2220512" y="4931653"/>
                <a:ext cx="711124" cy="711124"/>
                <a:chOff x="9650213" y="5961691"/>
                <a:chExt cx="711124" cy="711124"/>
              </a:xfrm>
            </p:grpSpPr>
            <p:sp>
              <p:nvSpPr>
                <p:cNvPr id="285" name="四角形: 角を丸くする 284">
                  <a:extLst>
                    <a:ext uri="{FF2B5EF4-FFF2-40B4-BE49-F238E27FC236}">
                      <a16:creationId xmlns:a16="http://schemas.microsoft.com/office/drawing/2014/main" id="{E8173F27-0F27-1CB7-D41E-D1BB4DB8EF33}"/>
                    </a:ext>
                  </a:extLst>
                </p:cNvPr>
                <p:cNvSpPr/>
                <p:nvPr/>
              </p:nvSpPr>
              <p:spPr bwMode="auto">
                <a:xfrm>
                  <a:off x="965021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286" name="テキスト ボックス 285">
                  <a:extLst>
                    <a:ext uri="{FF2B5EF4-FFF2-40B4-BE49-F238E27FC236}">
                      <a16:creationId xmlns:a16="http://schemas.microsoft.com/office/drawing/2014/main" id="{C5B1ABC1-641D-9351-76E8-C17628482F43}"/>
                    </a:ext>
                  </a:extLst>
                </p:cNvPr>
                <p:cNvSpPr txBox="1"/>
                <p:nvPr/>
              </p:nvSpPr>
              <p:spPr>
                <a:xfrm>
                  <a:off x="9690128" y="6420243"/>
                  <a:ext cx="659152" cy="230832"/>
                </a:xfrm>
                <a:prstGeom prst="rect">
                  <a:avLst/>
                </a:prstGeom>
                <a:noFill/>
              </p:spPr>
              <p:txBody>
                <a:bodyPr wrap="square" rtlCol="0">
                  <a:spAutoFit/>
                </a:bodyPr>
                <a:lstStyle/>
                <a:p>
                  <a:pPr algn="ctr"/>
                  <a:r>
                    <a:rPr kumimoji="1" lang="ja-JP" altLang="en-US" sz="900" b="1">
                      <a:latin typeface="メイリオ" panose="020B0604030504040204" pitchFamily="50" charset="-128"/>
                      <a:ea typeface="メイリオ" panose="020B0604030504040204" pitchFamily="50" charset="-128"/>
                    </a:rPr>
                    <a:t>勤怠</a:t>
                  </a:r>
                  <a:endParaRPr kumimoji="1" lang="en-US" altLang="ja-JP" sz="900" b="1">
                    <a:latin typeface="メイリオ" panose="020B0604030504040204" pitchFamily="50" charset="-128"/>
                    <a:ea typeface="メイリオ" panose="020B0604030504040204" pitchFamily="50" charset="-128"/>
                  </a:endParaRPr>
                </a:p>
              </p:txBody>
            </p:sp>
          </p:grpSp>
          <p:pic>
            <p:nvPicPr>
              <p:cNvPr id="289" name="グラフィックス 288" descr="月毎カレンダー 単色塗りつぶし">
                <a:extLst>
                  <a:ext uri="{FF2B5EF4-FFF2-40B4-BE49-F238E27FC236}">
                    <a16:creationId xmlns:a16="http://schemas.microsoft.com/office/drawing/2014/main" id="{1FD836F9-FCFA-3FCE-664E-7E135651E5E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385842" y="5008774"/>
                <a:ext cx="409694" cy="409694"/>
              </a:xfrm>
              <a:prstGeom prst="rect">
                <a:avLst/>
              </a:prstGeom>
            </p:spPr>
          </p:pic>
        </p:grpSp>
        <p:grpSp>
          <p:nvGrpSpPr>
            <p:cNvPr id="328" name="グループ化 327">
              <a:extLst>
                <a:ext uri="{FF2B5EF4-FFF2-40B4-BE49-F238E27FC236}">
                  <a16:creationId xmlns:a16="http://schemas.microsoft.com/office/drawing/2014/main" id="{1578C3C5-4557-FB5A-B17B-EB2D2B9B72D2}"/>
                </a:ext>
              </a:extLst>
            </p:cNvPr>
            <p:cNvGrpSpPr/>
            <p:nvPr/>
          </p:nvGrpSpPr>
          <p:grpSpPr>
            <a:xfrm>
              <a:off x="1854630" y="2257148"/>
              <a:ext cx="711124" cy="711124"/>
              <a:chOff x="1312507" y="4931653"/>
              <a:chExt cx="711124" cy="711124"/>
            </a:xfrm>
          </p:grpSpPr>
          <p:grpSp>
            <p:nvGrpSpPr>
              <p:cNvPr id="277" name="グループ化 276">
                <a:extLst>
                  <a:ext uri="{FF2B5EF4-FFF2-40B4-BE49-F238E27FC236}">
                    <a16:creationId xmlns:a16="http://schemas.microsoft.com/office/drawing/2014/main" id="{76AE964C-6D57-E05F-A32C-65D4D2D0EFB6}"/>
                  </a:ext>
                </a:extLst>
              </p:cNvPr>
              <p:cNvGrpSpPr/>
              <p:nvPr/>
            </p:nvGrpSpPr>
            <p:grpSpPr>
              <a:xfrm>
                <a:off x="1312507" y="4931653"/>
                <a:ext cx="711124" cy="711124"/>
                <a:chOff x="9640688" y="5961691"/>
                <a:chExt cx="711124" cy="711124"/>
              </a:xfrm>
            </p:grpSpPr>
            <p:sp>
              <p:nvSpPr>
                <p:cNvPr id="287" name="四角形: 角を丸くする 286">
                  <a:extLst>
                    <a:ext uri="{FF2B5EF4-FFF2-40B4-BE49-F238E27FC236}">
                      <a16:creationId xmlns:a16="http://schemas.microsoft.com/office/drawing/2014/main" id="{82750404-A7C8-0917-27EB-17F0FBFC5360}"/>
                    </a:ext>
                  </a:extLst>
                </p:cNvPr>
                <p:cNvSpPr/>
                <p:nvPr/>
              </p:nvSpPr>
              <p:spPr bwMode="auto">
                <a:xfrm>
                  <a:off x="9640688"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288" name="テキスト ボックス 287">
                  <a:extLst>
                    <a:ext uri="{FF2B5EF4-FFF2-40B4-BE49-F238E27FC236}">
                      <a16:creationId xmlns:a16="http://schemas.microsoft.com/office/drawing/2014/main" id="{3518171F-4C9A-1D76-1129-1E659F1528B6}"/>
                    </a:ext>
                  </a:extLst>
                </p:cNvPr>
                <p:cNvSpPr txBox="1"/>
                <p:nvPr/>
              </p:nvSpPr>
              <p:spPr>
                <a:xfrm>
                  <a:off x="9657771" y="6407543"/>
                  <a:ext cx="674991" cy="230832"/>
                </a:xfrm>
                <a:prstGeom prst="rect">
                  <a:avLst/>
                </a:prstGeom>
                <a:noFill/>
              </p:spPr>
              <p:txBody>
                <a:bodyPr wrap="square" rtlCol="0">
                  <a:spAutoFit/>
                </a:bodyPr>
                <a:lstStyle/>
                <a:p>
                  <a:pPr algn="ctr"/>
                  <a:r>
                    <a:rPr kumimoji="1" lang="ja-JP" altLang="en-US" sz="900" b="1">
                      <a:latin typeface="メイリオ" panose="020B0604030504040204" pitchFamily="50" charset="-128"/>
                      <a:ea typeface="メイリオ" panose="020B0604030504040204" pitchFamily="50" charset="-128"/>
                    </a:rPr>
                    <a:t>契約</a:t>
                  </a:r>
                  <a:endParaRPr kumimoji="1" lang="en-US" altLang="ja-JP" sz="900" b="1">
                    <a:latin typeface="メイリオ" panose="020B0604030504040204" pitchFamily="50" charset="-128"/>
                    <a:ea typeface="メイリオ" panose="020B0604030504040204" pitchFamily="50" charset="-128"/>
                  </a:endParaRPr>
                </a:p>
              </p:txBody>
            </p:sp>
          </p:grpSp>
          <p:pic>
            <p:nvPicPr>
              <p:cNvPr id="290" name="グラフィックス 289" descr="アドレス帳 単色塗りつぶし">
                <a:extLst>
                  <a:ext uri="{FF2B5EF4-FFF2-40B4-BE49-F238E27FC236}">
                    <a16:creationId xmlns:a16="http://schemas.microsoft.com/office/drawing/2014/main" id="{CE1D55B8-F35C-5EEF-757D-AFF1EB64861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482750" y="5012376"/>
                <a:ext cx="380461" cy="380461"/>
              </a:xfrm>
              <a:prstGeom prst="rect">
                <a:avLst/>
              </a:prstGeom>
            </p:spPr>
          </p:pic>
        </p:grpSp>
        <p:grpSp>
          <p:nvGrpSpPr>
            <p:cNvPr id="327" name="グループ化 326">
              <a:extLst>
                <a:ext uri="{FF2B5EF4-FFF2-40B4-BE49-F238E27FC236}">
                  <a16:creationId xmlns:a16="http://schemas.microsoft.com/office/drawing/2014/main" id="{33CCF7FC-01FF-36DA-AB21-930F2424465B}"/>
                </a:ext>
              </a:extLst>
            </p:cNvPr>
            <p:cNvGrpSpPr/>
            <p:nvPr/>
          </p:nvGrpSpPr>
          <p:grpSpPr>
            <a:xfrm>
              <a:off x="901179" y="2266695"/>
              <a:ext cx="842890" cy="711124"/>
              <a:chOff x="3065449" y="4931653"/>
              <a:chExt cx="842890" cy="711124"/>
            </a:xfrm>
          </p:grpSpPr>
          <p:grpSp>
            <p:nvGrpSpPr>
              <p:cNvPr id="279" name="グループ化 278">
                <a:extLst>
                  <a:ext uri="{FF2B5EF4-FFF2-40B4-BE49-F238E27FC236}">
                    <a16:creationId xmlns:a16="http://schemas.microsoft.com/office/drawing/2014/main" id="{F80A829E-6868-6280-33E6-3774BC735A8A}"/>
                  </a:ext>
                </a:extLst>
              </p:cNvPr>
              <p:cNvGrpSpPr/>
              <p:nvPr/>
            </p:nvGrpSpPr>
            <p:grpSpPr>
              <a:xfrm>
                <a:off x="3065449" y="4931653"/>
                <a:ext cx="842890" cy="711124"/>
                <a:chOff x="9599412" y="5961691"/>
                <a:chExt cx="842890" cy="711124"/>
              </a:xfrm>
            </p:grpSpPr>
            <p:sp>
              <p:nvSpPr>
                <p:cNvPr id="283" name="四角形: 角を丸くする 282">
                  <a:extLst>
                    <a:ext uri="{FF2B5EF4-FFF2-40B4-BE49-F238E27FC236}">
                      <a16:creationId xmlns:a16="http://schemas.microsoft.com/office/drawing/2014/main" id="{7A5402F4-014A-B1B8-C9ED-6FABAD35E9B8}"/>
                    </a:ext>
                  </a:extLst>
                </p:cNvPr>
                <p:cNvSpPr/>
                <p:nvPr/>
              </p:nvSpPr>
              <p:spPr bwMode="auto">
                <a:xfrm>
                  <a:off x="96692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284" name="テキスト ボックス 283">
                  <a:extLst>
                    <a:ext uri="{FF2B5EF4-FFF2-40B4-BE49-F238E27FC236}">
                      <a16:creationId xmlns:a16="http://schemas.microsoft.com/office/drawing/2014/main" id="{C62625D1-9157-7D77-D4C0-E3A0CB41BF11}"/>
                    </a:ext>
                  </a:extLst>
                </p:cNvPr>
                <p:cNvSpPr txBox="1"/>
                <p:nvPr/>
              </p:nvSpPr>
              <p:spPr>
                <a:xfrm>
                  <a:off x="9599412" y="6416308"/>
                  <a:ext cx="842890" cy="200055"/>
                </a:xfrm>
                <a:prstGeom prst="rect">
                  <a:avLst/>
                </a:prstGeom>
                <a:noFill/>
              </p:spPr>
              <p:txBody>
                <a:bodyPr wrap="square" rtlCol="0">
                  <a:spAutoFit/>
                </a:bodyPr>
                <a:lstStyle/>
                <a:p>
                  <a:pPr algn="ctr"/>
                  <a:r>
                    <a:rPr kumimoji="1" lang="ja-JP" altLang="en-US" sz="700" b="1">
                      <a:latin typeface="メイリオ" panose="020B0604030504040204" pitchFamily="50" charset="-128"/>
                      <a:ea typeface="メイリオ" panose="020B0604030504040204" pitchFamily="50" charset="-128"/>
                    </a:rPr>
                    <a:t>モチベーション</a:t>
                  </a:r>
                  <a:endParaRPr kumimoji="1" lang="en-US" altLang="ja-JP" sz="700" b="1">
                    <a:latin typeface="メイリオ" panose="020B0604030504040204" pitchFamily="50" charset="-128"/>
                    <a:ea typeface="メイリオ" panose="020B0604030504040204" pitchFamily="50" charset="-128"/>
                  </a:endParaRPr>
                </a:p>
              </p:txBody>
            </p:sp>
          </p:grpSp>
          <p:pic>
            <p:nvPicPr>
              <p:cNvPr id="291" name="グラフィックス 290" descr="役員室 単色塗りつぶし">
                <a:extLst>
                  <a:ext uri="{FF2B5EF4-FFF2-40B4-BE49-F238E27FC236}">
                    <a16:creationId xmlns:a16="http://schemas.microsoft.com/office/drawing/2014/main" id="{FD9F55CE-E5AC-81DC-01A2-F7F85CBE511B}"/>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271433" y="4950659"/>
                <a:ext cx="457200" cy="457200"/>
              </a:xfrm>
              <a:prstGeom prst="rect">
                <a:avLst/>
              </a:prstGeom>
            </p:spPr>
          </p:pic>
        </p:grpSp>
        <p:grpSp>
          <p:nvGrpSpPr>
            <p:cNvPr id="331" name="グループ化 330">
              <a:extLst>
                <a:ext uri="{FF2B5EF4-FFF2-40B4-BE49-F238E27FC236}">
                  <a16:creationId xmlns:a16="http://schemas.microsoft.com/office/drawing/2014/main" id="{CA1384D8-4783-A40E-4508-E787FFF8EC16}"/>
                </a:ext>
              </a:extLst>
            </p:cNvPr>
            <p:cNvGrpSpPr/>
            <p:nvPr/>
          </p:nvGrpSpPr>
          <p:grpSpPr>
            <a:xfrm>
              <a:off x="3648834" y="2257148"/>
              <a:ext cx="761292" cy="711124"/>
              <a:chOff x="1908824" y="3581436"/>
              <a:chExt cx="761292" cy="711124"/>
            </a:xfrm>
          </p:grpSpPr>
          <p:grpSp>
            <p:nvGrpSpPr>
              <p:cNvPr id="312" name="グループ化 311">
                <a:extLst>
                  <a:ext uri="{FF2B5EF4-FFF2-40B4-BE49-F238E27FC236}">
                    <a16:creationId xmlns:a16="http://schemas.microsoft.com/office/drawing/2014/main" id="{706E8F7F-CEE5-C2F8-1129-3A90EC62897C}"/>
                  </a:ext>
                </a:extLst>
              </p:cNvPr>
              <p:cNvGrpSpPr/>
              <p:nvPr/>
            </p:nvGrpSpPr>
            <p:grpSpPr>
              <a:xfrm>
                <a:off x="1908824" y="3581436"/>
                <a:ext cx="761292" cy="711124"/>
                <a:chOff x="9597252" y="5961691"/>
                <a:chExt cx="761292" cy="711124"/>
              </a:xfrm>
            </p:grpSpPr>
            <p:sp>
              <p:nvSpPr>
                <p:cNvPr id="319" name="四角形: 角を丸くする 318">
                  <a:extLst>
                    <a:ext uri="{FF2B5EF4-FFF2-40B4-BE49-F238E27FC236}">
                      <a16:creationId xmlns:a16="http://schemas.microsoft.com/office/drawing/2014/main" id="{F68DE194-3726-6A2E-1114-68C36BC08863}"/>
                    </a:ext>
                  </a:extLst>
                </p:cNvPr>
                <p:cNvSpPr/>
                <p:nvPr/>
              </p:nvSpPr>
              <p:spPr bwMode="auto">
                <a:xfrm>
                  <a:off x="9631163" y="5961691"/>
                  <a:ext cx="711124" cy="711124"/>
                </a:xfrm>
                <a:prstGeom prst="round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20" name="テキスト ボックス 319">
                  <a:extLst>
                    <a:ext uri="{FF2B5EF4-FFF2-40B4-BE49-F238E27FC236}">
                      <a16:creationId xmlns:a16="http://schemas.microsoft.com/office/drawing/2014/main" id="{152978EF-500B-5863-E7C5-0B21D8898DAA}"/>
                    </a:ext>
                  </a:extLst>
                </p:cNvPr>
                <p:cNvSpPr txBox="1"/>
                <p:nvPr/>
              </p:nvSpPr>
              <p:spPr>
                <a:xfrm>
                  <a:off x="9597252" y="6425972"/>
                  <a:ext cx="761292" cy="230832"/>
                </a:xfrm>
                <a:prstGeom prst="rect">
                  <a:avLst/>
                </a:prstGeom>
                <a:noFill/>
              </p:spPr>
              <p:txBody>
                <a:bodyPr wrap="square" rtlCol="0">
                  <a:spAutoFit/>
                </a:bodyPr>
                <a:lstStyle/>
                <a:p>
                  <a:pPr algn="ctr"/>
                  <a:r>
                    <a:rPr lang="ja-JP" altLang="en-US" sz="900" b="1">
                      <a:latin typeface="メイリオ" panose="020B0604030504040204" pitchFamily="50" charset="-128"/>
                      <a:ea typeface="メイリオ" panose="020B0604030504040204" pitchFamily="50" charset="-128"/>
                    </a:rPr>
                    <a:t>発注･支払</a:t>
                  </a:r>
                  <a:endParaRPr kumimoji="1" lang="en-US" altLang="ja-JP" sz="900" b="1">
                    <a:latin typeface="メイリオ" panose="020B0604030504040204" pitchFamily="50" charset="-128"/>
                    <a:ea typeface="メイリオ" panose="020B0604030504040204" pitchFamily="50" charset="-128"/>
                  </a:endParaRPr>
                </a:p>
              </p:txBody>
            </p:sp>
          </p:grpSp>
          <p:pic>
            <p:nvPicPr>
              <p:cNvPr id="330" name="グラフィックス 329" descr="お金 単色塗りつぶし">
                <a:extLst>
                  <a:ext uri="{FF2B5EF4-FFF2-40B4-BE49-F238E27FC236}">
                    <a16:creationId xmlns:a16="http://schemas.microsoft.com/office/drawing/2014/main" id="{A21211C7-0BDB-9716-47FE-3383EB7F626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124035" y="3674880"/>
                <a:ext cx="364360" cy="364360"/>
              </a:xfrm>
              <a:prstGeom prst="rect">
                <a:avLst/>
              </a:prstGeom>
            </p:spPr>
          </p:pic>
        </p:grpSp>
        <p:sp>
          <p:nvSpPr>
            <p:cNvPr id="370" name="矢印: 右 369">
              <a:extLst>
                <a:ext uri="{FF2B5EF4-FFF2-40B4-BE49-F238E27FC236}">
                  <a16:creationId xmlns:a16="http://schemas.microsoft.com/office/drawing/2014/main" id="{4436CC2B-810F-156A-9474-1D74AFF1D38D}"/>
                </a:ext>
              </a:extLst>
            </p:cNvPr>
            <p:cNvSpPr/>
            <p:nvPr/>
          </p:nvSpPr>
          <p:spPr bwMode="auto">
            <a:xfrm>
              <a:off x="4728152" y="2202853"/>
              <a:ext cx="218458" cy="417299"/>
            </a:xfrm>
            <a:prstGeom prst="rightArrow">
              <a:avLst/>
            </a:prstGeom>
            <a:solidFill>
              <a:schemeClr val="accent1">
                <a:lumMod val="60000"/>
                <a:lumOff val="4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73" name="テキスト ボックス 372">
              <a:extLst>
                <a:ext uri="{FF2B5EF4-FFF2-40B4-BE49-F238E27FC236}">
                  <a16:creationId xmlns:a16="http://schemas.microsoft.com/office/drawing/2014/main" id="{97BB773B-E381-CECD-F536-1518A13E5D9C}"/>
                </a:ext>
              </a:extLst>
            </p:cNvPr>
            <p:cNvSpPr txBox="1"/>
            <p:nvPr/>
          </p:nvSpPr>
          <p:spPr>
            <a:xfrm>
              <a:off x="4988462" y="2071518"/>
              <a:ext cx="2081032" cy="707886"/>
            </a:xfrm>
            <a:prstGeom prst="rect">
              <a:avLst/>
            </a:prstGeom>
            <a:noFill/>
          </p:spPr>
          <p:txBody>
            <a:bodyPr wrap="square" rtlCol="0">
              <a:spAutoFit/>
            </a:bodyPr>
            <a:lstStyle/>
            <a:p>
              <a:r>
                <a:rPr kumimoji="1" lang="ja-JP" altLang="en-US" sz="2000" b="1">
                  <a:solidFill>
                    <a:schemeClr val="accent1"/>
                  </a:solidFill>
                  <a:latin typeface="メイリオ" panose="020B0604030504040204" pitchFamily="50" charset="-128"/>
                  <a:ea typeface="メイリオ" panose="020B0604030504040204" pitchFamily="50" charset="-128"/>
                </a:rPr>
                <a:t>運用代行で</a:t>
              </a:r>
              <a:endParaRPr kumimoji="1" lang="en-US" altLang="ja-JP" sz="2000" b="1">
                <a:solidFill>
                  <a:schemeClr val="accent1"/>
                </a:solidFill>
                <a:latin typeface="メイリオ" panose="020B0604030504040204" pitchFamily="50" charset="-128"/>
                <a:ea typeface="メイリオ" panose="020B0604030504040204" pitchFamily="50" charset="-128"/>
              </a:endParaRPr>
            </a:p>
            <a:p>
              <a:r>
                <a:rPr kumimoji="1" lang="ja-JP" altLang="en-US" sz="2000" b="1">
                  <a:solidFill>
                    <a:schemeClr val="accent1"/>
                  </a:solidFill>
                  <a:latin typeface="メイリオ" panose="020B0604030504040204" pitchFamily="50" charset="-128"/>
                  <a:ea typeface="メイリオ" panose="020B0604030504040204" pitchFamily="50" charset="-128"/>
                </a:rPr>
                <a:t>事務コスト削減</a:t>
              </a:r>
            </a:p>
          </p:txBody>
        </p:sp>
      </p:grpSp>
      <p:sp>
        <p:nvSpPr>
          <p:cNvPr id="374" name="テキスト ボックス 373">
            <a:extLst>
              <a:ext uri="{FF2B5EF4-FFF2-40B4-BE49-F238E27FC236}">
                <a16:creationId xmlns:a16="http://schemas.microsoft.com/office/drawing/2014/main" id="{37427A5E-A177-C30B-1FCF-9639AB36FB80}"/>
              </a:ext>
            </a:extLst>
          </p:cNvPr>
          <p:cNvSpPr txBox="1"/>
          <p:nvPr/>
        </p:nvSpPr>
        <p:spPr>
          <a:xfrm>
            <a:off x="4953738" y="2021074"/>
            <a:ext cx="2004682" cy="707886"/>
          </a:xfrm>
          <a:prstGeom prst="rect">
            <a:avLst/>
          </a:prstGeom>
          <a:noFill/>
        </p:spPr>
        <p:txBody>
          <a:bodyPr wrap="square" rtlCol="0">
            <a:spAutoFit/>
          </a:bodyPr>
          <a:lstStyle/>
          <a:p>
            <a:r>
              <a:rPr kumimoji="1" lang="ja-JP" altLang="en-US" sz="2000" b="1">
                <a:solidFill>
                  <a:schemeClr val="accent1"/>
                </a:solidFill>
                <a:latin typeface="メイリオ" panose="020B0604030504040204" pitchFamily="50" charset="-128"/>
                <a:ea typeface="メイリオ" panose="020B0604030504040204" pitchFamily="50" charset="-128"/>
              </a:rPr>
              <a:t>効率化による</a:t>
            </a:r>
            <a:endParaRPr kumimoji="1" lang="en-US" altLang="ja-JP" sz="2000" b="1">
              <a:solidFill>
                <a:schemeClr val="accent1"/>
              </a:solidFill>
              <a:latin typeface="メイリオ" panose="020B0604030504040204" pitchFamily="50" charset="-128"/>
              <a:ea typeface="メイリオ" panose="020B0604030504040204" pitchFamily="50" charset="-128"/>
            </a:endParaRPr>
          </a:p>
          <a:p>
            <a:r>
              <a:rPr kumimoji="1" lang="ja-JP" altLang="en-US" sz="2000" b="1">
                <a:solidFill>
                  <a:schemeClr val="accent1"/>
                </a:solidFill>
                <a:latin typeface="メイリオ" panose="020B0604030504040204" pitchFamily="50" charset="-128"/>
                <a:ea typeface="メイリオ" panose="020B0604030504040204" pitchFamily="50" charset="-128"/>
              </a:rPr>
              <a:t>投資対効果</a:t>
            </a:r>
            <a:r>
              <a:rPr kumimoji="1" lang="en-US" altLang="ja-JP" sz="2000" b="1">
                <a:solidFill>
                  <a:schemeClr val="accent1"/>
                </a:solidFill>
                <a:latin typeface="メイリオ" panose="020B0604030504040204" pitchFamily="50" charset="-128"/>
                <a:ea typeface="メイリオ" panose="020B0604030504040204" pitchFamily="50" charset="-128"/>
              </a:rPr>
              <a:t>UP</a:t>
            </a:r>
            <a:endParaRPr kumimoji="1" lang="ja-JP" altLang="en-US" sz="2000" b="1">
              <a:solidFill>
                <a:schemeClr val="accent1"/>
              </a:solidFill>
              <a:latin typeface="メイリオ" panose="020B0604030504040204" pitchFamily="50" charset="-128"/>
              <a:ea typeface="メイリオ" panose="020B0604030504040204" pitchFamily="50" charset="-128"/>
            </a:endParaRPr>
          </a:p>
        </p:txBody>
      </p:sp>
      <p:sp>
        <p:nvSpPr>
          <p:cNvPr id="375" name="テキスト ボックス 374">
            <a:extLst>
              <a:ext uri="{FF2B5EF4-FFF2-40B4-BE49-F238E27FC236}">
                <a16:creationId xmlns:a16="http://schemas.microsoft.com/office/drawing/2014/main" id="{8FE38842-1534-189D-6F7A-5D3EBC1AE299}"/>
              </a:ext>
            </a:extLst>
          </p:cNvPr>
          <p:cNvSpPr txBox="1"/>
          <p:nvPr/>
        </p:nvSpPr>
        <p:spPr>
          <a:xfrm>
            <a:off x="4977941" y="3705186"/>
            <a:ext cx="1661175" cy="707886"/>
          </a:xfrm>
          <a:prstGeom prst="rect">
            <a:avLst/>
          </a:prstGeom>
          <a:noFill/>
        </p:spPr>
        <p:txBody>
          <a:bodyPr wrap="square" rtlCol="0">
            <a:spAutoFit/>
          </a:bodyPr>
          <a:lstStyle/>
          <a:p>
            <a:r>
              <a:rPr kumimoji="1" lang="ja-JP" altLang="en-US" sz="2000" b="1">
                <a:solidFill>
                  <a:schemeClr val="accent1"/>
                </a:solidFill>
                <a:latin typeface="メイリオ" panose="020B0604030504040204" pitchFamily="50" charset="-128"/>
                <a:ea typeface="メイリオ" panose="020B0604030504040204" pitchFamily="50" charset="-128"/>
              </a:rPr>
              <a:t>媒体規定</a:t>
            </a:r>
            <a:endParaRPr kumimoji="1" lang="en-US" altLang="ja-JP" sz="2000" b="1">
              <a:solidFill>
                <a:schemeClr val="accent1"/>
              </a:solidFill>
              <a:latin typeface="メイリオ" panose="020B0604030504040204" pitchFamily="50" charset="-128"/>
              <a:ea typeface="メイリオ" panose="020B0604030504040204" pitchFamily="50" charset="-128"/>
            </a:endParaRPr>
          </a:p>
          <a:p>
            <a:r>
              <a:rPr kumimoji="1" lang="ja-JP" altLang="en-US" sz="2000" b="1">
                <a:solidFill>
                  <a:schemeClr val="accent1"/>
                </a:solidFill>
                <a:latin typeface="メイリオ" panose="020B0604030504040204" pitchFamily="50" charset="-128"/>
                <a:ea typeface="メイリオ" panose="020B0604030504040204" pitchFamily="50" charset="-128"/>
              </a:rPr>
              <a:t>準拠の品質</a:t>
            </a:r>
          </a:p>
        </p:txBody>
      </p:sp>
      <p:pic>
        <p:nvPicPr>
          <p:cNvPr id="385" name="図 384" descr="グラフィカル ユーザー インターフェイス&#10;&#10;自動的に生成された説明">
            <a:extLst>
              <a:ext uri="{FF2B5EF4-FFF2-40B4-BE49-F238E27FC236}">
                <a16:creationId xmlns:a16="http://schemas.microsoft.com/office/drawing/2014/main" id="{0E06571E-6138-E72B-DBE8-AE813F486B03}"/>
              </a:ext>
            </a:extLst>
          </p:cNvPr>
          <p:cNvPicPr>
            <a:picLocks noChangeAspect="1"/>
          </p:cNvPicPr>
          <p:nvPr/>
        </p:nvPicPr>
        <p:blipFill>
          <a:blip r:embed="rId18"/>
          <a:stretch>
            <a:fillRect/>
          </a:stretch>
        </p:blipFill>
        <p:spPr>
          <a:xfrm>
            <a:off x="6910499" y="3009896"/>
            <a:ext cx="1373151" cy="915353"/>
          </a:xfrm>
          <a:prstGeom prst="rect">
            <a:avLst/>
          </a:prstGeom>
        </p:spPr>
      </p:pic>
      <p:pic>
        <p:nvPicPr>
          <p:cNvPr id="386" name="図 385" descr="屋内, カメラ, 小さい, 座る が含まれている画像&#10;&#10;自動的に生成された説明">
            <a:extLst>
              <a:ext uri="{FF2B5EF4-FFF2-40B4-BE49-F238E27FC236}">
                <a16:creationId xmlns:a16="http://schemas.microsoft.com/office/drawing/2014/main" id="{40696475-4EB2-F442-4E8F-F58DD9B07132}"/>
              </a:ext>
            </a:extLst>
          </p:cNvPr>
          <p:cNvPicPr>
            <a:picLocks noChangeAspect="1"/>
          </p:cNvPicPr>
          <p:nvPr/>
        </p:nvPicPr>
        <p:blipFill>
          <a:blip r:embed="rId19"/>
          <a:stretch>
            <a:fillRect/>
          </a:stretch>
        </p:blipFill>
        <p:spPr>
          <a:xfrm>
            <a:off x="8267921" y="2734004"/>
            <a:ext cx="1273756" cy="850081"/>
          </a:xfrm>
          <a:prstGeom prst="rect">
            <a:avLst/>
          </a:prstGeom>
        </p:spPr>
      </p:pic>
      <p:pic>
        <p:nvPicPr>
          <p:cNvPr id="388" name="図 387" descr="携帯電話を持っている男性&#10;&#10;低い精度で自動的に生成された説明">
            <a:extLst>
              <a:ext uri="{FF2B5EF4-FFF2-40B4-BE49-F238E27FC236}">
                <a16:creationId xmlns:a16="http://schemas.microsoft.com/office/drawing/2014/main" id="{8C8E983A-2D4D-A150-0073-D6C507E2491A}"/>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7426082" y="1653653"/>
            <a:ext cx="1647933" cy="1098296"/>
          </a:xfrm>
          <a:prstGeom prst="rect">
            <a:avLst/>
          </a:prstGeom>
        </p:spPr>
      </p:pic>
    </p:spTree>
    <p:extLst>
      <p:ext uri="{BB962C8B-B14F-4D97-AF65-F5344CB8AC3E}">
        <p14:creationId xmlns:p14="http://schemas.microsoft.com/office/powerpoint/2010/main" val="29371010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5AD60-6909-AE56-B005-37F5B0687849}"/>
            </a:ext>
          </a:extLst>
        </p:cNvPr>
        <p:cNvGrpSpPr/>
        <p:nvPr/>
      </p:nvGrpSpPr>
      <p:grpSpPr>
        <a:xfrm>
          <a:off x="0" y="0"/>
          <a:ext cx="0" cy="0"/>
          <a:chOff x="0" y="0"/>
          <a:chExt cx="0" cy="0"/>
        </a:xfrm>
      </p:grpSpPr>
      <p:grpSp>
        <p:nvGrpSpPr>
          <p:cNvPr id="24" name="グループ化 23">
            <a:extLst>
              <a:ext uri="{FF2B5EF4-FFF2-40B4-BE49-F238E27FC236}">
                <a16:creationId xmlns:a16="http://schemas.microsoft.com/office/drawing/2014/main" id="{A12AD130-531E-45A8-3CA2-BD7C7D3A7F2A}"/>
              </a:ext>
            </a:extLst>
          </p:cNvPr>
          <p:cNvGrpSpPr/>
          <p:nvPr/>
        </p:nvGrpSpPr>
        <p:grpSpPr>
          <a:xfrm>
            <a:off x="8012225" y="4495096"/>
            <a:ext cx="3150772" cy="914552"/>
            <a:chOff x="4265930" y="2072640"/>
            <a:chExt cx="3284220" cy="1127760"/>
          </a:xfrm>
        </p:grpSpPr>
        <p:sp>
          <p:nvSpPr>
            <p:cNvPr id="25" name="四角形: 角を丸くする 24">
              <a:extLst>
                <a:ext uri="{FF2B5EF4-FFF2-40B4-BE49-F238E27FC236}">
                  <a16:creationId xmlns:a16="http://schemas.microsoft.com/office/drawing/2014/main" id="{B4280B4C-5C3E-36E7-1FD0-13436ACB7BF5}"/>
                </a:ext>
              </a:extLst>
            </p:cNvPr>
            <p:cNvSpPr/>
            <p:nvPr/>
          </p:nvSpPr>
          <p:spPr bwMode="auto">
            <a:xfrm>
              <a:off x="4265930" y="2072640"/>
              <a:ext cx="3284220" cy="1127760"/>
            </a:xfrm>
            <a:prstGeom prst="roundRect">
              <a:avLst>
                <a:gd name="adj" fmla="val 7208"/>
              </a:avLst>
            </a:prstGeom>
            <a:solidFill>
              <a:schemeClr val="accent2">
                <a:lumMod val="20000"/>
                <a:lumOff val="80000"/>
              </a:schemeClr>
            </a:solidFill>
            <a:ln w="38100" algn="ctr">
              <a:solidFill>
                <a:schemeClr val="accent2"/>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BB003DCA-65EE-F13B-FA50-B08FBDC9A716}"/>
                </a:ext>
              </a:extLst>
            </p:cNvPr>
            <p:cNvSpPr txBox="1"/>
            <p:nvPr/>
          </p:nvSpPr>
          <p:spPr>
            <a:xfrm>
              <a:off x="4319112" y="2242141"/>
              <a:ext cx="869201" cy="721103"/>
            </a:xfrm>
            <a:prstGeom prst="rect">
              <a:avLst/>
            </a:prstGeom>
            <a:noFill/>
          </p:spPr>
          <p:txBody>
            <a:bodyPr wrap="none" rtlCol="0">
              <a:spAutoFit/>
            </a:bodyPr>
            <a:lstStyle/>
            <a:p>
              <a:r>
                <a:rPr kumimoji="1" lang="en-US" altLang="ja-JP" sz="3200">
                  <a:solidFill>
                    <a:schemeClr val="accent6"/>
                  </a:solidFill>
                  <a:latin typeface="メイリオ" panose="020B0604030504040204" pitchFamily="50" charset="-128"/>
                  <a:ea typeface="メイリオ" panose="020B0604030504040204" pitchFamily="50" charset="-128"/>
                </a:rPr>
                <a:t>02 </a:t>
              </a:r>
              <a:endParaRPr kumimoji="1" lang="ja-JP" altLang="en-US" sz="3200">
                <a:solidFill>
                  <a:schemeClr val="accent6"/>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F93C6694-606A-86BD-8520-90F03893631B}"/>
                </a:ext>
              </a:extLst>
            </p:cNvPr>
            <p:cNvSpPr txBox="1"/>
            <p:nvPr/>
          </p:nvSpPr>
          <p:spPr>
            <a:xfrm>
              <a:off x="4842037" y="2238422"/>
              <a:ext cx="2633505" cy="797009"/>
            </a:xfrm>
            <a:prstGeom prst="rect">
              <a:avLst/>
            </a:prstGeom>
            <a:noFill/>
          </p:spPr>
          <p:txBody>
            <a:bodyPr wrap="square" rtlCol="0">
              <a:spAutoFit/>
            </a:bodyPr>
            <a:lstStyle/>
            <a:p>
              <a:pPr algn="ctr"/>
              <a:r>
                <a:rPr kumimoji="1" lang="ja-JP" altLang="en-US" b="1">
                  <a:solidFill>
                    <a:schemeClr val="accent6"/>
                  </a:solidFill>
                  <a:latin typeface="メイリオ" panose="020B0604030504040204" pitchFamily="50" charset="-128"/>
                  <a:ea typeface="メイリオ" panose="020B0604030504040204" pitchFamily="50" charset="-128"/>
                </a:rPr>
                <a:t>コーポレート</a:t>
              </a:r>
              <a:endParaRPr kumimoji="1" lang="en-US" altLang="ja-JP" b="1">
                <a:solidFill>
                  <a:schemeClr val="accent6"/>
                </a:solidFill>
                <a:latin typeface="メイリオ" panose="020B0604030504040204" pitchFamily="50" charset="-128"/>
                <a:ea typeface="メイリオ" panose="020B0604030504040204" pitchFamily="50" charset="-128"/>
              </a:endParaRPr>
            </a:p>
            <a:p>
              <a:pPr algn="ctr"/>
              <a:r>
                <a:rPr kumimoji="1" lang="ja-JP" altLang="en-US" b="1">
                  <a:solidFill>
                    <a:schemeClr val="accent6"/>
                  </a:solidFill>
                  <a:latin typeface="メイリオ" panose="020B0604030504040204" pitchFamily="50" charset="-128"/>
                  <a:ea typeface="メイリオ" panose="020B0604030504040204" pitchFamily="50" charset="-128"/>
                </a:rPr>
                <a:t>バリュー</a:t>
              </a:r>
              <a:r>
                <a:rPr kumimoji="1" lang="ja-JP" altLang="en-US" b="1">
                  <a:latin typeface="メイリオ" panose="020B0604030504040204" pitchFamily="50" charset="-128"/>
                  <a:ea typeface="メイリオ" panose="020B0604030504040204" pitchFamily="50" charset="-128"/>
                </a:rPr>
                <a:t>を高める</a:t>
              </a:r>
              <a:endParaRPr kumimoji="1" lang="en-US" altLang="ja-JP" b="1">
                <a:latin typeface="メイリオ" panose="020B0604030504040204" pitchFamily="50" charset="-128"/>
                <a:ea typeface="メイリオ" panose="020B0604030504040204" pitchFamily="50" charset="-128"/>
              </a:endParaRPr>
            </a:p>
          </p:txBody>
        </p:sp>
      </p:grpSp>
      <p:sp>
        <p:nvSpPr>
          <p:cNvPr id="2" name="矢印: 折線 1">
            <a:extLst>
              <a:ext uri="{FF2B5EF4-FFF2-40B4-BE49-F238E27FC236}">
                <a16:creationId xmlns:a16="http://schemas.microsoft.com/office/drawing/2014/main" id="{45E492C8-9872-CD3A-812B-4153D9B548C2}"/>
              </a:ext>
            </a:extLst>
          </p:cNvPr>
          <p:cNvSpPr/>
          <p:nvPr/>
        </p:nvSpPr>
        <p:spPr bwMode="auto">
          <a:xfrm rot="5400000">
            <a:off x="8422195" y="3628842"/>
            <a:ext cx="432558" cy="979590"/>
          </a:xfrm>
          <a:prstGeom prst="bentArrow">
            <a:avLst/>
          </a:prstGeom>
          <a:solidFill>
            <a:schemeClr val="tx1">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grpSp>
        <p:nvGrpSpPr>
          <p:cNvPr id="12" name="グループ化 11">
            <a:extLst>
              <a:ext uri="{FF2B5EF4-FFF2-40B4-BE49-F238E27FC236}">
                <a16:creationId xmlns:a16="http://schemas.microsoft.com/office/drawing/2014/main" id="{F659B805-24D6-A362-3BAC-A97957205CC4}"/>
              </a:ext>
            </a:extLst>
          </p:cNvPr>
          <p:cNvGrpSpPr/>
          <p:nvPr/>
        </p:nvGrpSpPr>
        <p:grpSpPr>
          <a:xfrm>
            <a:off x="4639486" y="3502320"/>
            <a:ext cx="3150772" cy="914552"/>
            <a:chOff x="4265930" y="2072640"/>
            <a:chExt cx="3284220" cy="1127760"/>
          </a:xfrm>
        </p:grpSpPr>
        <p:sp>
          <p:nvSpPr>
            <p:cNvPr id="8" name="四角形: 角を丸くする 7">
              <a:extLst>
                <a:ext uri="{FF2B5EF4-FFF2-40B4-BE49-F238E27FC236}">
                  <a16:creationId xmlns:a16="http://schemas.microsoft.com/office/drawing/2014/main" id="{A4A062A3-CCFA-B4CC-5B93-964D27C43039}"/>
                </a:ext>
              </a:extLst>
            </p:cNvPr>
            <p:cNvSpPr/>
            <p:nvPr/>
          </p:nvSpPr>
          <p:spPr bwMode="auto">
            <a:xfrm>
              <a:off x="4265930" y="2072640"/>
              <a:ext cx="3284220" cy="1127760"/>
            </a:xfrm>
            <a:prstGeom prst="roundRect">
              <a:avLst>
                <a:gd name="adj" fmla="val 7208"/>
              </a:avLst>
            </a:prstGeom>
            <a:solidFill>
              <a:schemeClr val="accent4">
                <a:lumMod val="20000"/>
                <a:lumOff val="80000"/>
              </a:schemeClr>
            </a:solidFill>
            <a:ln w="38100" algn="ctr">
              <a:solidFill>
                <a:schemeClr val="accent4"/>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E8A7A4D7-7F3E-86ED-25E0-4A5DA790D23C}"/>
                </a:ext>
              </a:extLst>
            </p:cNvPr>
            <p:cNvSpPr txBox="1"/>
            <p:nvPr/>
          </p:nvSpPr>
          <p:spPr>
            <a:xfrm>
              <a:off x="4339714" y="2249085"/>
              <a:ext cx="869201" cy="721103"/>
            </a:xfrm>
            <a:prstGeom prst="rect">
              <a:avLst/>
            </a:prstGeom>
            <a:noFill/>
          </p:spPr>
          <p:txBody>
            <a:bodyPr wrap="none" rtlCol="0">
              <a:spAutoFit/>
            </a:bodyPr>
            <a:lstStyle/>
            <a:p>
              <a:r>
                <a:rPr kumimoji="1" lang="en-US" altLang="ja-JP" sz="3200">
                  <a:solidFill>
                    <a:schemeClr val="accent1"/>
                  </a:solidFill>
                  <a:latin typeface="メイリオ" panose="020B0604030504040204" pitchFamily="50" charset="-128"/>
                  <a:ea typeface="メイリオ" panose="020B0604030504040204" pitchFamily="50" charset="-128"/>
                </a:rPr>
                <a:t>01 </a:t>
              </a:r>
              <a:endParaRPr kumimoji="1" lang="ja-JP" altLang="en-US" sz="3200">
                <a:solidFill>
                  <a:schemeClr val="accent1"/>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53A5049B-7849-A0BC-E6D6-8C00281F42E1}"/>
                </a:ext>
              </a:extLst>
            </p:cNvPr>
            <p:cNvSpPr txBox="1"/>
            <p:nvPr/>
          </p:nvSpPr>
          <p:spPr>
            <a:xfrm>
              <a:off x="4978875" y="2437513"/>
              <a:ext cx="2054377" cy="455434"/>
            </a:xfrm>
            <a:prstGeom prst="rect">
              <a:avLst/>
            </a:prstGeom>
            <a:noFill/>
          </p:spPr>
          <p:txBody>
            <a:bodyPr wrap="square" rtlCol="0">
              <a:spAutoFit/>
            </a:bodyPr>
            <a:lstStyle/>
            <a:p>
              <a:pPr algn="ctr"/>
              <a:r>
                <a:rPr lang="ja-JP" altLang="en-US" b="1">
                  <a:latin typeface="メイリオ" panose="020B0604030504040204" pitchFamily="50" charset="-128"/>
                  <a:ea typeface="メイリオ" panose="020B0604030504040204" pitchFamily="50" charset="-128"/>
                </a:rPr>
                <a:t>採用情報の強化</a:t>
              </a:r>
              <a:endParaRPr kumimoji="1" lang="en-US" altLang="ja-JP" b="1">
                <a:latin typeface="メイリオ" panose="020B0604030504040204" pitchFamily="50" charset="-128"/>
                <a:ea typeface="メイリオ" panose="020B0604030504040204" pitchFamily="50" charset="-128"/>
              </a:endParaRPr>
            </a:p>
          </p:txBody>
        </p:sp>
      </p:grpSp>
      <p:grpSp>
        <p:nvGrpSpPr>
          <p:cNvPr id="28" name="グループ化 27">
            <a:extLst>
              <a:ext uri="{FF2B5EF4-FFF2-40B4-BE49-F238E27FC236}">
                <a16:creationId xmlns:a16="http://schemas.microsoft.com/office/drawing/2014/main" id="{D670BBDA-284E-8A51-3999-9E8526D35EE6}"/>
              </a:ext>
            </a:extLst>
          </p:cNvPr>
          <p:cNvGrpSpPr/>
          <p:nvPr/>
        </p:nvGrpSpPr>
        <p:grpSpPr>
          <a:xfrm>
            <a:off x="4639486" y="5627846"/>
            <a:ext cx="3150772" cy="914552"/>
            <a:chOff x="4265930" y="2072640"/>
            <a:chExt cx="3284220" cy="1127760"/>
          </a:xfrm>
        </p:grpSpPr>
        <p:sp>
          <p:nvSpPr>
            <p:cNvPr id="29" name="四角形: 角を丸くする 28">
              <a:extLst>
                <a:ext uri="{FF2B5EF4-FFF2-40B4-BE49-F238E27FC236}">
                  <a16:creationId xmlns:a16="http://schemas.microsoft.com/office/drawing/2014/main" id="{179194E2-2959-1A8A-196A-4A56AE1CB4E7}"/>
                </a:ext>
              </a:extLst>
            </p:cNvPr>
            <p:cNvSpPr/>
            <p:nvPr/>
          </p:nvSpPr>
          <p:spPr bwMode="auto">
            <a:xfrm>
              <a:off x="4265930" y="2072640"/>
              <a:ext cx="3284220" cy="1127760"/>
            </a:xfrm>
            <a:prstGeom prst="roundRect">
              <a:avLst>
                <a:gd name="adj" fmla="val 7208"/>
              </a:avLst>
            </a:prstGeom>
            <a:solidFill>
              <a:schemeClr val="accent1">
                <a:lumMod val="20000"/>
                <a:lumOff val="80000"/>
              </a:schemeClr>
            </a:solidFill>
            <a:ln w="38100" algn="ctr">
              <a:solidFill>
                <a:schemeClr val="accent1"/>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870F5AC7-5233-4380-9844-3700F7447C56}"/>
                </a:ext>
              </a:extLst>
            </p:cNvPr>
            <p:cNvSpPr txBox="1"/>
            <p:nvPr/>
          </p:nvSpPr>
          <p:spPr>
            <a:xfrm>
              <a:off x="4284725" y="2258371"/>
              <a:ext cx="869201" cy="721103"/>
            </a:xfrm>
            <a:prstGeom prst="rect">
              <a:avLst/>
            </a:prstGeom>
            <a:noFill/>
          </p:spPr>
          <p:txBody>
            <a:bodyPr wrap="none" rtlCol="0">
              <a:spAutoFit/>
            </a:bodyPr>
            <a:lstStyle/>
            <a:p>
              <a:r>
                <a:rPr kumimoji="1" lang="en-US" altLang="ja-JP" sz="3200">
                  <a:solidFill>
                    <a:schemeClr val="accent3"/>
                  </a:solidFill>
                  <a:latin typeface="メイリオ" panose="020B0604030504040204" pitchFamily="50" charset="-128"/>
                  <a:ea typeface="メイリオ" panose="020B0604030504040204" pitchFamily="50" charset="-128"/>
                </a:rPr>
                <a:t>03 </a:t>
              </a:r>
              <a:endParaRPr kumimoji="1" lang="ja-JP" altLang="en-US" sz="3200">
                <a:solidFill>
                  <a:schemeClr val="accent3"/>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4F893C9D-07C3-8ABC-B644-9C3D41E47E67}"/>
                </a:ext>
              </a:extLst>
            </p:cNvPr>
            <p:cNvSpPr txBox="1"/>
            <p:nvPr/>
          </p:nvSpPr>
          <p:spPr>
            <a:xfrm>
              <a:off x="4842037" y="2273658"/>
              <a:ext cx="2633505" cy="797009"/>
            </a:xfrm>
            <a:prstGeom prst="rect">
              <a:avLst/>
            </a:prstGeom>
            <a:noFill/>
          </p:spPr>
          <p:txBody>
            <a:bodyPr wrap="square" rtlCol="0">
              <a:spAutoFit/>
            </a:bodyPr>
            <a:lstStyle/>
            <a:p>
              <a:pPr algn="ctr"/>
              <a:r>
                <a:rPr kumimoji="1" lang="ja-JP" altLang="en-US" b="1">
                  <a:latin typeface="メイリオ" panose="020B0604030504040204" pitchFamily="50" charset="-128"/>
                  <a:ea typeface="メイリオ" panose="020B0604030504040204" pitchFamily="50" charset="-128"/>
                </a:rPr>
                <a:t>採用コンテンツを</a:t>
              </a:r>
              <a:endParaRPr kumimoji="1" lang="en-US" altLang="ja-JP" b="1">
                <a:latin typeface="メイリオ" panose="020B0604030504040204" pitchFamily="50" charset="-128"/>
                <a:ea typeface="メイリオ" panose="020B0604030504040204" pitchFamily="50" charset="-128"/>
              </a:endParaRPr>
            </a:p>
            <a:p>
              <a:pPr algn="ctr"/>
              <a:r>
                <a:rPr kumimoji="1" lang="ja-JP" altLang="en-US" b="1">
                  <a:latin typeface="メイリオ" panose="020B0604030504040204" pitchFamily="50" charset="-128"/>
                  <a:ea typeface="メイリオ" panose="020B0604030504040204" pitchFamily="50" charset="-128"/>
                </a:rPr>
                <a:t>制作・充足</a:t>
              </a:r>
              <a:endParaRPr kumimoji="1" lang="en-US" altLang="ja-JP" b="1">
                <a:latin typeface="メイリオ" panose="020B0604030504040204" pitchFamily="50" charset="-128"/>
                <a:ea typeface="メイリオ" panose="020B0604030504040204" pitchFamily="50" charset="-128"/>
              </a:endParaRPr>
            </a:p>
          </p:txBody>
        </p:sp>
      </p:grpSp>
      <p:grpSp>
        <p:nvGrpSpPr>
          <p:cNvPr id="32" name="グループ化 31">
            <a:extLst>
              <a:ext uri="{FF2B5EF4-FFF2-40B4-BE49-F238E27FC236}">
                <a16:creationId xmlns:a16="http://schemas.microsoft.com/office/drawing/2014/main" id="{EEAC23B6-A373-E18B-F616-C3883827E842}"/>
              </a:ext>
            </a:extLst>
          </p:cNvPr>
          <p:cNvGrpSpPr/>
          <p:nvPr/>
        </p:nvGrpSpPr>
        <p:grpSpPr>
          <a:xfrm>
            <a:off x="1336408" y="4553861"/>
            <a:ext cx="3150772" cy="914552"/>
            <a:chOff x="4265930" y="2072640"/>
            <a:chExt cx="3284220" cy="1127760"/>
          </a:xfrm>
        </p:grpSpPr>
        <p:sp>
          <p:nvSpPr>
            <p:cNvPr id="33" name="四角形: 角を丸くする 32">
              <a:extLst>
                <a:ext uri="{FF2B5EF4-FFF2-40B4-BE49-F238E27FC236}">
                  <a16:creationId xmlns:a16="http://schemas.microsoft.com/office/drawing/2014/main" id="{F195B37B-2229-08E6-5E22-56F2AFFE3BD8}"/>
                </a:ext>
              </a:extLst>
            </p:cNvPr>
            <p:cNvSpPr/>
            <p:nvPr/>
          </p:nvSpPr>
          <p:spPr bwMode="auto">
            <a:xfrm>
              <a:off x="4265930" y="2072640"/>
              <a:ext cx="3284220" cy="1127760"/>
            </a:xfrm>
            <a:prstGeom prst="roundRect">
              <a:avLst>
                <a:gd name="adj" fmla="val 7208"/>
              </a:avLst>
            </a:prstGeom>
            <a:solidFill>
              <a:schemeClr val="accent3">
                <a:lumMod val="20000"/>
                <a:lumOff val="80000"/>
              </a:schemeClr>
            </a:solidFill>
            <a:ln w="38100" algn="ctr">
              <a:solidFill>
                <a:schemeClr val="accent3"/>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4" name="テキスト ボックス 33">
              <a:extLst>
                <a:ext uri="{FF2B5EF4-FFF2-40B4-BE49-F238E27FC236}">
                  <a16:creationId xmlns:a16="http://schemas.microsoft.com/office/drawing/2014/main" id="{EC0DCDB3-B114-00DA-4668-4EBF9A2E49A1}"/>
                </a:ext>
              </a:extLst>
            </p:cNvPr>
            <p:cNvSpPr txBox="1"/>
            <p:nvPr/>
          </p:nvSpPr>
          <p:spPr>
            <a:xfrm>
              <a:off x="4357355" y="2243716"/>
              <a:ext cx="869201" cy="721103"/>
            </a:xfrm>
            <a:prstGeom prst="rect">
              <a:avLst/>
            </a:prstGeom>
            <a:noFill/>
          </p:spPr>
          <p:txBody>
            <a:bodyPr wrap="none" rtlCol="0">
              <a:spAutoFit/>
            </a:bodyPr>
            <a:lstStyle/>
            <a:p>
              <a:r>
                <a:rPr kumimoji="1" lang="en-US" altLang="ja-JP" sz="3200">
                  <a:solidFill>
                    <a:schemeClr val="accent4"/>
                  </a:solidFill>
                  <a:latin typeface="メイリオ" panose="020B0604030504040204" pitchFamily="50" charset="-128"/>
                  <a:ea typeface="メイリオ" panose="020B0604030504040204" pitchFamily="50" charset="-128"/>
                </a:rPr>
                <a:t>04 </a:t>
              </a:r>
              <a:endParaRPr kumimoji="1" lang="ja-JP" altLang="en-US" sz="3200">
                <a:solidFill>
                  <a:schemeClr val="accent4"/>
                </a:solidFill>
                <a:latin typeface="メイリオ" panose="020B0604030504040204" pitchFamily="50" charset="-128"/>
                <a:ea typeface="メイリオ" panose="020B0604030504040204" pitchFamily="50" charset="-128"/>
              </a:endParaRPr>
            </a:p>
          </p:txBody>
        </p:sp>
        <p:sp>
          <p:nvSpPr>
            <p:cNvPr id="35" name="テキスト ボックス 34">
              <a:extLst>
                <a:ext uri="{FF2B5EF4-FFF2-40B4-BE49-F238E27FC236}">
                  <a16:creationId xmlns:a16="http://schemas.microsoft.com/office/drawing/2014/main" id="{51FE57AA-F131-FDD3-F867-AAF28F1144AF}"/>
                </a:ext>
              </a:extLst>
            </p:cNvPr>
            <p:cNvSpPr txBox="1"/>
            <p:nvPr/>
          </p:nvSpPr>
          <p:spPr>
            <a:xfrm>
              <a:off x="4838227" y="2399097"/>
              <a:ext cx="2633505" cy="455434"/>
            </a:xfrm>
            <a:prstGeom prst="rect">
              <a:avLst/>
            </a:prstGeom>
            <a:noFill/>
          </p:spPr>
          <p:txBody>
            <a:bodyPr wrap="square" rtlCol="0">
              <a:spAutoFit/>
            </a:bodyPr>
            <a:lstStyle/>
            <a:p>
              <a:pPr algn="ctr"/>
              <a:r>
                <a:rPr kumimoji="1" lang="ja-JP" altLang="en-US" b="1" dirty="0">
                  <a:latin typeface="メイリオ" panose="020B0604030504040204" pitchFamily="50" charset="-128"/>
                  <a:ea typeface="メイリオ" panose="020B0604030504040204" pitchFamily="50" charset="-128"/>
                </a:rPr>
                <a:t>優良人材の獲得</a:t>
              </a:r>
              <a:endParaRPr kumimoji="1" lang="en-US" altLang="ja-JP" b="1" dirty="0">
                <a:latin typeface="メイリオ" panose="020B0604030504040204" pitchFamily="50" charset="-128"/>
                <a:ea typeface="メイリオ" panose="020B0604030504040204" pitchFamily="50" charset="-128"/>
              </a:endParaRPr>
            </a:p>
          </p:txBody>
        </p:sp>
      </p:grpSp>
      <p:sp>
        <p:nvSpPr>
          <p:cNvPr id="36" name="矢印: 折線 35">
            <a:extLst>
              <a:ext uri="{FF2B5EF4-FFF2-40B4-BE49-F238E27FC236}">
                <a16:creationId xmlns:a16="http://schemas.microsoft.com/office/drawing/2014/main" id="{599E3E1B-EA24-6EB1-D6A1-0692E8729C19}"/>
              </a:ext>
            </a:extLst>
          </p:cNvPr>
          <p:cNvSpPr/>
          <p:nvPr/>
        </p:nvSpPr>
        <p:spPr bwMode="auto">
          <a:xfrm rot="10800000">
            <a:off x="8110427" y="5618205"/>
            <a:ext cx="928878" cy="555588"/>
          </a:xfrm>
          <a:prstGeom prst="bentArrow">
            <a:avLst>
              <a:gd name="adj1" fmla="val 20551"/>
              <a:gd name="adj2" fmla="val 25000"/>
              <a:gd name="adj3" fmla="val 25000"/>
              <a:gd name="adj4" fmla="val 43750"/>
            </a:avLst>
          </a:prstGeom>
          <a:solidFill>
            <a:schemeClr val="tx1">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38" name="矢印: 折線 37">
            <a:extLst>
              <a:ext uri="{FF2B5EF4-FFF2-40B4-BE49-F238E27FC236}">
                <a16:creationId xmlns:a16="http://schemas.microsoft.com/office/drawing/2014/main" id="{9FECE79C-3329-F7A7-C64B-826B5E041AEE}"/>
              </a:ext>
            </a:extLst>
          </p:cNvPr>
          <p:cNvSpPr/>
          <p:nvPr/>
        </p:nvSpPr>
        <p:spPr bwMode="auto">
          <a:xfrm rot="16200000">
            <a:off x="3640117" y="5354330"/>
            <a:ext cx="432558" cy="979590"/>
          </a:xfrm>
          <a:prstGeom prst="bentArrow">
            <a:avLst/>
          </a:prstGeom>
          <a:solidFill>
            <a:schemeClr val="tx1">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40" name="矢印: 右 39">
            <a:extLst>
              <a:ext uri="{FF2B5EF4-FFF2-40B4-BE49-F238E27FC236}">
                <a16:creationId xmlns:a16="http://schemas.microsoft.com/office/drawing/2014/main" id="{68ADBBB4-2F45-DFFF-34E1-58541C155FAF}"/>
              </a:ext>
            </a:extLst>
          </p:cNvPr>
          <p:cNvSpPr/>
          <p:nvPr/>
        </p:nvSpPr>
        <p:spPr bwMode="auto">
          <a:xfrm>
            <a:off x="4948513" y="4880346"/>
            <a:ext cx="2660977" cy="247287"/>
          </a:xfrm>
          <a:prstGeom prst="rightArrow">
            <a:avLst>
              <a:gd name="adj1" fmla="val 45002"/>
              <a:gd name="adj2" fmla="val 50000"/>
            </a:avLst>
          </a:prstGeom>
          <a:solidFill>
            <a:schemeClr val="tx1">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4" name="コンテンツ プレースホルダー 13">
            <a:extLst>
              <a:ext uri="{FF2B5EF4-FFF2-40B4-BE49-F238E27FC236}">
                <a16:creationId xmlns:a16="http://schemas.microsoft.com/office/drawing/2014/main" id="{8E81101B-9CB3-CAEF-62FE-297B1FD4EC6E}"/>
              </a:ext>
            </a:extLst>
          </p:cNvPr>
          <p:cNvSpPr>
            <a:spLocks noGrp="1"/>
          </p:cNvSpPr>
          <p:nvPr>
            <p:ph idx="10"/>
          </p:nvPr>
        </p:nvSpPr>
        <p:spPr>
          <a:xfrm>
            <a:off x="653802" y="652081"/>
            <a:ext cx="11086078" cy="1059483"/>
          </a:xfrm>
        </p:spPr>
        <p:txBody>
          <a:bodyPr>
            <a:normAutofit/>
          </a:bodyPr>
          <a:lstStyle/>
          <a:p>
            <a:pPr marL="0" indent="0">
              <a:lnSpc>
                <a:spcPct val="150000"/>
              </a:lnSpc>
              <a:buNone/>
            </a:pPr>
            <a:r>
              <a:rPr lang="ja-JP" altLang="en-US" dirty="0"/>
              <a:t>自社の採用サイトのコンテンツの最新・最適化を図り、採用課題をサポートします。</a:t>
            </a:r>
            <a:br>
              <a:rPr lang="en-US" altLang="ja-JP" dirty="0"/>
            </a:br>
            <a:r>
              <a:rPr lang="ja-JP" altLang="en-US" dirty="0"/>
              <a:t>応募者の質をあげるために、様々なプランの用意があります。</a:t>
            </a:r>
            <a:endParaRPr lang="en-US" altLang="ja-JP" sz="1400" dirty="0">
              <a:solidFill>
                <a:srgbClr val="707070"/>
              </a:solidFill>
              <a:latin typeface="Noto Sans JP" panose="020B0200000000000000" pitchFamily="50" charset="-128"/>
              <a:ea typeface="Noto Sans JP" panose="020B0200000000000000" pitchFamily="50" charset="-128"/>
            </a:endParaRPr>
          </a:p>
        </p:txBody>
      </p:sp>
      <p:sp>
        <p:nvSpPr>
          <p:cNvPr id="3" name="タイトル 2">
            <a:extLst>
              <a:ext uri="{FF2B5EF4-FFF2-40B4-BE49-F238E27FC236}">
                <a16:creationId xmlns:a16="http://schemas.microsoft.com/office/drawing/2014/main" id="{01977D2A-C9F9-6C77-DE21-AE04DD8A7166}"/>
              </a:ext>
            </a:extLst>
          </p:cNvPr>
          <p:cNvSpPr>
            <a:spLocks noGrp="1"/>
          </p:cNvSpPr>
          <p:nvPr>
            <p:ph type="title"/>
          </p:nvPr>
        </p:nvSpPr>
        <p:spPr/>
        <p:txBody>
          <a:bodyPr>
            <a:normAutofit/>
          </a:bodyPr>
          <a:lstStyle/>
          <a:p>
            <a:r>
              <a:rPr lang="ja-JP" altLang="en-US" dirty="0"/>
              <a:t>採用</a:t>
            </a:r>
            <a:r>
              <a:rPr lang="en-US" altLang="ja-JP" dirty="0"/>
              <a:t>Web</a:t>
            </a:r>
            <a:r>
              <a:rPr lang="ja-JP" altLang="en-US" dirty="0"/>
              <a:t>コンテンツアップデートサービス</a:t>
            </a:r>
          </a:p>
        </p:txBody>
      </p:sp>
      <p:sp>
        <p:nvSpPr>
          <p:cNvPr id="4" name="スライド番号プレースホルダー 3">
            <a:extLst>
              <a:ext uri="{FF2B5EF4-FFF2-40B4-BE49-F238E27FC236}">
                <a16:creationId xmlns:a16="http://schemas.microsoft.com/office/drawing/2014/main" id="{9F1BBEE3-ADD8-D75F-0CCE-2BA6C317AE59}"/>
              </a:ext>
            </a:extLst>
          </p:cNvPr>
          <p:cNvSpPr>
            <a:spLocks noGrp="1"/>
          </p:cNvSpPr>
          <p:nvPr>
            <p:ph type="sldNum" sz="quarter" idx="11"/>
          </p:nvPr>
        </p:nvSpPr>
        <p:spPr/>
        <p:txBody>
          <a:bodyPr/>
          <a:lstStyle/>
          <a:p>
            <a:fld id="{B75FDD43-FCEC-4ECC-8189-A5C6D2E08DC6}" type="slidenum">
              <a:rPr lang="ja-JP" altLang="en-US" smtClean="0"/>
              <a:pPr/>
              <a:t>41</a:t>
            </a:fld>
            <a:endParaRPr lang="ja-JP" altLang="en-US"/>
          </a:p>
        </p:txBody>
      </p:sp>
      <p:sp>
        <p:nvSpPr>
          <p:cNvPr id="13" name="四角形: 角を丸くする 12">
            <a:extLst>
              <a:ext uri="{FF2B5EF4-FFF2-40B4-BE49-F238E27FC236}">
                <a16:creationId xmlns:a16="http://schemas.microsoft.com/office/drawing/2014/main" id="{12D4719A-20F9-AFE8-65C1-1330F6F4765F}"/>
              </a:ext>
            </a:extLst>
          </p:cNvPr>
          <p:cNvSpPr/>
          <p:nvPr/>
        </p:nvSpPr>
        <p:spPr bwMode="auto">
          <a:xfrm>
            <a:off x="1668256" y="1633792"/>
            <a:ext cx="8836874" cy="1697915"/>
          </a:xfrm>
          <a:prstGeom prst="roundRect">
            <a:avLst>
              <a:gd name="adj" fmla="val 0"/>
            </a:avLst>
          </a:prstGeom>
          <a:noFill/>
          <a:ln w="76200" algn="ctr">
            <a:solidFill>
              <a:schemeClr val="bg1">
                <a:lumMod val="95000"/>
              </a:schemeClr>
            </a:solidFill>
            <a:miter lim="800000"/>
            <a:headEnd/>
            <a:tailEnd/>
          </a:ln>
          <a:effectLst/>
        </p:spPr>
        <p:txBody>
          <a:bodyPr wrap="none" lIns="90000" tIns="46800" rIns="90000" bIns="46800" rtlCol="0" anchor="ctr"/>
          <a:lstStyle/>
          <a:p>
            <a:pPr marL="342900" indent="-342900" algn="l" defTabSz="914400" fontAlgn="base">
              <a:spcBef>
                <a:spcPct val="50000"/>
              </a:spcBef>
              <a:spcAft>
                <a:spcPct val="0"/>
              </a:spcAft>
              <a:buFont typeface="Arial" panose="020B0604020202020204" pitchFamily="34" charset="0"/>
              <a:buChar char="•"/>
            </a:pPr>
            <a:endParaRPr kumimoji="1" lang="ja-JP" altLang="en-US" b="1" noProof="0">
              <a:solidFill>
                <a:schemeClr val="accent4">
                  <a:lumMod val="50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E6600BE5-AF25-33E3-825D-9F99DCA9BAE6}"/>
              </a:ext>
            </a:extLst>
          </p:cNvPr>
          <p:cNvSpPr/>
          <p:nvPr/>
        </p:nvSpPr>
        <p:spPr bwMode="auto">
          <a:xfrm>
            <a:off x="2588873" y="1739079"/>
            <a:ext cx="7739651" cy="1524000"/>
          </a:xfrm>
          <a:prstGeom prst="roundRect">
            <a:avLst>
              <a:gd name="adj" fmla="val 5798"/>
            </a:avLst>
          </a:prstGeom>
          <a:noFill/>
          <a:ln w="38100" algn="ctr">
            <a:noFill/>
            <a:miter lim="800000"/>
            <a:headEnd/>
            <a:tailEnd/>
          </a:ln>
          <a:effectLst/>
        </p:spPr>
        <p:txBody>
          <a:bodyPr wrap="none" lIns="90000" tIns="46800" rIns="90000" bIns="46800" rtlCol="0" anchor="ctr"/>
          <a:lstStyle/>
          <a:p>
            <a:pPr marL="342900" indent="-342900" algn="l" defTabSz="914400" fontAlgn="base">
              <a:spcBef>
                <a:spcPct val="50000"/>
              </a:spcBef>
              <a:spcAft>
                <a:spcPct val="0"/>
              </a:spcAft>
              <a:buFont typeface="Arial" panose="020B0604020202020204" pitchFamily="34" charset="0"/>
              <a:buChar char="•"/>
            </a:pPr>
            <a:r>
              <a:rPr lang="ja-JP" altLang="en-US" b="1" dirty="0">
                <a:latin typeface="メイリオ" panose="020B0604030504040204" pitchFamily="50" charset="-128"/>
                <a:ea typeface="メイリオ" panose="020B0604030504040204" pitchFamily="50" charset="-128"/>
              </a:rPr>
              <a:t>企業課題は見えているけど、大掛かりな施策は時間もコストもかかる</a:t>
            </a:r>
            <a:endParaRPr lang="en-US" altLang="ja-JP" b="1" dirty="0">
              <a:latin typeface="メイリオ" panose="020B0604030504040204" pitchFamily="50" charset="-128"/>
              <a:ea typeface="メイリオ" panose="020B0604030504040204" pitchFamily="50" charset="-128"/>
            </a:endParaRPr>
          </a:p>
          <a:p>
            <a:pPr marL="342900" indent="-342900" algn="l" defTabSz="914400" fontAlgn="base">
              <a:spcBef>
                <a:spcPct val="50000"/>
              </a:spcBef>
              <a:spcAft>
                <a:spcPct val="0"/>
              </a:spcAft>
              <a:buFont typeface="Arial" panose="020B0604020202020204" pitchFamily="34" charset="0"/>
              <a:buChar char="•"/>
            </a:pPr>
            <a:r>
              <a:rPr lang="ja-JP" altLang="en-US" b="1" dirty="0">
                <a:latin typeface="メイリオ" panose="020B0604030504040204" pitchFamily="50" charset="-128"/>
                <a:ea typeface="メイリオ" panose="020B0604030504040204" pitchFamily="50" charset="-128"/>
              </a:rPr>
              <a:t>今あるコンテンツを、少しだけブラッシュアップしたい</a:t>
            </a:r>
            <a:endParaRPr lang="en-US" altLang="ja-JP" b="1" dirty="0">
              <a:latin typeface="メイリオ" panose="020B0604030504040204" pitchFamily="50" charset="-128"/>
              <a:ea typeface="メイリオ" panose="020B0604030504040204" pitchFamily="50" charset="-128"/>
            </a:endParaRPr>
          </a:p>
          <a:p>
            <a:pPr marL="342900" indent="-342900" algn="l" defTabSz="914400" fontAlgn="base">
              <a:spcBef>
                <a:spcPct val="50000"/>
              </a:spcBef>
              <a:spcAft>
                <a:spcPct val="0"/>
              </a:spcAft>
              <a:buFont typeface="Arial" panose="020B0604020202020204" pitchFamily="34" charset="0"/>
              <a:buChar char="•"/>
            </a:pPr>
            <a:r>
              <a:rPr kumimoji="1" lang="ja-JP" altLang="en-US" b="1" noProof="0" dirty="0">
                <a:latin typeface="メイリオ" panose="020B0604030504040204" pitchFamily="50" charset="-128"/>
                <a:ea typeface="メイリオ" panose="020B0604030504040204" pitchFamily="50" charset="-128"/>
              </a:rPr>
              <a:t>採用だけでも手を打ちたい　</a:t>
            </a:r>
            <a:r>
              <a:rPr lang="en-US" altLang="ja-JP" b="1" dirty="0" err="1">
                <a:latin typeface="メイリオ" panose="020B0604030504040204" pitchFamily="50" charset="-128"/>
                <a:ea typeface="メイリオ" panose="020B0604030504040204" pitchFamily="50" charset="-128"/>
              </a:rPr>
              <a:t>etc</a:t>
            </a:r>
            <a:r>
              <a:rPr lang="en-US" altLang="ja-JP" b="1" dirty="0">
                <a:latin typeface="メイリオ" panose="020B0604030504040204" pitchFamily="50" charset="-128"/>
                <a:ea typeface="メイリオ" panose="020B0604030504040204" pitchFamily="50" charset="-128"/>
              </a:rPr>
              <a:t>…</a:t>
            </a:r>
            <a:endParaRPr kumimoji="1" lang="ja-JP" altLang="en-US" b="1" noProof="0" dirty="0">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E397F73E-C7C3-B87F-AC05-E792A123A66F}"/>
              </a:ext>
            </a:extLst>
          </p:cNvPr>
          <p:cNvSpPr/>
          <p:nvPr/>
        </p:nvSpPr>
        <p:spPr bwMode="auto">
          <a:xfrm>
            <a:off x="1654296" y="1633792"/>
            <a:ext cx="744011" cy="1697915"/>
          </a:xfrm>
          <a:prstGeom prst="rect">
            <a:avLst/>
          </a:prstGeom>
          <a:solidFill>
            <a:schemeClr val="bg1">
              <a:lumMod val="95000"/>
            </a:schemeClr>
          </a:solidFill>
          <a:ln w="38100" algn="ctr">
            <a:noFill/>
            <a:miter lim="800000"/>
            <a:headEnd/>
            <a:tailEnd/>
          </a:ln>
          <a:effectLst/>
        </p:spPr>
        <p:txBody>
          <a:bodyPr vert="eaVert" wrap="none" lIns="90000" tIns="46800" rIns="90000" bIns="46800" rtlCol="0" anchor="ctr"/>
          <a:lstStyle/>
          <a:p>
            <a:pPr algn="ctr" defTabSz="914400" fontAlgn="base">
              <a:spcBef>
                <a:spcPct val="50000"/>
              </a:spcBef>
              <a:spcAft>
                <a:spcPct val="0"/>
              </a:spcAft>
            </a:pPr>
            <a:r>
              <a:rPr kumimoji="1" lang="ja-JP" altLang="en-US" sz="2000" b="1" noProof="0" dirty="0">
                <a:latin typeface="メイリオ" panose="020B0604030504040204" pitchFamily="50" charset="-128"/>
                <a:ea typeface="メイリオ" panose="020B0604030504040204" pitchFamily="50" charset="-128"/>
              </a:rPr>
              <a:t>現状の課題</a:t>
            </a:r>
          </a:p>
        </p:txBody>
      </p:sp>
      <p:sp>
        <p:nvSpPr>
          <p:cNvPr id="17" name="矢印: 下 16">
            <a:extLst>
              <a:ext uri="{FF2B5EF4-FFF2-40B4-BE49-F238E27FC236}">
                <a16:creationId xmlns:a16="http://schemas.microsoft.com/office/drawing/2014/main" id="{5990ECB1-95DB-C2A7-BA08-23FE4702D2FF}"/>
              </a:ext>
            </a:extLst>
          </p:cNvPr>
          <p:cNvSpPr/>
          <p:nvPr/>
        </p:nvSpPr>
        <p:spPr bwMode="auto">
          <a:xfrm>
            <a:off x="1717506" y="3212370"/>
            <a:ext cx="617589" cy="1282726"/>
          </a:xfrm>
          <a:prstGeom prst="downArrow">
            <a:avLst/>
          </a:prstGeom>
          <a:solidFill>
            <a:schemeClr val="bg1">
              <a:lumMod val="95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24153D46-ED23-0E63-5C9B-C3DA728CB851}"/>
              </a:ext>
            </a:extLst>
          </p:cNvPr>
          <p:cNvSpPr txBox="1"/>
          <p:nvPr/>
        </p:nvSpPr>
        <p:spPr>
          <a:xfrm>
            <a:off x="522338" y="5566331"/>
            <a:ext cx="2743201" cy="1177245"/>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採用･集客ツール</a:t>
            </a:r>
            <a:endParaRPr lang="en-US" altLang="ja-JP" sz="1050" b="1" dirty="0">
              <a:latin typeface="メイリオ" panose="020B0604030504040204" pitchFamily="50" charset="-128"/>
              <a:ea typeface="メイリオ" panose="020B0604030504040204" pitchFamily="50" charset="-128"/>
            </a:endParaRPr>
          </a:p>
          <a:p>
            <a:r>
              <a:rPr lang="ja-JP" altLang="en-US" sz="1050" dirty="0">
                <a:latin typeface="メイリオ" panose="020B0604030504040204" pitchFamily="50" charset="-128"/>
                <a:ea typeface="メイリオ" panose="020B0604030504040204" pitchFamily="50" charset="-128"/>
              </a:rPr>
              <a:t>・マーケティングコンサルティング</a:t>
            </a:r>
            <a:endParaRPr lang="en-US" altLang="ja-JP" sz="1050" dirty="0">
              <a:latin typeface="メイリオ" panose="020B0604030504040204" pitchFamily="50" charset="-128"/>
              <a:ea typeface="メイリオ" panose="020B0604030504040204" pitchFamily="50" charset="-128"/>
            </a:endParaRPr>
          </a:p>
          <a:p>
            <a:r>
              <a:rPr lang="ja-JP" altLang="en-US" sz="1050" dirty="0">
                <a:latin typeface="メイリオ" panose="020B0604030504040204" pitchFamily="50" charset="-128"/>
                <a:ea typeface="メイリオ" panose="020B0604030504040204" pitchFamily="50" charset="-128"/>
              </a:rPr>
              <a:t>・求人広告、データ分析からの改善提案</a:t>
            </a:r>
            <a:endParaRPr lang="en-US" altLang="ja-JP" sz="1050" dirty="0">
              <a:latin typeface="メイリオ" panose="020B0604030504040204" pitchFamily="50" charset="-128"/>
              <a:ea typeface="メイリオ" panose="020B0604030504040204" pitchFamily="50" charset="-128"/>
            </a:endParaRPr>
          </a:p>
          <a:p>
            <a:r>
              <a:rPr lang="ja-JP" altLang="en-US" sz="1050" dirty="0">
                <a:latin typeface="メイリオ" panose="020B0604030504040204" pitchFamily="50" charset="-128"/>
                <a:ea typeface="メイリオ" panose="020B0604030504040204" pitchFamily="50" charset="-128"/>
              </a:rPr>
              <a:t>・採用イベント開催、オンライン配信</a:t>
            </a:r>
            <a:endParaRPr lang="en-US" altLang="ja-JP" sz="1050" dirty="0">
              <a:latin typeface="メイリオ" panose="020B0604030504040204" pitchFamily="50" charset="-128"/>
              <a:ea typeface="メイリオ" panose="020B0604030504040204" pitchFamily="50" charset="-128"/>
            </a:endParaRPr>
          </a:p>
          <a:p>
            <a:endParaRPr lang="en-US" altLang="ja-JP" sz="1050" dirty="0">
              <a:latin typeface="メイリオ" panose="020B0604030504040204" pitchFamily="50" charset="-128"/>
              <a:ea typeface="メイリオ" panose="020B0604030504040204" pitchFamily="50" charset="-128"/>
            </a:endParaRPr>
          </a:p>
          <a:p>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採用代行オプションあります</a:t>
            </a:r>
            <a:endParaRPr lang="en-US" altLang="ja-JP" sz="105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579B7E7E-B983-E0F6-E913-35D12191B55E}"/>
              </a:ext>
            </a:extLst>
          </p:cNvPr>
          <p:cNvSpPr txBox="1"/>
          <p:nvPr/>
        </p:nvSpPr>
        <p:spPr>
          <a:xfrm>
            <a:off x="9356439" y="3511865"/>
            <a:ext cx="2743201" cy="1015663"/>
          </a:xfrm>
          <a:prstGeom prst="rect">
            <a:avLst/>
          </a:prstGeom>
          <a:noFill/>
        </p:spPr>
        <p:txBody>
          <a:bodyPr wrap="square" rtlCol="0">
            <a:spAutoFit/>
          </a:bodyPr>
          <a:lstStyle/>
          <a:p>
            <a:r>
              <a:rPr kumimoji="1" lang="ja-JP" altLang="en-US" b="1">
                <a:latin typeface="メイリオ" panose="020B0604030504040204" pitchFamily="50" charset="-128"/>
                <a:ea typeface="メイリオ" panose="020B0604030504040204" pitchFamily="50" charset="-128"/>
              </a:rPr>
              <a:t>情報の発信</a:t>
            </a:r>
            <a:endParaRPr kumimoji="1" lang="en-US" altLang="ja-JP" b="1">
              <a:latin typeface="メイリオ" panose="020B0604030504040204" pitchFamily="50" charset="-128"/>
              <a:ea typeface="メイリオ" panose="020B0604030504040204" pitchFamily="50" charset="-128"/>
            </a:endParaRPr>
          </a:p>
          <a:p>
            <a:r>
              <a:rPr lang="ja-JP" altLang="en-US" sz="1050">
                <a:latin typeface="メイリオ" panose="020B0604030504040204" pitchFamily="50" charset="-128"/>
                <a:ea typeface="メイリオ" panose="020B0604030504040204" pitchFamily="50" charset="-128"/>
              </a:rPr>
              <a:t>・ホワイトペーパー</a:t>
            </a:r>
            <a:r>
              <a:rPr lang="en-US" altLang="ja-JP" sz="1050">
                <a:latin typeface="メイリオ" panose="020B0604030504040204" pitchFamily="50" charset="-128"/>
                <a:ea typeface="メイリオ" panose="020B0604030504040204" pitchFamily="50" charset="-128"/>
              </a:rPr>
              <a:t>/</a:t>
            </a:r>
            <a:r>
              <a:rPr lang="ja-JP" altLang="en-US" sz="1050">
                <a:latin typeface="メイリオ" panose="020B0604030504040204" pitchFamily="50" charset="-128"/>
                <a:ea typeface="メイリオ" panose="020B0604030504040204" pitchFamily="50" charset="-128"/>
              </a:rPr>
              <a:t>採用ピッチ制作</a:t>
            </a:r>
            <a:endParaRPr lang="en-US" altLang="ja-JP" sz="1050">
              <a:latin typeface="メイリオ" panose="020B0604030504040204" pitchFamily="50" charset="-128"/>
              <a:ea typeface="メイリオ" panose="020B0604030504040204" pitchFamily="50" charset="-128"/>
            </a:endParaRPr>
          </a:p>
          <a:p>
            <a:r>
              <a:rPr lang="ja-JP" altLang="en-US" sz="1050">
                <a:latin typeface="メイリオ" panose="020B0604030504040204" pitchFamily="50" charset="-128"/>
                <a:ea typeface="メイリオ" panose="020B0604030504040204" pitchFamily="50" charset="-128"/>
              </a:rPr>
              <a:t>・社員研修のコンテンツ企画、制作</a:t>
            </a:r>
            <a:endParaRPr lang="en-US" altLang="ja-JP" sz="1050">
              <a:latin typeface="メイリオ" panose="020B0604030504040204" pitchFamily="50" charset="-128"/>
              <a:ea typeface="メイリオ" panose="020B0604030504040204" pitchFamily="50" charset="-128"/>
            </a:endParaRPr>
          </a:p>
          <a:p>
            <a:r>
              <a:rPr lang="ja-JP" altLang="en-US" sz="1050">
                <a:latin typeface="メイリオ" panose="020B0604030504040204" pitchFamily="50" charset="-128"/>
                <a:ea typeface="メイリオ" panose="020B0604030504040204" pitchFamily="50" charset="-128"/>
              </a:rPr>
              <a:t>・公式サイト、</a:t>
            </a:r>
            <a:r>
              <a:rPr lang="en-US" altLang="ja-JP" sz="1050">
                <a:latin typeface="メイリオ" panose="020B0604030504040204" pitchFamily="50" charset="-128"/>
                <a:ea typeface="メイリオ" panose="020B0604030504040204" pitchFamily="50" charset="-128"/>
              </a:rPr>
              <a:t>SNS</a:t>
            </a:r>
            <a:r>
              <a:rPr lang="ja-JP" altLang="en-US" sz="1050">
                <a:latin typeface="メイリオ" panose="020B0604030504040204" pitchFamily="50" charset="-128"/>
                <a:ea typeface="メイリオ" panose="020B0604030504040204" pitchFamily="50" charset="-128"/>
              </a:rPr>
              <a:t>運用</a:t>
            </a:r>
            <a:endParaRPr lang="en-US" altLang="ja-JP" sz="1050">
              <a:latin typeface="メイリオ" panose="020B0604030504040204" pitchFamily="50" charset="-128"/>
              <a:ea typeface="メイリオ" panose="020B0604030504040204" pitchFamily="50" charset="-128"/>
            </a:endParaRPr>
          </a:p>
          <a:p>
            <a:endParaRPr kumimoji="1" lang="ja-JP" altLang="en-US" sz="105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D4102AF6-009B-5DBF-09B9-2526CDA5AEB3}"/>
              </a:ext>
            </a:extLst>
          </p:cNvPr>
          <p:cNvSpPr txBox="1"/>
          <p:nvPr/>
        </p:nvSpPr>
        <p:spPr>
          <a:xfrm>
            <a:off x="9356438" y="5545020"/>
            <a:ext cx="2743201" cy="854080"/>
          </a:xfrm>
          <a:prstGeom prst="rect">
            <a:avLst/>
          </a:prstGeom>
          <a:noFill/>
        </p:spPr>
        <p:txBody>
          <a:bodyPr wrap="square" rtlCol="0">
            <a:spAutoFit/>
          </a:bodyPr>
          <a:lstStyle/>
          <a:p>
            <a:r>
              <a:rPr kumimoji="1" lang="ja-JP" altLang="en-US" b="1">
                <a:latin typeface="メイリオ" panose="020B0604030504040204" pitchFamily="50" charset="-128"/>
                <a:ea typeface="メイリオ" panose="020B0604030504040204" pitchFamily="50" charset="-128"/>
              </a:rPr>
              <a:t>採用サイト設計･構築</a:t>
            </a:r>
            <a:endParaRPr kumimoji="1" lang="en-US" altLang="ja-JP" b="1">
              <a:latin typeface="メイリオ" panose="020B0604030504040204" pitchFamily="50" charset="-128"/>
              <a:ea typeface="メイリオ" panose="020B0604030504040204" pitchFamily="50" charset="-128"/>
            </a:endParaRPr>
          </a:p>
          <a:p>
            <a:r>
              <a:rPr lang="ja-JP" altLang="en-US" sz="1050">
                <a:latin typeface="メイリオ" panose="020B0604030504040204" pitchFamily="50" charset="-128"/>
                <a:ea typeface="メイリオ" panose="020B0604030504040204" pitchFamily="50" charset="-128"/>
              </a:rPr>
              <a:t>・ブランディング撮影（宣材、記事）</a:t>
            </a:r>
            <a:endParaRPr lang="en-US" altLang="ja-JP" sz="1050">
              <a:latin typeface="メイリオ" panose="020B0604030504040204" pitchFamily="50" charset="-128"/>
              <a:ea typeface="メイリオ" panose="020B0604030504040204" pitchFamily="50" charset="-128"/>
            </a:endParaRPr>
          </a:p>
          <a:p>
            <a:r>
              <a:rPr lang="ja-JP" altLang="en-US" sz="1050">
                <a:latin typeface="メイリオ" panose="020B0604030504040204" pitchFamily="50" charset="-128"/>
                <a:ea typeface="メイリオ" panose="020B0604030504040204" pitchFamily="50" charset="-128"/>
              </a:rPr>
              <a:t>・サイト企画･設計、</a:t>
            </a:r>
            <a:r>
              <a:rPr lang="en-US" altLang="ja-JP" sz="1050">
                <a:latin typeface="メイリオ" panose="020B0604030504040204" pitchFamily="50" charset="-128"/>
                <a:ea typeface="メイリオ" panose="020B0604030504040204" pitchFamily="50" charset="-128"/>
              </a:rPr>
              <a:t>LP</a:t>
            </a:r>
            <a:r>
              <a:rPr lang="ja-JP" altLang="en-US" sz="1050">
                <a:latin typeface="メイリオ" panose="020B0604030504040204" pitchFamily="50" charset="-128"/>
                <a:ea typeface="メイリオ" panose="020B0604030504040204" pitchFamily="50" charset="-128"/>
              </a:rPr>
              <a:t>制作</a:t>
            </a:r>
            <a:endParaRPr lang="en-US" altLang="ja-JP" sz="1050">
              <a:latin typeface="メイリオ" panose="020B0604030504040204" pitchFamily="50" charset="-128"/>
              <a:ea typeface="メイリオ" panose="020B0604030504040204" pitchFamily="50" charset="-128"/>
            </a:endParaRPr>
          </a:p>
          <a:p>
            <a:r>
              <a:rPr lang="ja-JP" altLang="en-US" sz="1050">
                <a:latin typeface="メイリオ" panose="020B0604030504040204" pitchFamily="50" charset="-128"/>
                <a:ea typeface="メイリオ" panose="020B0604030504040204" pitchFamily="50" charset="-128"/>
              </a:rPr>
              <a:t>・社員インタビュー記事、</a:t>
            </a:r>
            <a:r>
              <a:rPr lang="en-US" altLang="ja-JP" sz="1050">
                <a:latin typeface="メイリオ" panose="020B0604030504040204" pitchFamily="50" charset="-128"/>
                <a:ea typeface="メイリオ" panose="020B0604030504040204" pitchFamily="50" charset="-128"/>
              </a:rPr>
              <a:t>SEO</a:t>
            </a:r>
            <a:r>
              <a:rPr lang="ja-JP" altLang="en-US" sz="1050">
                <a:latin typeface="メイリオ" panose="020B0604030504040204" pitchFamily="50" charset="-128"/>
                <a:ea typeface="メイリオ" panose="020B0604030504040204" pitchFamily="50" charset="-128"/>
              </a:rPr>
              <a:t>記事制作</a:t>
            </a:r>
            <a:endParaRPr lang="en-US" altLang="ja-JP" sz="105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55727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9BD93-3FA8-3EF2-6428-93B447271BDC}"/>
            </a:ext>
          </a:extLst>
        </p:cNvPr>
        <p:cNvGrpSpPr/>
        <p:nvPr/>
      </p:nvGrpSpPr>
      <p:grpSpPr>
        <a:xfrm>
          <a:off x="0" y="0"/>
          <a:ext cx="0" cy="0"/>
          <a:chOff x="0" y="0"/>
          <a:chExt cx="0" cy="0"/>
        </a:xfrm>
      </p:grpSpPr>
      <p:sp>
        <p:nvSpPr>
          <p:cNvPr id="14" name="コンテンツ プレースホルダー 13">
            <a:extLst>
              <a:ext uri="{FF2B5EF4-FFF2-40B4-BE49-F238E27FC236}">
                <a16:creationId xmlns:a16="http://schemas.microsoft.com/office/drawing/2014/main" id="{F8AB39FB-91BD-DFF6-C79B-6B7D85A08B56}"/>
              </a:ext>
            </a:extLst>
          </p:cNvPr>
          <p:cNvSpPr>
            <a:spLocks noGrp="1"/>
          </p:cNvSpPr>
          <p:nvPr>
            <p:ph idx="1"/>
          </p:nvPr>
        </p:nvSpPr>
        <p:spPr>
          <a:xfrm>
            <a:off x="608081" y="1722329"/>
            <a:ext cx="4658592" cy="4918695"/>
          </a:xfrm>
        </p:spPr>
        <p:txBody>
          <a:bodyPr>
            <a:normAutofit/>
          </a:bodyPr>
          <a:lstStyle/>
          <a:p>
            <a:pPr marL="0" indent="0">
              <a:lnSpc>
                <a:spcPct val="150000"/>
              </a:lnSpc>
              <a:buNone/>
            </a:pPr>
            <a:r>
              <a:rPr lang="ja-JP" altLang="en-US" sz="1400" dirty="0"/>
              <a:t>日本でのインバウンド需要に応えるコンテンツ制作サービスを展開。</a:t>
            </a:r>
            <a:r>
              <a:rPr lang="ja-JP" altLang="en-US" sz="1400" b="1" dirty="0">
                <a:solidFill>
                  <a:schemeClr val="accent1">
                    <a:lumMod val="75000"/>
                  </a:schemeClr>
                </a:solidFill>
              </a:rPr>
              <a:t>国内のみならず海外在住*も含め実績のあるプロのライター・カメラマンの世界ネットワーク</a:t>
            </a:r>
            <a:r>
              <a:rPr lang="ja-JP" altLang="en-US" sz="1400" dirty="0"/>
              <a:t>を誇り、多言語記事執筆からポートレート撮影、</a:t>
            </a:r>
            <a:r>
              <a:rPr lang="en-US" altLang="ja-JP" sz="1400" dirty="0"/>
              <a:t>Web</a:t>
            </a:r>
            <a:r>
              <a:rPr lang="ja-JP" altLang="en-US" sz="1400" dirty="0"/>
              <a:t>サイトや動画制作までワンストップで対応が可能です。</a:t>
            </a:r>
            <a:br>
              <a:rPr lang="en-US" altLang="ja-JP" sz="1400" dirty="0"/>
            </a:br>
            <a:r>
              <a:rPr lang="ja-JP" altLang="en-US" sz="1100" dirty="0"/>
              <a:t>（注記*中国、台湾、ハワイ、韓国、東南アジア、ヨーロッパ諸国）</a:t>
            </a:r>
            <a:br>
              <a:rPr lang="en-US" altLang="ja-JP" sz="1100" dirty="0"/>
            </a:br>
            <a:br>
              <a:rPr lang="en-US" altLang="ja-JP" sz="1400" dirty="0"/>
            </a:br>
            <a:r>
              <a:rPr lang="ja-JP" altLang="en-US" sz="1400" b="1" dirty="0"/>
              <a:t>制作メニュー</a:t>
            </a:r>
            <a:endParaRPr lang="en-US" altLang="ja-JP" sz="1400" dirty="0"/>
          </a:p>
          <a:p>
            <a:pPr marL="285750" indent="-285750">
              <a:lnSpc>
                <a:spcPct val="100000"/>
              </a:lnSpc>
              <a:buFont typeface="Arial" panose="020B0604020202020204" pitchFamily="34" charset="0"/>
              <a:buChar char="•"/>
            </a:pPr>
            <a:r>
              <a:rPr lang="ja-JP" altLang="en-US" sz="1400" b="1" dirty="0"/>
              <a:t>海外や国内での取材、撮影の代行</a:t>
            </a:r>
            <a:endParaRPr lang="en-US" altLang="ja-JP" sz="1400" b="1" dirty="0"/>
          </a:p>
          <a:p>
            <a:pPr marL="285750" indent="-285750">
              <a:lnSpc>
                <a:spcPct val="100000"/>
              </a:lnSpc>
              <a:buFont typeface="Arial" panose="020B0604020202020204" pitchFamily="34" charset="0"/>
              <a:buChar char="•"/>
            </a:pPr>
            <a:r>
              <a:rPr lang="ja-JP" altLang="en-US" sz="1400" b="1" dirty="0"/>
              <a:t>インバウンド向け翻訳</a:t>
            </a:r>
            <a:endParaRPr lang="en-US" altLang="ja-JP" sz="1400" b="1" dirty="0"/>
          </a:p>
          <a:p>
            <a:pPr marL="742950" lvl="1" indent="-285750">
              <a:lnSpc>
                <a:spcPct val="100000"/>
              </a:lnSpc>
              <a:buFont typeface="Arial" panose="020B0604020202020204" pitchFamily="34" charset="0"/>
              <a:buChar char="•"/>
            </a:pPr>
            <a:r>
              <a:rPr lang="ja-JP" altLang="en-US" sz="1100" dirty="0"/>
              <a:t>英語、韓国語、簡体字、繁体字</a:t>
            </a:r>
            <a:endParaRPr lang="en-US" altLang="ja-JP" sz="1100" dirty="0"/>
          </a:p>
          <a:p>
            <a:pPr marL="285750" indent="-285750">
              <a:lnSpc>
                <a:spcPct val="100000"/>
              </a:lnSpc>
              <a:buFont typeface="Arial" panose="020B0604020202020204" pitchFamily="34" charset="0"/>
              <a:buChar char="•"/>
            </a:pPr>
            <a:r>
              <a:rPr lang="en-US" altLang="ja-JP" sz="1400" b="1" dirty="0"/>
              <a:t>Web</a:t>
            </a:r>
            <a:r>
              <a:rPr lang="ja-JP" altLang="en-US" sz="1400" b="1" dirty="0"/>
              <a:t>サイト企画･制作</a:t>
            </a:r>
            <a:endParaRPr lang="en-US" altLang="ja-JP" sz="1400" b="1" dirty="0"/>
          </a:p>
          <a:p>
            <a:pPr marL="742950" lvl="1" indent="-285750">
              <a:lnSpc>
                <a:spcPct val="100000"/>
              </a:lnSpc>
              <a:buFont typeface="Arial" panose="020B0604020202020204" pitchFamily="34" charset="0"/>
              <a:buChar char="•"/>
            </a:pPr>
            <a:r>
              <a:rPr lang="ja-JP" altLang="en-US" sz="1100" dirty="0"/>
              <a:t>特集、</a:t>
            </a:r>
            <a:r>
              <a:rPr lang="en-US" altLang="ja-JP" sz="1100" dirty="0"/>
              <a:t>LP</a:t>
            </a:r>
            <a:r>
              <a:rPr lang="ja-JP" altLang="en-US" sz="1100" dirty="0"/>
              <a:t>、バナー、サイト構築</a:t>
            </a:r>
            <a:endParaRPr lang="en-US" altLang="ja-JP" sz="1100" dirty="0"/>
          </a:p>
          <a:p>
            <a:pPr marL="285750" indent="-285750">
              <a:lnSpc>
                <a:spcPct val="100000"/>
              </a:lnSpc>
              <a:buFont typeface="Arial" panose="020B0604020202020204" pitchFamily="34" charset="0"/>
              <a:buChar char="•"/>
            </a:pPr>
            <a:r>
              <a:rPr lang="en-US" altLang="ja-JP" sz="1400" b="1" dirty="0"/>
              <a:t>YouTube</a:t>
            </a:r>
            <a:r>
              <a:rPr lang="ja-JP" altLang="en-US" sz="1400" b="1" dirty="0"/>
              <a:t>や</a:t>
            </a:r>
            <a:r>
              <a:rPr lang="en-US" altLang="ja-JP" sz="1400" b="1" dirty="0"/>
              <a:t>SNS</a:t>
            </a:r>
            <a:r>
              <a:rPr lang="ja-JP" altLang="en-US" sz="1400" b="1" dirty="0"/>
              <a:t>用の動画企画･制作</a:t>
            </a:r>
            <a:endParaRPr lang="en-US" altLang="ja-JP" sz="1400" b="1" dirty="0"/>
          </a:p>
          <a:p>
            <a:pPr marL="742950" lvl="1" indent="-285750">
              <a:lnSpc>
                <a:spcPct val="100000"/>
              </a:lnSpc>
              <a:buFont typeface="Arial" panose="020B0604020202020204" pitchFamily="34" charset="0"/>
              <a:buChar char="•"/>
            </a:pPr>
            <a:r>
              <a:rPr lang="ja-JP" altLang="en-US" sz="1100" dirty="0"/>
              <a:t>チャンネルロゴ、アート･背景デザイン、</a:t>
            </a:r>
            <a:r>
              <a:rPr lang="en-US" altLang="ja-JP" sz="1100" dirty="0"/>
              <a:t>MV</a:t>
            </a:r>
            <a:r>
              <a:rPr lang="ja-JP" altLang="en-US" sz="1100" dirty="0"/>
              <a:t>、</a:t>
            </a:r>
            <a:r>
              <a:rPr lang="en-US" altLang="ja-JP" sz="1100" dirty="0"/>
              <a:t>PV</a:t>
            </a:r>
          </a:p>
        </p:txBody>
      </p:sp>
      <p:sp>
        <p:nvSpPr>
          <p:cNvPr id="3" name="タイトル 2">
            <a:extLst>
              <a:ext uri="{FF2B5EF4-FFF2-40B4-BE49-F238E27FC236}">
                <a16:creationId xmlns:a16="http://schemas.microsoft.com/office/drawing/2014/main" id="{F6FB36C0-3EE2-C4BA-17DE-C98ECEAB5AC9}"/>
              </a:ext>
            </a:extLst>
          </p:cNvPr>
          <p:cNvSpPr>
            <a:spLocks noGrp="1"/>
          </p:cNvSpPr>
          <p:nvPr>
            <p:ph type="title"/>
          </p:nvPr>
        </p:nvSpPr>
        <p:spPr/>
        <p:txBody>
          <a:bodyPr>
            <a:normAutofit/>
          </a:bodyPr>
          <a:lstStyle/>
          <a:p>
            <a:r>
              <a:rPr lang="ja-JP" altLang="en-US" dirty="0"/>
              <a:t>インバウンド向け</a:t>
            </a:r>
            <a:r>
              <a:rPr lang="en-US" altLang="ja-JP" dirty="0"/>
              <a:t>Web</a:t>
            </a:r>
            <a:r>
              <a:rPr lang="ja-JP" altLang="en-US" dirty="0"/>
              <a:t>コンテンツ制作</a:t>
            </a:r>
          </a:p>
        </p:txBody>
      </p:sp>
      <p:sp>
        <p:nvSpPr>
          <p:cNvPr id="4" name="スライド番号プレースホルダー 3">
            <a:extLst>
              <a:ext uri="{FF2B5EF4-FFF2-40B4-BE49-F238E27FC236}">
                <a16:creationId xmlns:a16="http://schemas.microsoft.com/office/drawing/2014/main" id="{C26C688A-A7D2-907E-741D-30E509ADD8FB}"/>
              </a:ext>
            </a:extLst>
          </p:cNvPr>
          <p:cNvSpPr>
            <a:spLocks noGrp="1"/>
          </p:cNvSpPr>
          <p:nvPr>
            <p:ph type="sldNum" sz="quarter" idx="11"/>
          </p:nvPr>
        </p:nvSpPr>
        <p:spPr/>
        <p:txBody>
          <a:bodyPr/>
          <a:lstStyle/>
          <a:p>
            <a:fld id="{B75FDD43-FCEC-4ECC-8189-A5C6D2E08DC6}" type="slidenum">
              <a:rPr lang="ja-JP" altLang="en-US" smtClean="0"/>
              <a:pPr/>
              <a:t>42</a:t>
            </a:fld>
            <a:endParaRPr lang="ja-JP" altLang="en-US"/>
          </a:p>
        </p:txBody>
      </p:sp>
      <p:sp>
        <p:nvSpPr>
          <p:cNvPr id="5" name="四角形: 角を丸くする 4">
            <a:extLst>
              <a:ext uri="{FF2B5EF4-FFF2-40B4-BE49-F238E27FC236}">
                <a16:creationId xmlns:a16="http://schemas.microsoft.com/office/drawing/2014/main" id="{4A1C4A61-E9BA-5D82-44AD-0D5619851D32}"/>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t"/>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執筆</a:t>
            </a:r>
          </a:p>
        </p:txBody>
      </p:sp>
      <p:sp>
        <p:nvSpPr>
          <p:cNvPr id="6" name="四角形: 角を丸くする 5">
            <a:extLst>
              <a:ext uri="{FF2B5EF4-FFF2-40B4-BE49-F238E27FC236}">
                <a16:creationId xmlns:a16="http://schemas.microsoft.com/office/drawing/2014/main" id="{D9B5E3AE-6CF2-FA5F-55B3-9E7E7DEFDAC6}"/>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t"/>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撮影</a:t>
            </a:r>
          </a:p>
        </p:txBody>
      </p:sp>
      <p:sp>
        <p:nvSpPr>
          <p:cNvPr id="7" name="四角形: 角を丸くする 6">
            <a:extLst>
              <a:ext uri="{FF2B5EF4-FFF2-40B4-BE49-F238E27FC236}">
                <a16:creationId xmlns:a16="http://schemas.microsoft.com/office/drawing/2014/main" id="{D94F8425-2B14-8B60-8EEB-439BD763AA6C}"/>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t"/>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制作</a:t>
            </a:r>
          </a:p>
        </p:txBody>
      </p:sp>
      <p:pic>
        <p:nvPicPr>
          <p:cNvPr id="13" name="図 12" descr="テーブル&#10;&#10;自動的に生成された説明">
            <a:extLst>
              <a:ext uri="{FF2B5EF4-FFF2-40B4-BE49-F238E27FC236}">
                <a16:creationId xmlns:a16="http://schemas.microsoft.com/office/drawing/2014/main" id="{C4D87DAB-E1B9-5FCD-165C-93D28AC2DF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8357" y="5080858"/>
            <a:ext cx="4419600" cy="1493824"/>
          </a:xfrm>
          <a:prstGeom prst="rect">
            <a:avLst/>
          </a:prstGeom>
        </p:spPr>
      </p:pic>
      <p:grpSp>
        <p:nvGrpSpPr>
          <p:cNvPr id="19" name="グループ化 18">
            <a:extLst>
              <a:ext uri="{FF2B5EF4-FFF2-40B4-BE49-F238E27FC236}">
                <a16:creationId xmlns:a16="http://schemas.microsoft.com/office/drawing/2014/main" id="{D796DCCC-3F5E-14C7-DF64-6EAD7A36FB80}"/>
              </a:ext>
            </a:extLst>
          </p:cNvPr>
          <p:cNvGrpSpPr/>
          <p:nvPr/>
        </p:nvGrpSpPr>
        <p:grpSpPr>
          <a:xfrm>
            <a:off x="5471160" y="932174"/>
            <a:ext cx="1920240" cy="5642508"/>
            <a:chOff x="5471160" y="932174"/>
            <a:chExt cx="1920240" cy="5054620"/>
          </a:xfrm>
        </p:grpSpPr>
        <p:sp>
          <p:nvSpPr>
            <p:cNvPr id="16" name="四角形: 角を丸くする 15">
              <a:extLst>
                <a:ext uri="{FF2B5EF4-FFF2-40B4-BE49-F238E27FC236}">
                  <a16:creationId xmlns:a16="http://schemas.microsoft.com/office/drawing/2014/main" id="{5312215B-3096-403D-6A49-11B16F64CE90}"/>
                </a:ext>
              </a:extLst>
            </p:cNvPr>
            <p:cNvSpPr/>
            <p:nvPr/>
          </p:nvSpPr>
          <p:spPr bwMode="auto">
            <a:xfrm>
              <a:off x="5471160" y="932174"/>
              <a:ext cx="1920240" cy="1559566"/>
            </a:xfrm>
            <a:prstGeom prst="roundRect">
              <a:avLst>
                <a:gd name="adj" fmla="val 5918"/>
              </a:avLst>
            </a:prstGeom>
            <a:solidFill>
              <a:srgbClr val="FF8B00"/>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j-ea"/>
                <a:ea typeface="+mj-ea"/>
              </a:endParaRPr>
            </a:p>
          </p:txBody>
        </p:sp>
        <p:sp>
          <p:nvSpPr>
            <p:cNvPr id="17" name="四角形: 角を丸くする 16">
              <a:extLst>
                <a:ext uri="{FF2B5EF4-FFF2-40B4-BE49-F238E27FC236}">
                  <a16:creationId xmlns:a16="http://schemas.microsoft.com/office/drawing/2014/main" id="{257FEAED-3396-1D77-749C-94FDA25FB5ED}"/>
                </a:ext>
              </a:extLst>
            </p:cNvPr>
            <p:cNvSpPr/>
            <p:nvPr/>
          </p:nvSpPr>
          <p:spPr bwMode="auto">
            <a:xfrm>
              <a:off x="5471160" y="2679701"/>
              <a:ext cx="1920240" cy="1559566"/>
            </a:xfrm>
            <a:prstGeom prst="roundRect">
              <a:avLst>
                <a:gd name="adj" fmla="val 5918"/>
              </a:avLst>
            </a:prstGeom>
            <a:solidFill>
              <a:schemeClr val="accent5">
                <a:lumMod val="20000"/>
                <a:lumOff val="8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j-ea"/>
                <a:ea typeface="+mj-ea"/>
              </a:endParaRPr>
            </a:p>
          </p:txBody>
        </p:sp>
        <p:sp>
          <p:nvSpPr>
            <p:cNvPr id="18" name="四角形: 角を丸くする 17">
              <a:extLst>
                <a:ext uri="{FF2B5EF4-FFF2-40B4-BE49-F238E27FC236}">
                  <a16:creationId xmlns:a16="http://schemas.microsoft.com/office/drawing/2014/main" id="{12B5EAE4-0D3F-ACAB-AA6A-B3D017DF1F01}"/>
                </a:ext>
              </a:extLst>
            </p:cNvPr>
            <p:cNvSpPr/>
            <p:nvPr/>
          </p:nvSpPr>
          <p:spPr bwMode="auto">
            <a:xfrm>
              <a:off x="5471160" y="4427228"/>
              <a:ext cx="1920240" cy="1559566"/>
            </a:xfrm>
            <a:prstGeom prst="roundRect">
              <a:avLst>
                <a:gd name="adj" fmla="val 5918"/>
              </a:avLst>
            </a:prstGeom>
            <a:solidFill>
              <a:srgbClr val="FF8B00"/>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j-ea"/>
                <a:ea typeface="+mj-ea"/>
              </a:endParaRPr>
            </a:p>
          </p:txBody>
        </p:sp>
      </p:grpSp>
      <p:sp>
        <p:nvSpPr>
          <p:cNvPr id="20" name="テキスト ボックス 19">
            <a:extLst>
              <a:ext uri="{FF2B5EF4-FFF2-40B4-BE49-F238E27FC236}">
                <a16:creationId xmlns:a16="http://schemas.microsoft.com/office/drawing/2014/main" id="{9B35777C-00C3-FA0A-7764-01CB77138494}"/>
              </a:ext>
            </a:extLst>
          </p:cNvPr>
          <p:cNvSpPr txBox="1"/>
          <p:nvPr/>
        </p:nvSpPr>
        <p:spPr>
          <a:xfrm>
            <a:off x="5588880" y="1692503"/>
            <a:ext cx="1746009" cy="830997"/>
          </a:xfrm>
          <a:prstGeom prst="rect">
            <a:avLst/>
          </a:prstGeom>
          <a:noFill/>
        </p:spPr>
        <p:txBody>
          <a:bodyPr wrap="square" rtlCol="0">
            <a:spAutoFit/>
          </a:bodyPr>
          <a:lstStyle/>
          <a:p>
            <a:pPr algn="ctr"/>
            <a:r>
              <a:rPr kumimoji="1" lang="en-US" altLang="ja-JP" sz="4800" b="1" dirty="0">
                <a:solidFill>
                  <a:schemeClr val="bg1"/>
                </a:solidFill>
                <a:latin typeface="メイリオ" panose="020B0604030504040204" pitchFamily="50" charset="-128"/>
                <a:ea typeface="メイリオ" panose="020B0604030504040204" pitchFamily="50" charset="-128"/>
              </a:rPr>
              <a:t>600</a:t>
            </a:r>
            <a:r>
              <a:rPr kumimoji="1" lang="ja-JP" altLang="en-US" sz="2000" b="1" dirty="0">
                <a:solidFill>
                  <a:schemeClr val="bg1"/>
                </a:solidFill>
                <a:latin typeface="メイリオ" panose="020B0604030504040204" pitchFamily="50" charset="-128"/>
                <a:ea typeface="メイリオ" panose="020B0604030504040204" pitchFamily="50" charset="-128"/>
              </a:rPr>
              <a:t>名</a:t>
            </a:r>
            <a:endParaRPr kumimoji="1" lang="ja-JP" altLang="en-US" sz="2800" b="1" dirty="0">
              <a:solidFill>
                <a:schemeClr val="bg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DDB224B2-40F8-D254-4BD7-30B5450E704B}"/>
              </a:ext>
            </a:extLst>
          </p:cNvPr>
          <p:cNvSpPr txBox="1"/>
          <p:nvPr/>
        </p:nvSpPr>
        <p:spPr>
          <a:xfrm>
            <a:off x="5534232" y="1109420"/>
            <a:ext cx="1800657" cy="646331"/>
          </a:xfrm>
          <a:prstGeom prst="rect">
            <a:avLst/>
          </a:prstGeom>
          <a:noFill/>
        </p:spPr>
        <p:txBody>
          <a:bodyPr wrap="square" rtlCol="0">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ライター</a:t>
            </a:r>
            <a:r>
              <a:rPr lang="ja-JP" altLang="en-US" sz="1200" b="1" dirty="0">
                <a:solidFill>
                  <a:schemeClr val="bg1"/>
                </a:solidFill>
                <a:latin typeface="メイリオ" panose="020B0604030504040204" pitchFamily="50" charset="-128"/>
                <a:ea typeface="メイリオ" panose="020B0604030504040204" pitchFamily="50" charset="-128"/>
              </a:rPr>
              <a:t>･カメラマン</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bg1"/>
                </a:solidFill>
                <a:latin typeface="メイリオ" panose="020B0604030504040204" pitchFamily="50" charset="-128"/>
                <a:ea typeface="メイリオ" panose="020B0604030504040204" pitchFamily="50" charset="-128"/>
              </a:rPr>
              <a:t>日本国内の</a:t>
            </a:r>
            <a:endParaRPr kumimoji="1" lang="en-US" altLang="ja-JP" sz="12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bg1"/>
                </a:solidFill>
                <a:latin typeface="メイリオ" panose="020B0604030504040204" pitchFamily="50" charset="-128"/>
                <a:ea typeface="メイリオ" panose="020B0604030504040204" pitchFamily="50" charset="-128"/>
              </a:rPr>
              <a:t>ネットワーク</a:t>
            </a:r>
            <a:endParaRPr kumimoji="1" lang="ja-JP" altLang="en-US" sz="800" b="1" dirty="0">
              <a:solidFill>
                <a:schemeClr val="bg1"/>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C79F4ADA-F5C5-A88E-67D6-988E96507A59}"/>
              </a:ext>
            </a:extLst>
          </p:cNvPr>
          <p:cNvSpPr txBox="1"/>
          <p:nvPr/>
        </p:nvSpPr>
        <p:spPr>
          <a:xfrm>
            <a:off x="5509384" y="3106583"/>
            <a:ext cx="1833125" cy="1384995"/>
          </a:xfrm>
          <a:prstGeom prst="rect">
            <a:avLst/>
          </a:prstGeom>
          <a:noFill/>
        </p:spPr>
        <p:txBody>
          <a:bodyPr wrap="square" rtlCol="0">
            <a:spAutoFit/>
          </a:bodyPr>
          <a:lstStyle/>
          <a:p>
            <a:pPr algn="ctr"/>
            <a:r>
              <a:rPr kumimoji="1" lang="ja-JP" altLang="en-US" sz="1200" b="1" dirty="0">
                <a:solidFill>
                  <a:srgbClr val="FF8B00"/>
                </a:solidFill>
                <a:latin typeface="メイリオ" panose="020B0604030504040204" pitchFamily="50" charset="-128"/>
                <a:ea typeface="メイリオ" panose="020B0604030504040204" pitchFamily="50" charset="-128"/>
              </a:rPr>
              <a:t>ライター</a:t>
            </a:r>
            <a:r>
              <a:rPr lang="ja-JP" altLang="en-US" sz="1200" b="1" dirty="0">
                <a:solidFill>
                  <a:srgbClr val="FF8B00"/>
                </a:solidFill>
                <a:latin typeface="メイリオ" panose="020B0604030504040204" pitchFamily="50" charset="-128"/>
                <a:ea typeface="メイリオ" panose="020B0604030504040204" pitchFamily="50" charset="-128"/>
              </a:rPr>
              <a:t>･カメラマン</a:t>
            </a:r>
            <a:endParaRPr lang="en-US" altLang="ja-JP" sz="1200" b="1" dirty="0">
              <a:solidFill>
                <a:srgbClr val="FF8B00"/>
              </a:solidFill>
              <a:latin typeface="メイリオ" panose="020B0604030504040204" pitchFamily="50" charset="-128"/>
              <a:ea typeface="メイリオ" panose="020B0604030504040204" pitchFamily="50" charset="-128"/>
            </a:endParaRPr>
          </a:p>
          <a:p>
            <a:pPr algn="ctr"/>
            <a:r>
              <a:rPr kumimoji="1" lang="ja-JP" altLang="en-US" sz="1200" b="1" dirty="0">
                <a:solidFill>
                  <a:srgbClr val="FF8B00"/>
                </a:solidFill>
                <a:latin typeface="メイリオ" panose="020B0604030504040204" pitchFamily="50" charset="-128"/>
                <a:ea typeface="メイリオ" panose="020B0604030504040204" pitchFamily="50" charset="-128"/>
              </a:rPr>
              <a:t>海外</a:t>
            </a:r>
            <a:endParaRPr kumimoji="1" lang="en-US" altLang="ja-JP" sz="1200" b="1" dirty="0">
              <a:solidFill>
                <a:srgbClr val="FF8B00"/>
              </a:solidFill>
              <a:latin typeface="メイリオ" panose="020B0604030504040204" pitchFamily="50" charset="-128"/>
              <a:ea typeface="メイリオ" panose="020B0604030504040204" pitchFamily="50" charset="-128"/>
            </a:endParaRPr>
          </a:p>
          <a:p>
            <a:pPr algn="ctr"/>
            <a:r>
              <a:rPr kumimoji="1" lang="ja-JP" altLang="en-US" sz="1200" b="1" dirty="0">
                <a:solidFill>
                  <a:srgbClr val="FF8B00"/>
                </a:solidFill>
                <a:latin typeface="メイリオ" panose="020B0604030504040204" pitchFamily="50" charset="-128"/>
                <a:ea typeface="メイリオ" panose="020B0604030504040204" pitchFamily="50" charset="-128"/>
              </a:rPr>
              <a:t>ネットワーク</a:t>
            </a:r>
            <a:r>
              <a:rPr kumimoji="1" lang="en-US" altLang="ja-JP" sz="4800" b="1" dirty="0">
                <a:solidFill>
                  <a:srgbClr val="FF8B00"/>
                </a:solidFill>
                <a:latin typeface="メイリオ" panose="020B0604030504040204" pitchFamily="50" charset="-128"/>
                <a:ea typeface="メイリオ" panose="020B0604030504040204" pitchFamily="50" charset="-128"/>
              </a:rPr>
              <a:t>115</a:t>
            </a:r>
            <a:r>
              <a:rPr kumimoji="1" lang="ja-JP" altLang="en-US" sz="1600" b="1" dirty="0">
                <a:solidFill>
                  <a:srgbClr val="FF8B00"/>
                </a:solidFill>
                <a:latin typeface="メイリオ" panose="020B0604030504040204" pitchFamily="50" charset="-128"/>
                <a:ea typeface="メイリオ" panose="020B0604030504040204" pitchFamily="50" charset="-128"/>
              </a:rPr>
              <a:t>か国</a:t>
            </a:r>
            <a:endParaRPr kumimoji="1" lang="ja-JP" altLang="en-US" sz="3600" b="1" dirty="0">
              <a:solidFill>
                <a:srgbClr val="FF8B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686328AF-B752-8425-BA0A-A2484F489ACC}"/>
              </a:ext>
            </a:extLst>
          </p:cNvPr>
          <p:cNvSpPr txBox="1"/>
          <p:nvPr/>
        </p:nvSpPr>
        <p:spPr>
          <a:xfrm>
            <a:off x="5509383" y="5103146"/>
            <a:ext cx="1833126" cy="1200329"/>
          </a:xfrm>
          <a:prstGeom prst="rect">
            <a:avLst/>
          </a:prstGeom>
          <a:noFill/>
        </p:spPr>
        <p:txBody>
          <a:bodyPr wrap="square" rtlCol="0">
            <a:spAutoFit/>
          </a:bodyPr>
          <a:lstStyle/>
          <a:p>
            <a:pPr algn="ctr"/>
            <a:r>
              <a:rPr kumimoji="1" lang="en-US" altLang="ja-JP" sz="2400" b="1" dirty="0">
                <a:solidFill>
                  <a:schemeClr val="bg1"/>
                </a:solidFill>
                <a:latin typeface="メイリオ" panose="020B0604030504040204" pitchFamily="50" charset="-128"/>
                <a:ea typeface="メイリオ" panose="020B0604030504040204" pitchFamily="50" charset="-128"/>
              </a:rPr>
              <a:t>Web</a:t>
            </a:r>
            <a:r>
              <a:rPr kumimoji="1" lang="ja-JP" altLang="en-US" sz="2400" b="1" dirty="0">
                <a:solidFill>
                  <a:schemeClr val="bg1"/>
                </a:solidFill>
                <a:latin typeface="メイリオ" panose="020B0604030504040204" pitchFamily="50" charset="-128"/>
                <a:ea typeface="メイリオ" panose="020B0604030504040204" pitchFamily="50" charset="-128"/>
              </a:rPr>
              <a:t>･</a:t>
            </a:r>
            <a:r>
              <a:rPr lang="en-US" altLang="ja-JP" sz="2400" b="1" dirty="0">
                <a:solidFill>
                  <a:schemeClr val="bg1"/>
                </a:solidFill>
                <a:latin typeface="メイリオ" panose="020B0604030504040204" pitchFamily="50" charset="-128"/>
                <a:ea typeface="メイリオ" panose="020B0604030504040204" pitchFamily="50" charset="-128"/>
              </a:rPr>
              <a:t>SNS</a:t>
            </a:r>
          </a:p>
          <a:p>
            <a:pPr algn="ctr"/>
            <a:r>
              <a:rPr lang="ja-JP" altLang="en-US" sz="2400" b="1" dirty="0">
                <a:solidFill>
                  <a:schemeClr val="bg1"/>
                </a:solidFill>
                <a:latin typeface="メイリオ" panose="020B0604030504040204" pitchFamily="50" charset="-128"/>
                <a:ea typeface="メイリオ" panose="020B0604030504040204" pitchFamily="50" charset="-128"/>
              </a:rPr>
              <a:t>制作</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2400" b="1" dirty="0">
                <a:solidFill>
                  <a:schemeClr val="bg1"/>
                </a:solidFill>
                <a:latin typeface="メイリオ" panose="020B0604030504040204" pitchFamily="50" charset="-128"/>
                <a:ea typeface="メイリオ" panose="020B0604030504040204" pitchFamily="50" charset="-128"/>
              </a:rPr>
              <a:t>お任せ</a:t>
            </a:r>
            <a:endParaRPr kumimoji="1" lang="ja-JP" altLang="en-US" sz="2400" b="1" dirty="0">
              <a:solidFill>
                <a:schemeClr val="bg1"/>
              </a:solidFill>
              <a:latin typeface="メイリオ" panose="020B0604030504040204" pitchFamily="50" charset="-128"/>
              <a:ea typeface="メイリオ" panose="020B0604030504040204" pitchFamily="50" charset="-128"/>
            </a:endParaRPr>
          </a:p>
        </p:txBody>
      </p:sp>
      <p:pic>
        <p:nvPicPr>
          <p:cNvPr id="8" name="図 7" descr="タイムライン&#10;&#10;自動的に生成された説明">
            <a:extLst>
              <a:ext uri="{FF2B5EF4-FFF2-40B4-BE49-F238E27FC236}">
                <a16:creationId xmlns:a16="http://schemas.microsoft.com/office/drawing/2014/main" id="{31B26484-CB44-0EC9-093D-2EA80D644EA4}"/>
              </a:ext>
            </a:extLst>
          </p:cNvPr>
          <p:cNvPicPr>
            <a:picLocks noChangeAspect="1"/>
          </p:cNvPicPr>
          <p:nvPr/>
        </p:nvPicPr>
        <p:blipFill>
          <a:blip r:embed="rId4">
            <a:extLst>
              <a:ext uri="{28A0092B-C50C-407E-A947-70E740481C1C}">
                <a14:useLocalDpi xmlns:a14="http://schemas.microsoft.com/office/drawing/2010/main" val="0"/>
              </a:ext>
            </a:extLst>
          </a:blip>
          <a:srcRect b="32576"/>
          <a:stretch/>
        </p:blipFill>
        <p:spPr>
          <a:xfrm>
            <a:off x="7518357" y="885620"/>
            <a:ext cx="4419600" cy="4213508"/>
          </a:xfrm>
          <a:prstGeom prst="rect">
            <a:avLst/>
          </a:prstGeom>
        </p:spPr>
      </p:pic>
    </p:spTree>
    <p:extLst>
      <p:ext uri="{BB962C8B-B14F-4D97-AF65-F5344CB8AC3E}">
        <p14:creationId xmlns:p14="http://schemas.microsoft.com/office/powerpoint/2010/main" val="622706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63D835A-153B-BD59-74AA-05776CA195EC}"/>
              </a:ext>
            </a:extLst>
          </p:cNvPr>
          <p:cNvSpPr>
            <a:spLocks noGrp="1"/>
          </p:cNvSpPr>
          <p:nvPr>
            <p:ph type="title"/>
          </p:nvPr>
        </p:nvSpPr>
        <p:spPr/>
        <p:txBody>
          <a:bodyPr>
            <a:normAutofit/>
          </a:bodyPr>
          <a:lstStyle/>
          <a:p>
            <a:r>
              <a:rPr lang="ja-JP" altLang="en-US">
                <a:latin typeface="+mn-lt"/>
              </a:rPr>
              <a:t>エージェンシー事業の派遣・紹介</a:t>
            </a:r>
          </a:p>
        </p:txBody>
      </p:sp>
      <p:sp>
        <p:nvSpPr>
          <p:cNvPr id="2" name="スライド番号プレースホルダー 1">
            <a:extLst>
              <a:ext uri="{FF2B5EF4-FFF2-40B4-BE49-F238E27FC236}">
                <a16:creationId xmlns:a16="http://schemas.microsoft.com/office/drawing/2014/main" id="{2F69B712-A61C-32D7-BFCB-5848B68074D1}"/>
              </a:ext>
            </a:extLst>
          </p:cNvPr>
          <p:cNvSpPr>
            <a:spLocks noGrp="1"/>
          </p:cNvSpPr>
          <p:nvPr>
            <p:ph type="sldNum" sz="quarter" idx="11"/>
          </p:nvPr>
        </p:nvSpPr>
        <p:spPr/>
        <p:txBody>
          <a:bodyPr/>
          <a:lstStyle/>
          <a:p>
            <a:fld id="{B75FDD43-FCEC-4ECC-8189-A5C6D2E08DC6}" type="slidenum">
              <a:rPr lang="ja-JP" altLang="en-US" smtClean="0"/>
              <a:pPr/>
              <a:t>43</a:t>
            </a:fld>
            <a:endParaRPr lang="ja-JP" altLang="en-US"/>
          </a:p>
        </p:txBody>
      </p:sp>
      <p:grpSp>
        <p:nvGrpSpPr>
          <p:cNvPr id="13" name="グループ化 12">
            <a:extLst>
              <a:ext uri="{FF2B5EF4-FFF2-40B4-BE49-F238E27FC236}">
                <a16:creationId xmlns:a16="http://schemas.microsoft.com/office/drawing/2014/main" id="{0AA408EA-8BD9-32F3-E4B6-1AD25BDC1037}"/>
              </a:ext>
            </a:extLst>
          </p:cNvPr>
          <p:cNvGrpSpPr/>
          <p:nvPr/>
        </p:nvGrpSpPr>
        <p:grpSpPr>
          <a:xfrm>
            <a:off x="5909090" y="1044459"/>
            <a:ext cx="6122890" cy="3285423"/>
            <a:chOff x="5958785" y="1122892"/>
            <a:chExt cx="6122890" cy="3285423"/>
          </a:xfrm>
        </p:grpSpPr>
        <p:grpSp>
          <p:nvGrpSpPr>
            <p:cNvPr id="14" name="グループ化 13">
              <a:extLst>
                <a:ext uri="{FF2B5EF4-FFF2-40B4-BE49-F238E27FC236}">
                  <a16:creationId xmlns:a16="http://schemas.microsoft.com/office/drawing/2014/main" id="{D84B032F-605B-238D-633F-B823C90CFB86}"/>
                </a:ext>
              </a:extLst>
            </p:cNvPr>
            <p:cNvGrpSpPr/>
            <p:nvPr/>
          </p:nvGrpSpPr>
          <p:grpSpPr>
            <a:xfrm>
              <a:off x="5958785" y="1122892"/>
              <a:ext cx="5812063" cy="2677656"/>
              <a:chOff x="5958785" y="1122892"/>
              <a:chExt cx="5812063" cy="2677656"/>
            </a:xfrm>
          </p:grpSpPr>
          <p:sp>
            <p:nvSpPr>
              <p:cNvPr id="16" name="テキスト ボックス 15">
                <a:extLst>
                  <a:ext uri="{FF2B5EF4-FFF2-40B4-BE49-F238E27FC236}">
                    <a16:creationId xmlns:a16="http://schemas.microsoft.com/office/drawing/2014/main" id="{38105225-4787-BA45-703D-3C482A2F95B0}"/>
                  </a:ext>
                </a:extLst>
              </p:cNvPr>
              <p:cNvSpPr txBox="1"/>
              <p:nvPr/>
            </p:nvSpPr>
            <p:spPr>
              <a:xfrm>
                <a:off x="5958786" y="1122892"/>
                <a:ext cx="5812062" cy="2677656"/>
              </a:xfrm>
              <a:prstGeom prst="rect">
                <a:avLst/>
              </a:prstGeom>
              <a:noFill/>
            </p:spPr>
            <p:txBody>
              <a:bodyPr wrap="square" rtlCol="0">
                <a:spAutoFit/>
              </a:bodyPr>
              <a:lstStyle/>
              <a:p>
                <a:r>
                  <a:rPr lang="en-US" altLang="ja-JP" sz="3600" b="1" i="0" dirty="0">
                    <a:effectLst/>
                    <a:latin typeface="メイリオ" panose="020B0604030504040204" pitchFamily="50" charset="-128"/>
                    <a:ea typeface="メイリオ" panose="020B0604030504040204" pitchFamily="50" charset="-128"/>
                  </a:rPr>
                  <a:t>Owned Media</a:t>
                </a:r>
              </a:p>
              <a:p>
                <a:r>
                  <a:rPr lang="en-US" altLang="ja-JP" sz="6600" b="1" dirty="0">
                    <a:latin typeface="メイリオ" panose="020B0604030504040204" pitchFamily="50" charset="-128"/>
                    <a:ea typeface="メイリオ" panose="020B0604030504040204" pitchFamily="50" charset="-128"/>
                    <a:cs typeface="Aharoni" panose="02010803020104030203" pitchFamily="2" charset="-79"/>
                  </a:rPr>
                  <a:t>500,000</a:t>
                </a:r>
                <a:r>
                  <a:rPr lang="en-US" altLang="ja-JP" sz="2400" b="1" dirty="0">
                    <a:latin typeface="メイリオ" panose="020B0604030504040204" pitchFamily="50" charset="-128"/>
                    <a:ea typeface="メイリオ" panose="020B0604030504040204" pitchFamily="50" charset="-128"/>
                    <a:cs typeface="Aharoni" panose="02010803020104030203" pitchFamily="2" charset="-79"/>
                  </a:rPr>
                  <a:t>PV/Month</a:t>
                </a:r>
                <a:endParaRPr kumimoji="1" lang="ja-JP" altLang="en-US" sz="3600" b="1" dirty="0">
                  <a:latin typeface="メイリオ" panose="020B0604030504040204" pitchFamily="50" charset="-128"/>
                  <a:ea typeface="メイリオ" panose="020B0604030504040204" pitchFamily="50" charset="-128"/>
                  <a:cs typeface="Aharoni" panose="02010803020104030203" pitchFamily="2" charset="-79"/>
                </a:endParaRPr>
              </a:p>
              <a:p>
                <a:r>
                  <a:rPr lang="en-US" altLang="ja-JP" sz="6600" b="1" dirty="0">
                    <a:latin typeface="メイリオ" panose="020B0604030504040204" pitchFamily="50" charset="-128"/>
                    <a:ea typeface="メイリオ" panose="020B0604030504040204" pitchFamily="50" charset="-128"/>
                    <a:cs typeface="Aharoni" panose="02010803020104030203" pitchFamily="2" charset="-79"/>
                  </a:rPr>
                  <a:t> </a:t>
                </a:r>
                <a:endParaRPr kumimoji="1" lang="ja-JP" altLang="en-US" sz="3600" b="1" dirty="0">
                  <a:latin typeface="メイリオ" panose="020B0604030504040204" pitchFamily="50" charset="-128"/>
                  <a:ea typeface="メイリオ" panose="020B0604030504040204" pitchFamily="50" charset="-128"/>
                  <a:cs typeface="Aharoni" panose="02010803020104030203" pitchFamily="2" charset="-79"/>
                </a:endParaRPr>
              </a:p>
            </p:txBody>
          </p:sp>
          <p:sp>
            <p:nvSpPr>
              <p:cNvPr id="17" name="正方形/長方形 16">
                <a:extLst>
                  <a:ext uri="{FF2B5EF4-FFF2-40B4-BE49-F238E27FC236}">
                    <a16:creationId xmlns:a16="http://schemas.microsoft.com/office/drawing/2014/main" id="{C612950E-EBC2-2218-DC99-65D7A4EEF59A}"/>
                  </a:ext>
                </a:extLst>
              </p:cNvPr>
              <p:cNvSpPr/>
              <p:nvPr/>
            </p:nvSpPr>
            <p:spPr>
              <a:xfrm>
                <a:off x="5958785" y="2646110"/>
                <a:ext cx="4560789" cy="5802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altLang="ja-JP" sz="1600" dirty="0">
                    <a:solidFill>
                      <a:schemeClr val="tx1"/>
                    </a:solidFill>
                    <a:latin typeface="メイリオ" panose="020B0604030504040204" pitchFamily="50" charset="-128"/>
                    <a:ea typeface="メイリオ" panose="020B0604030504040204" pitchFamily="50" charset="-128"/>
                  </a:rPr>
                  <a:t>C&amp;R</a:t>
                </a:r>
                <a:r>
                  <a:rPr lang="ja-JP" altLang="en-US" sz="1600" dirty="0">
                    <a:solidFill>
                      <a:schemeClr val="tx1"/>
                    </a:solidFill>
                    <a:latin typeface="メイリオ" panose="020B0604030504040204" pitchFamily="50" charset="-128"/>
                    <a:ea typeface="メイリオ" panose="020B0604030504040204" pitchFamily="50" charset="-128"/>
                  </a:rPr>
                  <a:t>社 主要メディアの</a:t>
                </a:r>
                <a:r>
                  <a:rPr lang="en-US" altLang="ja-JP" sz="1600" dirty="0">
                    <a:solidFill>
                      <a:schemeClr val="tx1"/>
                    </a:solidFill>
                    <a:latin typeface="メイリオ" panose="020B0604030504040204" pitchFamily="50" charset="-128"/>
                    <a:ea typeface="メイリオ" panose="020B0604030504040204" pitchFamily="50" charset="-128"/>
                  </a:rPr>
                  <a:t>PV</a:t>
                </a:r>
                <a:r>
                  <a:rPr lang="ja-JP" altLang="en-US" sz="1600" dirty="0">
                    <a:solidFill>
                      <a:schemeClr val="tx1"/>
                    </a:solidFill>
                    <a:latin typeface="メイリオ" panose="020B0604030504040204" pitchFamily="50" charset="-128"/>
                    <a:ea typeface="メイリオ" panose="020B0604030504040204" pitchFamily="50" charset="-128"/>
                  </a:rPr>
                  <a:t>総数（</a:t>
                </a:r>
                <a:r>
                  <a:rPr lang="en-US" altLang="ja-JP" sz="1600" dirty="0">
                    <a:solidFill>
                      <a:schemeClr val="tx1"/>
                    </a:solidFill>
                    <a:latin typeface="メイリオ" panose="020B0604030504040204" pitchFamily="50" charset="-128"/>
                    <a:ea typeface="メイリオ" panose="020B0604030504040204" pitchFamily="50" charset="-128"/>
                  </a:rPr>
                  <a:t>2023</a:t>
                </a:r>
                <a:r>
                  <a:rPr lang="ja-JP" altLang="en-US" sz="1600" dirty="0">
                    <a:solidFill>
                      <a:schemeClr val="tx1"/>
                    </a:solidFill>
                    <a:latin typeface="メイリオ" panose="020B0604030504040204" pitchFamily="50" charset="-128"/>
                    <a:ea typeface="メイリオ" panose="020B0604030504040204" pitchFamily="50" charset="-128"/>
                  </a:rPr>
                  <a:t>年平均）</a:t>
                </a:r>
                <a:endParaRPr kumimoji="1" lang="ja-JP" altLang="en-US" sz="1600" dirty="0">
                  <a:solidFill>
                    <a:schemeClr val="tx1"/>
                  </a:solidFill>
                  <a:latin typeface="メイリオ" panose="020B0604030504040204" pitchFamily="50" charset="-128"/>
                  <a:ea typeface="メイリオ" panose="020B0604030504040204" pitchFamily="50" charset="-128"/>
                </a:endParaRPr>
              </a:p>
            </p:txBody>
          </p:sp>
        </p:grpSp>
        <p:sp>
          <p:nvSpPr>
            <p:cNvPr id="15" name="正方形/長方形 14">
              <a:extLst>
                <a:ext uri="{FF2B5EF4-FFF2-40B4-BE49-F238E27FC236}">
                  <a16:creationId xmlns:a16="http://schemas.microsoft.com/office/drawing/2014/main" id="{EEFE16EA-68AB-B9F0-6CB6-03E4131875A4}"/>
                </a:ext>
              </a:extLst>
            </p:cNvPr>
            <p:cNvSpPr/>
            <p:nvPr/>
          </p:nvSpPr>
          <p:spPr>
            <a:xfrm>
              <a:off x="5958785" y="3168617"/>
              <a:ext cx="6122890" cy="12396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600"/>
                </a:spcBef>
              </a:pPr>
              <a:r>
                <a:rPr lang="ja-JP" altLang="en-US" b="1">
                  <a:solidFill>
                    <a:schemeClr val="tx1"/>
                  </a:solidFill>
                  <a:latin typeface="メイリオ" panose="020B0604030504040204" pitchFamily="50" charset="-128"/>
                  <a:ea typeface="メイリオ" panose="020B0604030504040204" pitchFamily="50" charset="-128"/>
                </a:rPr>
                <a:t>クライアントのニーズとプロフェッショナルのスキルをつなぐオウンドメディア。</a:t>
              </a:r>
            </a:p>
          </p:txBody>
        </p:sp>
      </p:grpSp>
      <p:pic>
        <p:nvPicPr>
          <p:cNvPr id="20" name="図 19" descr="グラフィカル ユーザー インターフェイス&#10;&#10;自動的に生成された説明">
            <a:extLst>
              <a:ext uri="{FF2B5EF4-FFF2-40B4-BE49-F238E27FC236}">
                <a16:creationId xmlns:a16="http://schemas.microsoft.com/office/drawing/2014/main" id="{ED202CEF-CF4F-6717-8B42-6DFF72655F5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78004"/>
          <a:stretch/>
        </p:blipFill>
        <p:spPr>
          <a:xfrm>
            <a:off x="775583" y="2391673"/>
            <a:ext cx="4542910" cy="3959120"/>
          </a:xfrm>
          <a:prstGeom prst="rect">
            <a:avLst/>
          </a:prstGeom>
          <a:ln>
            <a:solidFill>
              <a:schemeClr val="tx1">
                <a:lumMod val="50000"/>
                <a:lumOff val="50000"/>
              </a:schemeClr>
            </a:solidFill>
          </a:ln>
        </p:spPr>
      </p:pic>
      <p:sp>
        <p:nvSpPr>
          <p:cNvPr id="21" name="小波 20">
            <a:extLst>
              <a:ext uri="{FF2B5EF4-FFF2-40B4-BE49-F238E27FC236}">
                <a16:creationId xmlns:a16="http://schemas.microsoft.com/office/drawing/2014/main" id="{E84EFCDF-C347-6B1A-4BCF-04B0C0DD74C1}"/>
              </a:ext>
            </a:extLst>
          </p:cNvPr>
          <p:cNvSpPr/>
          <p:nvPr/>
        </p:nvSpPr>
        <p:spPr bwMode="auto">
          <a:xfrm>
            <a:off x="585167" y="6236414"/>
            <a:ext cx="4923741" cy="150706"/>
          </a:xfrm>
          <a:prstGeom prst="doubleWave">
            <a:avLst/>
          </a:prstGeom>
          <a:solidFill>
            <a:schemeClr val="bg1"/>
          </a:solidFill>
          <a:ln w="3175" algn="ctr">
            <a:solidFill>
              <a:schemeClr val="tx1">
                <a:lumMod val="50000"/>
                <a:lumOff val="50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ea typeface="Meiryo UI" panose="020B0604030504040204" pitchFamily="50" charset="-128"/>
            </a:endParaRPr>
          </a:p>
        </p:txBody>
      </p:sp>
      <p:pic>
        <p:nvPicPr>
          <p:cNvPr id="37" name="図 36" descr="座る, 暗い, ノートパソコン, 時計 が含まれている画像&#10;&#10;自動的に生成された説明">
            <a:hlinkClick r:id="rId4"/>
            <a:extLst>
              <a:ext uri="{FF2B5EF4-FFF2-40B4-BE49-F238E27FC236}">
                <a16:creationId xmlns:a16="http://schemas.microsoft.com/office/drawing/2014/main" id="{F45565D7-7ADB-C1B0-B6FB-E515E3CF6E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84473" y="4437023"/>
            <a:ext cx="1466022" cy="604412"/>
          </a:xfrm>
          <a:prstGeom prst="rect">
            <a:avLst/>
          </a:prstGeom>
        </p:spPr>
      </p:pic>
      <p:pic>
        <p:nvPicPr>
          <p:cNvPr id="51" name="図 50" descr="テキスト&#10;&#10;自動的に生成された説明">
            <a:hlinkClick r:id="rId6"/>
            <a:extLst>
              <a:ext uri="{FF2B5EF4-FFF2-40B4-BE49-F238E27FC236}">
                <a16:creationId xmlns:a16="http://schemas.microsoft.com/office/drawing/2014/main" id="{4E7C4C21-1BD5-818C-D357-AAE88446ECF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17592" y="5755822"/>
            <a:ext cx="1993741" cy="594971"/>
          </a:xfrm>
          <a:prstGeom prst="rect">
            <a:avLst/>
          </a:prstGeom>
        </p:spPr>
      </p:pic>
      <p:pic>
        <p:nvPicPr>
          <p:cNvPr id="3" name="図 2" descr="図形&#10;&#10;中程度の精度で自動的に生成された説明">
            <a:hlinkClick r:id="rId8"/>
            <a:extLst>
              <a:ext uri="{FF2B5EF4-FFF2-40B4-BE49-F238E27FC236}">
                <a16:creationId xmlns:a16="http://schemas.microsoft.com/office/drawing/2014/main" id="{31F4EDDB-0B56-C2DA-3994-EBDC0C95897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41512" y="4475561"/>
            <a:ext cx="2696908" cy="539382"/>
          </a:xfrm>
          <a:prstGeom prst="rect">
            <a:avLst/>
          </a:prstGeom>
        </p:spPr>
      </p:pic>
      <p:pic>
        <p:nvPicPr>
          <p:cNvPr id="8" name="図 7" descr="テキスト&#10;&#10;自動的に生成された説明">
            <a:hlinkClick r:id="rId10"/>
            <a:extLst>
              <a:ext uri="{FF2B5EF4-FFF2-40B4-BE49-F238E27FC236}">
                <a16:creationId xmlns:a16="http://schemas.microsoft.com/office/drawing/2014/main" id="{A24F61A7-B06F-F8B8-D927-166B705CEEE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75583" y="1179440"/>
            <a:ext cx="4542909" cy="1050119"/>
          </a:xfrm>
          <a:prstGeom prst="rect">
            <a:avLst/>
          </a:prstGeom>
          <a:ln>
            <a:solidFill>
              <a:schemeClr val="tx1">
                <a:lumMod val="50000"/>
                <a:lumOff val="50000"/>
              </a:schemeClr>
            </a:solidFill>
          </a:ln>
        </p:spPr>
      </p:pic>
      <p:sp>
        <p:nvSpPr>
          <p:cNvPr id="10" name="正方形/長方形 9">
            <a:extLst>
              <a:ext uri="{FF2B5EF4-FFF2-40B4-BE49-F238E27FC236}">
                <a16:creationId xmlns:a16="http://schemas.microsoft.com/office/drawing/2014/main" id="{9ACFE4EC-8BC2-B8DA-1543-7075A6FA62DB}"/>
              </a:ext>
            </a:extLst>
          </p:cNvPr>
          <p:cNvSpPr/>
          <p:nvPr/>
        </p:nvSpPr>
        <p:spPr>
          <a:xfrm>
            <a:off x="5909091" y="3949319"/>
            <a:ext cx="5625771" cy="5802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ja-JP" altLang="en-US" sz="1600">
                <a:solidFill>
                  <a:schemeClr val="tx1"/>
                </a:solidFill>
                <a:latin typeface="メイリオ" panose="020B0604030504040204" pitchFamily="50" charset="-128"/>
                <a:ea typeface="メイリオ" panose="020B0604030504040204" pitchFamily="50" charset="-128"/>
              </a:rPr>
              <a:t>▼求人掲載のご相談は担当営業もしくは各メディアまで</a:t>
            </a:r>
            <a:endParaRPr kumimoji="1" lang="ja-JP" altLang="en-US" sz="1600">
              <a:solidFill>
                <a:schemeClr val="tx1"/>
              </a:solidFill>
              <a:latin typeface="メイリオ" panose="020B0604030504040204" pitchFamily="50" charset="-128"/>
              <a:ea typeface="メイリオ" panose="020B0604030504040204" pitchFamily="50" charset="-128"/>
            </a:endParaRPr>
          </a:p>
        </p:txBody>
      </p:sp>
      <p:pic>
        <p:nvPicPr>
          <p:cNvPr id="12" name="図 11" descr="ロゴ&#10;&#10;自動的に生成された説明">
            <a:hlinkClick r:id="rId12"/>
            <a:extLst>
              <a:ext uri="{FF2B5EF4-FFF2-40B4-BE49-F238E27FC236}">
                <a16:creationId xmlns:a16="http://schemas.microsoft.com/office/drawing/2014/main" id="{E8932E7C-B35F-0ECC-AE76-932B748EE942}"/>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890618" y="5119846"/>
            <a:ext cx="1993741" cy="586394"/>
          </a:xfrm>
          <a:prstGeom prst="rect">
            <a:avLst/>
          </a:prstGeom>
        </p:spPr>
      </p:pic>
      <p:pic>
        <p:nvPicPr>
          <p:cNvPr id="6" name="図 5" descr="ロゴ&#10;&#10;AI によって生成されたコンテンツは間違っている可能性があります。">
            <a:extLst>
              <a:ext uri="{FF2B5EF4-FFF2-40B4-BE49-F238E27FC236}">
                <a16:creationId xmlns:a16="http://schemas.microsoft.com/office/drawing/2014/main" id="{78F80AFF-9647-D1C4-B71C-00514C5125DF}"/>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933229" y="5054172"/>
            <a:ext cx="1929194" cy="652067"/>
          </a:xfrm>
          <a:prstGeom prst="rect">
            <a:avLst/>
          </a:prstGeom>
        </p:spPr>
      </p:pic>
      <p:pic>
        <p:nvPicPr>
          <p:cNvPr id="5" name="Picture 4">
            <a:extLst>
              <a:ext uri="{FF2B5EF4-FFF2-40B4-BE49-F238E27FC236}">
                <a16:creationId xmlns:a16="http://schemas.microsoft.com/office/drawing/2014/main" id="{32785CCF-98B2-2BCA-05D6-26CB6AA97DB9}"/>
              </a:ext>
            </a:extLst>
          </p:cNvPr>
          <p:cNvPicPr>
            <a:picLocks noChangeAspect="1"/>
          </p:cNvPicPr>
          <p:nvPr/>
        </p:nvPicPr>
        <p:blipFill>
          <a:blip r:embed="rId15"/>
          <a:stretch>
            <a:fillRect/>
          </a:stretch>
        </p:blipFill>
        <p:spPr>
          <a:xfrm>
            <a:off x="8251371" y="5810430"/>
            <a:ext cx="3280229" cy="542113"/>
          </a:xfrm>
          <a:prstGeom prst="rect">
            <a:avLst/>
          </a:prstGeom>
        </p:spPr>
      </p:pic>
    </p:spTree>
    <p:extLst>
      <p:ext uri="{BB962C8B-B14F-4D97-AF65-F5344CB8AC3E}">
        <p14:creationId xmlns:p14="http://schemas.microsoft.com/office/powerpoint/2010/main" val="16908038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D53E748D-C5C4-F891-DA57-DA8CE4BC6D35}"/>
              </a:ext>
            </a:extLst>
          </p:cNvPr>
          <p:cNvPicPr>
            <a:picLocks noChangeAspect="1"/>
          </p:cNvPicPr>
          <p:nvPr/>
        </p:nvPicPr>
        <p:blipFill>
          <a:blip r:embed="rId2"/>
          <a:stretch>
            <a:fillRect/>
          </a:stretch>
        </p:blipFill>
        <p:spPr>
          <a:xfrm>
            <a:off x="4927442" y="1120038"/>
            <a:ext cx="6177686" cy="5248969"/>
          </a:xfrm>
          <a:prstGeom prst="rect">
            <a:avLst/>
          </a:prstGeom>
        </p:spPr>
      </p:pic>
      <p:sp>
        <p:nvSpPr>
          <p:cNvPr id="2" name="コンテンツ プレースホルダー 1">
            <a:extLst>
              <a:ext uri="{FF2B5EF4-FFF2-40B4-BE49-F238E27FC236}">
                <a16:creationId xmlns:a16="http://schemas.microsoft.com/office/drawing/2014/main" id="{8FE85FE4-6F99-A808-5AD1-E1A0D7638EFB}"/>
              </a:ext>
            </a:extLst>
          </p:cNvPr>
          <p:cNvSpPr>
            <a:spLocks noGrp="1"/>
          </p:cNvSpPr>
          <p:nvPr>
            <p:ph idx="10"/>
          </p:nvPr>
        </p:nvSpPr>
        <p:spPr/>
        <p:txBody>
          <a:bodyPr/>
          <a:lstStyle/>
          <a:p>
            <a:r>
              <a:rPr kumimoji="1" lang="ja-JP" altLang="en-US"/>
              <a:t>オウンドメディアにて常時数社で開催中。応募者の選考や面接代行も可能です。</a:t>
            </a:r>
          </a:p>
        </p:txBody>
      </p:sp>
      <p:sp>
        <p:nvSpPr>
          <p:cNvPr id="3" name="タイトル 2">
            <a:extLst>
              <a:ext uri="{FF2B5EF4-FFF2-40B4-BE49-F238E27FC236}">
                <a16:creationId xmlns:a16="http://schemas.microsoft.com/office/drawing/2014/main" id="{7FDB5639-B59D-466F-0A6D-3B108FCB31DB}"/>
              </a:ext>
            </a:extLst>
          </p:cNvPr>
          <p:cNvSpPr>
            <a:spLocks noGrp="1"/>
          </p:cNvSpPr>
          <p:nvPr>
            <p:ph type="title"/>
          </p:nvPr>
        </p:nvSpPr>
        <p:spPr/>
        <p:txBody>
          <a:bodyPr/>
          <a:lstStyle/>
          <a:p>
            <a:r>
              <a:rPr kumimoji="1" lang="en-US" altLang="ja-JP"/>
              <a:t>2024</a:t>
            </a:r>
            <a:r>
              <a:rPr kumimoji="1" lang="ja-JP" altLang="en-US"/>
              <a:t>年 採用関連イベント実績（一部）</a:t>
            </a:r>
          </a:p>
        </p:txBody>
      </p:sp>
      <p:sp>
        <p:nvSpPr>
          <p:cNvPr id="4" name="スライド番号プレースホルダー 3">
            <a:extLst>
              <a:ext uri="{FF2B5EF4-FFF2-40B4-BE49-F238E27FC236}">
                <a16:creationId xmlns:a16="http://schemas.microsoft.com/office/drawing/2014/main" id="{D0097870-DFF0-5040-2469-12095D905C90}"/>
              </a:ext>
            </a:extLst>
          </p:cNvPr>
          <p:cNvSpPr>
            <a:spLocks noGrp="1"/>
          </p:cNvSpPr>
          <p:nvPr>
            <p:ph type="sldNum" sz="quarter" idx="11"/>
          </p:nvPr>
        </p:nvSpPr>
        <p:spPr/>
        <p:txBody>
          <a:bodyPr/>
          <a:lstStyle/>
          <a:p>
            <a:fld id="{B75FDD43-FCEC-4ECC-8189-A5C6D2E08DC6}" type="slidenum">
              <a:rPr lang="ja-JP" altLang="en-US" smtClean="0"/>
              <a:pPr/>
              <a:t>44</a:t>
            </a:fld>
            <a:endParaRPr lang="ja-JP" altLang="en-US"/>
          </a:p>
        </p:txBody>
      </p:sp>
      <p:pic>
        <p:nvPicPr>
          <p:cNvPr id="8" name="図 7" descr="グラフィカル ユーザー インターフェイス, Web サイト&#10;&#10;自動的に生成された説明">
            <a:extLst>
              <a:ext uri="{FF2B5EF4-FFF2-40B4-BE49-F238E27FC236}">
                <a16:creationId xmlns:a16="http://schemas.microsoft.com/office/drawing/2014/main" id="{93BC7ABB-E220-A2E7-C3B3-057BD2431E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581" y="1071034"/>
            <a:ext cx="3510082" cy="5596128"/>
          </a:xfrm>
          <a:prstGeom prst="rect">
            <a:avLst/>
          </a:prstGeom>
        </p:spPr>
      </p:pic>
      <p:sp>
        <p:nvSpPr>
          <p:cNvPr id="9" name="テキスト ボックス 8">
            <a:extLst>
              <a:ext uri="{FF2B5EF4-FFF2-40B4-BE49-F238E27FC236}">
                <a16:creationId xmlns:a16="http://schemas.microsoft.com/office/drawing/2014/main" id="{52DF17AD-4399-8F4F-7CD2-ED846A0DA7E3}"/>
              </a:ext>
            </a:extLst>
          </p:cNvPr>
          <p:cNvSpPr txBox="1"/>
          <p:nvPr/>
        </p:nvSpPr>
        <p:spPr>
          <a:xfrm>
            <a:off x="4401454" y="6396308"/>
            <a:ext cx="7007937" cy="369332"/>
          </a:xfrm>
          <a:prstGeom prst="rect">
            <a:avLst/>
          </a:prstGeom>
          <a:noFill/>
        </p:spPr>
        <p:txBody>
          <a:bodyPr wrap="square" lIns="0" tIns="0" rIns="0" bIns="0" rtlCol="0">
            <a:spAutoFit/>
          </a:bodyPr>
          <a:lstStyle/>
          <a:p>
            <a:pPr marL="0" marR="0" lvl="0" indent="0" algn="r" defTabSz="914400" rtl="0" eaLnBrk="0" fontAlgn="base" latinLnBrk="0" hangingPunct="0">
              <a:spcBef>
                <a:spcPct val="0"/>
              </a:spcBef>
              <a:spcAft>
                <a:spcPct val="0"/>
              </a:spcAft>
              <a:buClrTx/>
              <a:buSzTx/>
              <a:buFontTx/>
              <a:buNone/>
              <a:tabLst/>
              <a:defRPr/>
            </a:pP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引用：求人サイト「</a:t>
            </a:r>
            <a:r>
              <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CREATIVE</a:t>
            </a: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 </a:t>
            </a:r>
            <a:r>
              <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VILLAGE</a:t>
            </a:r>
            <a:r>
              <a:rPr kumimoji="1" lang="ja-JP" altLang="en-US"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rPr>
              <a:t>」「ファミキャリ！」サイトより抜粋</a:t>
            </a:r>
            <a:endParaRPr kumimoji="1" lang="en-US" altLang="ja-JP" sz="12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endParaRPr>
          </a:p>
          <a:p>
            <a:pPr marL="0" marR="0" lvl="0" indent="0" algn="r" defTabSz="914400" rtl="0" eaLnBrk="0" fontAlgn="base" latinLnBrk="0" hangingPunct="0">
              <a:spcBef>
                <a:spcPct val="0"/>
              </a:spcBef>
              <a:spcAft>
                <a:spcPct val="0"/>
              </a:spcAft>
              <a:buClrTx/>
              <a:buSzTx/>
              <a:buFontTx/>
              <a:buNone/>
              <a:tabLst/>
              <a:defRPr/>
            </a:pPr>
            <a:r>
              <a:rPr kumimoji="1" lang="en-US" altLang="ja-JP" sz="1200" b="0" i="0" u="none" strike="noStrike" kern="1200" cap="none" spc="0" normalizeH="0" baseline="0" noProof="0">
                <a:ln>
                  <a:noFill/>
                </a:ln>
                <a:solidFill>
                  <a:schemeClr val="accent4">
                    <a:lumMod val="75000"/>
                  </a:schemeClr>
                </a:solidFill>
                <a:effectLst/>
                <a:uLnTx/>
                <a:uFillTx/>
                <a:latin typeface="メイリオ" panose="020B0604030504040204" pitchFamily="50" charset="-128"/>
                <a:ea typeface="メイリオ" panose="020B0604030504040204" pitchFamily="50" charset="-128"/>
              </a:rPr>
              <a:t>https://career.famitsu.com/event/orientation</a:t>
            </a:r>
          </a:p>
        </p:txBody>
      </p:sp>
    </p:spTree>
    <p:extLst>
      <p:ext uri="{BB962C8B-B14F-4D97-AF65-F5344CB8AC3E}">
        <p14:creationId xmlns:p14="http://schemas.microsoft.com/office/powerpoint/2010/main" val="3521141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1">
            <a:extLst>
              <a:ext uri="{FF2B5EF4-FFF2-40B4-BE49-F238E27FC236}">
                <a16:creationId xmlns:a16="http://schemas.microsoft.com/office/drawing/2014/main" id="{29E69A92-CD6B-9FBC-59D6-DA07FA7AE64A}"/>
              </a:ext>
            </a:extLst>
          </p:cNvPr>
          <p:cNvSpPr>
            <a:spLocks noGrp="1"/>
          </p:cNvSpPr>
          <p:nvPr>
            <p:ph idx="10"/>
          </p:nvPr>
        </p:nvSpPr>
        <p:spPr>
          <a:xfrm>
            <a:off x="783021" y="2723263"/>
            <a:ext cx="4657226" cy="2040474"/>
          </a:xfrm>
        </p:spPr>
        <p:txBody>
          <a:bodyPr>
            <a:noAutofit/>
          </a:bodyPr>
          <a:lstStyle/>
          <a:p>
            <a:pPr marL="0" indent="0">
              <a:lnSpc>
                <a:spcPct val="150000"/>
              </a:lnSpc>
              <a:buNone/>
            </a:pPr>
            <a:r>
              <a:rPr lang="ja-JP" altLang="en-US" sz="1400"/>
              <a:t>国内最大級ゲーム情報総合サイトの</a:t>
            </a:r>
            <a:br>
              <a:rPr lang="en-US" altLang="ja-JP" sz="1400"/>
            </a:br>
            <a:r>
              <a:rPr lang="en-US" altLang="ja-JP" sz="1400" b="1"/>
              <a:t>『</a:t>
            </a:r>
            <a:r>
              <a:rPr lang="ja-JP" altLang="en-US" sz="1400" b="1"/>
              <a:t>ファミ通ドットコム</a:t>
            </a:r>
            <a:r>
              <a:rPr lang="en-US" altLang="ja-JP" sz="1400" b="1"/>
              <a:t>』</a:t>
            </a:r>
            <a:r>
              <a:rPr lang="ja-JP" altLang="en-US" sz="1400"/>
              <a:t>の協力を得て、</a:t>
            </a:r>
            <a:endParaRPr lang="en-US" altLang="ja-JP" sz="1400"/>
          </a:p>
          <a:p>
            <a:pPr marL="0" indent="0">
              <a:lnSpc>
                <a:spcPct val="150000"/>
              </a:lnSpc>
              <a:buNone/>
            </a:pPr>
            <a:r>
              <a:rPr lang="ja-JP" altLang="en-US" sz="1400"/>
              <a:t>クリエイター･エージェンシーのパイオニアである</a:t>
            </a:r>
            <a:br>
              <a:rPr lang="en-US" altLang="ja-JP" sz="1400"/>
            </a:br>
            <a:r>
              <a:rPr lang="ja-JP" altLang="en-US" sz="1400"/>
              <a:t>クリーク･アンド･リバー社が運営している</a:t>
            </a:r>
            <a:endParaRPr lang="en-US" altLang="ja-JP" sz="1400"/>
          </a:p>
          <a:p>
            <a:pPr marL="0" indent="0">
              <a:lnSpc>
                <a:spcPct val="150000"/>
              </a:lnSpc>
              <a:buNone/>
            </a:pPr>
            <a:r>
              <a:rPr lang="ja-JP" altLang="en-US" sz="1400" b="1">
                <a:solidFill>
                  <a:schemeClr val="accent6">
                    <a:lumMod val="75000"/>
                  </a:schemeClr>
                </a:solidFill>
              </a:rPr>
              <a:t>ゲーム業界に特化した求人サイトです。</a:t>
            </a:r>
            <a:endParaRPr lang="en-US" altLang="ja-JP" sz="1400" b="1">
              <a:solidFill>
                <a:schemeClr val="accent6">
                  <a:lumMod val="75000"/>
                </a:schemeClr>
              </a:solidFill>
            </a:endParaRPr>
          </a:p>
        </p:txBody>
      </p:sp>
      <p:sp>
        <p:nvSpPr>
          <p:cNvPr id="3" name="タイトル 2">
            <a:extLst>
              <a:ext uri="{FF2B5EF4-FFF2-40B4-BE49-F238E27FC236}">
                <a16:creationId xmlns:a16="http://schemas.microsoft.com/office/drawing/2014/main" id="{5D7E8768-628D-158D-D3AA-D0785C17A056}"/>
              </a:ext>
            </a:extLst>
          </p:cNvPr>
          <p:cNvSpPr>
            <a:spLocks noGrp="1"/>
          </p:cNvSpPr>
          <p:nvPr>
            <p:ph type="title"/>
          </p:nvPr>
        </p:nvSpPr>
        <p:spPr/>
        <p:txBody>
          <a:bodyPr/>
          <a:lstStyle/>
          <a:p>
            <a:r>
              <a:rPr lang="ja-JP" altLang="en-US">
                <a:latin typeface="+mn-lt"/>
              </a:rPr>
              <a:t>求人サイト</a:t>
            </a:r>
            <a:r>
              <a:rPr lang="en-US" altLang="ja-JP">
                <a:latin typeface="+mn-lt"/>
              </a:rPr>
              <a:t>『</a:t>
            </a:r>
            <a:r>
              <a:rPr lang="ja-JP" altLang="en-US">
                <a:latin typeface="+mn-lt"/>
              </a:rPr>
              <a:t>ファミキャリ</a:t>
            </a:r>
            <a:r>
              <a:rPr lang="en-US" altLang="ja-JP">
                <a:latin typeface="+mn-lt"/>
              </a:rPr>
              <a:t>』</a:t>
            </a:r>
            <a:endParaRPr lang="ja-JP" altLang="en-US">
              <a:latin typeface="+mn-lt"/>
            </a:endParaRPr>
          </a:p>
        </p:txBody>
      </p:sp>
      <p:sp>
        <p:nvSpPr>
          <p:cNvPr id="2" name="スライド番号プレースホルダー 1">
            <a:extLst>
              <a:ext uri="{FF2B5EF4-FFF2-40B4-BE49-F238E27FC236}">
                <a16:creationId xmlns:a16="http://schemas.microsoft.com/office/drawing/2014/main" id="{3C3D9033-F413-2412-5A0A-C1A79677AFCA}"/>
              </a:ext>
            </a:extLst>
          </p:cNvPr>
          <p:cNvSpPr>
            <a:spLocks noGrp="1"/>
          </p:cNvSpPr>
          <p:nvPr>
            <p:ph type="sldNum" sz="quarter" idx="11"/>
          </p:nvPr>
        </p:nvSpPr>
        <p:spPr/>
        <p:txBody>
          <a:bodyPr/>
          <a:lstStyle/>
          <a:p>
            <a:fld id="{B75FDD43-FCEC-4ECC-8189-A5C6D2E08DC6}" type="slidenum">
              <a:rPr lang="ja-JP" altLang="en-US" smtClean="0"/>
              <a:pPr/>
              <a:t>45</a:t>
            </a:fld>
            <a:endParaRPr lang="ja-JP" altLang="en-US"/>
          </a:p>
        </p:txBody>
      </p:sp>
      <p:sp>
        <p:nvSpPr>
          <p:cNvPr id="5" name="四角形: 角を丸くする 4">
            <a:extLst>
              <a:ext uri="{FF2B5EF4-FFF2-40B4-BE49-F238E27FC236}">
                <a16:creationId xmlns:a16="http://schemas.microsoft.com/office/drawing/2014/main" id="{7E6B4E9F-8E53-CDA5-EFEE-78E56AB10A80}"/>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t"/>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ゲーム</a:t>
            </a:r>
          </a:p>
        </p:txBody>
      </p:sp>
      <p:sp>
        <p:nvSpPr>
          <p:cNvPr id="6" name="四角形: 角を丸くする 5">
            <a:extLst>
              <a:ext uri="{FF2B5EF4-FFF2-40B4-BE49-F238E27FC236}">
                <a16:creationId xmlns:a16="http://schemas.microsoft.com/office/drawing/2014/main" id="{ABA43314-3EC6-A4DC-7C42-CEBB61C889E7}"/>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t"/>
          <a:lstStyle/>
          <a:p>
            <a:pPr algn="ctr" defTabSz="914400" fontAlgn="base">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求人</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pic>
        <p:nvPicPr>
          <p:cNvPr id="10" name="図 9" descr="テキスト&#10;&#10;自動的に生成された説明">
            <a:extLst>
              <a:ext uri="{FF2B5EF4-FFF2-40B4-BE49-F238E27FC236}">
                <a16:creationId xmlns:a16="http://schemas.microsoft.com/office/drawing/2014/main" id="{9C863E93-A32E-041F-5746-6E36C048E3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626" y="4801526"/>
            <a:ext cx="4792015" cy="1659099"/>
          </a:xfrm>
          <a:prstGeom prst="rect">
            <a:avLst/>
          </a:prstGeom>
        </p:spPr>
      </p:pic>
      <p:grpSp>
        <p:nvGrpSpPr>
          <p:cNvPr id="18" name="グループ化 17">
            <a:extLst>
              <a:ext uri="{FF2B5EF4-FFF2-40B4-BE49-F238E27FC236}">
                <a16:creationId xmlns:a16="http://schemas.microsoft.com/office/drawing/2014/main" id="{3839E372-6594-ADE0-55F1-E28F79F4A652}"/>
              </a:ext>
            </a:extLst>
          </p:cNvPr>
          <p:cNvGrpSpPr/>
          <p:nvPr/>
        </p:nvGrpSpPr>
        <p:grpSpPr>
          <a:xfrm>
            <a:off x="617507" y="1679718"/>
            <a:ext cx="4024235" cy="870019"/>
            <a:chOff x="617507" y="1679718"/>
            <a:chExt cx="4652077" cy="1005755"/>
          </a:xfrm>
        </p:grpSpPr>
        <p:pic>
          <p:nvPicPr>
            <p:cNvPr id="17" name="図 16" descr="図形&#10;&#10;中程度の精度で自動的に生成された説明">
              <a:extLst>
                <a:ext uri="{FF2B5EF4-FFF2-40B4-BE49-F238E27FC236}">
                  <a16:creationId xmlns:a16="http://schemas.microsoft.com/office/drawing/2014/main" id="{C56910D5-7903-5AF2-6C87-204F77C8BD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39844" y="2101091"/>
              <a:ext cx="1729740" cy="305407"/>
            </a:xfrm>
            <a:prstGeom prst="rect">
              <a:avLst/>
            </a:prstGeom>
          </p:spPr>
        </p:pic>
        <p:pic>
          <p:nvPicPr>
            <p:cNvPr id="14" name="図 13" descr="ロゴ&#10;&#10;AI によって生成されたコンテンツは間違っている可能性があります。">
              <a:extLst>
                <a:ext uri="{FF2B5EF4-FFF2-40B4-BE49-F238E27FC236}">
                  <a16:creationId xmlns:a16="http://schemas.microsoft.com/office/drawing/2014/main" id="{EC852084-4D91-2180-733B-D14EC04F1E3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7507" y="1679718"/>
              <a:ext cx="2975607" cy="1005755"/>
            </a:xfrm>
            <a:prstGeom prst="rect">
              <a:avLst/>
            </a:prstGeom>
          </p:spPr>
        </p:pic>
      </p:grpSp>
      <p:pic>
        <p:nvPicPr>
          <p:cNvPr id="21" name="図 20" descr="コンピューターのスクリーンショット&#10;&#10;AI によって生成されたコンテンツは間違っている可能性があります。">
            <a:extLst>
              <a:ext uri="{FF2B5EF4-FFF2-40B4-BE49-F238E27FC236}">
                <a16:creationId xmlns:a16="http://schemas.microsoft.com/office/drawing/2014/main" id="{9D9DA822-95D2-BC8A-0419-998DE0EC6972}"/>
              </a:ext>
            </a:extLst>
          </p:cNvPr>
          <p:cNvPicPr>
            <a:picLocks noChangeAspect="1"/>
          </p:cNvPicPr>
          <p:nvPr/>
        </p:nvPicPr>
        <p:blipFill>
          <a:blip r:embed="rId6" cstate="print">
            <a:extLst>
              <a:ext uri="{28A0092B-C50C-407E-A947-70E740481C1C}">
                <a14:useLocalDpi xmlns:a14="http://schemas.microsoft.com/office/drawing/2010/main" val="0"/>
              </a:ext>
            </a:extLst>
          </a:blip>
          <a:srcRect b="53785"/>
          <a:stretch/>
        </p:blipFill>
        <p:spPr>
          <a:xfrm>
            <a:off x="5572071" y="835794"/>
            <a:ext cx="4754878" cy="5868129"/>
          </a:xfrm>
          <a:prstGeom prst="rect">
            <a:avLst/>
          </a:prstGeom>
          <a:solidFill>
            <a:schemeClr val="tx1">
              <a:lumMod val="20000"/>
              <a:lumOff val="80000"/>
            </a:schemeClr>
          </a:solidFill>
          <a:ln>
            <a:solidFill>
              <a:schemeClr val="bg1">
                <a:lumMod val="85000"/>
              </a:schemeClr>
            </a:solidFill>
          </a:ln>
        </p:spPr>
      </p:pic>
      <p:sp>
        <p:nvSpPr>
          <p:cNvPr id="22" name="小波 21">
            <a:extLst>
              <a:ext uri="{FF2B5EF4-FFF2-40B4-BE49-F238E27FC236}">
                <a16:creationId xmlns:a16="http://schemas.microsoft.com/office/drawing/2014/main" id="{53BB1DC6-22D5-C946-0AC2-4A11F9AFAF30}"/>
              </a:ext>
            </a:extLst>
          </p:cNvPr>
          <p:cNvSpPr/>
          <p:nvPr/>
        </p:nvSpPr>
        <p:spPr bwMode="auto">
          <a:xfrm>
            <a:off x="5465689" y="6619752"/>
            <a:ext cx="5018914" cy="145888"/>
          </a:xfrm>
          <a:prstGeom prst="doubleWave">
            <a:avLst/>
          </a:prstGeom>
          <a:solidFill>
            <a:schemeClr val="bg1"/>
          </a:solidFill>
          <a:ln w="3175" algn="ctr">
            <a:solidFill>
              <a:schemeClr val="bg1">
                <a:lumMod val="85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pic>
        <p:nvPicPr>
          <p:cNvPr id="26" name="図 25" descr="グラフィカル ユーザー インターフェイス&#10;&#10;AI によって生成されたコンテンツは間違っている可能性があります。">
            <a:extLst>
              <a:ext uri="{FF2B5EF4-FFF2-40B4-BE49-F238E27FC236}">
                <a16:creationId xmlns:a16="http://schemas.microsoft.com/office/drawing/2014/main" id="{24C36932-2567-A7DB-46DE-1743DD6BC2C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24299" y="1317322"/>
            <a:ext cx="1993460" cy="5147202"/>
          </a:xfrm>
          <a:prstGeom prst="rect">
            <a:avLst/>
          </a:prstGeom>
          <a:ln>
            <a:solidFill>
              <a:schemeClr val="bg1">
                <a:lumMod val="85000"/>
              </a:schemeClr>
            </a:solidFill>
          </a:ln>
        </p:spPr>
      </p:pic>
      <p:sp>
        <p:nvSpPr>
          <p:cNvPr id="27" name="小波 26">
            <a:extLst>
              <a:ext uri="{FF2B5EF4-FFF2-40B4-BE49-F238E27FC236}">
                <a16:creationId xmlns:a16="http://schemas.microsoft.com/office/drawing/2014/main" id="{339E7662-D4FC-9D98-DE0B-28752997366C}"/>
              </a:ext>
            </a:extLst>
          </p:cNvPr>
          <p:cNvSpPr/>
          <p:nvPr/>
        </p:nvSpPr>
        <p:spPr bwMode="auto">
          <a:xfrm>
            <a:off x="9720624" y="6380490"/>
            <a:ext cx="2159127" cy="115030"/>
          </a:xfrm>
          <a:prstGeom prst="doubleWave">
            <a:avLst/>
          </a:prstGeom>
          <a:solidFill>
            <a:schemeClr val="bg1"/>
          </a:solidFill>
          <a:ln w="3175" algn="ctr">
            <a:solidFill>
              <a:schemeClr val="bg1">
                <a:lumMod val="85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969929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コンテンツ プレースホルダー 13">
            <a:extLst>
              <a:ext uri="{FF2B5EF4-FFF2-40B4-BE49-F238E27FC236}">
                <a16:creationId xmlns:a16="http://schemas.microsoft.com/office/drawing/2014/main" id="{7DBCF7D5-5C7F-4557-5684-53B9F665C67B}"/>
              </a:ext>
            </a:extLst>
          </p:cNvPr>
          <p:cNvSpPr>
            <a:spLocks noGrp="1"/>
          </p:cNvSpPr>
          <p:nvPr>
            <p:ph idx="10"/>
          </p:nvPr>
        </p:nvSpPr>
        <p:spPr>
          <a:xfrm>
            <a:off x="653802" y="2644053"/>
            <a:ext cx="4612733" cy="3995808"/>
          </a:xfrm>
        </p:spPr>
        <p:txBody>
          <a:bodyPr>
            <a:normAutofit/>
          </a:bodyPr>
          <a:lstStyle/>
          <a:p>
            <a:pPr>
              <a:lnSpc>
                <a:spcPct val="150000"/>
              </a:lnSpc>
            </a:pPr>
            <a:r>
              <a:rPr lang="ja-JP" altLang="en-US" sz="1400"/>
              <a:t>会員の</a:t>
            </a:r>
            <a:r>
              <a:rPr lang="en-US" altLang="ja-JP" sz="1400"/>
              <a:t>80</a:t>
            </a:r>
            <a:r>
              <a:rPr lang="ja-JP" altLang="en-US" sz="1400"/>
              <a:t>％が開発職のクリエイター</a:t>
            </a:r>
            <a:endParaRPr lang="en-US" altLang="ja-JP" sz="1400"/>
          </a:p>
          <a:p>
            <a:pPr>
              <a:lnSpc>
                <a:spcPct val="150000"/>
              </a:lnSpc>
            </a:pPr>
            <a:r>
              <a:rPr lang="ja-JP" altLang="en-US" sz="1400"/>
              <a:t>ゲーム業界の専門スキルを可視化して</a:t>
            </a:r>
            <a:endParaRPr lang="en-US" altLang="ja-JP" sz="1400"/>
          </a:p>
          <a:p>
            <a:pPr>
              <a:lnSpc>
                <a:spcPct val="150000"/>
              </a:lnSpc>
            </a:pPr>
            <a:r>
              <a:rPr lang="ja-JP" altLang="en-US" sz="1400"/>
              <a:t>ミスマッチを防ぐ</a:t>
            </a:r>
            <a:endParaRPr lang="en-US" altLang="ja-JP" sz="1400"/>
          </a:p>
          <a:p>
            <a:pPr>
              <a:lnSpc>
                <a:spcPct val="150000"/>
              </a:lnSpc>
            </a:pPr>
            <a:r>
              <a:rPr lang="ja-JP" altLang="en-US" sz="1400"/>
              <a:t>初期コスト「０円」で利用可能</a:t>
            </a:r>
            <a:br>
              <a:rPr lang="en-US" altLang="ja-JP" sz="1400"/>
            </a:br>
            <a:r>
              <a:rPr lang="en-US" altLang="ja-JP" sz="1100"/>
              <a:t>※</a:t>
            </a:r>
            <a:r>
              <a:rPr lang="ja-JP" altLang="en-US" sz="1100"/>
              <a:t>別途、成果報酬あり</a:t>
            </a:r>
            <a:endParaRPr lang="en-US" altLang="ja-JP" sz="1400"/>
          </a:p>
          <a:p>
            <a:pPr marL="0" indent="0">
              <a:lnSpc>
                <a:spcPct val="150000"/>
              </a:lnSpc>
              <a:buFont typeface="Arial" panose="020B0604020202020204" pitchFamily="34" charset="0"/>
              <a:buNone/>
            </a:pPr>
            <a:r>
              <a:rPr lang="ja-JP" altLang="en-US" sz="1400" b="1">
                <a:solidFill>
                  <a:schemeClr val="accent4">
                    <a:lumMod val="75000"/>
                  </a:schemeClr>
                </a:solidFill>
              </a:rPr>
              <a:t>ゲーム業界に特化した転職スカウトサイトです。</a:t>
            </a:r>
            <a:endParaRPr lang="en-US" altLang="ja-JP" sz="1400" b="1">
              <a:solidFill>
                <a:schemeClr val="accent4">
                  <a:lumMod val="75000"/>
                </a:schemeClr>
              </a:solidFill>
            </a:endParaRPr>
          </a:p>
          <a:p>
            <a:pPr>
              <a:lnSpc>
                <a:spcPct val="150000"/>
              </a:lnSpc>
            </a:pPr>
            <a:endParaRPr lang="ja-JP" altLang="en-US" sz="1400"/>
          </a:p>
        </p:txBody>
      </p:sp>
      <p:sp>
        <p:nvSpPr>
          <p:cNvPr id="3" name="タイトル 2">
            <a:extLst>
              <a:ext uri="{FF2B5EF4-FFF2-40B4-BE49-F238E27FC236}">
                <a16:creationId xmlns:a16="http://schemas.microsoft.com/office/drawing/2014/main" id="{5D7E8768-628D-158D-D3AA-D0785C17A056}"/>
              </a:ext>
            </a:extLst>
          </p:cNvPr>
          <p:cNvSpPr>
            <a:spLocks noGrp="1"/>
          </p:cNvSpPr>
          <p:nvPr>
            <p:ph type="title"/>
          </p:nvPr>
        </p:nvSpPr>
        <p:spPr/>
        <p:txBody>
          <a:bodyPr>
            <a:normAutofit/>
          </a:bodyPr>
          <a:lstStyle/>
          <a:p>
            <a:r>
              <a:rPr lang="ja-JP" altLang="en-US">
                <a:latin typeface="+mn-lt"/>
              </a:rPr>
              <a:t>転職スカウトサイト</a:t>
            </a:r>
            <a:r>
              <a:rPr lang="en-US" altLang="ja-JP">
                <a:latin typeface="+mn-lt"/>
              </a:rPr>
              <a:t>『</a:t>
            </a:r>
            <a:r>
              <a:rPr lang="ja-JP" altLang="en-US">
                <a:latin typeface="+mn-lt"/>
              </a:rPr>
              <a:t>ゲームキャリアスカウト</a:t>
            </a:r>
            <a:r>
              <a:rPr lang="en-US" altLang="ja-JP">
                <a:latin typeface="+mn-lt"/>
              </a:rPr>
              <a:t>』</a:t>
            </a:r>
            <a:endParaRPr lang="ja-JP" altLang="en-US">
              <a:latin typeface="+mn-lt"/>
            </a:endParaRPr>
          </a:p>
        </p:txBody>
      </p:sp>
      <p:sp>
        <p:nvSpPr>
          <p:cNvPr id="4" name="スライド番号プレースホルダー 3">
            <a:extLst>
              <a:ext uri="{FF2B5EF4-FFF2-40B4-BE49-F238E27FC236}">
                <a16:creationId xmlns:a16="http://schemas.microsoft.com/office/drawing/2014/main" id="{3582C7D6-6AD5-EB31-6E47-45B1FF01214C}"/>
              </a:ext>
            </a:extLst>
          </p:cNvPr>
          <p:cNvSpPr>
            <a:spLocks noGrp="1"/>
          </p:cNvSpPr>
          <p:nvPr>
            <p:ph type="sldNum" sz="quarter" idx="11"/>
          </p:nvPr>
        </p:nvSpPr>
        <p:spPr/>
        <p:txBody>
          <a:bodyPr/>
          <a:lstStyle/>
          <a:p>
            <a:fld id="{B75FDD43-FCEC-4ECC-8189-A5C6D2E08DC6}" type="slidenum">
              <a:rPr lang="ja-JP" altLang="en-US" smtClean="0"/>
              <a:pPr/>
              <a:t>46</a:t>
            </a:fld>
            <a:endParaRPr lang="ja-JP" altLang="en-US"/>
          </a:p>
        </p:txBody>
      </p:sp>
      <p:sp>
        <p:nvSpPr>
          <p:cNvPr id="5" name="四角形: 角を丸くする 4">
            <a:extLst>
              <a:ext uri="{FF2B5EF4-FFF2-40B4-BE49-F238E27FC236}">
                <a16:creationId xmlns:a16="http://schemas.microsoft.com/office/drawing/2014/main" id="{7E6B4E9F-8E53-CDA5-EFEE-78E56AB10A80}"/>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t"/>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ゲーム</a:t>
            </a:r>
          </a:p>
        </p:txBody>
      </p:sp>
      <p:sp>
        <p:nvSpPr>
          <p:cNvPr id="6" name="四角形: 角を丸くする 5">
            <a:extLst>
              <a:ext uri="{FF2B5EF4-FFF2-40B4-BE49-F238E27FC236}">
                <a16:creationId xmlns:a16="http://schemas.microsoft.com/office/drawing/2014/main" id="{ABA43314-3EC6-A4DC-7C42-CEBB61C889E7}"/>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t"/>
          <a:lstStyle/>
          <a:p>
            <a:pPr algn="ctr" defTabSz="914400" fontAlgn="base">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スカウト</a:t>
            </a:r>
          </a:p>
        </p:txBody>
      </p:sp>
      <p:pic>
        <p:nvPicPr>
          <p:cNvPr id="2" name="図 1">
            <a:extLst>
              <a:ext uri="{FF2B5EF4-FFF2-40B4-BE49-F238E27FC236}">
                <a16:creationId xmlns:a16="http://schemas.microsoft.com/office/drawing/2014/main" id="{78449DCD-7A0C-6AE1-6EC1-B91DDAF9275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27317" y="1721591"/>
            <a:ext cx="3928585" cy="602618"/>
          </a:xfrm>
          <a:prstGeom prst="rect">
            <a:avLst/>
          </a:prstGeom>
        </p:spPr>
      </p:pic>
      <p:pic>
        <p:nvPicPr>
          <p:cNvPr id="11" name="図 10" descr="グラフィカル ユーザー インターフェイス, アプリケーション&#10;&#10;自動的に生成された説明">
            <a:extLst>
              <a:ext uri="{FF2B5EF4-FFF2-40B4-BE49-F238E27FC236}">
                <a16:creationId xmlns:a16="http://schemas.microsoft.com/office/drawing/2014/main" id="{F1A21A36-0621-AAB0-12B7-A53B34AFE8A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61734"/>
          <a:stretch/>
        </p:blipFill>
        <p:spPr>
          <a:xfrm>
            <a:off x="5519864" y="816003"/>
            <a:ext cx="2849756" cy="5858685"/>
          </a:xfrm>
          <a:prstGeom prst="rect">
            <a:avLst/>
          </a:prstGeom>
          <a:ln>
            <a:solidFill>
              <a:schemeClr val="bg2"/>
            </a:solidFill>
          </a:ln>
        </p:spPr>
      </p:pic>
      <p:pic>
        <p:nvPicPr>
          <p:cNvPr id="16" name="コンテンツ プレースホルダー 5" descr="グラフィカル ユーザー インターフェイス&#10;&#10;自動的に生成された説明">
            <a:extLst>
              <a:ext uri="{FF2B5EF4-FFF2-40B4-BE49-F238E27FC236}">
                <a16:creationId xmlns:a16="http://schemas.microsoft.com/office/drawing/2014/main" id="{8DA10B99-4F04-22EC-248F-A8CAB42B20D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22949" y="4025221"/>
            <a:ext cx="3232351" cy="2518226"/>
          </a:xfrm>
          <a:prstGeom prst="rect">
            <a:avLst/>
          </a:prstGeom>
          <a:effectLst/>
        </p:spPr>
      </p:pic>
      <p:pic>
        <p:nvPicPr>
          <p:cNvPr id="17" name="図 16" descr="グラフィカル ユーザー インターフェイス, テキスト, アプリケーション, メール&#10;&#10;自動的に生成された説明">
            <a:extLst>
              <a:ext uri="{FF2B5EF4-FFF2-40B4-BE49-F238E27FC236}">
                <a16:creationId xmlns:a16="http://schemas.microsoft.com/office/drawing/2014/main" id="{1064180A-91B1-DBDC-609F-95B48FB222E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22949" y="1674343"/>
            <a:ext cx="3250018" cy="2066957"/>
          </a:xfrm>
          <a:prstGeom prst="rect">
            <a:avLst/>
          </a:prstGeom>
          <a:effectLst/>
        </p:spPr>
      </p:pic>
      <p:sp>
        <p:nvSpPr>
          <p:cNvPr id="7" name="小波 6">
            <a:extLst>
              <a:ext uri="{FF2B5EF4-FFF2-40B4-BE49-F238E27FC236}">
                <a16:creationId xmlns:a16="http://schemas.microsoft.com/office/drawing/2014/main" id="{8F611342-DA0C-F3FC-437C-116B200A38C0}"/>
              </a:ext>
            </a:extLst>
          </p:cNvPr>
          <p:cNvSpPr/>
          <p:nvPr/>
        </p:nvSpPr>
        <p:spPr bwMode="auto">
          <a:xfrm>
            <a:off x="5465689" y="6619752"/>
            <a:ext cx="2958106" cy="109872"/>
          </a:xfrm>
          <a:prstGeom prst="doubleWave">
            <a:avLst/>
          </a:prstGeom>
          <a:solidFill>
            <a:schemeClr val="bg1"/>
          </a:solidFill>
          <a:ln w="3175" algn="ctr">
            <a:solidFill>
              <a:schemeClr val="bg1">
                <a:lumMod val="85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nvGrpSpPr>
          <p:cNvPr id="20" name="グループ化 19">
            <a:extLst>
              <a:ext uri="{FF2B5EF4-FFF2-40B4-BE49-F238E27FC236}">
                <a16:creationId xmlns:a16="http://schemas.microsoft.com/office/drawing/2014/main" id="{A4BBC635-C6BB-DEA7-665D-8FAE2A222BDF}"/>
              </a:ext>
            </a:extLst>
          </p:cNvPr>
          <p:cNvGrpSpPr/>
          <p:nvPr/>
        </p:nvGrpSpPr>
        <p:grpSpPr>
          <a:xfrm>
            <a:off x="724265" y="5179079"/>
            <a:ext cx="4313618" cy="1364368"/>
            <a:chOff x="736357" y="5339555"/>
            <a:chExt cx="4313618" cy="1364368"/>
          </a:xfrm>
        </p:grpSpPr>
        <p:sp>
          <p:nvSpPr>
            <p:cNvPr id="10" name="四角形: 角を丸くする 9">
              <a:extLst>
                <a:ext uri="{FF2B5EF4-FFF2-40B4-BE49-F238E27FC236}">
                  <a16:creationId xmlns:a16="http://schemas.microsoft.com/office/drawing/2014/main" id="{6A90FB0A-A95D-7141-674A-60BCFEF68DBD}"/>
                </a:ext>
              </a:extLst>
            </p:cNvPr>
            <p:cNvSpPr/>
            <p:nvPr/>
          </p:nvSpPr>
          <p:spPr bwMode="auto">
            <a:xfrm>
              <a:off x="783021" y="5343344"/>
              <a:ext cx="1318028" cy="1360579"/>
            </a:xfrm>
            <a:prstGeom prst="roundRect">
              <a:avLst>
                <a:gd name="adj" fmla="val 4403"/>
              </a:avLst>
            </a:prstGeom>
            <a:solidFill>
              <a:srgbClr val="F5B630"/>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2" name="四角形: 角を丸くする 11">
              <a:extLst>
                <a:ext uri="{FF2B5EF4-FFF2-40B4-BE49-F238E27FC236}">
                  <a16:creationId xmlns:a16="http://schemas.microsoft.com/office/drawing/2014/main" id="{774EAFED-BEFA-5F2D-A4FC-346731801D81}"/>
                </a:ext>
              </a:extLst>
            </p:cNvPr>
            <p:cNvSpPr/>
            <p:nvPr/>
          </p:nvSpPr>
          <p:spPr bwMode="auto">
            <a:xfrm>
              <a:off x="2258373" y="5343343"/>
              <a:ext cx="1318028" cy="1360579"/>
            </a:xfrm>
            <a:prstGeom prst="roundRect">
              <a:avLst>
                <a:gd name="adj" fmla="val 4403"/>
              </a:avLst>
            </a:prstGeom>
            <a:solidFill>
              <a:srgbClr val="F5B630"/>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3" name="四角形: 角を丸くする 12">
              <a:extLst>
                <a:ext uri="{FF2B5EF4-FFF2-40B4-BE49-F238E27FC236}">
                  <a16:creationId xmlns:a16="http://schemas.microsoft.com/office/drawing/2014/main" id="{048C04A1-A320-1D08-F991-9A836BB17F82}"/>
                </a:ext>
              </a:extLst>
            </p:cNvPr>
            <p:cNvSpPr/>
            <p:nvPr/>
          </p:nvSpPr>
          <p:spPr bwMode="auto">
            <a:xfrm>
              <a:off x="3731947" y="5339555"/>
              <a:ext cx="1318028" cy="1360579"/>
            </a:xfrm>
            <a:prstGeom prst="roundRect">
              <a:avLst>
                <a:gd name="adj" fmla="val 4403"/>
              </a:avLst>
            </a:prstGeom>
            <a:solidFill>
              <a:srgbClr val="F5B630"/>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5" name="テキスト ボックス 14">
              <a:extLst>
                <a:ext uri="{FF2B5EF4-FFF2-40B4-BE49-F238E27FC236}">
                  <a16:creationId xmlns:a16="http://schemas.microsoft.com/office/drawing/2014/main" id="{90A9CA48-AF52-E567-30FD-3D1C0745B276}"/>
                </a:ext>
              </a:extLst>
            </p:cNvPr>
            <p:cNvSpPr txBox="1"/>
            <p:nvPr/>
          </p:nvSpPr>
          <p:spPr>
            <a:xfrm>
              <a:off x="736357" y="5604345"/>
              <a:ext cx="1475461" cy="830997"/>
            </a:xfrm>
            <a:prstGeom prst="rect">
              <a:avLst/>
            </a:prstGeom>
            <a:noFill/>
          </p:spPr>
          <p:txBody>
            <a:bodyPr wrap="square" rtlCol="0">
              <a:spAutoFit/>
            </a:bodyPr>
            <a:lstStyle/>
            <a:p>
              <a:pPr algn="ctr"/>
              <a:r>
                <a:rPr lang="ja-JP" altLang="en-US" sz="1600" b="1">
                  <a:solidFill>
                    <a:srgbClr val="1D4EA1"/>
                  </a:solidFill>
                  <a:latin typeface="メイリオ" panose="020B0604030504040204" pitchFamily="50" charset="-128"/>
                  <a:ea typeface="メイリオ" panose="020B0604030504040204" pitchFamily="50" charset="-128"/>
                </a:rPr>
                <a:t>厳選された</a:t>
              </a:r>
              <a:endParaRPr lang="en-US" altLang="ja-JP" sz="1600" b="1">
                <a:solidFill>
                  <a:srgbClr val="1D4EA1"/>
                </a:solidFill>
                <a:latin typeface="メイリオ" panose="020B0604030504040204" pitchFamily="50" charset="-128"/>
                <a:ea typeface="メイリオ" panose="020B0604030504040204" pitchFamily="50" charset="-128"/>
              </a:endParaRPr>
            </a:p>
            <a:p>
              <a:pPr algn="ctr"/>
              <a:r>
                <a:rPr lang="ja-JP" altLang="en-US" sz="1600" b="1">
                  <a:solidFill>
                    <a:srgbClr val="1D4EA1"/>
                  </a:solidFill>
                  <a:latin typeface="メイリオ" panose="020B0604030504040204" pitchFamily="50" charset="-128"/>
                  <a:ea typeface="メイリオ" panose="020B0604030504040204" pitchFamily="50" charset="-128"/>
                </a:rPr>
                <a:t>ゲーム企業</a:t>
              </a:r>
              <a:endParaRPr lang="en-US" altLang="ja-JP" sz="2000" b="1">
                <a:solidFill>
                  <a:srgbClr val="1D4EA1"/>
                </a:solidFill>
                <a:latin typeface="メイリオ" panose="020B0604030504040204" pitchFamily="50" charset="-128"/>
                <a:ea typeface="メイリオ" panose="020B0604030504040204" pitchFamily="50" charset="-128"/>
              </a:endParaRPr>
            </a:p>
            <a:p>
              <a:pPr algn="ctr"/>
              <a:r>
                <a:rPr lang="ja-JP" altLang="en-US" sz="1600" b="1">
                  <a:solidFill>
                    <a:srgbClr val="1D4EA1"/>
                  </a:solidFill>
                  <a:latin typeface="メイリオ" panose="020B0604030504040204" pitchFamily="50" charset="-128"/>
                  <a:ea typeface="メイリオ" panose="020B0604030504040204" pitchFamily="50" charset="-128"/>
                </a:rPr>
                <a:t>だけ</a:t>
              </a:r>
              <a:endParaRPr lang="en-US" altLang="ja-JP" sz="1200" b="1">
                <a:solidFill>
                  <a:srgbClr val="1D4EA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32444632-EC4D-B4AD-8B8B-2B47F1A174FF}"/>
                </a:ext>
              </a:extLst>
            </p:cNvPr>
            <p:cNvSpPr txBox="1"/>
            <p:nvPr/>
          </p:nvSpPr>
          <p:spPr>
            <a:xfrm>
              <a:off x="2267125" y="5528242"/>
              <a:ext cx="1318028" cy="1046440"/>
            </a:xfrm>
            <a:prstGeom prst="rect">
              <a:avLst/>
            </a:prstGeom>
            <a:noFill/>
          </p:spPr>
          <p:txBody>
            <a:bodyPr wrap="square" rtlCol="0">
              <a:spAutoFit/>
            </a:bodyPr>
            <a:lstStyle/>
            <a:p>
              <a:pPr algn="ctr"/>
              <a:r>
                <a:rPr lang="ja-JP" altLang="en-US" sz="1400" b="1">
                  <a:solidFill>
                    <a:srgbClr val="1D4EA1"/>
                  </a:solidFill>
                  <a:latin typeface="メイリオ" panose="020B0604030504040204" pitchFamily="50" charset="-128"/>
                  <a:ea typeface="メイリオ" panose="020B0604030504040204" pitchFamily="50" charset="-128"/>
                </a:rPr>
                <a:t>ゲーム業界</a:t>
              </a:r>
              <a:endParaRPr lang="en-US" altLang="ja-JP" sz="1400" b="1">
                <a:solidFill>
                  <a:srgbClr val="1D4EA1"/>
                </a:solidFill>
                <a:latin typeface="メイリオ" panose="020B0604030504040204" pitchFamily="50" charset="-128"/>
                <a:ea typeface="メイリオ" panose="020B0604030504040204" pitchFamily="50" charset="-128"/>
              </a:endParaRPr>
            </a:p>
            <a:p>
              <a:pPr algn="ctr"/>
              <a:r>
                <a:rPr lang="ja-JP" altLang="en-US" sz="1400" b="1">
                  <a:solidFill>
                    <a:srgbClr val="1D4EA1"/>
                  </a:solidFill>
                  <a:latin typeface="メイリオ" panose="020B0604030504040204" pitchFamily="50" charset="-128"/>
                  <a:ea typeface="メイリオ" panose="020B0604030504040204" pitchFamily="50" charset="-128"/>
                </a:rPr>
                <a:t>ならではの</a:t>
              </a:r>
              <a:endParaRPr lang="en-US" altLang="ja-JP" sz="1400" b="1">
                <a:solidFill>
                  <a:srgbClr val="1D4EA1"/>
                </a:solidFill>
                <a:latin typeface="メイリオ" panose="020B0604030504040204" pitchFamily="50" charset="-128"/>
                <a:ea typeface="メイリオ" panose="020B0604030504040204" pitchFamily="50" charset="-128"/>
              </a:endParaRPr>
            </a:p>
            <a:p>
              <a:pPr algn="ctr"/>
              <a:r>
                <a:rPr lang="ja-JP" altLang="en-US" sz="1400" b="1">
                  <a:solidFill>
                    <a:srgbClr val="1D4EA1"/>
                  </a:solidFill>
                  <a:latin typeface="メイリオ" panose="020B0604030504040204" pitchFamily="50" charset="-128"/>
                  <a:ea typeface="メイリオ" panose="020B0604030504040204" pitchFamily="50" charset="-128"/>
                </a:rPr>
                <a:t>登録項目</a:t>
              </a:r>
              <a:endParaRPr lang="en-US" altLang="ja-JP" sz="1400" b="1">
                <a:solidFill>
                  <a:srgbClr val="1D4EA1"/>
                </a:solidFill>
                <a:latin typeface="メイリオ" panose="020B0604030504040204" pitchFamily="50" charset="-128"/>
                <a:ea typeface="メイリオ" panose="020B0604030504040204" pitchFamily="50" charset="-128"/>
              </a:endParaRPr>
            </a:p>
            <a:p>
              <a:pPr algn="ctr"/>
              <a:r>
                <a:rPr lang="en-US" altLang="ja-JP" sz="2000" b="1">
                  <a:solidFill>
                    <a:srgbClr val="1D4EA1"/>
                  </a:solidFill>
                  <a:latin typeface="メイリオ" panose="020B0604030504040204" pitchFamily="50" charset="-128"/>
                  <a:ea typeface="メイリオ" panose="020B0604030504040204" pitchFamily="50" charset="-128"/>
                </a:rPr>
                <a:t>200</a:t>
              </a:r>
              <a:r>
                <a:rPr lang="ja-JP" altLang="en-US" sz="1100" b="1">
                  <a:solidFill>
                    <a:srgbClr val="1D4EA1"/>
                  </a:solidFill>
                  <a:latin typeface="メイリオ" panose="020B0604030504040204" pitchFamily="50" charset="-128"/>
                  <a:ea typeface="メイリオ" panose="020B0604030504040204" pitchFamily="50" charset="-128"/>
                </a:rPr>
                <a:t>種類</a:t>
              </a:r>
              <a:endParaRPr lang="en-US" altLang="ja-JP" sz="1400" b="1">
                <a:solidFill>
                  <a:srgbClr val="1D4EA1"/>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779B3614-FBA6-04F6-05D7-F65821C876EB}"/>
                </a:ext>
              </a:extLst>
            </p:cNvPr>
            <p:cNvSpPr txBox="1"/>
            <p:nvPr/>
          </p:nvSpPr>
          <p:spPr>
            <a:xfrm>
              <a:off x="3731947" y="5534243"/>
              <a:ext cx="1318028" cy="1015663"/>
            </a:xfrm>
            <a:prstGeom prst="rect">
              <a:avLst/>
            </a:prstGeom>
            <a:noFill/>
          </p:spPr>
          <p:txBody>
            <a:bodyPr wrap="square" rtlCol="0">
              <a:spAutoFit/>
            </a:bodyPr>
            <a:lstStyle/>
            <a:p>
              <a:pPr algn="ctr"/>
              <a:r>
                <a:rPr lang="ja-JP" altLang="en-US" b="1">
                  <a:solidFill>
                    <a:srgbClr val="1D4EA1"/>
                  </a:solidFill>
                  <a:latin typeface="メイリオ" panose="020B0604030504040204" pitchFamily="50" charset="-128"/>
                  <a:ea typeface="メイリオ" panose="020B0604030504040204" pitchFamily="50" charset="-128"/>
                </a:rPr>
                <a:t>スキルの</a:t>
              </a:r>
              <a:endParaRPr lang="en-US" altLang="ja-JP" b="1">
                <a:solidFill>
                  <a:srgbClr val="1D4EA1"/>
                </a:solidFill>
                <a:latin typeface="メイリオ" panose="020B0604030504040204" pitchFamily="50" charset="-128"/>
                <a:ea typeface="メイリオ" panose="020B0604030504040204" pitchFamily="50" charset="-128"/>
              </a:endParaRPr>
            </a:p>
            <a:p>
              <a:pPr algn="ctr"/>
              <a:r>
                <a:rPr kumimoji="1" lang="ja-JP" altLang="en-US" b="1">
                  <a:solidFill>
                    <a:srgbClr val="1D4EA1"/>
                  </a:solidFill>
                  <a:latin typeface="メイリオ" panose="020B0604030504040204" pitchFamily="50" charset="-128"/>
                  <a:ea typeface="メイリオ" panose="020B0604030504040204" pitchFamily="50" charset="-128"/>
                </a:rPr>
                <a:t>可視化</a:t>
              </a:r>
              <a:endParaRPr kumimoji="1" lang="en-US" altLang="ja-JP" b="1">
                <a:solidFill>
                  <a:srgbClr val="1D4EA1"/>
                </a:solidFill>
                <a:latin typeface="メイリオ" panose="020B0604030504040204" pitchFamily="50" charset="-128"/>
                <a:ea typeface="メイリオ" panose="020B0604030504040204" pitchFamily="50" charset="-128"/>
              </a:endParaRPr>
            </a:p>
            <a:p>
              <a:pPr algn="ctr"/>
              <a:r>
                <a:rPr lang="ja-JP" altLang="en-US" sz="1200" b="1">
                  <a:solidFill>
                    <a:srgbClr val="1D4EA1"/>
                  </a:solidFill>
                  <a:latin typeface="メイリオ" panose="020B0604030504040204" pitchFamily="50" charset="-128"/>
                  <a:ea typeface="メイリオ" panose="020B0604030504040204" pitchFamily="50" charset="-128"/>
                </a:rPr>
                <a:t>職務経歴書の</a:t>
              </a:r>
              <a:endParaRPr lang="en-US" altLang="ja-JP" sz="1200" b="1">
                <a:solidFill>
                  <a:srgbClr val="1D4EA1"/>
                </a:solidFill>
                <a:latin typeface="メイリオ" panose="020B0604030504040204" pitchFamily="50" charset="-128"/>
                <a:ea typeface="メイリオ" panose="020B0604030504040204" pitchFamily="50" charset="-128"/>
              </a:endParaRPr>
            </a:p>
            <a:p>
              <a:pPr algn="ctr"/>
              <a:r>
                <a:rPr lang="ja-JP" altLang="en-US" sz="1200" b="1">
                  <a:solidFill>
                    <a:srgbClr val="1D4EA1"/>
                  </a:solidFill>
                  <a:latin typeface="メイリオ" panose="020B0604030504040204" pitchFamily="50" charset="-128"/>
                  <a:ea typeface="メイリオ" panose="020B0604030504040204" pitchFamily="50" charset="-128"/>
                </a:rPr>
                <a:t>自動生成</a:t>
              </a:r>
              <a:endParaRPr lang="en-US" altLang="ja-JP" sz="1200" b="1">
                <a:solidFill>
                  <a:srgbClr val="1D4EA1"/>
                </a:solidFill>
                <a:latin typeface="メイリオ" panose="020B0604030504040204" pitchFamily="50" charset="-128"/>
                <a:ea typeface="メイリオ" panose="020B0604030504040204" pitchFamily="50" charset="-128"/>
              </a:endParaRPr>
            </a:p>
          </p:txBody>
        </p:sp>
      </p:grpSp>
    </p:spTree>
    <p:extLst>
      <p:ext uri="{BB962C8B-B14F-4D97-AF65-F5344CB8AC3E}">
        <p14:creationId xmlns:p14="http://schemas.microsoft.com/office/powerpoint/2010/main" val="38108248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66452-B53D-9F57-A89A-1955B3635DC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9C2C6B-FF00-22E4-4E88-63E94EF53AA2}"/>
              </a:ext>
            </a:extLst>
          </p:cNvPr>
          <p:cNvSpPr>
            <a:spLocks noGrp="1"/>
          </p:cNvSpPr>
          <p:nvPr>
            <p:ph type="title"/>
          </p:nvPr>
        </p:nvSpPr>
        <p:spPr/>
        <p:txBody>
          <a:bodyPr anchor="b">
            <a:normAutofit/>
          </a:bodyPr>
          <a:lstStyle/>
          <a:p>
            <a:r>
              <a:rPr lang="en-US" altLang="ja-JP" sz="3600" dirty="0">
                <a:solidFill>
                  <a:schemeClr val="tx1"/>
                </a:solidFill>
              </a:rPr>
              <a:t>C&amp;R</a:t>
            </a:r>
            <a:r>
              <a:rPr lang="ja-JP" altLang="en-US" sz="3600" dirty="0">
                <a:solidFill>
                  <a:schemeClr val="tx1"/>
                </a:solidFill>
              </a:rPr>
              <a:t>グループ</a:t>
            </a:r>
            <a:br>
              <a:rPr lang="ja-JP" altLang="en-US" sz="3600" dirty="0">
                <a:solidFill>
                  <a:schemeClr val="tx1"/>
                </a:solidFill>
              </a:rPr>
            </a:br>
            <a:r>
              <a:rPr lang="ja-JP" altLang="en-US" sz="3600" dirty="0">
                <a:solidFill>
                  <a:schemeClr val="tx1"/>
                </a:solidFill>
              </a:rPr>
              <a:t>最近の取り組み</a:t>
            </a:r>
          </a:p>
        </p:txBody>
      </p:sp>
    </p:spTree>
    <p:extLst>
      <p:ext uri="{BB962C8B-B14F-4D97-AF65-F5344CB8AC3E}">
        <p14:creationId xmlns:p14="http://schemas.microsoft.com/office/powerpoint/2010/main" val="41084610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944C-8DE2-A7EB-D863-14AE3ED31FC0}"/>
            </a:ext>
          </a:extLst>
        </p:cNvPr>
        <p:cNvGrpSpPr/>
        <p:nvPr/>
      </p:nvGrpSpPr>
      <p:grpSpPr>
        <a:xfrm>
          <a:off x="0" y="0"/>
          <a:ext cx="0" cy="0"/>
          <a:chOff x="0" y="0"/>
          <a:chExt cx="0" cy="0"/>
        </a:xfrm>
      </p:grpSpPr>
      <p:grpSp>
        <p:nvGrpSpPr>
          <p:cNvPr id="7" name="グループ化 6">
            <a:extLst>
              <a:ext uri="{FF2B5EF4-FFF2-40B4-BE49-F238E27FC236}">
                <a16:creationId xmlns:a16="http://schemas.microsoft.com/office/drawing/2014/main" id="{404FEF29-1A56-0647-3845-3EA82C74672E}"/>
              </a:ext>
            </a:extLst>
          </p:cNvPr>
          <p:cNvGrpSpPr/>
          <p:nvPr/>
        </p:nvGrpSpPr>
        <p:grpSpPr>
          <a:xfrm>
            <a:off x="596527" y="1922993"/>
            <a:ext cx="4389356" cy="471713"/>
            <a:chOff x="710808" y="1974158"/>
            <a:chExt cx="4389356" cy="471713"/>
          </a:xfrm>
        </p:grpSpPr>
        <p:sp>
          <p:nvSpPr>
            <p:cNvPr id="3" name="正方形/長方形 2">
              <a:extLst>
                <a:ext uri="{FF2B5EF4-FFF2-40B4-BE49-F238E27FC236}">
                  <a16:creationId xmlns:a16="http://schemas.microsoft.com/office/drawing/2014/main" id="{B6B6F6AF-41EB-B875-7CE2-248D2E22ED64}"/>
                </a:ext>
              </a:extLst>
            </p:cNvPr>
            <p:cNvSpPr/>
            <p:nvPr/>
          </p:nvSpPr>
          <p:spPr bwMode="auto">
            <a:xfrm>
              <a:off x="710808" y="1974158"/>
              <a:ext cx="4389356" cy="110201"/>
            </a:xfrm>
            <a:prstGeom prst="rect">
              <a:avLst/>
            </a:prstGeom>
            <a:solidFill>
              <a:schemeClr val="accent1">
                <a:alpha val="50000"/>
              </a:schemeClr>
            </a:solidFill>
            <a:ln w="38100" algn="ctr">
              <a:noFill/>
              <a:miter lim="800000"/>
              <a:headEnd/>
              <a:tailEnd/>
            </a:ln>
            <a:effectLst/>
          </p:spPr>
          <p:txBody>
            <a:bodyPr wrap="none" lIns="90000" tIns="46800" rIns="90000" bIns="46800" rtlCol="0"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20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5" name="正方形/長方形 4">
              <a:extLst>
                <a:ext uri="{FF2B5EF4-FFF2-40B4-BE49-F238E27FC236}">
                  <a16:creationId xmlns:a16="http://schemas.microsoft.com/office/drawing/2014/main" id="{977A288B-8907-9D7B-ADC1-82A61632CB99}"/>
                </a:ext>
              </a:extLst>
            </p:cNvPr>
            <p:cNvSpPr/>
            <p:nvPr/>
          </p:nvSpPr>
          <p:spPr bwMode="auto">
            <a:xfrm>
              <a:off x="710808" y="2335670"/>
              <a:ext cx="2070473" cy="110201"/>
            </a:xfrm>
            <a:prstGeom prst="rect">
              <a:avLst/>
            </a:prstGeom>
            <a:solidFill>
              <a:schemeClr val="accent1">
                <a:alpha val="50000"/>
              </a:schemeClr>
            </a:solidFill>
            <a:ln w="38100" algn="ctr">
              <a:noFill/>
              <a:miter lim="800000"/>
              <a:headEnd/>
              <a:tailEnd/>
            </a:ln>
            <a:effectLst/>
          </p:spPr>
          <p:txBody>
            <a:bodyPr wrap="none" lIns="90000" tIns="46800" rIns="90000" bIns="46800" rtlCol="0"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20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grpSp>
      <p:sp>
        <p:nvSpPr>
          <p:cNvPr id="10" name="コンテンツ プレースホルダー 9">
            <a:extLst>
              <a:ext uri="{FF2B5EF4-FFF2-40B4-BE49-F238E27FC236}">
                <a16:creationId xmlns:a16="http://schemas.microsoft.com/office/drawing/2014/main" id="{C1CB52E2-F4C9-9719-760C-CF5C0D8FB69E}"/>
              </a:ext>
            </a:extLst>
          </p:cNvPr>
          <p:cNvSpPr>
            <a:spLocks noGrp="1"/>
          </p:cNvSpPr>
          <p:nvPr>
            <p:ph idx="1"/>
          </p:nvPr>
        </p:nvSpPr>
        <p:spPr>
          <a:xfrm>
            <a:off x="492370" y="1696720"/>
            <a:ext cx="4746534" cy="4854628"/>
          </a:xfrm>
        </p:spPr>
        <p:txBody>
          <a:bodyPr>
            <a:normAutofit/>
          </a:bodyPr>
          <a:lstStyle/>
          <a:p>
            <a:pPr>
              <a:lnSpc>
                <a:spcPct val="150000"/>
              </a:lnSpc>
            </a:pPr>
            <a:r>
              <a:rPr lang="ja-JP" altLang="en-US" sz="1400">
                <a:solidFill>
                  <a:srgbClr val="000000"/>
                </a:solidFill>
                <a:latin typeface="+mn-ea"/>
              </a:rPr>
              <a:t>大好評の</a:t>
            </a:r>
            <a:r>
              <a:rPr lang="ja-JP" altLang="en-US" sz="1400" b="1">
                <a:solidFill>
                  <a:srgbClr val="000000"/>
                </a:solidFill>
                <a:latin typeface="+mn-ea"/>
              </a:rPr>
              <a:t>「ポケモンカードゲーム スクランブルバトル」</a:t>
            </a:r>
            <a:r>
              <a:rPr lang="ja-JP" altLang="en-US" sz="1400">
                <a:solidFill>
                  <a:srgbClr val="000000"/>
                </a:solidFill>
                <a:latin typeface="+mn-ea"/>
              </a:rPr>
              <a:t>を広島・東京で開催しました！</a:t>
            </a:r>
            <a:br>
              <a:rPr lang="ja-JP" altLang="en-US" sz="1400">
                <a:latin typeface="+mn-ea"/>
              </a:rPr>
            </a:br>
            <a:r>
              <a:rPr lang="ja-JP" altLang="en-US" sz="1400">
                <a:solidFill>
                  <a:srgbClr val="000000"/>
                </a:solidFill>
                <a:latin typeface="+mn-ea"/>
              </a:rPr>
              <a:t>本イベントは、参加者のスマートフォンを利用して、すぐに対戦相手とマッチングすることができる「リアルタイムスイスドロー」形式。</a:t>
            </a:r>
          </a:p>
          <a:p>
            <a:pPr>
              <a:lnSpc>
                <a:spcPct val="150000"/>
              </a:lnSpc>
            </a:pPr>
            <a:r>
              <a:rPr lang="ja-JP" altLang="en-US" sz="1400">
                <a:solidFill>
                  <a:srgbClr val="000000"/>
                </a:solidFill>
                <a:latin typeface="+mn-ea"/>
              </a:rPr>
              <a:t>今回は、</a:t>
            </a:r>
            <a:r>
              <a:rPr lang="en-US" altLang="ja-JP" sz="1400">
                <a:solidFill>
                  <a:srgbClr val="000000"/>
                </a:solidFill>
                <a:latin typeface="+mn-ea"/>
              </a:rPr>
              <a:t>1</a:t>
            </a:r>
            <a:r>
              <a:rPr lang="ja-JP" altLang="en-US" sz="1400">
                <a:solidFill>
                  <a:srgbClr val="000000"/>
                </a:solidFill>
                <a:latin typeface="+mn-ea"/>
              </a:rPr>
              <a:t>日目が</a:t>
            </a:r>
            <a:r>
              <a:rPr lang="en-US" altLang="ja-JP" sz="1400">
                <a:solidFill>
                  <a:srgbClr val="000000"/>
                </a:solidFill>
                <a:latin typeface="+mn-ea"/>
              </a:rPr>
              <a:t>1</a:t>
            </a:r>
            <a:r>
              <a:rPr lang="ja-JP" altLang="en-US" sz="1400">
                <a:solidFill>
                  <a:srgbClr val="000000"/>
                </a:solidFill>
                <a:latin typeface="+mn-ea"/>
              </a:rPr>
              <a:t>人で参加する「ソロバトル」、</a:t>
            </a:r>
            <a:r>
              <a:rPr lang="en-US" altLang="ja-JP" sz="1400">
                <a:solidFill>
                  <a:srgbClr val="000000"/>
                </a:solidFill>
                <a:latin typeface="+mn-ea"/>
              </a:rPr>
              <a:t>2</a:t>
            </a:r>
            <a:r>
              <a:rPr lang="ja-JP" altLang="en-US" sz="1400">
                <a:solidFill>
                  <a:srgbClr val="000000"/>
                </a:solidFill>
                <a:latin typeface="+mn-ea"/>
              </a:rPr>
              <a:t>日目がスクランブルバトルでは初となる</a:t>
            </a:r>
            <a:r>
              <a:rPr lang="en-US" altLang="ja-JP" sz="1400">
                <a:solidFill>
                  <a:srgbClr val="000000"/>
                </a:solidFill>
                <a:latin typeface="+mn-ea"/>
              </a:rPr>
              <a:t>3</a:t>
            </a:r>
            <a:r>
              <a:rPr lang="ja-JP" altLang="en-US" sz="1400">
                <a:solidFill>
                  <a:srgbClr val="000000"/>
                </a:solidFill>
                <a:latin typeface="+mn-ea"/>
              </a:rPr>
              <a:t>人チームで参加する「トリオバトル」を実施。新しい交流とバトルの場の創出に繋がりました。</a:t>
            </a:r>
            <a:endParaRPr lang="ja-JP" altLang="en-US" sz="1600">
              <a:latin typeface="+mn-ea"/>
            </a:endParaRPr>
          </a:p>
        </p:txBody>
      </p:sp>
      <p:sp>
        <p:nvSpPr>
          <p:cNvPr id="11" name="テキスト プレースホルダー 10">
            <a:extLst>
              <a:ext uri="{FF2B5EF4-FFF2-40B4-BE49-F238E27FC236}">
                <a16:creationId xmlns:a16="http://schemas.microsoft.com/office/drawing/2014/main" id="{C695B050-F133-4428-D165-51C0AF56197C}"/>
              </a:ext>
            </a:extLst>
          </p:cNvPr>
          <p:cNvSpPr>
            <a:spLocks noGrp="1"/>
          </p:cNvSpPr>
          <p:nvPr>
            <p:ph idx="10"/>
          </p:nvPr>
        </p:nvSpPr>
        <p:spPr>
          <a:xfrm>
            <a:off x="5638913" y="1011447"/>
            <a:ext cx="6553083" cy="1220275"/>
          </a:xfrm>
        </p:spPr>
        <p:txBody>
          <a:bodyPr>
            <a:normAutofit fontScale="92500"/>
          </a:bodyPr>
          <a:lstStyle/>
          <a:p>
            <a:r>
              <a:rPr lang="ja-JP" altLang="en-US" b="1"/>
              <a:t>大人気</a:t>
            </a:r>
            <a:r>
              <a:rPr lang="en-US" altLang="ja-JP" b="1"/>
              <a:t>IP</a:t>
            </a:r>
            <a:r>
              <a:rPr lang="ja-JP" altLang="en-US" b="1"/>
              <a:t>のリアルイベントを開催</a:t>
            </a:r>
            <a:endParaRPr lang="en-US" altLang="ja-JP" b="1"/>
          </a:p>
          <a:p>
            <a:r>
              <a:rPr lang="ja-JP" altLang="en-US" b="1"/>
              <a:t>広島・有明で参加者数は</a:t>
            </a:r>
            <a:r>
              <a:rPr lang="en-US" altLang="ja-JP" b="1"/>
              <a:t>10,000</a:t>
            </a:r>
            <a:r>
              <a:rPr lang="ja-JP" altLang="en-US" b="1"/>
              <a:t>人以上！</a:t>
            </a:r>
          </a:p>
        </p:txBody>
      </p:sp>
      <p:sp>
        <p:nvSpPr>
          <p:cNvPr id="9" name="タイトル 8">
            <a:extLst>
              <a:ext uri="{FF2B5EF4-FFF2-40B4-BE49-F238E27FC236}">
                <a16:creationId xmlns:a16="http://schemas.microsoft.com/office/drawing/2014/main" id="{F54A45E6-98A9-67E8-8A45-7AF25BBA1C04}"/>
              </a:ext>
            </a:extLst>
          </p:cNvPr>
          <p:cNvSpPr>
            <a:spLocks noGrp="1"/>
          </p:cNvSpPr>
          <p:nvPr>
            <p:ph type="title"/>
          </p:nvPr>
        </p:nvSpPr>
        <p:spPr/>
        <p:txBody>
          <a:bodyPr/>
          <a:lstStyle/>
          <a:p>
            <a:r>
              <a:rPr lang="ja-JP" altLang="en-US">
                <a:latin typeface="+mn-lt"/>
              </a:rPr>
              <a:t>最近の取り組み</a:t>
            </a:r>
          </a:p>
        </p:txBody>
      </p:sp>
      <p:sp>
        <p:nvSpPr>
          <p:cNvPr id="2" name="スライド番号プレースホルダー 1">
            <a:extLst>
              <a:ext uri="{FF2B5EF4-FFF2-40B4-BE49-F238E27FC236}">
                <a16:creationId xmlns:a16="http://schemas.microsoft.com/office/drawing/2014/main" id="{52F2C89C-19D6-36BB-C920-3B8F900E4FD5}"/>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5FDD43-FCEC-4ECC-8189-A5C6D2E08DC6}" type="slidenum">
              <a:rPr kumimoji="1" lang="ja-JP" altLang="en-US" sz="900" b="0" i="0" u="none" strike="noStrike" kern="1200" cap="none" spc="0" normalizeH="0" baseline="0" noProof="0" smtClean="0">
                <a:ln>
                  <a:noFill/>
                </a:ln>
                <a:solidFill>
                  <a:srgbClr val="333333"/>
                </a:solidFill>
                <a:effectLst/>
                <a:uLnTx/>
                <a:uFillTx/>
                <a:latin typeface="Noto Sans JP"/>
                <a:ea typeface="Noto Sans JP"/>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1" lang="ja-JP" altLang="en-US" sz="900" b="0" i="0" u="none" strike="noStrike" kern="1200" cap="none" spc="0" normalizeH="0" baseline="0" noProof="0">
              <a:ln>
                <a:noFill/>
              </a:ln>
              <a:solidFill>
                <a:srgbClr val="333333"/>
              </a:solidFill>
              <a:effectLst/>
              <a:uLnTx/>
              <a:uFillTx/>
              <a:latin typeface="Noto Sans JP"/>
              <a:ea typeface="Noto Sans JP"/>
              <a:cs typeface="+mn-cs"/>
            </a:endParaRPr>
          </a:p>
        </p:txBody>
      </p:sp>
      <p:cxnSp>
        <p:nvCxnSpPr>
          <p:cNvPr id="6" name="直線コネクタ 5">
            <a:extLst>
              <a:ext uri="{FF2B5EF4-FFF2-40B4-BE49-F238E27FC236}">
                <a16:creationId xmlns:a16="http://schemas.microsoft.com/office/drawing/2014/main" id="{A8EC0EAA-24BD-E69E-E235-493E55643A50}"/>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四角形: 角を丸くする 12">
            <a:extLst>
              <a:ext uri="{FF2B5EF4-FFF2-40B4-BE49-F238E27FC236}">
                <a16:creationId xmlns:a16="http://schemas.microsoft.com/office/drawing/2014/main" id="{44C92FD9-53A5-3C45-B4E8-D1D965AD8159}"/>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marL="0" marR="0" lvl="0" indent="0" algn="ctr" defTabSz="914400" rtl="0" eaLnBrk="1" fontAlgn="base" latinLnBrk="0" hangingPunct="1">
              <a:lnSpc>
                <a:spcPct val="150000"/>
              </a:lnSpc>
              <a:spcBef>
                <a:spcPct val="50000"/>
              </a:spcBef>
              <a:spcAft>
                <a:spcPct val="0"/>
              </a:spcAft>
              <a:buClrTx/>
              <a:buSzTx/>
              <a:buFontTx/>
              <a:buNone/>
              <a:tabLst/>
              <a:defRPr/>
            </a:pPr>
            <a:r>
              <a:rPr kumimoji="1" lang="en-US" altLang="ja-JP"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IP</a:t>
            </a:r>
            <a:endPar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FF09DFA5-BE69-0FC4-0CCE-4D868790D94D}"/>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marL="0" marR="0" lvl="0" indent="0" algn="ctr" defTabSz="914400" rtl="0" eaLnBrk="1" fontAlgn="base" latinLnBrk="0" hangingPunct="1">
              <a:lnSpc>
                <a:spcPct val="150000"/>
              </a:lnSpc>
              <a:spcBef>
                <a:spcPct val="5000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グッズ制作</a:t>
            </a:r>
          </a:p>
        </p:txBody>
      </p:sp>
      <p:sp>
        <p:nvSpPr>
          <p:cNvPr id="17" name="四角形: 角を丸くする 16">
            <a:extLst>
              <a:ext uri="{FF2B5EF4-FFF2-40B4-BE49-F238E27FC236}">
                <a16:creationId xmlns:a16="http://schemas.microsoft.com/office/drawing/2014/main" id="{B8D34FE3-B173-DEB1-F331-F0790A907DE9}"/>
              </a:ext>
            </a:extLst>
          </p:cNvPr>
          <p:cNvSpPr/>
          <p:nvPr/>
        </p:nvSpPr>
        <p:spPr bwMode="auto">
          <a:xfrm>
            <a:off x="3534468"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marL="0" marR="0" lvl="0" indent="0" algn="ctr" defTabSz="914400" rtl="0" eaLnBrk="1" fontAlgn="base" latinLnBrk="0" hangingPunct="1">
              <a:lnSpc>
                <a:spcPct val="150000"/>
              </a:lnSpc>
              <a:spcBef>
                <a:spcPct val="5000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イベント主催</a:t>
            </a:r>
          </a:p>
        </p:txBody>
      </p:sp>
      <p:sp>
        <p:nvSpPr>
          <p:cNvPr id="20" name="テキスト ボックス 19">
            <a:extLst>
              <a:ext uri="{FF2B5EF4-FFF2-40B4-BE49-F238E27FC236}">
                <a16:creationId xmlns:a16="http://schemas.microsoft.com/office/drawing/2014/main" id="{6A844402-3F03-35B9-A51B-AAB0D058B7EF}"/>
              </a:ext>
            </a:extLst>
          </p:cNvPr>
          <p:cNvSpPr txBox="1"/>
          <p:nvPr/>
        </p:nvSpPr>
        <p:spPr>
          <a:xfrm>
            <a:off x="528477" y="5161280"/>
            <a:ext cx="4472684" cy="1346522"/>
          </a:xfrm>
          <a:prstGeom prst="rect">
            <a:avLst/>
          </a:prstGeom>
          <a:noFill/>
        </p:spPr>
        <p:txBody>
          <a:bodyPr wrap="square" rtlCol="0">
            <a:spAutoFit/>
          </a:bodyPr>
          <a:lstStyle/>
          <a:p>
            <a:r>
              <a:rPr lang="ja-JP" altLang="en-US" sz="1400" b="1" i="0">
                <a:solidFill>
                  <a:srgbClr val="000000"/>
                </a:solidFill>
                <a:effectLst/>
                <a:latin typeface="メイリオ" panose="020B0604030504040204" pitchFamily="50" charset="-128"/>
                <a:ea typeface="メイリオ" panose="020B0604030504040204" pitchFamily="50" charset="-128"/>
              </a:rPr>
              <a:t>「ポケモンカードゲーム スクランブルバトル」 </a:t>
            </a:r>
            <a:endParaRPr lang="en-US" altLang="ja-JP" sz="1400" b="1" i="0">
              <a:solidFill>
                <a:srgbClr val="000000"/>
              </a:solidFill>
              <a:effectLst/>
              <a:latin typeface="メイリオ" panose="020B0604030504040204" pitchFamily="50" charset="-128"/>
              <a:ea typeface="メイリオ" panose="020B0604030504040204" pitchFamily="50" charset="-128"/>
            </a:endParaRPr>
          </a:p>
          <a:p>
            <a:pPr algn="just">
              <a:lnSpc>
                <a:spcPct val="150000"/>
              </a:lnSpc>
            </a:pPr>
            <a:r>
              <a:rPr lang="en-US" altLang="ja-JP" sz="900">
                <a:solidFill>
                  <a:srgbClr val="000000"/>
                </a:solidFill>
                <a:latin typeface="メイリオ" panose="020B0604030504040204" pitchFamily="50" charset="-128"/>
                <a:ea typeface="メイリオ" panose="020B0604030504040204" pitchFamily="50" charset="-128"/>
              </a:rPr>
              <a:t>2025/8/23</a:t>
            </a:r>
            <a:r>
              <a:rPr lang="ja-JP" altLang="en-US" sz="900">
                <a:solidFill>
                  <a:srgbClr val="000000"/>
                </a:solidFill>
                <a:latin typeface="メイリオ" panose="020B0604030504040204" pitchFamily="50" charset="-128"/>
                <a:ea typeface="メイリオ" panose="020B0604030504040204" pitchFamily="50" charset="-128"/>
              </a:rPr>
              <a:t>・</a:t>
            </a:r>
            <a:r>
              <a:rPr lang="en-US" altLang="ja-JP" sz="900">
                <a:solidFill>
                  <a:srgbClr val="000000"/>
                </a:solidFill>
                <a:latin typeface="メイリオ" panose="020B0604030504040204" pitchFamily="50" charset="-128"/>
                <a:ea typeface="メイリオ" panose="020B0604030504040204" pitchFamily="50" charset="-128"/>
              </a:rPr>
              <a:t>24</a:t>
            </a:r>
          </a:p>
          <a:p>
            <a:pPr algn="just"/>
            <a:r>
              <a:rPr lang="ja-JP" altLang="en-US" sz="900">
                <a:solidFill>
                  <a:srgbClr val="000000"/>
                </a:solidFill>
                <a:latin typeface="メイリオ" panose="020B0604030504040204" pitchFamily="50" charset="-128"/>
                <a:ea typeface="メイリオ" panose="020B0604030504040204" pitchFamily="50" charset="-128"/>
              </a:rPr>
              <a:t>広島：広島グリーンアリーナ</a:t>
            </a:r>
          </a:p>
          <a:p>
            <a:pPr algn="just"/>
            <a:endParaRPr lang="ja-JP" altLang="en-US" sz="900" b="0" i="0">
              <a:solidFill>
                <a:srgbClr val="000000"/>
              </a:solidFill>
              <a:effectLst/>
              <a:latin typeface="メイリオ" panose="020B0604030504040204" pitchFamily="50" charset="-128"/>
              <a:ea typeface="メイリオ" panose="020B0604030504040204" pitchFamily="50" charset="-128"/>
            </a:endParaRPr>
          </a:p>
          <a:p>
            <a:pPr algn="just"/>
            <a:r>
              <a:rPr lang="en-US" altLang="ja-JP" sz="900">
                <a:solidFill>
                  <a:srgbClr val="000000"/>
                </a:solidFill>
                <a:latin typeface="メイリオ" panose="020B0604030504040204" pitchFamily="50" charset="-128"/>
                <a:ea typeface="メイリオ" panose="020B0604030504040204" pitchFamily="50" charset="-128"/>
              </a:rPr>
              <a:t>2025/8/30</a:t>
            </a:r>
            <a:r>
              <a:rPr lang="ja-JP" altLang="en-US" sz="900">
                <a:solidFill>
                  <a:srgbClr val="000000"/>
                </a:solidFill>
                <a:latin typeface="メイリオ" panose="020B0604030504040204" pitchFamily="50" charset="-128"/>
                <a:ea typeface="メイリオ" panose="020B0604030504040204" pitchFamily="50" charset="-128"/>
              </a:rPr>
              <a:t>・</a:t>
            </a:r>
            <a:r>
              <a:rPr lang="en-US" altLang="ja-JP" sz="900">
                <a:solidFill>
                  <a:srgbClr val="000000"/>
                </a:solidFill>
                <a:latin typeface="メイリオ" panose="020B0604030504040204" pitchFamily="50" charset="-128"/>
                <a:ea typeface="メイリオ" panose="020B0604030504040204" pitchFamily="50" charset="-128"/>
              </a:rPr>
              <a:t>31</a:t>
            </a:r>
          </a:p>
          <a:p>
            <a:pPr algn="just"/>
            <a:r>
              <a:rPr lang="ja-JP" altLang="en-US" sz="900">
                <a:solidFill>
                  <a:srgbClr val="000000"/>
                </a:solidFill>
                <a:latin typeface="メイリオ" panose="020B0604030504040204" pitchFamily="50" charset="-128"/>
                <a:ea typeface="メイリオ" panose="020B0604030504040204" pitchFamily="50" charset="-128"/>
              </a:rPr>
              <a:t>東京：有明</a:t>
            </a:r>
            <a:r>
              <a:rPr lang="en-US" altLang="ja-JP" sz="900">
                <a:solidFill>
                  <a:srgbClr val="000000"/>
                </a:solidFill>
                <a:latin typeface="メイリオ" panose="020B0604030504040204" pitchFamily="50" charset="-128"/>
                <a:ea typeface="メイリオ" panose="020B0604030504040204" pitchFamily="50" charset="-128"/>
              </a:rPr>
              <a:t>GYM-EX</a:t>
            </a:r>
          </a:p>
          <a:p>
            <a:pPr algn="just"/>
            <a:endParaRPr kumimoji="1" lang="en-US" altLang="ja-JP" sz="900" b="1">
              <a:latin typeface="メイリオ" panose="020B0604030504040204" pitchFamily="50" charset="-128"/>
              <a:ea typeface="メイリオ" panose="020B0604030504040204" pitchFamily="50" charset="-128"/>
            </a:endParaRPr>
          </a:p>
          <a:p>
            <a:r>
              <a:rPr lang="ja-JP" altLang="en-US" sz="900">
                <a:latin typeface="メイリオ" panose="020B0604030504040204" pitchFamily="50" charset="-128"/>
                <a:ea typeface="メイリオ" panose="020B0604030504040204" pitchFamily="50" charset="-128"/>
              </a:rPr>
              <a:t>・イベント運営、会場内装飾、会場内アナウンス　</a:t>
            </a:r>
            <a:r>
              <a:rPr lang="en-US" altLang="ja-JP" sz="900">
                <a:latin typeface="メイリオ" panose="020B0604030504040204" pitchFamily="50" charset="-128"/>
                <a:ea typeface="メイリオ" panose="020B0604030504040204" pitchFamily="50" charset="-128"/>
              </a:rPr>
              <a:t>※</a:t>
            </a:r>
            <a:r>
              <a:rPr lang="ja-JP" altLang="en-US" sz="900">
                <a:latin typeface="メイリオ" panose="020B0604030504040204" pitchFamily="50" charset="-128"/>
                <a:ea typeface="メイリオ" panose="020B0604030504040204" pitchFamily="50" charset="-128"/>
              </a:rPr>
              <a:t>イベント制作請負</a:t>
            </a:r>
            <a:endParaRPr lang="en-US" altLang="ja-JP" sz="900">
              <a:latin typeface="メイリオ" panose="020B0604030504040204" pitchFamily="50" charset="-128"/>
              <a:ea typeface="メイリオ" panose="020B0604030504040204" pitchFamily="50" charset="-128"/>
            </a:endParaRPr>
          </a:p>
        </p:txBody>
      </p:sp>
      <p:pic>
        <p:nvPicPr>
          <p:cNvPr id="8" name="図 7" descr="らくがき が含まれている画像&#10;&#10;AI 生成コンテンツは誤りを含む可能性があります。">
            <a:extLst>
              <a:ext uri="{FF2B5EF4-FFF2-40B4-BE49-F238E27FC236}">
                <a16:creationId xmlns:a16="http://schemas.microsoft.com/office/drawing/2014/main" id="{1047B0F0-F8B8-F583-7CDF-0A0464A2B4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2165" y="2033194"/>
            <a:ext cx="4606813" cy="2519155"/>
          </a:xfrm>
          <a:prstGeom prst="rect">
            <a:avLst/>
          </a:prstGeom>
        </p:spPr>
      </p:pic>
      <p:pic>
        <p:nvPicPr>
          <p:cNvPr id="16" name="図 15" descr="屋内, 天井, 民衆, 大きい が含まれている画像&#10;&#10;AI 生成コンテンツは誤りを含む可能性があります。">
            <a:extLst>
              <a:ext uri="{FF2B5EF4-FFF2-40B4-BE49-F238E27FC236}">
                <a16:creationId xmlns:a16="http://schemas.microsoft.com/office/drawing/2014/main" id="{040F2613-C19E-6376-648F-23982086C6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55572" y="4626277"/>
            <a:ext cx="3200943" cy="1802131"/>
          </a:xfrm>
          <a:prstGeom prst="rect">
            <a:avLst/>
          </a:prstGeom>
        </p:spPr>
      </p:pic>
      <p:pic>
        <p:nvPicPr>
          <p:cNvPr id="21" name="図 20" descr="屋内, グループ, 建物, 写真 が含まれている画像&#10;&#10;AI 生成コンテンツは誤りを含む可能性があります。">
            <a:extLst>
              <a:ext uri="{FF2B5EF4-FFF2-40B4-BE49-F238E27FC236}">
                <a16:creationId xmlns:a16="http://schemas.microsoft.com/office/drawing/2014/main" id="{0B8D24DB-008A-4F1A-B966-5BC0617C14F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5287" y="4626277"/>
            <a:ext cx="3200285" cy="1802131"/>
          </a:xfrm>
          <a:prstGeom prst="rect">
            <a:avLst/>
          </a:prstGeom>
        </p:spPr>
      </p:pic>
    </p:spTree>
    <p:extLst>
      <p:ext uri="{BB962C8B-B14F-4D97-AF65-F5344CB8AC3E}">
        <p14:creationId xmlns:p14="http://schemas.microsoft.com/office/powerpoint/2010/main" val="16114899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C2FC4-7FCB-ADA1-147F-96A724F84FBC}"/>
            </a:ext>
          </a:extLst>
        </p:cNvPr>
        <p:cNvGrpSpPr/>
        <p:nvPr/>
      </p:nvGrpSpPr>
      <p:grpSpPr>
        <a:xfrm>
          <a:off x="0" y="0"/>
          <a:ext cx="0" cy="0"/>
          <a:chOff x="0" y="0"/>
          <a:chExt cx="0" cy="0"/>
        </a:xfrm>
      </p:grpSpPr>
      <p:sp>
        <p:nvSpPr>
          <p:cNvPr id="15" name="テキスト プレースホルダー 14">
            <a:extLst>
              <a:ext uri="{FF2B5EF4-FFF2-40B4-BE49-F238E27FC236}">
                <a16:creationId xmlns:a16="http://schemas.microsoft.com/office/drawing/2014/main" id="{7FCA09FE-83DE-A20F-7532-4BB22B93495D}"/>
              </a:ext>
            </a:extLst>
          </p:cNvPr>
          <p:cNvSpPr>
            <a:spLocks noGrp="1"/>
          </p:cNvSpPr>
          <p:nvPr>
            <p:ph idx="10"/>
          </p:nvPr>
        </p:nvSpPr>
        <p:spPr>
          <a:xfrm>
            <a:off x="5499413" y="1034781"/>
            <a:ext cx="6100958" cy="5539901"/>
          </a:xfrm>
        </p:spPr>
        <p:txBody>
          <a:bodyPr>
            <a:normAutofit/>
          </a:bodyPr>
          <a:lstStyle/>
          <a:p>
            <a:pPr>
              <a:lnSpc>
                <a:spcPct val="100000"/>
              </a:lnSpc>
            </a:pPr>
            <a:r>
              <a:rPr lang="ja-JP" altLang="en-US" b="1"/>
              <a:t>人気作品を原作とした新作コミック</a:t>
            </a:r>
            <a:endParaRPr kumimoji="1" lang="ja-JP" altLang="en-US" b="1"/>
          </a:p>
          <a:p>
            <a:pPr>
              <a:lnSpc>
                <a:spcPct val="100000"/>
              </a:lnSpc>
            </a:pPr>
            <a:endParaRPr lang="ja-JP" altLang="en-US" sz="2000"/>
          </a:p>
        </p:txBody>
      </p:sp>
      <p:sp>
        <p:nvSpPr>
          <p:cNvPr id="21" name="正方形/長方形 20">
            <a:extLst>
              <a:ext uri="{FF2B5EF4-FFF2-40B4-BE49-F238E27FC236}">
                <a16:creationId xmlns:a16="http://schemas.microsoft.com/office/drawing/2014/main" id="{76A6DC79-6A64-F2FD-74C8-00C78C283991}"/>
              </a:ext>
            </a:extLst>
          </p:cNvPr>
          <p:cNvSpPr/>
          <p:nvPr/>
        </p:nvSpPr>
        <p:spPr bwMode="auto">
          <a:xfrm>
            <a:off x="5509627" y="1844840"/>
            <a:ext cx="3059929" cy="134832"/>
          </a:xfrm>
          <a:prstGeom prst="rect">
            <a:avLst/>
          </a:prstGeom>
          <a:solidFill>
            <a:srgbClr val="F4C8B3"/>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11" name="四角形: 角を丸くする 10">
            <a:extLst>
              <a:ext uri="{FF2B5EF4-FFF2-40B4-BE49-F238E27FC236}">
                <a16:creationId xmlns:a16="http://schemas.microsoft.com/office/drawing/2014/main" id="{92143EED-52FF-AF43-F8BF-D5CA0CFDFDBD}"/>
              </a:ext>
            </a:extLst>
          </p:cNvPr>
          <p:cNvSpPr/>
          <p:nvPr/>
        </p:nvSpPr>
        <p:spPr>
          <a:xfrm>
            <a:off x="5590389" y="1628520"/>
            <a:ext cx="2959503" cy="369332"/>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ja-JP" sz="1600" b="1">
                <a:solidFill>
                  <a:schemeClr val="tx1"/>
                </a:solidFill>
                <a:latin typeface="メイリオ" panose="020B0604030504040204" pitchFamily="50" charset="-128"/>
                <a:ea typeface="メイリオ" panose="020B0604030504040204" pitchFamily="50" charset="-128"/>
              </a:rPr>
              <a:t>ピッコマ</a:t>
            </a:r>
            <a:r>
              <a:rPr lang="ja-JP" altLang="en-US" sz="1600" b="1">
                <a:solidFill>
                  <a:schemeClr val="tx1"/>
                </a:solidFill>
                <a:latin typeface="メイリオ" panose="020B0604030504040204" pitchFamily="50" charset="-128"/>
                <a:ea typeface="メイリオ" panose="020B0604030504040204" pitchFamily="50" charset="-128"/>
              </a:rPr>
              <a:t> </a:t>
            </a:r>
            <a:r>
              <a:rPr lang="ja-JP" altLang="ja-JP" sz="1600" b="1">
                <a:solidFill>
                  <a:schemeClr val="tx1"/>
                </a:solidFill>
                <a:latin typeface="メイリオ" panose="020B0604030504040204" pitchFamily="50" charset="-128"/>
                <a:ea typeface="メイリオ" panose="020B0604030504040204" pitchFamily="50" charset="-128"/>
              </a:rPr>
              <a:t>コミック総合</a:t>
            </a:r>
            <a:r>
              <a:rPr lang="ja-JP" altLang="en-US" sz="1600" b="1">
                <a:solidFill>
                  <a:schemeClr val="tx1"/>
                </a:solidFill>
                <a:latin typeface="メイリオ" panose="020B0604030504040204" pitchFamily="50" charset="-128"/>
                <a:ea typeface="メイリオ" panose="020B0604030504040204" pitchFamily="50" charset="-128"/>
              </a:rPr>
              <a:t>１</a:t>
            </a:r>
            <a:r>
              <a:rPr lang="ja-JP" altLang="ja-JP" sz="1600" b="1">
                <a:solidFill>
                  <a:schemeClr val="tx1"/>
                </a:solidFill>
                <a:latin typeface="メイリオ" panose="020B0604030504040204" pitchFamily="50" charset="-128"/>
                <a:ea typeface="メイリオ" panose="020B0604030504040204" pitchFamily="50" charset="-128"/>
              </a:rPr>
              <a:t>位獲得</a:t>
            </a:r>
            <a:r>
              <a:rPr lang="ja-JP" altLang="en-US" sz="1600" b="1">
                <a:solidFill>
                  <a:schemeClr val="tx1"/>
                </a:solidFill>
                <a:latin typeface="メイリオ" panose="020B0604030504040204" pitchFamily="50" charset="-128"/>
                <a:ea typeface="メイリオ" panose="020B0604030504040204" pitchFamily="50" charset="-128"/>
              </a:rPr>
              <a:t>！</a:t>
            </a:r>
            <a:endParaRPr lang="ja-JP" altLang="ja-JP" sz="1600" b="1">
              <a:solidFill>
                <a:schemeClr val="tx1"/>
              </a:solidFill>
              <a:latin typeface="メイリオ" panose="020B0604030504040204" pitchFamily="50" charset="-128"/>
              <a:ea typeface="メイリオ" panose="020B0604030504040204" pitchFamily="50" charset="-128"/>
            </a:endParaRPr>
          </a:p>
        </p:txBody>
      </p:sp>
      <p:sp>
        <p:nvSpPr>
          <p:cNvPr id="7" name="四角形: 角を丸くする 6">
            <a:extLst>
              <a:ext uri="{FF2B5EF4-FFF2-40B4-BE49-F238E27FC236}">
                <a16:creationId xmlns:a16="http://schemas.microsoft.com/office/drawing/2014/main" id="{2CB097BA-46E0-3E7B-77A9-0D8D4D379E03}"/>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marL="0" marR="0" lvl="0" indent="0" algn="ctr" defTabSz="914400" rtl="0" eaLnBrk="1" fontAlgn="base" latinLnBrk="0" hangingPunct="1">
              <a:lnSpc>
                <a:spcPct val="150000"/>
              </a:lnSpc>
              <a:spcBef>
                <a:spcPct val="5000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漫画</a:t>
            </a:r>
          </a:p>
        </p:txBody>
      </p:sp>
      <p:sp>
        <p:nvSpPr>
          <p:cNvPr id="9" name="四角形: 角を丸くする 8">
            <a:extLst>
              <a:ext uri="{FF2B5EF4-FFF2-40B4-BE49-F238E27FC236}">
                <a16:creationId xmlns:a16="http://schemas.microsoft.com/office/drawing/2014/main" id="{313E5623-2246-5B5E-50F6-80D224398BF0}"/>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marL="0" marR="0" lvl="0" indent="0" algn="ctr" defTabSz="914400" rtl="0" eaLnBrk="1" fontAlgn="base" latinLnBrk="0" hangingPunct="1">
              <a:lnSpc>
                <a:spcPct val="150000"/>
              </a:lnSpc>
              <a:spcBef>
                <a:spcPct val="5000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電子書籍</a:t>
            </a:r>
          </a:p>
        </p:txBody>
      </p:sp>
      <p:sp>
        <p:nvSpPr>
          <p:cNvPr id="8" name="コンテンツ プレースホルダー 7">
            <a:extLst>
              <a:ext uri="{FF2B5EF4-FFF2-40B4-BE49-F238E27FC236}">
                <a16:creationId xmlns:a16="http://schemas.microsoft.com/office/drawing/2014/main" id="{8B6B7572-191E-9B78-21E2-EE9C121442CD}"/>
              </a:ext>
            </a:extLst>
          </p:cNvPr>
          <p:cNvSpPr>
            <a:spLocks noGrp="1"/>
          </p:cNvSpPr>
          <p:nvPr>
            <p:ph idx="1"/>
          </p:nvPr>
        </p:nvSpPr>
        <p:spPr>
          <a:xfrm>
            <a:off x="598249" y="4357649"/>
            <a:ext cx="4710655" cy="1773596"/>
          </a:xfrm>
        </p:spPr>
        <p:txBody>
          <a:bodyPr anchor="t">
            <a:normAutofit fontScale="92500" lnSpcReduction="10000"/>
          </a:bodyPr>
          <a:lstStyle/>
          <a:p>
            <a:pPr>
              <a:lnSpc>
                <a:spcPct val="150000"/>
              </a:lnSpc>
            </a:pPr>
            <a:r>
              <a:rPr lang="en-US" altLang="ja-JP" sz="1600"/>
              <a:t>2025</a:t>
            </a:r>
            <a:r>
              <a:rPr lang="ja-JP" altLang="en-US" sz="1600"/>
              <a:t>年</a:t>
            </a:r>
            <a:r>
              <a:rPr lang="en-US" altLang="ja-JP" sz="1600"/>
              <a:t>2</a:t>
            </a:r>
            <a:r>
              <a:rPr lang="ja-JP" altLang="en-US" sz="1600"/>
              <a:t>月</a:t>
            </a:r>
            <a:r>
              <a:rPr lang="en-US" altLang="ja-JP" sz="1600"/>
              <a:t>20</a:t>
            </a:r>
            <a:r>
              <a:rPr lang="ja-JP" altLang="en-US" sz="1600"/>
              <a:t>日（木）に配信開始した</a:t>
            </a:r>
            <a:r>
              <a:rPr lang="en-US" altLang="ja-JP" sz="1600" b="1" u="sng">
                <a:solidFill>
                  <a:schemeClr val="accent4">
                    <a:lumMod val="75000"/>
                  </a:schemeClr>
                </a:solidFill>
                <a:hlinkClick r:id="rId3">
                  <a:extLst>
                    <a:ext uri="{A12FA001-AC4F-418D-AE19-62706E023703}">
                      <ahyp:hlinkClr xmlns:ahyp="http://schemas.microsoft.com/office/drawing/2018/hyperlinkcolor" val="tx"/>
                    </a:ext>
                  </a:extLst>
                </a:hlinkClick>
              </a:rPr>
              <a:t>『</a:t>
            </a:r>
            <a:r>
              <a:rPr lang="ja-JP" altLang="en-US" sz="1600" b="1" u="sng">
                <a:solidFill>
                  <a:schemeClr val="accent4">
                    <a:lumMod val="75000"/>
                  </a:schemeClr>
                </a:solidFill>
                <a:hlinkClick r:id="rId3">
                  <a:extLst>
                    <a:ext uri="{A12FA001-AC4F-418D-AE19-62706E023703}">
                      <ahyp:hlinkClr xmlns:ahyp="http://schemas.microsoft.com/office/drawing/2018/hyperlinkcolor" val="tx"/>
                    </a:ext>
                  </a:extLst>
                </a:hlinkClick>
              </a:rPr>
              <a:t>頭に花なんて咲いてません！悪役令嬢のツンが可愛すぎる件</a:t>
            </a:r>
            <a:r>
              <a:rPr lang="en-US" altLang="ja-JP" sz="1600" b="1" u="sng">
                <a:solidFill>
                  <a:schemeClr val="accent4">
                    <a:lumMod val="75000"/>
                  </a:schemeClr>
                </a:solidFill>
                <a:hlinkClick r:id="rId3">
                  <a:extLst>
                    <a:ext uri="{A12FA001-AC4F-418D-AE19-62706E023703}">
                      <ahyp:hlinkClr xmlns:ahyp="http://schemas.microsoft.com/office/drawing/2018/hyperlinkcolor" val="tx"/>
                    </a:ext>
                  </a:extLst>
                </a:hlinkClick>
              </a:rPr>
              <a:t>』</a:t>
            </a:r>
            <a:r>
              <a:rPr lang="ja-JP" altLang="en-US" sz="1600"/>
              <a:t>は、「</a:t>
            </a:r>
            <a:r>
              <a:rPr lang="en-US" altLang="ja-JP" sz="1600"/>
              <a:t>Amazon Kindle</a:t>
            </a:r>
            <a:r>
              <a:rPr lang="ja-JP" altLang="en-US" sz="1600"/>
              <a:t>」「ピッコマ」「</a:t>
            </a:r>
            <a:r>
              <a:rPr lang="en-US" altLang="ja-JP" sz="1600"/>
              <a:t>LINE</a:t>
            </a:r>
            <a:r>
              <a:rPr lang="ja-JP" altLang="en-US" sz="1600"/>
              <a:t>マンガ」「コミックシーモア」「</a:t>
            </a:r>
            <a:r>
              <a:rPr lang="en-US" altLang="ja-JP" sz="1600" err="1"/>
              <a:t>ebookjapan</a:t>
            </a:r>
            <a:r>
              <a:rPr lang="ja-JP" altLang="en-US" sz="1600"/>
              <a:t>」などの各電子書店で配信中です。</a:t>
            </a:r>
          </a:p>
        </p:txBody>
      </p:sp>
      <p:sp>
        <p:nvSpPr>
          <p:cNvPr id="6" name="タイトル 5">
            <a:extLst>
              <a:ext uri="{FF2B5EF4-FFF2-40B4-BE49-F238E27FC236}">
                <a16:creationId xmlns:a16="http://schemas.microsoft.com/office/drawing/2014/main" id="{0C04573B-B695-C4A1-7C7B-105368E41DBD}"/>
              </a:ext>
            </a:extLst>
          </p:cNvPr>
          <p:cNvSpPr>
            <a:spLocks noGrp="1"/>
          </p:cNvSpPr>
          <p:nvPr>
            <p:ph type="title"/>
          </p:nvPr>
        </p:nvSpPr>
        <p:spPr>
          <a:xfrm>
            <a:off x="641684" y="49638"/>
            <a:ext cx="9231567" cy="467359"/>
          </a:xfrm>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69449228-7AD3-6F20-69AB-FCD9D879DB89}"/>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5FDD43-FCEC-4ECC-8189-A5C6D2E08DC6}" type="slidenum">
              <a:rPr kumimoji="1" lang="ja-JP" altLang="en-US" sz="900" b="0" i="0" u="none" strike="noStrike" kern="1200" cap="none" spc="0" normalizeH="0" baseline="0" noProof="0" smtClean="0">
                <a:ln>
                  <a:noFill/>
                </a:ln>
                <a:solidFill>
                  <a:srgbClr val="333333"/>
                </a:solidFill>
                <a:effectLst/>
                <a:uLnTx/>
                <a:uFillTx/>
                <a:latin typeface="Noto Sans JP"/>
                <a:ea typeface="Noto Sans JP"/>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1" lang="ja-JP" altLang="en-US" sz="900" b="0" i="0" u="none" strike="noStrike" kern="1200" cap="none" spc="0" normalizeH="0" baseline="0" noProof="0">
              <a:ln>
                <a:noFill/>
              </a:ln>
              <a:solidFill>
                <a:srgbClr val="333333"/>
              </a:solidFill>
              <a:effectLst/>
              <a:uLnTx/>
              <a:uFillTx/>
              <a:latin typeface="Noto Sans JP"/>
              <a:ea typeface="Noto Sans JP"/>
              <a:cs typeface="+mn-cs"/>
            </a:endParaRPr>
          </a:p>
        </p:txBody>
      </p:sp>
      <p:sp>
        <p:nvSpPr>
          <p:cNvPr id="5" name="四角形: 角を丸くする 4">
            <a:extLst>
              <a:ext uri="{FF2B5EF4-FFF2-40B4-BE49-F238E27FC236}">
                <a16:creationId xmlns:a16="http://schemas.microsoft.com/office/drawing/2014/main" id="{83461EAA-D6F9-9D04-2982-CFBAB4F835E2}"/>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marL="0" marR="0" lvl="0" indent="0" algn="ctr" defTabSz="914400" rtl="0" eaLnBrk="1" fontAlgn="base" latinLnBrk="0" hangingPunct="1">
              <a:lnSpc>
                <a:spcPct val="150000"/>
              </a:lnSpc>
              <a:spcBef>
                <a:spcPct val="5000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オリジナル</a:t>
            </a:r>
          </a:p>
        </p:txBody>
      </p:sp>
      <p:pic>
        <p:nvPicPr>
          <p:cNvPr id="10" name="図 9">
            <a:extLst>
              <a:ext uri="{FF2B5EF4-FFF2-40B4-BE49-F238E27FC236}">
                <a16:creationId xmlns:a16="http://schemas.microsoft.com/office/drawing/2014/main" id="{972831FA-A23C-58B0-4443-58520BAA237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607178" y="2046917"/>
            <a:ext cx="2847269" cy="4034128"/>
          </a:xfrm>
          <a:prstGeom prst="rect">
            <a:avLst/>
          </a:prstGeom>
        </p:spPr>
      </p:pic>
      <p:pic>
        <p:nvPicPr>
          <p:cNvPr id="12" name="図 11" descr="ダイアグラム&#10;&#10;AI によって生成されたコンテンツは間違っている可能性があります。">
            <a:extLst>
              <a:ext uri="{FF2B5EF4-FFF2-40B4-BE49-F238E27FC236}">
                <a16:creationId xmlns:a16="http://schemas.microsoft.com/office/drawing/2014/main" id="{3EF6A54D-A6F0-0825-3FFD-6FEC091B66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15595" y="2055405"/>
            <a:ext cx="2851711" cy="4034128"/>
          </a:xfrm>
          <a:prstGeom prst="rect">
            <a:avLst/>
          </a:prstGeom>
        </p:spPr>
      </p:pic>
      <p:sp>
        <p:nvSpPr>
          <p:cNvPr id="13" name="テキスト ボックス 12">
            <a:extLst>
              <a:ext uri="{FF2B5EF4-FFF2-40B4-BE49-F238E27FC236}">
                <a16:creationId xmlns:a16="http://schemas.microsoft.com/office/drawing/2014/main" id="{B5CED799-4876-635C-B4E3-ACEEC41247DA}"/>
              </a:ext>
            </a:extLst>
          </p:cNvPr>
          <p:cNvSpPr txBox="1"/>
          <p:nvPr/>
        </p:nvSpPr>
        <p:spPr>
          <a:xfrm>
            <a:off x="754332" y="6163188"/>
            <a:ext cx="3709670" cy="5078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r>
              <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頭に花なんて咲いてません！悪役令嬢のツンがかわいすぎる件</a:t>
            </a:r>
            <a:r>
              <a:rPr kumimoji="1" lang="en-US" altLang="ja-JP"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作画：白尾こじょ　　　編集：漫画</a:t>
            </a:r>
            <a:r>
              <a:rPr kumimoji="1" lang="en-US" altLang="ja-JP"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LABO</a:t>
            </a:r>
            <a:r>
              <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原作：まどろみポメ</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配信元 ： インカローズコミックス（</a:t>
            </a:r>
            <a:r>
              <a:rPr kumimoji="1" lang="en-US" altLang="ja-JP"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C&amp;R</a:t>
            </a:r>
            <a:r>
              <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社）</a:t>
            </a:r>
          </a:p>
        </p:txBody>
      </p:sp>
      <p:sp>
        <p:nvSpPr>
          <p:cNvPr id="2" name="テキスト ボックス 12">
            <a:extLst>
              <a:ext uri="{FF2B5EF4-FFF2-40B4-BE49-F238E27FC236}">
                <a16:creationId xmlns:a16="http://schemas.microsoft.com/office/drawing/2014/main" id="{97DC02FA-4491-514E-7ACE-FA4F88524779}"/>
              </a:ext>
            </a:extLst>
          </p:cNvPr>
          <p:cNvSpPr txBox="1"/>
          <p:nvPr/>
        </p:nvSpPr>
        <p:spPr>
          <a:xfrm>
            <a:off x="5450635" y="6192684"/>
            <a:ext cx="3059929" cy="507831"/>
          </a:xfrm>
          <a:prstGeom prst="rect">
            <a:avLst/>
          </a:prstGeom>
          <a:noFill/>
        </p:spPr>
        <p:txBody>
          <a:bodyPr wrap="square" lIns="91440" tIns="45720" rIns="91440" bIns="45720" rtlCol="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ja-JP" sz="900">
                <a:latin typeface="メイリオ" panose="020B0604030504040204" pitchFamily="50" charset="-128"/>
                <a:ea typeface="メイリオ" panose="020B0604030504040204" pitchFamily="50" charset="-128"/>
              </a:rPr>
              <a:t>『ある日突然、夫が愛人を連れてくるものですから…』</a:t>
            </a:r>
          </a:p>
          <a:p>
            <a:r>
              <a:rPr lang="ja-JP" altLang="ja-JP" sz="900">
                <a:latin typeface="メイリオ" panose="020B0604030504040204" pitchFamily="50" charset="-128"/>
                <a:ea typeface="メイリオ" panose="020B0604030504040204" pitchFamily="50" charset="-128"/>
              </a:rPr>
              <a:t>作画：カイコユキ</a:t>
            </a:r>
            <a:r>
              <a:rPr lang="en-US" altLang="ja-JP" sz="900">
                <a:latin typeface="メイリオ" panose="020B0604030504040204" pitchFamily="50" charset="-128"/>
                <a:ea typeface="メイリオ" panose="020B0604030504040204" pitchFamily="50" charset="-128"/>
              </a:rPr>
              <a:t>  </a:t>
            </a:r>
            <a:r>
              <a:rPr lang="ja-JP" altLang="ja-JP" sz="900">
                <a:latin typeface="メイリオ" panose="020B0604030504040204" pitchFamily="50" charset="-128"/>
                <a:ea typeface="メイリオ" panose="020B0604030504040204" pitchFamily="50" charset="-128"/>
              </a:rPr>
              <a:t>編集：漫画</a:t>
            </a:r>
            <a:r>
              <a:rPr lang="en-US" altLang="ja-JP" sz="900">
                <a:latin typeface="メイリオ" panose="020B0604030504040204" pitchFamily="50" charset="-128"/>
                <a:ea typeface="メイリオ" panose="020B0604030504040204" pitchFamily="50" charset="-128"/>
              </a:rPr>
              <a:t>LABO</a:t>
            </a:r>
            <a:r>
              <a:rPr lang="ja-JP" altLang="en-US" sz="900">
                <a:latin typeface="メイリオ" panose="020B0604030504040204" pitchFamily="50" charset="-128"/>
                <a:ea typeface="メイリオ" panose="020B0604030504040204" pitchFamily="50" charset="-128"/>
              </a:rPr>
              <a:t>　</a:t>
            </a:r>
            <a:r>
              <a:rPr lang="ja-JP" altLang="ja-JP" sz="900">
                <a:latin typeface="メイリオ" panose="020B0604030504040204" pitchFamily="50" charset="-128"/>
                <a:ea typeface="メイリオ" panose="020B0604030504040204" pitchFamily="50" charset="-128"/>
              </a:rPr>
              <a:t>原作：七瀬菜々</a:t>
            </a:r>
          </a:p>
          <a:p>
            <a:r>
              <a:rPr lang="ja-JP" altLang="ja-JP" sz="900">
                <a:latin typeface="メイリオ" panose="020B0604030504040204" pitchFamily="50" charset="-128"/>
                <a:ea typeface="メイリオ" panose="020B0604030504040204" pitchFamily="50" charset="-128"/>
              </a:rPr>
              <a:t>配信元：インカローズコミックス</a:t>
            </a:r>
            <a:r>
              <a:rPr lang="en-US" altLang="ja-JP" sz="900">
                <a:latin typeface="メイリオ" panose="020B0604030504040204" pitchFamily="50" charset="-128"/>
                <a:ea typeface="メイリオ" panose="020B0604030504040204" pitchFamily="50" charset="-128"/>
              </a:rPr>
              <a:t>(C&amp;R</a:t>
            </a:r>
            <a:r>
              <a:rPr lang="ja-JP" altLang="ja-JP" sz="900">
                <a:latin typeface="メイリオ" panose="020B0604030504040204" pitchFamily="50" charset="-128"/>
                <a:ea typeface="メイリオ" panose="020B0604030504040204" pitchFamily="50" charset="-128"/>
              </a:rPr>
              <a:t>社</a:t>
            </a:r>
            <a:r>
              <a:rPr lang="en-US" altLang="ja-JP" sz="900">
                <a:latin typeface="メイリオ" panose="020B0604030504040204" pitchFamily="50" charset="-128"/>
                <a:ea typeface="メイリオ" panose="020B0604030504040204" pitchFamily="50" charset="-128"/>
              </a:rPr>
              <a:t>)</a:t>
            </a:r>
            <a:endParaRPr lang="ja-JP" altLang="ja-JP" sz="900">
              <a:latin typeface="メイリオ" panose="020B0604030504040204" pitchFamily="50" charset="-128"/>
              <a:ea typeface="メイリオ" panose="020B0604030504040204" pitchFamily="50" charset="-128"/>
            </a:endParaRPr>
          </a:p>
        </p:txBody>
      </p:sp>
      <p:sp>
        <p:nvSpPr>
          <p:cNvPr id="4" name="テキスト ボックス 12">
            <a:extLst>
              <a:ext uri="{FF2B5EF4-FFF2-40B4-BE49-F238E27FC236}">
                <a16:creationId xmlns:a16="http://schemas.microsoft.com/office/drawing/2014/main" id="{B5DA919B-056C-260F-660F-3CAEB9AFDB02}"/>
              </a:ext>
            </a:extLst>
          </p:cNvPr>
          <p:cNvSpPr txBox="1"/>
          <p:nvPr/>
        </p:nvSpPr>
        <p:spPr>
          <a:xfrm>
            <a:off x="8490901" y="6192684"/>
            <a:ext cx="3701099" cy="646331"/>
          </a:xfrm>
          <a:prstGeom prst="rect">
            <a:avLst/>
          </a:prstGeom>
          <a:noFill/>
        </p:spPr>
        <p:txBody>
          <a:bodyPr wrap="square" lIns="91440" tIns="45720" rIns="91440" bIns="45720" rtlCol="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r>
              <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頭に花なんて咲いてません！悪役令嬢のツンがかわいすぎる件</a:t>
            </a:r>
            <a:r>
              <a:rPr kumimoji="1" lang="en-US" altLang="ja-JP"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endPar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作画：白尾こじょ　編集：漫画</a:t>
            </a:r>
            <a:r>
              <a:rPr kumimoji="1" lang="en-US" altLang="ja-JP"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LABO</a:t>
            </a:r>
            <a:r>
              <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原作：まどろみポメ</a:t>
            </a:r>
            <a:endParaRPr kumimoji="1" lang="ja-JP" altLang="en-US" sz="18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配信元 ： インカローズコミックス（</a:t>
            </a:r>
            <a:r>
              <a:rPr kumimoji="1" lang="en-US" altLang="ja-JP"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C&amp;R</a:t>
            </a:r>
            <a:r>
              <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社）</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45B3F18A-F024-218E-54C2-64C10B718FD6}"/>
              </a:ext>
            </a:extLst>
          </p:cNvPr>
          <p:cNvSpPr txBox="1"/>
          <p:nvPr/>
        </p:nvSpPr>
        <p:spPr>
          <a:xfrm>
            <a:off x="754332" y="3662577"/>
            <a:ext cx="3478837" cy="507831"/>
          </a:xfrm>
          <a:prstGeom prst="rect">
            <a:avLst/>
          </a:prstGeom>
          <a:noFill/>
        </p:spPr>
        <p:txBody>
          <a:bodyPr wrap="none" rtlCol="0">
            <a:spAutoFit/>
          </a:bodyPr>
          <a:lstStyle/>
          <a:p>
            <a:r>
              <a:rPr lang="ja-JP" altLang="ja-JP" sz="900">
                <a:latin typeface="メイリオ" panose="020B0604030504040204" pitchFamily="50" charset="-128"/>
                <a:ea typeface="メイリオ" panose="020B0604030504040204" pitchFamily="50" charset="-128"/>
              </a:rPr>
              <a:t>『ある日突然、夫が愛人を連れてくるものですから…』</a:t>
            </a:r>
          </a:p>
          <a:p>
            <a:r>
              <a:rPr lang="ja-JP" altLang="ja-JP" sz="900">
                <a:latin typeface="メイリオ" panose="020B0604030504040204" pitchFamily="50" charset="-128"/>
                <a:ea typeface="メイリオ" panose="020B0604030504040204" pitchFamily="50" charset="-128"/>
              </a:rPr>
              <a:t>作画：カイコユキ</a:t>
            </a:r>
            <a:r>
              <a:rPr lang="ja-JP" altLang="en-US" sz="900">
                <a:latin typeface="メイリオ" panose="020B0604030504040204" pitchFamily="50" charset="-128"/>
                <a:ea typeface="メイリオ" panose="020B0604030504040204" pitchFamily="50" charset="-128"/>
              </a:rPr>
              <a:t>　　　</a:t>
            </a:r>
            <a:r>
              <a:rPr lang="ja-JP" altLang="ja-JP" sz="900">
                <a:latin typeface="メイリオ" panose="020B0604030504040204" pitchFamily="50" charset="-128"/>
                <a:ea typeface="メイリオ" panose="020B0604030504040204" pitchFamily="50" charset="-128"/>
              </a:rPr>
              <a:t>編集：漫画</a:t>
            </a:r>
            <a:r>
              <a:rPr lang="en-US" altLang="ja-JP" sz="900">
                <a:latin typeface="メイリオ" panose="020B0604030504040204" pitchFamily="50" charset="-128"/>
                <a:ea typeface="メイリオ" panose="020B0604030504040204" pitchFamily="50" charset="-128"/>
              </a:rPr>
              <a:t>LABO</a:t>
            </a:r>
            <a:r>
              <a:rPr lang="ja-JP" altLang="en-US" sz="900">
                <a:latin typeface="メイリオ" panose="020B0604030504040204" pitchFamily="50" charset="-128"/>
                <a:ea typeface="メイリオ" panose="020B0604030504040204" pitchFamily="50" charset="-128"/>
              </a:rPr>
              <a:t>　　　</a:t>
            </a:r>
            <a:r>
              <a:rPr lang="ja-JP" altLang="ja-JP" sz="900">
                <a:latin typeface="メイリオ" panose="020B0604030504040204" pitchFamily="50" charset="-128"/>
                <a:ea typeface="メイリオ" panose="020B0604030504040204" pitchFamily="50" charset="-128"/>
              </a:rPr>
              <a:t>原作：七瀬菜々</a:t>
            </a:r>
          </a:p>
          <a:p>
            <a:r>
              <a:rPr lang="ja-JP" altLang="ja-JP" sz="900">
                <a:latin typeface="メイリオ" panose="020B0604030504040204" pitchFamily="50" charset="-128"/>
                <a:ea typeface="メイリオ" panose="020B0604030504040204" pitchFamily="50" charset="-128"/>
              </a:rPr>
              <a:t>配信元：インカローズコミックス</a:t>
            </a:r>
            <a:r>
              <a:rPr lang="en-US" altLang="ja-JP" sz="900">
                <a:latin typeface="メイリオ" panose="020B0604030504040204" pitchFamily="50" charset="-128"/>
                <a:ea typeface="メイリオ" panose="020B0604030504040204" pitchFamily="50" charset="-128"/>
              </a:rPr>
              <a:t>(C&amp;R</a:t>
            </a:r>
            <a:r>
              <a:rPr lang="ja-JP" altLang="ja-JP" sz="900">
                <a:latin typeface="メイリオ" panose="020B0604030504040204" pitchFamily="50" charset="-128"/>
                <a:ea typeface="メイリオ" panose="020B0604030504040204" pitchFamily="50" charset="-128"/>
              </a:rPr>
              <a:t>社</a:t>
            </a:r>
            <a:r>
              <a:rPr lang="en-US" altLang="ja-JP" sz="900">
                <a:latin typeface="メイリオ" panose="020B0604030504040204" pitchFamily="50" charset="-128"/>
                <a:ea typeface="メイリオ" panose="020B0604030504040204" pitchFamily="50" charset="-128"/>
              </a:rPr>
              <a:t>)</a:t>
            </a:r>
            <a:endParaRPr lang="ja-JP" altLang="ja-JP" sz="900">
              <a:latin typeface="メイリオ" panose="020B0604030504040204" pitchFamily="50" charset="-128"/>
              <a:ea typeface="メイリオ" panose="020B0604030504040204" pitchFamily="50" charset="-128"/>
            </a:endParaRPr>
          </a:p>
        </p:txBody>
      </p:sp>
      <p:sp>
        <p:nvSpPr>
          <p:cNvPr id="16" name="コンテンツ プレースホルダー 7">
            <a:extLst>
              <a:ext uri="{FF2B5EF4-FFF2-40B4-BE49-F238E27FC236}">
                <a16:creationId xmlns:a16="http://schemas.microsoft.com/office/drawing/2014/main" id="{6F184BD8-B849-509B-33D5-88CB00C033C9}"/>
              </a:ext>
            </a:extLst>
          </p:cNvPr>
          <p:cNvSpPr txBox="1">
            <a:spLocks/>
          </p:cNvSpPr>
          <p:nvPr/>
        </p:nvSpPr>
        <p:spPr>
          <a:xfrm>
            <a:off x="608081" y="1726840"/>
            <a:ext cx="4710655" cy="2112296"/>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kumimoji="1"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50000"/>
              </a:lnSpc>
            </a:pPr>
            <a:r>
              <a:rPr lang="ja-JP" altLang="en-US" sz="1600">
                <a:latin typeface="メイリオ" panose="020B0604030504040204" pitchFamily="50" charset="-128"/>
                <a:ea typeface="メイリオ" panose="020B0604030504040204" pitchFamily="50" charset="-128"/>
              </a:rPr>
              <a:t>漫画・小説制作スタジオ</a:t>
            </a:r>
            <a:r>
              <a:rPr lang="ja-JP" altLang="en-US" sz="1600" b="1" u="sng">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「漫画</a:t>
            </a:r>
            <a:r>
              <a:rPr lang="en-US" altLang="ja-JP" sz="1600" b="1" u="sng">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LABO</a:t>
            </a:r>
            <a:r>
              <a:rPr lang="ja-JP" altLang="en-US" sz="1600" b="1" u="sng">
                <a:solidFill>
                  <a:schemeClr val="accent4">
                    <a:lumMod val="7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a:t>
            </a:r>
            <a:r>
              <a:rPr lang="ja-JP" altLang="en-US" sz="1600">
                <a:latin typeface="メイリオ" panose="020B0604030504040204" pitchFamily="50" charset="-128"/>
                <a:ea typeface="メイリオ" panose="020B0604030504040204" pitchFamily="50" charset="-128"/>
              </a:rPr>
              <a:t>は</a:t>
            </a:r>
            <a:r>
              <a:rPr lang="en-US" altLang="ja-JP" sz="1600">
                <a:latin typeface="メイリオ" panose="020B0604030504040204" pitchFamily="50" charset="-128"/>
                <a:ea typeface="メイリオ" panose="020B0604030504040204" pitchFamily="50" charset="-128"/>
              </a:rPr>
              <a:t>2025</a:t>
            </a:r>
            <a:r>
              <a:rPr lang="ja-JP" altLang="en-US" sz="1600">
                <a:latin typeface="メイリオ" panose="020B0604030504040204" pitchFamily="50" charset="-128"/>
                <a:ea typeface="メイリオ" panose="020B0604030504040204" pitchFamily="50" charset="-128"/>
              </a:rPr>
              <a:t>年</a:t>
            </a:r>
            <a:r>
              <a:rPr lang="en-US" altLang="ja-JP" sz="1600">
                <a:latin typeface="メイリオ" panose="020B0604030504040204" pitchFamily="50" charset="-128"/>
                <a:ea typeface="メイリオ" panose="020B0604030504040204" pitchFamily="50" charset="-128"/>
              </a:rPr>
              <a:t>6</a:t>
            </a:r>
            <a:r>
              <a:rPr lang="ja-JP" altLang="en-US" sz="1600">
                <a:latin typeface="メイリオ" panose="020B0604030504040204" pitchFamily="50" charset="-128"/>
                <a:ea typeface="メイリオ" panose="020B0604030504040204" pitchFamily="50" charset="-128"/>
              </a:rPr>
              <a:t>月</a:t>
            </a:r>
            <a:r>
              <a:rPr lang="en-US" altLang="ja-JP" sz="1600">
                <a:latin typeface="メイリオ" panose="020B0604030504040204" pitchFamily="50" charset="-128"/>
                <a:ea typeface="メイリオ" panose="020B0604030504040204" pitchFamily="50" charset="-128"/>
              </a:rPr>
              <a:t>10</a:t>
            </a:r>
            <a:r>
              <a:rPr lang="ja-JP" altLang="en-US" sz="1600">
                <a:latin typeface="メイリオ" panose="020B0604030504040204" pitchFamily="50" charset="-128"/>
                <a:ea typeface="メイリオ" panose="020B0604030504040204" pitchFamily="50" charset="-128"/>
              </a:rPr>
              <a:t>日（火）、新作コミック</a:t>
            </a:r>
            <a:r>
              <a:rPr lang="en-US" altLang="ja-JP" sz="1600" b="1" u="sng">
                <a:solidFill>
                  <a:schemeClr val="accent4">
                    <a:lumMod val="75000"/>
                  </a:schemeClr>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a:t>
            </a:r>
            <a:r>
              <a:rPr lang="ja-JP" altLang="en-US" sz="1600" b="1" u="sng">
                <a:solidFill>
                  <a:schemeClr val="accent4">
                    <a:lumMod val="75000"/>
                  </a:schemeClr>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ある日突然、夫が愛人を連れてくるものですから・・・</a:t>
            </a:r>
            <a:r>
              <a:rPr lang="en-US" altLang="ja-JP" sz="1600" b="1" u="sng">
                <a:solidFill>
                  <a:schemeClr val="accent4">
                    <a:lumMod val="75000"/>
                  </a:schemeClr>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a:t>
            </a:r>
            <a:r>
              <a:rPr lang="ja-JP" altLang="en-US" sz="1600">
                <a:latin typeface="メイリオ" panose="020B0604030504040204" pitchFamily="50" charset="-128"/>
                <a:ea typeface="メイリオ" panose="020B0604030504040204" pitchFamily="50" charset="-128"/>
              </a:rPr>
              <a:t>の「ピッコマ」での独占配信をスタートし、コミック総合</a:t>
            </a:r>
            <a:r>
              <a:rPr lang="en-US" altLang="ja-JP" sz="1600">
                <a:latin typeface="メイリオ" panose="020B0604030504040204" pitchFamily="50" charset="-128"/>
                <a:ea typeface="メイリオ" panose="020B0604030504040204" pitchFamily="50" charset="-128"/>
              </a:rPr>
              <a:t>1</a:t>
            </a:r>
            <a:r>
              <a:rPr lang="ja-JP" altLang="en-US" sz="1600">
                <a:latin typeface="メイリオ" panose="020B0604030504040204" pitchFamily="50" charset="-128"/>
                <a:ea typeface="メイリオ" panose="020B0604030504040204" pitchFamily="50" charset="-128"/>
              </a:rPr>
              <a:t>位を獲得いたしました。</a:t>
            </a:r>
            <a:endParaRPr lang="en-US" altLang="ja-JP" sz="16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686015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950C351-B7D9-83B5-CBAD-61DC348B9B71}"/>
              </a:ext>
            </a:extLst>
          </p:cNvPr>
          <p:cNvSpPr/>
          <p:nvPr/>
        </p:nvSpPr>
        <p:spPr bwMode="auto">
          <a:xfrm>
            <a:off x="708421" y="3057282"/>
            <a:ext cx="3482579" cy="97629"/>
          </a:xfrm>
          <a:prstGeom prst="rect">
            <a:avLst/>
          </a:prstGeom>
          <a:solidFill>
            <a:schemeClr val="accent3">
              <a:alpha val="50000"/>
            </a:schemeClr>
          </a:solidFill>
          <a:ln w="38100" algn="ctr">
            <a:noFill/>
            <a:miter lim="800000"/>
            <a:headEnd/>
            <a:tailEnd/>
          </a:ln>
          <a:effectLst/>
        </p:spPr>
        <p:txBody>
          <a:bodyPr wrap="none" lIns="90000" tIns="46800" rIns="90000" bIns="46800" rtlCol="0"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20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9" name="正方形/長方形 18">
            <a:extLst>
              <a:ext uri="{FF2B5EF4-FFF2-40B4-BE49-F238E27FC236}">
                <a16:creationId xmlns:a16="http://schemas.microsoft.com/office/drawing/2014/main" id="{911E1713-F1C1-A65A-D2F4-67F5CC6C18F9}"/>
              </a:ext>
            </a:extLst>
          </p:cNvPr>
          <p:cNvSpPr/>
          <p:nvPr/>
        </p:nvSpPr>
        <p:spPr bwMode="auto">
          <a:xfrm>
            <a:off x="708421" y="4918341"/>
            <a:ext cx="3482579" cy="97629"/>
          </a:xfrm>
          <a:prstGeom prst="rect">
            <a:avLst/>
          </a:prstGeom>
          <a:solidFill>
            <a:schemeClr val="accent2">
              <a:alpha val="50000"/>
            </a:schemeClr>
          </a:solidFill>
          <a:ln w="38100" algn="ctr">
            <a:noFill/>
            <a:miter lim="800000"/>
            <a:headEnd/>
            <a:tailEnd/>
          </a:ln>
          <a:effectLst/>
        </p:spPr>
        <p:txBody>
          <a:bodyPr wrap="none" lIns="90000" tIns="46800" rIns="90000" bIns="46800" rtlCol="0"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20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20" name="正方形/長方形 19">
            <a:extLst>
              <a:ext uri="{FF2B5EF4-FFF2-40B4-BE49-F238E27FC236}">
                <a16:creationId xmlns:a16="http://schemas.microsoft.com/office/drawing/2014/main" id="{F83422DB-FA60-793F-EF8E-A87B061B57F8}"/>
              </a:ext>
            </a:extLst>
          </p:cNvPr>
          <p:cNvSpPr/>
          <p:nvPr/>
        </p:nvSpPr>
        <p:spPr bwMode="auto">
          <a:xfrm>
            <a:off x="708421" y="5612616"/>
            <a:ext cx="3482579" cy="97629"/>
          </a:xfrm>
          <a:prstGeom prst="rect">
            <a:avLst/>
          </a:prstGeom>
          <a:solidFill>
            <a:schemeClr val="accent1">
              <a:alpha val="50000"/>
            </a:schemeClr>
          </a:solidFill>
          <a:ln w="38100" algn="ctr">
            <a:noFill/>
            <a:miter lim="800000"/>
            <a:headEnd/>
            <a:tailEnd/>
          </a:ln>
          <a:effectLst/>
        </p:spPr>
        <p:txBody>
          <a:bodyPr wrap="none" lIns="90000" tIns="46800" rIns="90000" bIns="46800" rtlCol="0"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20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6" name="正方形/長方形 5">
            <a:extLst>
              <a:ext uri="{FF2B5EF4-FFF2-40B4-BE49-F238E27FC236}">
                <a16:creationId xmlns:a16="http://schemas.microsoft.com/office/drawing/2014/main" id="{C204FBCA-0924-3F16-3EC4-778724C99B2B}"/>
              </a:ext>
            </a:extLst>
          </p:cNvPr>
          <p:cNvSpPr/>
          <p:nvPr/>
        </p:nvSpPr>
        <p:spPr bwMode="auto">
          <a:xfrm>
            <a:off x="708421" y="6306891"/>
            <a:ext cx="3482579" cy="97629"/>
          </a:xfrm>
          <a:prstGeom prst="rect">
            <a:avLst/>
          </a:prstGeom>
          <a:solidFill>
            <a:schemeClr val="accent4">
              <a:alpha val="50000"/>
            </a:schemeClr>
          </a:solidFill>
          <a:ln w="38100" algn="ctr">
            <a:noFill/>
            <a:miter lim="800000"/>
            <a:headEnd/>
            <a:tailEnd/>
          </a:ln>
          <a:effectLst/>
        </p:spPr>
        <p:txBody>
          <a:bodyPr wrap="none" lIns="90000" tIns="46800" rIns="90000" bIns="46800" rtlCol="0"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20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9" name="テキスト プレースホルダー 8">
            <a:extLst>
              <a:ext uri="{FF2B5EF4-FFF2-40B4-BE49-F238E27FC236}">
                <a16:creationId xmlns:a16="http://schemas.microsoft.com/office/drawing/2014/main" id="{8A0AE34F-0BF1-1D35-84A7-98E53EB6209D}"/>
              </a:ext>
            </a:extLst>
          </p:cNvPr>
          <p:cNvSpPr>
            <a:spLocks noGrp="1"/>
          </p:cNvSpPr>
          <p:nvPr>
            <p:ph idx="10"/>
          </p:nvPr>
        </p:nvSpPr>
        <p:spPr/>
        <p:txBody>
          <a:bodyPr/>
          <a:lstStyle/>
          <a:p>
            <a:r>
              <a:rPr lang="ja-JP" altLang="en-US" b="1"/>
              <a:t>オリジナル漫画タイトルの配信</a:t>
            </a:r>
          </a:p>
        </p:txBody>
      </p:sp>
      <p:sp>
        <p:nvSpPr>
          <p:cNvPr id="7" name="タイトル 6">
            <a:extLst>
              <a:ext uri="{FF2B5EF4-FFF2-40B4-BE49-F238E27FC236}">
                <a16:creationId xmlns:a16="http://schemas.microsoft.com/office/drawing/2014/main" id="{24396E1A-7E24-64A5-4DA8-2EDED3819CCE}"/>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7C92090F-E895-E2FE-8F0F-90FDE7959851}"/>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5FDD43-FCEC-4ECC-8189-A5C6D2E08DC6}" type="slidenum">
              <a:rPr kumimoji="1" lang="ja-JP" altLang="en-US" sz="900" b="0" i="0" u="none" strike="noStrike" kern="1200" cap="none" spc="0" normalizeH="0" baseline="0" noProof="0" smtClean="0">
                <a:ln>
                  <a:noFill/>
                </a:ln>
                <a:solidFill>
                  <a:srgbClr val="333333"/>
                </a:solidFill>
                <a:effectLst/>
                <a:uLnTx/>
                <a:uFillTx/>
                <a:latin typeface="Noto Sans JP"/>
                <a:ea typeface="Noto Sans JP"/>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1" lang="ja-JP" altLang="en-US" sz="900" b="0" i="0" u="none" strike="noStrike" kern="1200" cap="none" spc="0" normalizeH="0" baseline="0" noProof="0">
              <a:ln>
                <a:noFill/>
              </a:ln>
              <a:solidFill>
                <a:srgbClr val="333333"/>
              </a:solidFill>
              <a:effectLst/>
              <a:uLnTx/>
              <a:uFillTx/>
              <a:latin typeface="Noto Sans JP"/>
              <a:ea typeface="Noto Sans JP"/>
              <a:cs typeface="+mn-cs"/>
            </a:endParaRPr>
          </a:p>
        </p:txBody>
      </p:sp>
      <p:sp>
        <p:nvSpPr>
          <p:cNvPr id="12" name="四角形: 角を丸くする 11">
            <a:extLst>
              <a:ext uri="{FF2B5EF4-FFF2-40B4-BE49-F238E27FC236}">
                <a16:creationId xmlns:a16="http://schemas.microsoft.com/office/drawing/2014/main" id="{8571CBC7-4367-EFF1-3CA7-8FA3F4B37C8E}"/>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marL="0" marR="0" lvl="0" indent="0" algn="ctr" defTabSz="914400" rtl="0" eaLnBrk="1" fontAlgn="base" latinLnBrk="0" hangingPunct="1">
              <a:lnSpc>
                <a:spcPct val="150000"/>
              </a:lnSpc>
              <a:spcBef>
                <a:spcPct val="5000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漫画</a:t>
            </a:r>
            <a:r>
              <a:rPr kumimoji="1" lang="en-US" altLang="ja-JP"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IP</a:t>
            </a:r>
            <a:endPar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F1B706-FCCF-0D6E-0CA3-A29853781A33}"/>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marL="0" marR="0" lvl="0" indent="0" algn="ctr" defTabSz="914400" rtl="0" eaLnBrk="1" fontAlgn="base" latinLnBrk="0" hangingPunct="1">
              <a:lnSpc>
                <a:spcPct val="150000"/>
              </a:lnSpc>
              <a:spcBef>
                <a:spcPct val="5000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作家育成</a:t>
            </a:r>
          </a:p>
        </p:txBody>
      </p:sp>
      <p:pic>
        <p:nvPicPr>
          <p:cNvPr id="11" name="Picture 6" descr="双子王子の見分け方 1 - 笠井/怜美 - 漫画・無料試し読みなら、電子書籍ストア ブックライブ">
            <a:extLst>
              <a:ext uri="{FF2B5EF4-FFF2-40B4-BE49-F238E27FC236}">
                <a16:creationId xmlns:a16="http://schemas.microsoft.com/office/drawing/2014/main" id="{7F97F955-A571-ABB8-F219-05D447828A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33334" y="4147851"/>
            <a:ext cx="1782025" cy="252074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全巻無料】 『間違いで求婚された女は一年後離縁される』 全巻読み放題 漫画村、漫画バンク、漫画ロウ（raw）代わり | LIFE＋（プラス）">
            <a:extLst>
              <a:ext uri="{FF2B5EF4-FFF2-40B4-BE49-F238E27FC236}">
                <a16:creationId xmlns:a16="http://schemas.microsoft.com/office/drawing/2014/main" id="{425F4C57-FB4D-CF37-6901-C12ECC3B2F9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79410" y="1578235"/>
            <a:ext cx="1735949" cy="252074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descr="https://prcdn.freetls.fastly.net/release_image/3670/2620/3670-2620-f3d271dbbebb23cd335e219d607cc941-1131x1600.jpg?format=jpeg&amp;auto=webp&amp;quality=85%2C65&amp;width=1950&amp;height=1350&amp;fit=bounds">
            <a:extLst>
              <a:ext uri="{FF2B5EF4-FFF2-40B4-BE49-F238E27FC236}">
                <a16:creationId xmlns:a16="http://schemas.microsoft.com/office/drawing/2014/main" id="{5B326B3A-34C1-6F67-EECA-E85F08BC006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25930" y="1610341"/>
            <a:ext cx="1735949" cy="245653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幼馴染は公爵家 責任とらせて頂きます！">
            <a:extLst>
              <a:ext uri="{FF2B5EF4-FFF2-40B4-BE49-F238E27FC236}">
                <a16:creationId xmlns:a16="http://schemas.microsoft.com/office/drawing/2014/main" id="{BDA6234F-DD7F-DA58-97C2-B24E20234A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08178" y="4153440"/>
            <a:ext cx="1775402" cy="251515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異世界なら、私も無名の有名画家">
            <a:extLst>
              <a:ext uri="{FF2B5EF4-FFF2-40B4-BE49-F238E27FC236}">
                <a16:creationId xmlns:a16="http://schemas.microsoft.com/office/drawing/2014/main" id="{2035E2E1-FA3E-CA11-8748-BF705790FA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85908" y="4147851"/>
            <a:ext cx="1779349" cy="252074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a:extLst>
              <a:ext uri="{FF2B5EF4-FFF2-40B4-BE49-F238E27FC236}">
                <a16:creationId xmlns:a16="http://schemas.microsoft.com/office/drawing/2014/main" id="{C0CC4513-AF0C-1E06-C9D5-6DB88480EA7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p:blipFill>
        <p:spPr bwMode="auto">
          <a:xfrm>
            <a:off x="5841188" y="1608824"/>
            <a:ext cx="1735949" cy="2459563"/>
          </a:xfrm>
          <a:prstGeom prst="rect">
            <a:avLst/>
          </a:prstGeom>
          <a:noFill/>
          <a:extLst>
            <a:ext uri="{909E8E84-426E-40DD-AFC4-6F175D3DCCD1}">
              <a14:hiddenFill xmlns:a14="http://schemas.microsoft.com/office/drawing/2010/main">
                <a:solidFill>
                  <a:srgbClr val="FFFFFF"/>
                </a:solidFill>
              </a14:hiddenFill>
            </a:ext>
          </a:extLst>
        </p:spPr>
      </p:pic>
      <p:sp>
        <p:nvSpPr>
          <p:cNvPr id="8" name="コンテンツ プレースホルダー 7">
            <a:extLst>
              <a:ext uri="{FF2B5EF4-FFF2-40B4-BE49-F238E27FC236}">
                <a16:creationId xmlns:a16="http://schemas.microsoft.com/office/drawing/2014/main" id="{9C9D1340-3310-2CB1-A3CC-5610889F2FB8}"/>
              </a:ext>
            </a:extLst>
          </p:cNvPr>
          <p:cNvSpPr>
            <a:spLocks noGrp="1"/>
          </p:cNvSpPr>
          <p:nvPr>
            <p:ph idx="1"/>
          </p:nvPr>
        </p:nvSpPr>
        <p:spPr>
          <a:xfrm>
            <a:off x="608081" y="1578235"/>
            <a:ext cx="4608230" cy="1305413"/>
          </a:xfrm>
        </p:spPr>
        <p:txBody>
          <a:bodyPr>
            <a:normAutofit/>
          </a:bodyPr>
          <a:lstStyle/>
          <a:p>
            <a:pPr marL="0" indent="0">
              <a:buNone/>
            </a:pPr>
            <a:r>
              <a:rPr lang="en-US" altLang="ja-JP" sz="1400"/>
              <a:t>2017</a:t>
            </a:r>
            <a:r>
              <a:rPr lang="ja-JP" altLang="en-US" sz="1400"/>
              <a:t>年立ち上げの</a:t>
            </a:r>
            <a:r>
              <a:rPr lang="ja-JP" altLang="en-US" sz="1400">
                <a:solidFill>
                  <a:schemeClr val="accent4">
                    <a:lumMod val="75000"/>
                  </a:schemeClr>
                </a:solidFill>
                <a:hlinkClick r:id="rId9">
                  <a:extLst>
                    <a:ext uri="{A12FA001-AC4F-418D-AE19-62706E023703}">
                      <ahyp:hlinkClr xmlns:ahyp="http://schemas.microsoft.com/office/drawing/2018/hyperlinkcolor" val="tx"/>
                    </a:ext>
                  </a:extLst>
                </a:hlinkClick>
              </a:rPr>
              <a:t>「</a:t>
            </a:r>
            <a:r>
              <a:rPr lang="ja-JP" altLang="en-US" sz="1400" b="1" u="sng">
                <a:solidFill>
                  <a:schemeClr val="accent4">
                    <a:lumMod val="75000"/>
                  </a:schemeClr>
                </a:solidFill>
                <a:hlinkClick r:id="rId9">
                  <a:extLst>
                    <a:ext uri="{A12FA001-AC4F-418D-AE19-62706E023703}">
                      <ahyp:hlinkClr xmlns:ahyp="http://schemas.microsoft.com/office/drawing/2018/hyperlinkcolor" val="tx"/>
                    </a:ext>
                  </a:extLst>
                </a:hlinkClick>
              </a:rPr>
              <a:t>漫画</a:t>
            </a:r>
            <a:r>
              <a:rPr lang="en-US" altLang="ja-JP" sz="1400" b="1" u="sng">
                <a:solidFill>
                  <a:schemeClr val="accent4">
                    <a:lumMod val="75000"/>
                  </a:schemeClr>
                </a:solidFill>
                <a:hlinkClick r:id="rId9">
                  <a:extLst>
                    <a:ext uri="{A12FA001-AC4F-418D-AE19-62706E023703}">
                      <ahyp:hlinkClr xmlns:ahyp="http://schemas.microsoft.com/office/drawing/2018/hyperlinkcolor" val="tx"/>
                    </a:ext>
                  </a:extLst>
                </a:hlinkClick>
              </a:rPr>
              <a:t>LABO</a:t>
            </a:r>
            <a:r>
              <a:rPr lang="ja-JP" altLang="en-US" sz="1400" b="1" u="sng">
                <a:solidFill>
                  <a:schemeClr val="accent4">
                    <a:lumMod val="75000"/>
                  </a:schemeClr>
                </a:solidFill>
                <a:hlinkClick r:id="rId9">
                  <a:extLst>
                    <a:ext uri="{A12FA001-AC4F-418D-AE19-62706E023703}">
                      <ahyp:hlinkClr xmlns:ahyp="http://schemas.microsoft.com/office/drawing/2018/hyperlinkcolor" val="tx"/>
                    </a:ext>
                  </a:extLst>
                </a:hlinkClick>
              </a:rPr>
              <a:t>」</a:t>
            </a:r>
            <a:r>
              <a:rPr lang="ja-JP" altLang="en-US" sz="1400"/>
              <a:t>は、</a:t>
            </a:r>
            <a:endParaRPr lang="en-US" altLang="ja-JP" sz="1400"/>
          </a:p>
          <a:p>
            <a:pPr marL="0" indent="0">
              <a:buNone/>
            </a:pPr>
            <a:r>
              <a:rPr lang="ja-JP" altLang="en-US" sz="1400"/>
              <a:t>漫画制作の分業制作スタイルをいち早く実現</a:t>
            </a:r>
            <a:r>
              <a:rPr lang="ja-JP" altLang="ja-JP" sz="1400">
                <a:cs typeface="+mn-lt"/>
              </a:rPr>
              <a:t>。</a:t>
            </a:r>
            <a:endParaRPr lang="en-US" altLang="ja-JP" sz="1400"/>
          </a:p>
          <a:p>
            <a:pPr marL="0" indent="0">
              <a:buNone/>
            </a:pPr>
            <a:r>
              <a:rPr lang="ja-JP" altLang="en-US" sz="1400"/>
              <a:t>コミックおよびライトノベルなど累計</a:t>
            </a:r>
            <a:r>
              <a:rPr lang="en-US" altLang="ja-JP" sz="1400"/>
              <a:t>250</a:t>
            </a:r>
            <a:r>
              <a:rPr lang="ja-JP" altLang="en-US" sz="1400"/>
              <a:t>作品以上を</a:t>
            </a:r>
            <a:endParaRPr lang="en-US" altLang="ja-JP" sz="1400"/>
          </a:p>
          <a:p>
            <a:pPr marL="0" indent="0">
              <a:buNone/>
            </a:pPr>
            <a:r>
              <a:rPr lang="ja-JP" altLang="en-US" sz="1400"/>
              <a:t>配信し、大ヒット</a:t>
            </a:r>
            <a:r>
              <a:rPr lang="ja-JP" altLang="ja-JP" sz="1400">
                <a:cs typeface="+mn-lt"/>
              </a:rPr>
              <a:t>中。</a:t>
            </a:r>
            <a:endParaRPr lang="en-US" altLang="ja-JP" sz="1400">
              <a:cs typeface="+mn-lt"/>
            </a:endParaRPr>
          </a:p>
          <a:p>
            <a:pPr marL="0" indent="0">
              <a:buNone/>
            </a:pPr>
            <a:endParaRPr lang="ja-JP" altLang="en-US" sz="1400"/>
          </a:p>
        </p:txBody>
      </p:sp>
      <p:sp>
        <p:nvSpPr>
          <p:cNvPr id="2" name="TextBox 1">
            <a:extLst>
              <a:ext uri="{FF2B5EF4-FFF2-40B4-BE49-F238E27FC236}">
                <a16:creationId xmlns:a16="http://schemas.microsoft.com/office/drawing/2014/main" id="{F5A30048-0BA2-CF92-E76B-A30E6946541B}"/>
              </a:ext>
            </a:extLst>
          </p:cNvPr>
          <p:cNvSpPr txBox="1"/>
          <p:nvPr/>
        </p:nvSpPr>
        <p:spPr>
          <a:xfrm>
            <a:off x="608081" y="2866891"/>
            <a:ext cx="4549707" cy="38508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r>
              <a:rPr kumimoji="1" lang="ja-JP" altLang="en-US" sz="11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間違いで求婚された女は一年後離縁される</a:t>
            </a:r>
            <a:r>
              <a:rPr kumimoji="1" lang="en-US" altLang="ja-JP" sz="11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r>
              <a:rPr kumimoji="1" lang="ja-JP" altLang="en-US" sz="11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（完結）</a:t>
            </a:r>
            <a:endParaRPr kumimoji="1" lang="en-US" altLang="ja-JP" sz="11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err="1">
                <a:ln>
                  <a:noFill/>
                </a:ln>
                <a:solidFill>
                  <a:srgbClr val="333333"/>
                </a:solidFill>
                <a:effectLst/>
                <a:uLnTx/>
                <a:uFillTx/>
                <a:latin typeface="メイリオ" panose="020B0604030504040204" pitchFamily="50" charset="-128"/>
                <a:ea typeface="メイリオ" panose="020B0604030504040204" pitchFamily="50" charset="-128"/>
              </a:rPr>
              <a:t>BookLive</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2021</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年コミック総合年間</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５位</a:t>
            </a:r>
            <a:b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b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2021</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年少女・女性コミックジャンル年間</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3</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位</a:t>
            </a:r>
            <a:endPar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2022</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年少女・女性コミックジャンル年間</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4</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位</a:t>
            </a:r>
            <a:b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b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ピッコマ</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2021</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年マンガ総合年間</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７位</a:t>
            </a:r>
            <a:b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b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コミックシーモア　</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2021</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年女性コミック総合年間</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７位</a:t>
            </a:r>
            <a:endPar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ja-JP" altLang="en-US" sz="10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2022</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年女性コミック総合年間</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20</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位</a:t>
            </a:r>
            <a:endPar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楽天</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Kobo	</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2024</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年世界に届けたい！一押しコミック部門入賞</a:t>
            </a:r>
            <a:endPar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r>
              <a:rPr kumimoji="1" lang="ja-JP" altLang="en-US" sz="11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天才服飾師の過度な執着は全身にまとわりつく！</a:t>
            </a:r>
            <a:r>
              <a:rPr kumimoji="1" lang="en-US" altLang="ja-JP" sz="11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ピッコマ　　コミック総合</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1</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位、女性コミック</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1</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位　獲得</a:t>
            </a:r>
            <a:endPar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コミックシーモア</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/Renta</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女性コミック</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1</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位　獲得</a:t>
            </a:r>
            <a:endPar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r>
              <a:rPr kumimoji="1" lang="ja-JP" altLang="en-US" sz="11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幼馴染は公爵家　責任取らせて頂きます！</a:t>
            </a:r>
            <a:r>
              <a:rPr kumimoji="1" lang="en-US" altLang="ja-JP" sz="11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ピッコマ　　女性コミック</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8</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位、コミック総合</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27</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位、 　獲得</a:t>
            </a:r>
            <a:endPar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コミックシーモア</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/Renta</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　　女性コミック</a:t>
            </a:r>
            <a:r>
              <a:rPr kumimoji="1" lang="en-US" altLang="ja-JP"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12</a:t>
            </a:r>
            <a:r>
              <a:rPr kumimoji="1" lang="ja-JP" altLang="en-US" sz="1000" b="0"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位　獲得</a:t>
            </a:r>
            <a:endParaRPr kumimoji="1" lang="en-US" altLang="ja-JP" sz="1000" b="1" i="0" u="none" strike="noStrike" kern="1200" cap="none" spc="0" normalizeH="0" baseline="0" noProof="0">
              <a:ln>
                <a:noFill/>
              </a:ln>
              <a:solidFill>
                <a:srgbClr val="333333"/>
              </a:solidFill>
              <a:effectLst/>
              <a:uLnTx/>
              <a:uFillTx/>
              <a:latin typeface="メイリオ" panose="020B0604030504040204" pitchFamily="50" charset="-128"/>
              <a:ea typeface="メイリオ" panose="020B0604030504040204" pitchFamily="50" charset="-128"/>
            </a:endParaRPr>
          </a:p>
          <a:p>
            <a:pPr>
              <a:lnSpc>
                <a:spcPct val="150000"/>
              </a:lnSpc>
            </a:pPr>
            <a:r>
              <a:rPr lang="ja-JP" altLang="ja-JP" sz="1000" b="1">
                <a:latin typeface="メイリオ" panose="020B0604030504040204" pitchFamily="50" charset="-128"/>
                <a:ea typeface="メイリオ" panose="020B0604030504040204" pitchFamily="50" charset="-128"/>
              </a:rPr>
              <a:t>『ある日突然、夫が愛人を連れてくるものですから…</a:t>
            </a:r>
            <a:r>
              <a:rPr lang="en-US" altLang="ja-JP" sz="1000" b="1">
                <a:latin typeface="メイリオ" panose="020B0604030504040204" pitchFamily="50" charset="-128"/>
                <a:ea typeface="メイリオ" panose="020B0604030504040204" pitchFamily="50" charset="-128"/>
              </a:rPr>
              <a:t>』</a:t>
            </a:r>
          </a:p>
          <a:p>
            <a:pPr>
              <a:lnSpc>
                <a:spcPct val="150000"/>
              </a:lnSpc>
            </a:pPr>
            <a:r>
              <a:rPr lang="ja-JP" altLang="en-US" sz="1000">
                <a:latin typeface="メイリオ" panose="020B0604030504040204" pitchFamily="50" charset="-128"/>
                <a:ea typeface="メイリオ" panose="020B0604030504040204" pitchFamily="50" charset="-128"/>
              </a:rPr>
              <a:t>　</a:t>
            </a:r>
            <a:r>
              <a:rPr lang="ja-JP" altLang="ja-JP" sz="1000">
                <a:latin typeface="メイリオ" panose="020B0604030504040204" pitchFamily="50" charset="-128"/>
                <a:ea typeface="メイリオ" panose="020B0604030504040204" pitchFamily="50" charset="-128"/>
              </a:rPr>
              <a:t>ピッコマ</a:t>
            </a:r>
            <a:r>
              <a:rPr lang="ja-JP" altLang="en-US" sz="1000">
                <a:latin typeface="メイリオ" panose="020B0604030504040204" pitchFamily="50" charset="-128"/>
                <a:ea typeface="メイリオ" panose="020B0604030504040204" pitchFamily="50" charset="-128"/>
              </a:rPr>
              <a:t>　</a:t>
            </a:r>
            <a:r>
              <a:rPr lang="ja-JP" altLang="ja-JP" sz="1000">
                <a:latin typeface="メイリオ" panose="020B0604030504040204" pitchFamily="50" charset="-128"/>
                <a:ea typeface="メイリオ" panose="020B0604030504040204" pitchFamily="50" charset="-128"/>
              </a:rPr>
              <a:t>　コミック総合</a:t>
            </a:r>
            <a:r>
              <a:rPr lang="en-US" altLang="ja-JP" sz="1000">
                <a:latin typeface="メイリオ" panose="020B0604030504040204" pitchFamily="50" charset="-128"/>
                <a:ea typeface="メイリオ" panose="020B0604030504040204" pitchFamily="50" charset="-128"/>
              </a:rPr>
              <a:t>1</a:t>
            </a:r>
            <a:r>
              <a:rPr lang="ja-JP" altLang="ja-JP" sz="1000">
                <a:latin typeface="メイリオ" panose="020B0604030504040204" pitchFamily="50" charset="-128"/>
                <a:ea typeface="メイリオ" panose="020B0604030504040204" pitchFamily="50" charset="-128"/>
              </a:rPr>
              <a:t>位</a:t>
            </a:r>
            <a:r>
              <a:rPr lang="ja-JP" altLang="en-US" sz="1000">
                <a:latin typeface="メイリオ" panose="020B0604030504040204" pitchFamily="50" charset="-128"/>
                <a:ea typeface="メイリオ" panose="020B0604030504040204" pitchFamily="50" charset="-128"/>
              </a:rPr>
              <a:t>　</a:t>
            </a:r>
            <a:r>
              <a:rPr lang="ja-JP" altLang="ja-JP" sz="1000">
                <a:latin typeface="メイリオ" panose="020B0604030504040204" pitchFamily="50" charset="-128"/>
                <a:ea typeface="メイリオ" panose="020B0604030504040204" pitchFamily="50" charset="-128"/>
              </a:rPr>
              <a:t>獲得</a:t>
            </a:r>
          </a:p>
        </p:txBody>
      </p:sp>
    </p:spTree>
    <p:extLst>
      <p:ext uri="{BB962C8B-B14F-4D97-AF65-F5344CB8AC3E}">
        <p14:creationId xmlns:p14="http://schemas.microsoft.com/office/powerpoint/2010/main" val="38394135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グループ化 22">
            <a:extLst>
              <a:ext uri="{FF2B5EF4-FFF2-40B4-BE49-F238E27FC236}">
                <a16:creationId xmlns:a16="http://schemas.microsoft.com/office/drawing/2014/main" id="{2D047F8D-D3D3-65DC-0D9C-EE2EA6943D91}"/>
              </a:ext>
            </a:extLst>
          </p:cNvPr>
          <p:cNvGrpSpPr/>
          <p:nvPr/>
        </p:nvGrpSpPr>
        <p:grpSpPr>
          <a:xfrm>
            <a:off x="615466" y="2008632"/>
            <a:ext cx="4563957" cy="470388"/>
            <a:chOff x="1043770" y="3933899"/>
            <a:chExt cx="4563957" cy="470388"/>
          </a:xfrm>
        </p:grpSpPr>
        <p:sp>
          <p:nvSpPr>
            <p:cNvPr id="12" name="正方形/長方形 11">
              <a:extLst>
                <a:ext uri="{FF2B5EF4-FFF2-40B4-BE49-F238E27FC236}">
                  <a16:creationId xmlns:a16="http://schemas.microsoft.com/office/drawing/2014/main" id="{A30839F6-668D-4437-0828-EF76221EA03C}"/>
                </a:ext>
              </a:extLst>
            </p:cNvPr>
            <p:cNvSpPr/>
            <p:nvPr/>
          </p:nvSpPr>
          <p:spPr bwMode="auto">
            <a:xfrm>
              <a:off x="1043770" y="3933899"/>
              <a:ext cx="4563957" cy="110201"/>
            </a:xfrm>
            <a:prstGeom prst="rect">
              <a:avLst/>
            </a:prstGeom>
            <a:solidFill>
              <a:schemeClr val="accent2">
                <a:lumMod val="60000"/>
                <a:lumOff val="40000"/>
                <a:alpha val="5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52C7FAE5-3481-4981-E6B2-C6061E347159}"/>
                </a:ext>
              </a:extLst>
            </p:cNvPr>
            <p:cNvSpPr/>
            <p:nvPr/>
          </p:nvSpPr>
          <p:spPr bwMode="auto">
            <a:xfrm>
              <a:off x="1108836" y="4294086"/>
              <a:ext cx="2408833" cy="110201"/>
            </a:xfrm>
            <a:prstGeom prst="rect">
              <a:avLst/>
            </a:prstGeom>
            <a:solidFill>
              <a:schemeClr val="accent2">
                <a:lumMod val="60000"/>
                <a:lumOff val="40000"/>
                <a:alpha val="5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sp>
        <p:nvSpPr>
          <p:cNvPr id="14" name="コンテンツ プレースホルダー 13">
            <a:extLst>
              <a:ext uri="{FF2B5EF4-FFF2-40B4-BE49-F238E27FC236}">
                <a16:creationId xmlns:a16="http://schemas.microsoft.com/office/drawing/2014/main" id="{8DD313C8-DCBD-3EB2-E48A-8064C2E8994B}"/>
              </a:ext>
            </a:extLst>
          </p:cNvPr>
          <p:cNvSpPr>
            <a:spLocks noGrp="1"/>
          </p:cNvSpPr>
          <p:nvPr>
            <p:ph idx="1"/>
          </p:nvPr>
        </p:nvSpPr>
        <p:spPr>
          <a:xfrm>
            <a:off x="608082" y="1706880"/>
            <a:ext cx="4672152" cy="4844468"/>
          </a:xfrm>
        </p:spPr>
        <p:txBody>
          <a:bodyPr>
            <a:noAutofit/>
          </a:bodyPr>
          <a:lstStyle/>
          <a:p>
            <a:pPr marL="0" indent="0">
              <a:lnSpc>
                <a:spcPct val="150000"/>
              </a:lnSpc>
              <a:buNone/>
            </a:pPr>
            <a:r>
              <a:rPr kumimoji="1" lang="ja-JP" altLang="en-US" sz="1600" b="1">
                <a:latin typeface="+mn-ea"/>
              </a:rPr>
              <a:t>北米・欧州市場に向けた</a:t>
            </a:r>
            <a:r>
              <a:rPr lang="ja-JP" altLang="en-US" sz="1600" b="1">
                <a:latin typeface="+mn-ea"/>
              </a:rPr>
              <a:t>アジア圏の窓口としてのポジショニングを確立するため海外取引開拓</a:t>
            </a:r>
            <a:endParaRPr lang="en-US" altLang="ja-JP" sz="1600" b="1">
              <a:latin typeface="+mn-ea"/>
            </a:endParaRPr>
          </a:p>
          <a:p>
            <a:pPr marL="0" indent="0">
              <a:lnSpc>
                <a:spcPct val="150000"/>
              </a:lnSpc>
              <a:buNone/>
            </a:pPr>
            <a:r>
              <a:rPr lang="en-US" altLang="ja-JP" sz="1600">
                <a:latin typeface="+mn-ea"/>
              </a:rPr>
              <a:t>2025</a:t>
            </a:r>
            <a:r>
              <a:rPr lang="ja-JP" altLang="en-US" sz="1600">
                <a:latin typeface="+mn-ea"/>
              </a:rPr>
              <a:t>年</a:t>
            </a:r>
            <a:r>
              <a:rPr lang="en-US" altLang="ja-JP" sz="1600">
                <a:latin typeface="+mn-ea"/>
              </a:rPr>
              <a:t>3</a:t>
            </a:r>
            <a:r>
              <a:rPr lang="ja-JP" altLang="en-US" sz="1600">
                <a:latin typeface="+mn-ea"/>
              </a:rPr>
              <a:t>月に開催された世界最大規模のゲーム企業向けの展示会</a:t>
            </a:r>
            <a:r>
              <a:rPr lang="ja-JP" altLang="en-US" sz="1600" b="1">
                <a:latin typeface="+mn-ea"/>
              </a:rPr>
              <a:t>「</a:t>
            </a:r>
            <a:r>
              <a:rPr lang="en-US" altLang="ja-JP" sz="1600" b="1">
                <a:latin typeface="+mn-ea"/>
              </a:rPr>
              <a:t>Game Developers Conference 2025</a:t>
            </a:r>
            <a:r>
              <a:rPr lang="ja-JP" altLang="en-US" sz="1600" b="1">
                <a:latin typeface="+mn-ea"/>
              </a:rPr>
              <a:t>」（</a:t>
            </a:r>
            <a:r>
              <a:rPr lang="en-US" altLang="ja-JP" sz="1600" b="1">
                <a:latin typeface="+mn-ea"/>
              </a:rPr>
              <a:t>GDC 2025</a:t>
            </a:r>
            <a:r>
              <a:rPr lang="ja-JP" altLang="en-US" sz="1600" b="1">
                <a:latin typeface="+mn-ea"/>
              </a:rPr>
              <a:t>）</a:t>
            </a:r>
            <a:r>
              <a:rPr lang="ja-JP" altLang="en-US" sz="1600">
                <a:latin typeface="+mn-ea"/>
              </a:rPr>
              <a:t>に</a:t>
            </a:r>
            <a:r>
              <a:rPr lang="en-US" altLang="ja-JP" sz="1600">
                <a:latin typeface="+mn-ea"/>
              </a:rPr>
              <a:t>2</a:t>
            </a:r>
            <a:r>
              <a:rPr lang="ja-JP" altLang="en-US" sz="1600">
                <a:latin typeface="+mn-ea"/>
              </a:rPr>
              <a:t>か年連続で出展。自社</a:t>
            </a:r>
            <a:r>
              <a:rPr lang="en-US" altLang="ja-JP" sz="1600">
                <a:latin typeface="+mn-ea"/>
              </a:rPr>
              <a:t>IP</a:t>
            </a:r>
            <a:r>
              <a:rPr lang="ja-JP" altLang="en-US" sz="1600">
                <a:latin typeface="+mn-ea"/>
              </a:rPr>
              <a:t>ゲーム</a:t>
            </a:r>
            <a:r>
              <a:rPr lang="en-US" altLang="ja-JP" sz="1600">
                <a:latin typeface="+mn-ea"/>
              </a:rPr>
              <a:t>『IZON.』</a:t>
            </a:r>
            <a:r>
              <a:rPr lang="ja-JP" altLang="en-US" sz="1600">
                <a:latin typeface="+mn-ea"/>
              </a:rPr>
              <a:t>と</a:t>
            </a:r>
            <a:r>
              <a:rPr lang="en-US" altLang="ja-JP" sz="1600">
                <a:latin typeface="+mn-ea"/>
              </a:rPr>
              <a:t>『CRUELTY</a:t>
            </a:r>
            <a:r>
              <a:rPr lang="ja-JP" altLang="en-US" sz="1600">
                <a:latin typeface="+mn-ea"/>
              </a:rPr>
              <a:t>（クルーエルティ）</a:t>
            </a:r>
            <a:r>
              <a:rPr lang="en-US" altLang="ja-JP" sz="1600">
                <a:latin typeface="+mn-ea"/>
              </a:rPr>
              <a:t>』</a:t>
            </a:r>
            <a:r>
              <a:rPr lang="ja-JP" altLang="en-US" sz="1600">
                <a:latin typeface="+mn-ea"/>
              </a:rPr>
              <a:t>、</a:t>
            </a:r>
            <a:r>
              <a:rPr lang="en-US" altLang="ja-JP" sz="1600">
                <a:latin typeface="+mn-ea"/>
              </a:rPr>
              <a:t>3DCG</a:t>
            </a:r>
            <a:r>
              <a:rPr lang="ja-JP" altLang="en-US" sz="1600">
                <a:latin typeface="+mn-ea"/>
              </a:rPr>
              <a:t>制作分野の実績をフックに商談を実施。</a:t>
            </a:r>
            <a:endParaRPr lang="en-US" altLang="ja-JP" sz="1600">
              <a:latin typeface="+mn-ea"/>
            </a:endParaRPr>
          </a:p>
        </p:txBody>
      </p:sp>
      <p:cxnSp>
        <p:nvCxnSpPr>
          <p:cNvPr id="6" name="直線コネクタ 5">
            <a:extLst>
              <a:ext uri="{FF2B5EF4-FFF2-40B4-BE49-F238E27FC236}">
                <a16:creationId xmlns:a16="http://schemas.microsoft.com/office/drawing/2014/main" id="{A775AC4C-6688-1019-EE9A-3C39A4713FED}"/>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256E532E-6B19-CD2C-EC1F-00C6CCB6A550}"/>
              </a:ext>
            </a:extLst>
          </p:cNvPr>
          <p:cNvSpPr>
            <a:spLocks noGrp="1"/>
          </p:cNvSpPr>
          <p:nvPr>
            <p:ph idx="10"/>
          </p:nvPr>
        </p:nvSpPr>
        <p:spPr>
          <a:xfrm>
            <a:off x="5638914" y="1011447"/>
            <a:ext cx="6362583" cy="5563235"/>
          </a:xfrm>
        </p:spPr>
        <p:txBody>
          <a:bodyPr/>
          <a:lstStyle/>
          <a:p>
            <a:r>
              <a:rPr lang="ja-JP" altLang="en-US" b="1"/>
              <a:t>カナダ モントリオール支社</a:t>
            </a:r>
            <a:endParaRPr lang="en-US" altLang="ja-JP" b="1"/>
          </a:p>
          <a:p>
            <a:r>
              <a:rPr lang="en-US" altLang="ja-JP" b="1"/>
              <a:t>GDC2025</a:t>
            </a:r>
            <a:r>
              <a:rPr lang="ja-JP" altLang="en-US" b="1"/>
              <a:t>に日本実績と自社</a:t>
            </a:r>
            <a:r>
              <a:rPr lang="en-US" altLang="ja-JP" b="1"/>
              <a:t>IP</a:t>
            </a:r>
            <a:r>
              <a:rPr lang="ja-JP" altLang="en-US" b="1"/>
              <a:t>で出展</a:t>
            </a:r>
            <a:endParaRPr lang="en-US" altLang="ja-JP" b="1"/>
          </a:p>
        </p:txBody>
      </p:sp>
      <p:sp>
        <p:nvSpPr>
          <p:cNvPr id="11" name="タイトル 10">
            <a:extLst>
              <a:ext uri="{FF2B5EF4-FFF2-40B4-BE49-F238E27FC236}">
                <a16:creationId xmlns:a16="http://schemas.microsoft.com/office/drawing/2014/main" id="{3EB08307-7A57-4884-4CD6-99C4AE2BAF07}"/>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CECD5F32-41ED-13AB-CD1C-BE39519CBF1E}"/>
              </a:ext>
            </a:extLst>
          </p:cNvPr>
          <p:cNvSpPr>
            <a:spLocks noGrp="1"/>
          </p:cNvSpPr>
          <p:nvPr>
            <p:ph type="sldNum" sz="quarter" idx="11"/>
          </p:nvPr>
        </p:nvSpPr>
        <p:spPr/>
        <p:txBody>
          <a:bodyPr/>
          <a:lstStyle/>
          <a:p>
            <a:fld id="{B75FDD43-FCEC-4ECC-8189-A5C6D2E08DC6}" type="slidenum">
              <a:rPr lang="ja-JP" altLang="en-US" smtClean="0"/>
              <a:pPr/>
              <a:t>51</a:t>
            </a:fld>
            <a:endParaRPr lang="ja-JP" altLang="en-US"/>
          </a:p>
        </p:txBody>
      </p:sp>
      <p:sp>
        <p:nvSpPr>
          <p:cNvPr id="18" name="四角形: 角を丸くする 17">
            <a:extLst>
              <a:ext uri="{FF2B5EF4-FFF2-40B4-BE49-F238E27FC236}">
                <a16:creationId xmlns:a16="http://schemas.microsoft.com/office/drawing/2014/main" id="{AAD7F508-D529-53A4-A96B-EB9141C15C3B}"/>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ゲーム</a:t>
            </a:r>
          </a:p>
        </p:txBody>
      </p:sp>
      <p:sp>
        <p:nvSpPr>
          <p:cNvPr id="19" name="四角形: 角を丸くする 18">
            <a:extLst>
              <a:ext uri="{FF2B5EF4-FFF2-40B4-BE49-F238E27FC236}">
                <a16:creationId xmlns:a16="http://schemas.microsoft.com/office/drawing/2014/main" id="{FBEB1E76-70C7-FFBF-9892-DC3B76904FF0}"/>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日本 </a:t>
            </a:r>
            <a:r>
              <a:rPr kumimoji="1" lang="en-US" altLang="ja-JP" sz="1600" b="1" noProof="0">
                <a:solidFill>
                  <a:schemeClr val="bg1"/>
                </a:solidFill>
                <a:latin typeface="メイリオ" panose="020B0604030504040204" pitchFamily="50" charset="-128"/>
                <a:ea typeface="メイリオ" panose="020B0604030504040204" pitchFamily="50" charset="-128"/>
              </a:rPr>
              <a:t>IP</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B4982D24-D91C-B64B-0FE7-17A653850FF9}"/>
              </a:ext>
            </a:extLst>
          </p:cNvPr>
          <p:cNvSpPr txBox="1"/>
          <p:nvPr/>
        </p:nvSpPr>
        <p:spPr>
          <a:xfrm>
            <a:off x="542803" y="6447724"/>
            <a:ext cx="1303562" cy="253916"/>
          </a:xfrm>
          <a:prstGeom prst="rect">
            <a:avLst/>
          </a:prstGeom>
          <a:noFill/>
        </p:spPr>
        <p:txBody>
          <a:bodyPr wrap="none" rtlCol="0">
            <a:spAutoFit/>
          </a:bodyPr>
          <a:lstStyle/>
          <a:p>
            <a:r>
              <a:rPr lang="en-US" altLang="ja-JP" sz="1050">
                <a:latin typeface="メイリオ" panose="020B0604030504040204" pitchFamily="50" charset="-128"/>
                <a:ea typeface="メイリオ" panose="020B0604030504040204" pitchFamily="50" charset="-128"/>
              </a:rPr>
              <a:t>※Meta</a:t>
            </a:r>
            <a:r>
              <a:rPr lang="ja-JP" altLang="en-US" sz="1050">
                <a:latin typeface="メイリオ" panose="020B0604030504040204" pitchFamily="50" charset="-128"/>
                <a:ea typeface="メイリオ" panose="020B0604030504040204" pitchFamily="50" charset="-128"/>
              </a:rPr>
              <a:t>社にて商談</a:t>
            </a:r>
            <a:endParaRPr kumimoji="1" lang="ja-JP" altLang="en-US" sz="1050">
              <a:latin typeface="メイリオ" panose="020B0604030504040204" pitchFamily="50" charset="-128"/>
              <a:ea typeface="メイリオ" panose="020B0604030504040204" pitchFamily="50" charset="-128"/>
            </a:endParaRPr>
          </a:p>
        </p:txBody>
      </p:sp>
      <p:pic>
        <p:nvPicPr>
          <p:cNvPr id="15" name="図 14" descr="人, 屋内, グループ, 民衆 が含まれている画像&#10;&#10;AI によって生成されたコンテンツは間違っている可能性があります。">
            <a:extLst>
              <a:ext uri="{FF2B5EF4-FFF2-40B4-BE49-F238E27FC236}">
                <a16:creationId xmlns:a16="http://schemas.microsoft.com/office/drawing/2014/main" id="{5FF59DA0-8C9B-6293-3100-96793CD396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61414" y="2312124"/>
            <a:ext cx="4423954" cy="3317966"/>
          </a:xfrm>
          <a:prstGeom prst="rect">
            <a:avLst/>
          </a:prstGeom>
        </p:spPr>
      </p:pic>
      <p:pic>
        <p:nvPicPr>
          <p:cNvPr id="33" name="図 32" descr="人, 屋内, 立つ, 男 が含まれている画像&#10;&#10;AI によって生成されたコンテンツは間違っている可能性があります。">
            <a:extLst>
              <a:ext uri="{FF2B5EF4-FFF2-40B4-BE49-F238E27FC236}">
                <a16:creationId xmlns:a16="http://schemas.microsoft.com/office/drawing/2014/main" id="{0118F243-7A09-B595-8C4E-7A5BC18BDE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91956" y="4094883"/>
            <a:ext cx="2850022" cy="2137517"/>
          </a:xfrm>
          <a:prstGeom prst="rect">
            <a:avLst/>
          </a:prstGeom>
        </p:spPr>
      </p:pic>
      <p:pic>
        <p:nvPicPr>
          <p:cNvPr id="37" name="図 36" descr="レストランにいる人たち&#10;&#10;AI によって生成されたコンテンツは間違っている可能性があります。">
            <a:extLst>
              <a:ext uri="{FF2B5EF4-FFF2-40B4-BE49-F238E27FC236}">
                <a16:creationId xmlns:a16="http://schemas.microsoft.com/office/drawing/2014/main" id="{AC814FC3-1036-0FE8-1315-EE6D0D92FDA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73422" y="2312124"/>
            <a:ext cx="2377013" cy="1782760"/>
          </a:xfrm>
          <a:prstGeom prst="rect">
            <a:avLst/>
          </a:prstGeom>
        </p:spPr>
      </p:pic>
      <p:grpSp>
        <p:nvGrpSpPr>
          <p:cNvPr id="42" name="グループ化 41">
            <a:extLst>
              <a:ext uri="{FF2B5EF4-FFF2-40B4-BE49-F238E27FC236}">
                <a16:creationId xmlns:a16="http://schemas.microsoft.com/office/drawing/2014/main" id="{506EA858-341A-6A6A-46CA-03B63FC8F9E1}"/>
              </a:ext>
            </a:extLst>
          </p:cNvPr>
          <p:cNvGrpSpPr/>
          <p:nvPr/>
        </p:nvGrpSpPr>
        <p:grpSpPr>
          <a:xfrm>
            <a:off x="5457735" y="4069504"/>
            <a:ext cx="1443463" cy="2165195"/>
            <a:chOff x="5457735" y="3965003"/>
            <a:chExt cx="1658199" cy="2487299"/>
          </a:xfrm>
        </p:grpSpPr>
        <p:pic>
          <p:nvPicPr>
            <p:cNvPr id="39" name="図 38" descr="屋内, 民衆, 建物, 立つ が含まれている画像&#10;&#10;AI によって生成されたコンテンツは間違っている可能性があります。">
              <a:extLst>
                <a:ext uri="{FF2B5EF4-FFF2-40B4-BE49-F238E27FC236}">
                  <a16:creationId xmlns:a16="http://schemas.microsoft.com/office/drawing/2014/main" id="{896449DD-1984-8A09-D112-9674C8717A3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7735" y="5208653"/>
              <a:ext cx="1658199" cy="1243649"/>
            </a:xfrm>
            <a:prstGeom prst="rect">
              <a:avLst/>
            </a:prstGeom>
          </p:spPr>
        </p:pic>
        <p:pic>
          <p:nvPicPr>
            <p:cNvPr id="41" name="図 40" descr="空港の荷物受け取り場にいる人たち&#10;&#10;AI によって生成されたコンテンツは間違っている可能性があります。">
              <a:extLst>
                <a:ext uri="{FF2B5EF4-FFF2-40B4-BE49-F238E27FC236}">
                  <a16:creationId xmlns:a16="http://schemas.microsoft.com/office/drawing/2014/main" id="{3801B97C-09DC-2648-0D87-4559A518EF2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57735" y="3965003"/>
              <a:ext cx="1658198" cy="1243649"/>
            </a:xfrm>
            <a:prstGeom prst="rect">
              <a:avLst/>
            </a:prstGeom>
          </p:spPr>
        </p:pic>
      </p:grpSp>
      <p:grpSp>
        <p:nvGrpSpPr>
          <p:cNvPr id="47" name="グループ化 46">
            <a:extLst>
              <a:ext uri="{FF2B5EF4-FFF2-40B4-BE49-F238E27FC236}">
                <a16:creationId xmlns:a16="http://schemas.microsoft.com/office/drawing/2014/main" id="{20724F07-4C2D-8812-7D7E-E27EEF9A1AE3}"/>
              </a:ext>
            </a:extLst>
          </p:cNvPr>
          <p:cNvGrpSpPr/>
          <p:nvPr/>
        </p:nvGrpSpPr>
        <p:grpSpPr>
          <a:xfrm>
            <a:off x="602960" y="4980892"/>
            <a:ext cx="4530098" cy="1425014"/>
            <a:chOff x="605385" y="4933155"/>
            <a:chExt cx="4874798" cy="1533445"/>
          </a:xfrm>
        </p:grpSpPr>
        <p:pic>
          <p:nvPicPr>
            <p:cNvPr id="7" name="図 6" descr="屋外, 道路, 男, 記号 が含まれている画像&#10;&#10;AI によって生成されたコンテンツは間違っている可能性があります。">
              <a:extLst>
                <a:ext uri="{FF2B5EF4-FFF2-40B4-BE49-F238E27FC236}">
                  <a16:creationId xmlns:a16="http://schemas.microsoft.com/office/drawing/2014/main" id="{4F32F7E9-260B-AE11-78A1-04A89956135D}"/>
                </a:ext>
              </a:extLst>
            </p:cNvPr>
            <p:cNvPicPr>
              <a:picLocks noChangeAspect="1"/>
            </p:cNvPicPr>
            <p:nvPr/>
          </p:nvPicPr>
          <p:blipFill>
            <a:blip r:embed="rId8" cstate="print">
              <a:extLst>
                <a:ext uri="{28A0092B-C50C-407E-A947-70E740481C1C}">
                  <a14:useLocalDpi xmlns:a14="http://schemas.microsoft.com/office/drawing/2010/main" val="0"/>
                </a:ext>
              </a:extLst>
            </a:blip>
            <a:srcRect l="11753" t="12002" r="5965" b="12176"/>
            <a:stretch/>
          </p:blipFill>
          <p:spPr>
            <a:xfrm>
              <a:off x="605385" y="4933155"/>
              <a:ext cx="2218752" cy="1533445"/>
            </a:xfrm>
            <a:prstGeom prst="rect">
              <a:avLst/>
            </a:prstGeom>
          </p:spPr>
        </p:pic>
        <p:pic>
          <p:nvPicPr>
            <p:cNvPr id="44" name="図 43" descr="キッチンの一角&#10;&#10;AI によって生成されたコンテンツは間違っている可能性があります。">
              <a:extLst>
                <a:ext uri="{FF2B5EF4-FFF2-40B4-BE49-F238E27FC236}">
                  <a16:creationId xmlns:a16="http://schemas.microsoft.com/office/drawing/2014/main" id="{3EE71284-2028-F94F-43CD-29EE30989F8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679041" y="4933155"/>
              <a:ext cx="1150084" cy="1533445"/>
            </a:xfrm>
            <a:prstGeom prst="rect">
              <a:avLst/>
            </a:prstGeom>
          </p:spPr>
        </p:pic>
        <p:pic>
          <p:nvPicPr>
            <p:cNvPr id="46" name="図 45" descr="屋内, テーブル, 建物, 部屋 が含まれている画像&#10;&#10;AI によって生成されたコンテンツは間違っている可能性があります。">
              <a:extLst>
                <a:ext uri="{FF2B5EF4-FFF2-40B4-BE49-F238E27FC236}">
                  <a16:creationId xmlns:a16="http://schemas.microsoft.com/office/drawing/2014/main" id="{E5783FFF-3F31-0192-E418-62F4F1657A35}"/>
                </a:ext>
              </a:extLst>
            </p:cNvPr>
            <p:cNvPicPr>
              <a:picLocks noChangeAspect="1"/>
            </p:cNvPicPr>
            <p:nvPr/>
          </p:nvPicPr>
          <p:blipFill>
            <a:blip r:embed="rId10" cstate="print">
              <a:extLst>
                <a:ext uri="{28A0092B-C50C-407E-A947-70E740481C1C}">
                  <a14:useLocalDpi xmlns:a14="http://schemas.microsoft.com/office/drawing/2010/main" val="0"/>
                </a:ext>
              </a:extLst>
            </a:blip>
            <a:srcRect l="19571"/>
            <a:stretch/>
          </p:blipFill>
          <p:spPr>
            <a:xfrm>
              <a:off x="3835751" y="4933155"/>
              <a:ext cx="1644432" cy="1533444"/>
            </a:xfrm>
            <a:prstGeom prst="rect">
              <a:avLst/>
            </a:prstGeom>
          </p:spPr>
        </p:pic>
      </p:grpSp>
      <p:pic>
        <p:nvPicPr>
          <p:cNvPr id="53" name="図 52" descr="机の上のノートパソコンを見ている人たち&#10;&#10;AI によって生成されたコンテンツは間違っている可能性があります。">
            <a:extLst>
              <a:ext uri="{FF2B5EF4-FFF2-40B4-BE49-F238E27FC236}">
                <a16:creationId xmlns:a16="http://schemas.microsoft.com/office/drawing/2014/main" id="{1B66FD57-4800-B500-B886-5E303599C742}"/>
              </a:ext>
            </a:extLst>
          </p:cNvPr>
          <p:cNvPicPr>
            <a:picLocks noChangeAspect="1"/>
          </p:cNvPicPr>
          <p:nvPr/>
        </p:nvPicPr>
        <p:blipFill>
          <a:blip r:embed="rId11" cstate="print">
            <a:extLst>
              <a:ext uri="{28A0092B-C50C-407E-A947-70E740481C1C}">
                <a14:useLocalDpi xmlns:a14="http://schemas.microsoft.com/office/drawing/2010/main" val="0"/>
              </a:ext>
            </a:extLst>
          </a:blip>
          <a:srcRect b="19966"/>
          <a:stretch/>
        </p:blipFill>
        <p:spPr>
          <a:xfrm>
            <a:off x="9339813" y="4094882"/>
            <a:ext cx="2817965" cy="2137517"/>
          </a:xfrm>
          <a:prstGeom prst="rect">
            <a:avLst/>
          </a:prstGeom>
        </p:spPr>
      </p:pic>
    </p:spTree>
    <p:extLst>
      <p:ext uri="{BB962C8B-B14F-4D97-AF65-F5344CB8AC3E}">
        <p14:creationId xmlns:p14="http://schemas.microsoft.com/office/powerpoint/2010/main" val="42604901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8D4E5-669D-0D5D-C845-07111B5D3A6B}"/>
            </a:ext>
          </a:extLst>
        </p:cNvPr>
        <p:cNvGrpSpPr/>
        <p:nvPr/>
      </p:nvGrpSpPr>
      <p:grpSpPr>
        <a:xfrm>
          <a:off x="0" y="0"/>
          <a:ext cx="0" cy="0"/>
          <a:chOff x="0" y="0"/>
          <a:chExt cx="0" cy="0"/>
        </a:xfrm>
      </p:grpSpPr>
      <p:grpSp>
        <p:nvGrpSpPr>
          <p:cNvPr id="37" name="グループ化 36">
            <a:extLst>
              <a:ext uri="{FF2B5EF4-FFF2-40B4-BE49-F238E27FC236}">
                <a16:creationId xmlns:a16="http://schemas.microsoft.com/office/drawing/2014/main" id="{90E82C97-63F0-AB1A-9147-6DAF05CBA95D}"/>
              </a:ext>
            </a:extLst>
          </p:cNvPr>
          <p:cNvGrpSpPr/>
          <p:nvPr/>
        </p:nvGrpSpPr>
        <p:grpSpPr>
          <a:xfrm>
            <a:off x="653801" y="1995798"/>
            <a:ext cx="4495339" cy="821209"/>
            <a:chOff x="653801" y="1995798"/>
            <a:chExt cx="4495339" cy="821209"/>
          </a:xfrm>
        </p:grpSpPr>
        <p:sp>
          <p:nvSpPr>
            <p:cNvPr id="10" name="正方形/長方形 9">
              <a:extLst>
                <a:ext uri="{FF2B5EF4-FFF2-40B4-BE49-F238E27FC236}">
                  <a16:creationId xmlns:a16="http://schemas.microsoft.com/office/drawing/2014/main" id="{837D72C5-0698-7A5D-2752-BA0EEC29AFC3}"/>
                </a:ext>
              </a:extLst>
            </p:cNvPr>
            <p:cNvSpPr/>
            <p:nvPr/>
          </p:nvSpPr>
          <p:spPr bwMode="auto">
            <a:xfrm>
              <a:off x="653801" y="1995798"/>
              <a:ext cx="4468325" cy="110201"/>
            </a:xfrm>
            <a:prstGeom prst="rect">
              <a:avLst/>
            </a:prstGeom>
            <a:solidFill>
              <a:schemeClr val="accent3">
                <a:lumMod val="60000"/>
                <a:lumOff val="40000"/>
                <a:alpha val="5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98B82E8F-FA8D-C9F3-08ED-C6FB9D457D4A}"/>
                </a:ext>
              </a:extLst>
            </p:cNvPr>
            <p:cNvSpPr/>
            <p:nvPr/>
          </p:nvSpPr>
          <p:spPr bwMode="auto">
            <a:xfrm>
              <a:off x="664732" y="2339816"/>
              <a:ext cx="4468325" cy="110201"/>
            </a:xfrm>
            <a:prstGeom prst="rect">
              <a:avLst/>
            </a:prstGeom>
            <a:solidFill>
              <a:schemeClr val="accent3">
                <a:lumMod val="60000"/>
                <a:lumOff val="40000"/>
                <a:alpha val="5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AE030D60-E0D6-A78D-E526-E9D6176863A6}"/>
                </a:ext>
              </a:extLst>
            </p:cNvPr>
            <p:cNvSpPr/>
            <p:nvPr/>
          </p:nvSpPr>
          <p:spPr bwMode="auto">
            <a:xfrm>
              <a:off x="680815" y="2706806"/>
              <a:ext cx="4468325" cy="110201"/>
            </a:xfrm>
            <a:prstGeom prst="rect">
              <a:avLst/>
            </a:prstGeom>
            <a:solidFill>
              <a:schemeClr val="accent3">
                <a:lumMod val="60000"/>
                <a:lumOff val="40000"/>
                <a:alpha val="5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sp>
        <p:nvSpPr>
          <p:cNvPr id="14" name="コンテンツ プレースホルダー 13">
            <a:extLst>
              <a:ext uri="{FF2B5EF4-FFF2-40B4-BE49-F238E27FC236}">
                <a16:creationId xmlns:a16="http://schemas.microsoft.com/office/drawing/2014/main" id="{4A6889C4-4DB4-AA75-B932-368C2DE8EACF}"/>
              </a:ext>
            </a:extLst>
          </p:cNvPr>
          <p:cNvSpPr>
            <a:spLocks noGrp="1"/>
          </p:cNvSpPr>
          <p:nvPr>
            <p:ph idx="1"/>
          </p:nvPr>
        </p:nvSpPr>
        <p:spPr>
          <a:xfrm>
            <a:off x="608082" y="1706880"/>
            <a:ext cx="4672152" cy="3422010"/>
          </a:xfrm>
        </p:spPr>
        <p:txBody>
          <a:bodyPr>
            <a:noAutofit/>
          </a:bodyPr>
          <a:lstStyle/>
          <a:p>
            <a:pPr marL="0" indent="0">
              <a:lnSpc>
                <a:spcPct val="150000"/>
              </a:lnSpc>
              <a:buNone/>
            </a:pPr>
            <a:r>
              <a:rPr kumimoji="1" lang="ja-JP" altLang="en-US" sz="1600" b="1"/>
              <a:t>累計販売</a:t>
            </a:r>
            <a:r>
              <a:rPr kumimoji="1" lang="en-US" altLang="ja-JP" sz="1600" b="1"/>
              <a:t>120</a:t>
            </a:r>
            <a:r>
              <a:rPr kumimoji="1" lang="ja-JP" altLang="en-US" sz="1600" b="1"/>
              <a:t>万個超！海外でも話題のカプセルトイの人気造形作家</a:t>
            </a:r>
            <a:r>
              <a:rPr kumimoji="1" lang="en-US" altLang="ja-JP" sz="1600" b="1"/>
              <a:t>Yoshi.</a:t>
            </a:r>
            <a:r>
              <a:rPr kumimoji="1" lang="ja-JP" altLang="en-US" sz="1600" b="1"/>
              <a:t>と</a:t>
            </a:r>
            <a:r>
              <a:rPr kumimoji="1" lang="en-US" altLang="ja-JP" sz="1600" b="1"/>
              <a:t>C&amp;R Creative Studios</a:t>
            </a:r>
            <a:r>
              <a:rPr kumimoji="1" lang="ja-JP" altLang="en-US" sz="1600" b="1"/>
              <a:t>が</a:t>
            </a:r>
            <a:r>
              <a:rPr kumimoji="1" lang="en-US" altLang="ja-JP" sz="1600" b="1"/>
              <a:t>『IZON.』</a:t>
            </a:r>
            <a:r>
              <a:rPr kumimoji="1" lang="ja-JP" altLang="en-US" sz="1600" b="1"/>
              <a:t>を共同開発、</a:t>
            </a:r>
            <a:r>
              <a:rPr kumimoji="1" lang="en-US" altLang="ja-JP" sz="1600" b="1"/>
              <a:t>3/21</a:t>
            </a:r>
            <a:r>
              <a:rPr kumimoji="1" lang="ja-JP" altLang="en-US" sz="1600" b="1"/>
              <a:t>発売！</a:t>
            </a:r>
            <a:endParaRPr kumimoji="1" lang="en-US" altLang="ja-JP" sz="1600" b="1"/>
          </a:p>
          <a:p>
            <a:pPr marL="0" indent="0">
              <a:lnSpc>
                <a:spcPct val="150000"/>
              </a:lnSpc>
              <a:buNone/>
            </a:pPr>
            <a:r>
              <a:rPr lang="en-US" altLang="ja-JP" sz="1100"/>
              <a:t>Yoshi.</a:t>
            </a:r>
            <a:r>
              <a:rPr lang="ja-JP" altLang="en-US" sz="1100"/>
              <a:t>氏のオリジナルコンテンツ</a:t>
            </a:r>
            <a:r>
              <a:rPr lang="en-US" altLang="ja-JP" sz="1100"/>
              <a:t>『</a:t>
            </a:r>
            <a:r>
              <a:rPr lang="ja-JP" altLang="en-US" sz="1100"/>
              <a:t>紡ギ箱</a:t>
            </a:r>
            <a:r>
              <a:rPr lang="en-US" altLang="ja-JP" sz="1100"/>
              <a:t>』</a:t>
            </a:r>
            <a:r>
              <a:rPr lang="ja-JP" altLang="en-US" sz="1100"/>
              <a:t>をゲーム化した作品。</a:t>
            </a:r>
            <a:br>
              <a:rPr lang="en-US" altLang="ja-JP" sz="1100"/>
            </a:br>
            <a:r>
              <a:rPr lang="ja-JP" altLang="en-US" sz="1100"/>
              <a:t>退廃的で切なくも美しい世界を、破壊と創造の相反する力で切り開いていく共依存アドベンチャーゲーム（全</a:t>
            </a:r>
            <a:r>
              <a:rPr lang="en-US" altLang="ja-JP" sz="1100"/>
              <a:t>12</a:t>
            </a:r>
            <a:r>
              <a:rPr lang="ja-JP" altLang="en-US" sz="1100"/>
              <a:t>節）。ゲーム</a:t>
            </a:r>
            <a:r>
              <a:rPr lang="en-US" altLang="ja-JP" sz="1100"/>
              <a:t>『IZON. </a:t>
            </a:r>
            <a:r>
              <a:rPr lang="ja-JP" altLang="en-US" sz="1100"/>
              <a:t>第</a:t>
            </a:r>
            <a:r>
              <a:rPr lang="en-US" altLang="ja-JP" sz="1100"/>
              <a:t>1</a:t>
            </a:r>
            <a:r>
              <a:rPr lang="ja-JP" altLang="en-US" sz="1100"/>
              <a:t>節封厄ノ塔</a:t>
            </a:r>
            <a:r>
              <a:rPr lang="en-US" altLang="ja-JP" sz="1100"/>
              <a:t>』</a:t>
            </a:r>
            <a:r>
              <a:rPr lang="ja-JP" altLang="en-US" sz="1100"/>
              <a:t>はオンラインゲーミングプラットフォーム「</a:t>
            </a:r>
            <a:r>
              <a:rPr lang="en-US" altLang="ja-JP" sz="1100"/>
              <a:t>Steam</a:t>
            </a:r>
            <a:r>
              <a:rPr lang="ja-JP" altLang="en-US" sz="1100"/>
              <a:t>」で発売*。主人公ふたりの声優に悠木 碧さん（智人役）、細谷佳正さん（虚人役）を採用。</a:t>
            </a:r>
          </a:p>
          <a:p>
            <a:pPr marL="0" indent="0">
              <a:lnSpc>
                <a:spcPct val="150000"/>
              </a:lnSpc>
              <a:buNone/>
            </a:pPr>
            <a:r>
              <a:rPr lang="ja-JP" altLang="en-US" sz="800"/>
              <a:t>*第</a:t>
            </a:r>
            <a:r>
              <a:rPr lang="en-US" altLang="ja-JP" sz="800"/>
              <a:t>2</a:t>
            </a:r>
            <a:r>
              <a:rPr lang="ja-JP" altLang="en-US" sz="800"/>
              <a:t>節以降の開発については未定。第</a:t>
            </a:r>
            <a:r>
              <a:rPr lang="en-US" altLang="ja-JP" sz="800"/>
              <a:t>1</a:t>
            </a:r>
            <a:r>
              <a:rPr lang="ja-JP" altLang="en-US" sz="800"/>
              <a:t>節の販売数や反響等から総合的に判断する予定です。</a:t>
            </a:r>
            <a:endParaRPr lang="en-US" altLang="ja-JP" sz="800"/>
          </a:p>
        </p:txBody>
      </p:sp>
      <p:cxnSp>
        <p:nvCxnSpPr>
          <p:cNvPr id="6" name="直線コネクタ 5">
            <a:extLst>
              <a:ext uri="{FF2B5EF4-FFF2-40B4-BE49-F238E27FC236}">
                <a16:creationId xmlns:a16="http://schemas.microsoft.com/office/drawing/2014/main" id="{825A2AD4-D7DF-C06C-2601-7DEAD1028BEC}"/>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3ACE6AEC-0CEE-4252-8923-7B56551A76A6}"/>
              </a:ext>
            </a:extLst>
          </p:cNvPr>
          <p:cNvSpPr>
            <a:spLocks noGrp="1"/>
          </p:cNvSpPr>
          <p:nvPr>
            <p:ph idx="10"/>
          </p:nvPr>
        </p:nvSpPr>
        <p:spPr>
          <a:xfrm>
            <a:off x="5708412" y="1034781"/>
            <a:ext cx="6420755" cy="5539901"/>
          </a:xfrm>
        </p:spPr>
        <p:txBody>
          <a:bodyPr/>
          <a:lstStyle/>
          <a:p>
            <a:r>
              <a:rPr lang="en-US" altLang="ja-JP" b="1"/>
              <a:t>『</a:t>
            </a:r>
            <a:r>
              <a:rPr lang="ja-JP" altLang="en-US" b="1"/>
              <a:t>紡ギ箱</a:t>
            </a:r>
            <a:r>
              <a:rPr lang="en-US" altLang="ja-JP" b="1"/>
              <a:t>』</a:t>
            </a:r>
            <a:r>
              <a:rPr lang="ja-JP" altLang="en-US" b="1"/>
              <a:t>ゲーム化プロジェクト</a:t>
            </a:r>
            <a:r>
              <a:rPr lang="en-US" altLang="ja-JP" b="1" i="0">
                <a:solidFill>
                  <a:schemeClr val="accent4">
                    <a:lumMod val="75000"/>
                  </a:schemeClr>
                </a:solidFill>
                <a:effectLst/>
                <a:highlight>
                  <a:srgbClr val="FFFFFF"/>
                </a:highlight>
                <a:hlinkClick r:id="rId2">
                  <a:extLst>
                    <a:ext uri="{A12FA001-AC4F-418D-AE19-62706E023703}">
                      <ahyp:hlinkClr xmlns:ahyp="http://schemas.microsoft.com/office/drawing/2018/hyperlinkcolor" val="tx"/>
                    </a:ext>
                  </a:extLst>
                </a:hlinkClick>
              </a:rPr>
              <a:t>『IZON. </a:t>
            </a:r>
            <a:r>
              <a:rPr lang="ja-JP" altLang="en-US" b="1" i="0">
                <a:solidFill>
                  <a:schemeClr val="accent4">
                    <a:lumMod val="75000"/>
                  </a:schemeClr>
                </a:solidFill>
                <a:effectLst/>
                <a:highlight>
                  <a:srgbClr val="FFFFFF"/>
                </a:highlight>
                <a:hlinkClick r:id="rId2">
                  <a:extLst>
                    <a:ext uri="{A12FA001-AC4F-418D-AE19-62706E023703}">
                      <ahyp:hlinkClr xmlns:ahyp="http://schemas.microsoft.com/office/drawing/2018/hyperlinkcolor" val="tx"/>
                    </a:ext>
                  </a:extLst>
                </a:hlinkClick>
              </a:rPr>
              <a:t>第</a:t>
            </a:r>
            <a:r>
              <a:rPr lang="en-US" altLang="ja-JP" b="1" i="0">
                <a:solidFill>
                  <a:schemeClr val="accent4">
                    <a:lumMod val="75000"/>
                  </a:schemeClr>
                </a:solidFill>
                <a:effectLst/>
                <a:highlight>
                  <a:srgbClr val="FFFFFF"/>
                </a:highlight>
                <a:hlinkClick r:id="rId2">
                  <a:extLst>
                    <a:ext uri="{A12FA001-AC4F-418D-AE19-62706E023703}">
                      <ahyp:hlinkClr xmlns:ahyp="http://schemas.microsoft.com/office/drawing/2018/hyperlinkcolor" val="tx"/>
                    </a:ext>
                  </a:extLst>
                </a:hlinkClick>
              </a:rPr>
              <a:t>1</a:t>
            </a:r>
            <a:r>
              <a:rPr lang="ja-JP" altLang="en-US" b="1" i="0">
                <a:solidFill>
                  <a:schemeClr val="accent4">
                    <a:lumMod val="75000"/>
                  </a:schemeClr>
                </a:solidFill>
                <a:effectLst/>
                <a:highlight>
                  <a:srgbClr val="FFFFFF"/>
                </a:highlight>
                <a:hlinkClick r:id="rId2">
                  <a:extLst>
                    <a:ext uri="{A12FA001-AC4F-418D-AE19-62706E023703}">
                      <ahyp:hlinkClr xmlns:ahyp="http://schemas.microsoft.com/office/drawing/2018/hyperlinkcolor" val="tx"/>
                    </a:ext>
                  </a:extLst>
                </a:hlinkClick>
              </a:rPr>
              <a:t>節 封厄ノ塔</a:t>
            </a:r>
            <a:r>
              <a:rPr lang="en-US" altLang="ja-JP" b="1" i="0">
                <a:solidFill>
                  <a:schemeClr val="accent4">
                    <a:lumMod val="75000"/>
                  </a:schemeClr>
                </a:solidFill>
                <a:effectLst/>
                <a:highlight>
                  <a:srgbClr val="FFFFFF"/>
                </a:highlight>
                <a:hlinkClick r:id="rId2">
                  <a:extLst>
                    <a:ext uri="{A12FA001-AC4F-418D-AE19-62706E023703}">
                      <ahyp:hlinkClr xmlns:ahyp="http://schemas.microsoft.com/office/drawing/2018/hyperlinkcolor" val="tx"/>
                    </a:ext>
                  </a:extLst>
                </a:hlinkClick>
              </a:rPr>
              <a:t>』</a:t>
            </a:r>
            <a:r>
              <a:rPr lang="ja-JP" altLang="en-US" b="1" i="0">
                <a:effectLst/>
                <a:highlight>
                  <a:srgbClr val="FFFFFF"/>
                </a:highlight>
              </a:rPr>
              <a:t>発売</a:t>
            </a:r>
            <a:r>
              <a:rPr lang="ja-JP" altLang="en-US" b="1">
                <a:highlight>
                  <a:srgbClr val="FFFFFF"/>
                </a:highlight>
              </a:rPr>
              <a:t>！</a:t>
            </a:r>
            <a:endParaRPr lang="en-US" altLang="ja-JP" b="1" i="0">
              <a:effectLst/>
              <a:highlight>
                <a:srgbClr val="FFFFFF"/>
              </a:highlight>
            </a:endParaRPr>
          </a:p>
        </p:txBody>
      </p:sp>
      <p:sp>
        <p:nvSpPr>
          <p:cNvPr id="11" name="タイトル 10">
            <a:extLst>
              <a:ext uri="{FF2B5EF4-FFF2-40B4-BE49-F238E27FC236}">
                <a16:creationId xmlns:a16="http://schemas.microsoft.com/office/drawing/2014/main" id="{54A66451-3951-1D96-BF3D-5E9E5A85683A}"/>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E9758439-EF64-B687-E34C-AD366C42DA7F}"/>
              </a:ext>
            </a:extLst>
          </p:cNvPr>
          <p:cNvSpPr>
            <a:spLocks noGrp="1"/>
          </p:cNvSpPr>
          <p:nvPr>
            <p:ph type="sldNum" sz="quarter" idx="11"/>
          </p:nvPr>
        </p:nvSpPr>
        <p:spPr/>
        <p:txBody>
          <a:bodyPr/>
          <a:lstStyle/>
          <a:p>
            <a:fld id="{B75FDD43-FCEC-4ECC-8189-A5C6D2E08DC6}" type="slidenum">
              <a:rPr lang="ja-JP" altLang="en-US" smtClean="0"/>
              <a:pPr/>
              <a:t>52</a:t>
            </a:fld>
            <a:endParaRPr lang="ja-JP" altLang="en-US"/>
          </a:p>
        </p:txBody>
      </p:sp>
      <p:sp>
        <p:nvSpPr>
          <p:cNvPr id="18" name="四角形: 角を丸くする 17">
            <a:extLst>
              <a:ext uri="{FF2B5EF4-FFF2-40B4-BE49-F238E27FC236}">
                <a16:creationId xmlns:a16="http://schemas.microsoft.com/office/drawing/2014/main" id="{0A7C30D1-12DC-37E5-2207-A00381847DE3}"/>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ゲーム開発</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A2EBC9E8-EA25-1146-05DB-EF28497906DF}"/>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en-US" altLang="ja-JP" sz="1600" b="1" noProof="0">
                <a:solidFill>
                  <a:schemeClr val="bg1"/>
                </a:solidFill>
                <a:latin typeface="メイリオ" panose="020B0604030504040204" pitchFamily="50" charset="-128"/>
                <a:ea typeface="メイリオ" panose="020B0604030504040204" pitchFamily="50" charset="-128"/>
              </a:rPr>
              <a:t>Steam</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pic>
        <p:nvPicPr>
          <p:cNvPr id="4" name="図 3">
            <a:extLst>
              <a:ext uri="{FF2B5EF4-FFF2-40B4-BE49-F238E27FC236}">
                <a16:creationId xmlns:a16="http://schemas.microsoft.com/office/drawing/2014/main" id="{560EF1FB-AB89-5E1D-412E-14CAC0CD5C18}"/>
              </a:ext>
            </a:extLst>
          </p:cNvPr>
          <p:cNvPicPr>
            <a:picLocks noChangeAspect="1"/>
          </p:cNvPicPr>
          <p:nvPr/>
        </p:nvPicPr>
        <p:blipFill>
          <a:blip r:embed="rId3"/>
          <a:stretch>
            <a:fillRect/>
          </a:stretch>
        </p:blipFill>
        <p:spPr>
          <a:xfrm>
            <a:off x="5567166" y="2192941"/>
            <a:ext cx="6237742" cy="2746284"/>
          </a:xfrm>
          <a:prstGeom prst="rect">
            <a:avLst/>
          </a:prstGeom>
        </p:spPr>
      </p:pic>
      <p:pic>
        <p:nvPicPr>
          <p:cNvPr id="5" name="図 4" descr="建物, 座る, テーブル, 猫 が含まれている画像&#10;&#10;AI によって生成されたコンテンツは間違っている可能性があります。">
            <a:extLst>
              <a:ext uri="{FF2B5EF4-FFF2-40B4-BE49-F238E27FC236}">
                <a16:creationId xmlns:a16="http://schemas.microsoft.com/office/drawing/2014/main" id="{02F9115A-9A25-26F7-BC41-1D2048BD45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89520" y="4983087"/>
            <a:ext cx="2190494" cy="1547949"/>
          </a:xfrm>
          <a:prstGeom prst="rect">
            <a:avLst/>
          </a:prstGeom>
        </p:spPr>
      </p:pic>
      <p:pic>
        <p:nvPicPr>
          <p:cNvPr id="8" name="図 7" descr="抽象, テキスト, 線画, 挿絵 が含まれている画像&#10;&#10;AI によって生成されたコンテンツは間違っている可能性があります。">
            <a:extLst>
              <a:ext uri="{FF2B5EF4-FFF2-40B4-BE49-F238E27FC236}">
                <a16:creationId xmlns:a16="http://schemas.microsoft.com/office/drawing/2014/main" id="{8BFAAEF7-932E-2EEB-916B-752BF7CF553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1684" y="4994689"/>
            <a:ext cx="1077488" cy="1524747"/>
          </a:xfrm>
          <a:prstGeom prst="rect">
            <a:avLst/>
          </a:prstGeom>
        </p:spPr>
      </p:pic>
      <p:pic>
        <p:nvPicPr>
          <p:cNvPr id="7" name="図 6" descr="紫, 座る, ピンク, 靴 が含まれている画像&#10;&#10;AI によって生成されたコンテンツは間違っている可能性があります。">
            <a:extLst>
              <a:ext uri="{FF2B5EF4-FFF2-40B4-BE49-F238E27FC236}">
                <a16:creationId xmlns:a16="http://schemas.microsoft.com/office/drawing/2014/main" id="{82B7A1AD-AE10-D7E4-B24D-9AF74AC794A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58200" y="4934214"/>
            <a:ext cx="3341752" cy="1734373"/>
          </a:xfrm>
          <a:prstGeom prst="rect">
            <a:avLst/>
          </a:prstGeom>
        </p:spPr>
      </p:pic>
      <p:pic>
        <p:nvPicPr>
          <p:cNvPr id="12" name="図 11" descr="スイミング, テーブル, 座る, 食品 が含まれている画像&#10;&#10;AI によって生成されたコンテンツは間違っている可能性があります。">
            <a:extLst>
              <a:ext uri="{FF2B5EF4-FFF2-40B4-BE49-F238E27FC236}">
                <a16:creationId xmlns:a16="http://schemas.microsoft.com/office/drawing/2014/main" id="{3BC67177-A932-3E5D-5902-0F52061953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67166" y="4939225"/>
            <a:ext cx="3062813" cy="1722832"/>
          </a:xfrm>
          <a:prstGeom prst="rect">
            <a:avLst/>
          </a:prstGeom>
        </p:spPr>
      </p:pic>
      <p:pic>
        <p:nvPicPr>
          <p:cNvPr id="13" name="図 12">
            <a:extLst>
              <a:ext uri="{FF2B5EF4-FFF2-40B4-BE49-F238E27FC236}">
                <a16:creationId xmlns:a16="http://schemas.microsoft.com/office/drawing/2014/main" id="{E1B339A6-8B3A-BA2B-B32B-474EA380D37F}"/>
              </a:ext>
            </a:extLst>
          </p:cNvPr>
          <p:cNvPicPr>
            <a:picLocks noChangeAspect="1"/>
          </p:cNvPicPr>
          <p:nvPr/>
        </p:nvPicPr>
        <p:blipFill>
          <a:blip r:embed="rId8"/>
          <a:stretch>
            <a:fillRect/>
          </a:stretch>
        </p:blipFill>
        <p:spPr>
          <a:xfrm>
            <a:off x="4050362" y="4983087"/>
            <a:ext cx="1087895" cy="1547949"/>
          </a:xfrm>
          <a:prstGeom prst="rect">
            <a:avLst/>
          </a:prstGeom>
        </p:spPr>
      </p:pic>
    </p:spTree>
    <p:extLst>
      <p:ext uri="{BB962C8B-B14F-4D97-AF65-F5344CB8AC3E}">
        <p14:creationId xmlns:p14="http://schemas.microsoft.com/office/powerpoint/2010/main" val="37537512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FCE235C4-29E8-3250-FCE9-838AC394C71A}"/>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観光</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4E82E7CC-B8F7-E355-ADD3-65255916B7A3}"/>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メタバース</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8" name="コンテンツ プレースホルダー 7">
            <a:extLst>
              <a:ext uri="{FF2B5EF4-FFF2-40B4-BE49-F238E27FC236}">
                <a16:creationId xmlns:a16="http://schemas.microsoft.com/office/drawing/2014/main" id="{5E9F0476-028C-F97C-CED3-C6326CB31B22}"/>
              </a:ext>
            </a:extLst>
          </p:cNvPr>
          <p:cNvSpPr>
            <a:spLocks noGrp="1"/>
          </p:cNvSpPr>
          <p:nvPr>
            <p:ph idx="1"/>
          </p:nvPr>
        </p:nvSpPr>
        <p:spPr>
          <a:xfrm>
            <a:off x="608082" y="1635760"/>
            <a:ext cx="5487918" cy="5129880"/>
          </a:xfrm>
        </p:spPr>
        <p:txBody>
          <a:bodyPr anchor="t">
            <a:normAutofit fontScale="92500" lnSpcReduction="10000"/>
          </a:bodyPr>
          <a:lstStyle/>
          <a:p>
            <a:pPr marL="0" indent="0">
              <a:lnSpc>
                <a:spcPct val="110000"/>
              </a:lnSpc>
              <a:buNone/>
            </a:pPr>
            <a:r>
              <a:rPr lang="en-US" altLang="ja-JP" sz="1600"/>
              <a:t>C&amp;R</a:t>
            </a:r>
            <a:r>
              <a:rPr lang="ja-JP" altLang="en-US" sz="1600"/>
              <a:t>社と群馬県館林市は</a:t>
            </a:r>
            <a:r>
              <a:rPr lang="en-US" altLang="ja-JP" sz="1600"/>
              <a:t>2024</a:t>
            </a:r>
            <a:r>
              <a:rPr lang="ja-JP" altLang="en-US" sz="1600"/>
              <a:t>年</a:t>
            </a:r>
            <a:r>
              <a:rPr lang="en-US" altLang="ja-JP" sz="1600"/>
              <a:t>11</a:t>
            </a:r>
            <a:r>
              <a:rPr lang="ja-JP" altLang="en-US" sz="1600"/>
              <a:t>月</a:t>
            </a:r>
            <a:r>
              <a:rPr lang="en-US" altLang="ja-JP" sz="1600"/>
              <a:t>28</a:t>
            </a:r>
            <a:r>
              <a:rPr lang="ja-JP" altLang="en-US" sz="1600"/>
              <a:t>日（木）、</a:t>
            </a:r>
            <a:endParaRPr lang="en-US" altLang="ja-JP" sz="1600"/>
          </a:p>
          <a:p>
            <a:pPr marL="0" indent="0">
              <a:lnSpc>
                <a:spcPct val="110000"/>
              </a:lnSpc>
              <a:buNone/>
            </a:pPr>
            <a:r>
              <a:rPr lang="ja-JP" altLang="en-US" sz="1600" b="1">
                <a:solidFill>
                  <a:schemeClr val="accent4">
                    <a:lumMod val="75000"/>
                  </a:schemeClr>
                </a:solidFill>
                <a:hlinkClick r:id="rId3">
                  <a:extLst>
                    <a:ext uri="{A12FA001-AC4F-418D-AE19-62706E023703}">
                      <ahyp:hlinkClr xmlns:ahyp="http://schemas.microsoft.com/office/drawing/2018/hyperlinkcolor" val="tx"/>
                    </a:ext>
                  </a:extLst>
                </a:hlinkClick>
              </a:rPr>
              <a:t>「メタバースを活用した観光活性化事業」</a:t>
            </a:r>
            <a:r>
              <a:rPr lang="ja-JP" altLang="en-US" sz="1600"/>
              <a:t>に</a:t>
            </a:r>
            <a:endParaRPr lang="en-US" altLang="ja-JP" sz="1600"/>
          </a:p>
          <a:p>
            <a:pPr marL="0" indent="0">
              <a:lnSpc>
                <a:spcPct val="110000"/>
              </a:lnSpc>
              <a:buNone/>
            </a:pPr>
            <a:r>
              <a:rPr lang="ja-JP" altLang="en-US" sz="1600"/>
              <a:t>関する覚書を締結。今後、（１）ゲーム系メタ</a:t>
            </a:r>
            <a:endParaRPr lang="en-US" altLang="ja-JP" sz="1600"/>
          </a:p>
          <a:p>
            <a:pPr marL="0" indent="0">
              <a:lnSpc>
                <a:spcPct val="110000"/>
              </a:lnSpc>
              <a:buNone/>
            </a:pPr>
            <a:r>
              <a:rPr lang="ja-JP" altLang="en-US" sz="1600"/>
              <a:t>バースサービス「</a:t>
            </a:r>
            <a:r>
              <a:rPr lang="en-US" altLang="ja-JP" sz="1600"/>
              <a:t>ROBLOX</a:t>
            </a:r>
            <a:r>
              <a:rPr lang="ja-JP" altLang="en-US" sz="1600"/>
              <a:t>」における館林市</a:t>
            </a:r>
            <a:endParaRPr lang="en-US" altLang="ja-JP" sz="1600"/>
          </a:p>
          <a:p>
            <a:pPr marL="0" indent="0">
              <a:lnSpc>
                <a:spcPct val="110000"/>
              </a:lnSpc>
              <a:buNone/>
            </a:pPr>
            <a:r>
              <a:rPr lang="ja-JP" altLang="en-US" sz="1600"/>
              <a:t>オリジナル新バーチャル空間の制作・公開、</a:t>
            </a:r>
            <a:endParaRPr lang="en-US" altLang="ja-JP" sz="1600"/>
          </a:p>
          <a:p>
            <a:pPr marL="0" indent="0">
              <a:lnSpc>
                <a:spcPct val="110000"/>
              </a:lnSpc>
              <a:buNone/>
            </a:pPr>
            <a:r>
              <a:rPr lang="ja-JP" altLang="en-US" sz="1600"/>
              <a:t>（２）</a:t>
            </a:r>
            <a:r>
              <a:rPr lang="en-US" altLang="ja-JP" sz="1600"/>
              <a:t>C&amp;R</a:t>
            </a:r>
            <a:r>
              <a:rPr lang="ja-JP" altLang="en-US" sz="1600"/>
              <a:t>社が運営する日本最大級のクリエイ</a:t>
            </a:r>
            <a:endParaRPr lang="en-US" altLang="ja-JP" sz="1600"/>
          </a:p>
          <a:p>
            <a:pPr marL="0" indent="0">
              <a:lnSpc>
                <a:spcPct val="110000"/>
              </a:lnSpc>
              <a:buNone/>
            </a:pPr>
            <a:r>
              <a:rPr lang="ja-JP" altLang="en-US" sz="1600"/>
              <a:t>ティブ開発スタジオ「</a:t>
            </a:r>
            <a:r>
              <a:rPr lang="en-US" altLang="ja-JP" sz="1600"/>
              <a:t>C&amp;R Creative Studios</a:t>
            </a:r>
            <a:r>
              <a:rPr lang="ja-JP" altLang="en-US" sz="1600"/>
              <a:t>」が</a:t>
            </a:r>
            <a:endParaRPr lang="en-US" altLang="ja-JP" sz="1600"/>
          </a:p>
          <a:p>
            <a:pPr marL="0" indent="0">
              <a:lnSpc>
                <a:spcPct val="110000"/>
              </a:lnSpc>
              <a:buNone/>
            </a:pPr>
            <a:r>
              <a:rPr lang="ja-JP" altLang="en-US" sz="1600"/>
              <a:t>独自で開発したクリエイター専用のメタバース</a:t>
            </a:r>
            <a:endParaRPr lang="en-US" altLang="ja-JP" sz="1600"/>
          </a:p>
          <a:p>
            <a:pPr marL="0" indent="0">
              <a:lnSpc>
                <a:spcPct val="110000"/>
              </a:lnSpc>
              <a:buNone/>
            </a:pPr>
            <a:r>
              <a:rPr lang="ja-JP" altLang="en-US" sz="1600"/>
              <a:t>「</a:t>
            </a:r>
            <a:r>
              <a:rPr lang="en-US" altLang="ja-JP" sz="1600"/>
              <a:t>C&amp;R Creative Studios Metaverse</a:t>
            </a:r>
            <a:r>
              <a:rPr lang="ja-JP" altLang="en-US" sz="1600"/>
              <a:t>」を活用</a:t>
            </a:r>
            <a:endParaRPr lang="en-US" altLang="ja-JP" sz="1600"/>
          </a:p>
          <a:p>
            <a:pPr marL="0" indent="0">
              <a:lnSpc>
                <a:spcPct val="110000"/>
              </a:lnSpc>
              <a:buNone/>
            </a:pPr>
            <a:r>
              <a:rPr lang="ja-JP" altLang="en-US" sz="1600"/>
              <a:t>した観光</a:t>
            </a:r>
            <a:r>
              <a:rPr lang="en-US" altLang="ja-JP" sz="1600"/>
              <a:t>PR</a:t>
            </a:r>
            <a:r>
              <a:rPr lang="ja-JP" altLang="en-US" sz="1600"/>
              <a:t>・メタバース体験など、館林市の魅力</a:t>
            </a:r>
            <a:endParaRPr lang="en-US" altLang="ja-JP" sz="1600"/>
          </a:p>
          <a:p>
            <a:pPr marL="0" indent="0">
              <a:lnSpc>
                <a:spcPct val="110000"/>
              </a:lnSpc>
              <a:buNone/>
            </a:pPr>
            <a:r>
              <a:rPr lang="ja-JP" altLang="en-US" sz="1600"/>
              <a:t>を発信すべく、メタバースを活用したさまざまな</a:t>
            </a:r>
            <a:endParaRPr lang="en-US" altLang="ja-JP" sz="1600"/>
          </a:p>
          <a:p>
            <a:pPr marL="0" indent="0">
              <a:lnSpc>
                <a:spcPct val="110000"/>
              </a:lnSpc>
              <a:buNone/>
            </a:pPr>
            <a:r>
              <a:rPr lang="ja-JP" altLang="en-US" sz="1600"/>
              <a:t>取り組みを実施していく予定。</a:t>
            </a:r>
            <a:endParaRPr lang="en-US" altLang="ja-JP" sz="1600"/>
          </a:p>
          <a:p>
            <a:pPr marL="0" indent="0">
              <a:lnSpc>
                <a:spcPct val="110000"/>
              </a:lnSpc>
              <a:buNone/>
            </a:pPr>
            <a:endParaRPr lang="en-US" altLang="ja-JP" sz="1600"/>
          </a:p>
          <a:p>
            <a:pPr marL="0" indent="0">
              <a:lnSpc>
                <a:spcPct val="110000"/>
              </a:lnSpc>
              <a:buNone/>
            </a:pPr>
            <a:r>
              <a:rPr lang="en-US" altLang="ja-JP" sz="900"/>
              <a:t>©2024 Roblox Corporation. Roblox</a:t>
            </a:r>
            <a:r>
              <a:rPr lang="ja-JP" altLang="en-US" sz="900"/>
              <a:t>、</a:t>
            </a:r>
            <a:r>
              <a:rPr lang="en-US" altLang="ja-JP" sz="900"/>
              <a:t>Roblox</a:t>
            </a:r>
            <a:r>
              <a:rPr lang="ja-JP" altLang="en-US" sz="900"/>
              <a:t>ロゴおよび</a:t>
            </a:r>
            <a:r>
              <a:rPr lang="en-US" altLang="ja-JP" sz="900"/>
              <a:t>Powering Imagination</a:t>
            </a:r>
            <a:r>
              <a:rPr lang="ja-JP" altLang="en-US" sz="900"/>
              <a:t>は、</a:t>
            </a:r>
            <a:br>
              <a:rPr lang="en-US" altLang="ja-JP" sz="900"/>
            </a:br>
            <a:r>
              <a:rPr lang="ja-JP" altLang="en-US" sz="900"/>
              <a:t>米国並びにその他の国における登録商標および非登録商標です。</a:t>
            </a:r>
          </a:p>
        </p:txBody>
      </p:sp>
      <p:sp>
        <p:nvSpPr>
          <p:cNvPr id="15" name="テキスト プレースホルダー 14">
            <a:extLst>
              <a:ext uri="{FF2B5EF4-FFF2-40B4-BE49-F238E27FC236}">
                <a16:creationId xmlns:a16="http://schemas.microsoft.com/office/drawing/2014/main" id="{66174B07-79D8-0FF4-FB53-51A8B8E248D9}"/>
              </a:ext>
            </a:extLst>
          </p:cNvPr>
          <p:cNvSpPr>
            <a:spLocks noGrp="1"/>
          </p:cNvSpPr>
          <p:nvPr>
            <p:ph idx="10"/>
          </p:nvPr>
        </p:nvSpPr>
        <p:spPr>
          <a:xfrm>
            <a:off x="5638914" y="1011447"/>
            <a:ext cx="6553085" cy="5539901"/>
          </a:xfrm>
        </p:spPr>
        <p:txBody>
          <a:bodyPr>
            <a:normAutofit/>
          </a:bodyPr>
          <a:lstStyle/>
          <a:p>
            <a:pPr>
              <a:lnSpc>
                <a:spcPct val="100000"/>
              </a:lnSpc>
            </a:pPr>
            <a:r>
              <a:rPr lang="ja-JP" altLang="en-US" b="1"/>
              <a:t>「</a:t>
            </a:r>
            <a:r>
              <a:rPr lang="en-US" altLang="ja-JP" b="1"/>
              <a:t>ROBLOX</a:t>
            </a:r>
            <a:r>
              <a:rPr lang="ja-JP" altLang="en-US" b="1"/>
              <a:t>」と「</a:t>
            </a:r>
            <a:r>
              <a:rPr lang="en-US" altLang="ja-JP" b="1"/>
              <a:t>C&amp;R Creative Studios Metaverse</a:t>
            </a:r>
            <a:r>
              <a:rPr lang="ja-JP" altLang="en-US" b="1"/>
              <a:t>」が自治体事業へ</a:t>
            </a:r>
            <a:endParaRPr kumimoji="1" lang="ja-JP" altLang="en-US" b="1"/>
          </a:p>
          <a:p>
            <a:pPr>
              <a:lnSpc>
                <a:spcPct val="100000"/>
              </a:lnSpc>
            </a:pPr>
            <a:endParaRPr lang="ja-JP" altLang="en-US" sz="2000"/>
          </a:p>
        </p:txBody>
      </p:sp>
      <p:sp>
        <p:nvSpPr>
          <p:cNvPr id="6" name="タイトル 5">
            <a:extLst>
              <a:ext uri="{FF2B5EF4-FFF2-40B4-BE49-F238E27FC236}">
                <a16:creationId xmlns:a16="http://schemas.microsoft.com/office/drawing/2014/main" id="{4072AEAD-A5C5-4448-AF54-A1D0C80A95B3}"/>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F7C633E1-454B-6951-D9CF-CD1BCCC4553B}"/>
              </a:ext>
            </a:extLst>
          </p:cNvPr>
          <p:cNvSpPr>
            <a:spLocks noGrp="1"/>
          </p:cNvSpPr>
          <p:nvPr>
            <p:ph type="sldNum" sz="quarter" idx="11"/>
          </p:nvPr>
        </p:nvSpPr>
        <p:spPr/>
        <p:txBody>
          <a:bodyPr/>
          <a:lstStyle/>
          <a:p>
            <a:fld id="{B75FDD43-FCEC-4ECC-8189-A5C6D2E08DC6}" type="slidenum">
              <a:rPr lang="ja-JP" altLang="en-US" smtClean="0"/>
              <a:pPr/>
              <a:t>53</a:t>
            </a:fld>
            <a:endParaRPr lang="ja-JP" altLang="en-US"/>
          </a:p>
        </p:txBody>
      </p:sp>
      <p:sp>
        <p:nvSpPr>
          <p:cNvPr id="5" name="四角形: 角を丸くする 4">
            <a:extLst>
              <a:ext uri="{FF2B5EF4-FFF2-40B4-BE49-F238E27FC236}">
                <a16:creationId xmlns:a16="http://schemas.microsoft.com/office/drawing/2014/main" id="{9404F371-3EC8-1E93-B877-99966CA5A20B}"/>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ゲーム</a:t>
            </a:r>
          </a:p>
        </p:txBody>
      </p:sp>
      <p:pic>
        <p:nvPicPr>
          <p:cNvPr id="11" name="図 10" descr="ダイアグラム が含まれている画像&#10;&#10;自動的に生成された説明">
            <a:extLst>
              <a:ext uri="{FF2B5EF4-FFF2-40B4-BE49-F238E27FC236}">
                <a16:creationId xmlns:a16="http://schemas.microsoft.com/office/drawing/2014/main" id="{DEA01192-F817-B28C-4B79-0A85BCBD91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23447" y="2097951"/>
            <a:ext cx="3123590" cy="4380614"/>
          </a:xfrm>
          <a:prstGeom prst="rect">
            <a:avLst/>
          </a:prstGeom>
          <a:ln w="3175">
            <a:solidFill>
              <a:schemeClr val="tx1">
                <a:lumMod val="20000"/>
                <a:lumOff val="80000"/>
              </a:schemeClr>
            </a:solidFill>
          </a:ln>
        </p:spPr>
      </p:pic>
      <p:pic>
        <p:nvPicPr>
          <p:cNvPr id="4" name="図 3">
            <a:extLst>
              <a:ext uri="{FF2B5EF4-FFF2-40B4-BE49-F238E27FC236}">
                <a16:creationId xmlns:a16="http://schemas.microsoft.com/office/drawing/2014/main" id="{78A20530-EDC4-E0BC-F5BE-3F5FAE4EBFA2}"/>
              </a:ext>
            </a:extLst>
          </p:cNvPr>
          <p:cNvPicPr>
            <a:picLocks noChangeAspect="1"/>
          </p:cNvPicPr>
          <p:nvPr/>
        </p:nvPicPr>
        <p:blipFill>
          <a:blip r:embed="rId5" cstate="print">
            <a:extLst>
              <a:ext uri="{28A0092B-C50C-407E-A947-70E740481C1C}">
                <a14:useLocalDpi xmlns:a14="http://schemas.microsoft.com/office/drawing/2010/main" val="0"/>
              </a:ext>
            </a:extLst>
          </a:blip>
          <a:srcRect b="50369"/>
          <a:stretch/>
        </p:blipFill>
        <p:spPr>
          <a:xfrm>
            <a:off x="9220087" y="2097951"/>
            <a:ext cx="2233557" cy="4760050"/>
          </a:xfrm>
          <a:prstGeom prst="rect">
            <a:avLst/>
          </a:prstGeom>
          <a:ln w="3175">
            <a:solidFill>
              <a:schemeClr val="bg1">
                <a:lumMod val="75000"/>
              </a:schemeClr>
            </a:solidFill>
          </a:ln>
        </p:spPr>
      </p:pic>
    </p:spTree>
    <p:extLst>
      <p:ext uri="{BB962C8B-B14F-4D97-AF65-F5344CB8AC3E}">
        <p14:creationId xmlns:p14="http://schemas.microsoft.com/office/powerpoint/2010/main" val="7214818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グループ化 6">
            <a:extLst>
              <a:ext uri="{FF2B5EF4-FFF2-40B4-BE49-F238E27FC236}">
                <a16:creationId xmlns:a16="http://schemas.microsoft.com/office/drawing/2014/main" id="{68FAB9A8-A627-BE27-C1D8-E7AA3A7C8AB5}"/>
              </a:ext>
            </a:extLst>
          </p:cNvPr>
          <p:cNvGrpSpPr/>
          <p:nvPr/>
        </p:nvGrpSpPr>
        <p:grpSpPr>
          <a:xfrm>
            <a:off x="718428" y="2029673"/>
            <a:ext cx="4389356" cy="471713"/>
            <a:chOff x="710808" y="1974158"/>
            <a:chExt cx="4389356" cy="471713"/>
          </a:xfrm>
        </p:grpSpPr>
        <p:sp>
          <p:nvSpPr>
            <p:cNvPr id="3" name="正方形/長方形 2">
              <a:extLst>
                <a:ext uri="{FF2B5EF4-FFF2-40B4-BE49-F238E27FC236}">
                  <a16:creationId xmlns:a16="http://schemas.microsoft.com/office/drawing/2014/main" id="{85A6A6C2-093B-7D3B-80F8-3AD209C2515A}"/>
                </a:ext>
              </a:extLst>
            </p:cNvPr>
            <p:cNvSpPr/>
            <p:nvPr/>
          </p:nvSpPr>
          <p:spPr bwMode="auto">
            <a:xfrm>
              <a:off x="710808" y="1974158"/>
              <a:ext cx="4389356" cy="110201"/>
            </a:xfrm>
            <a:prstGeom prst="rect">
              <a:avLst/>
            </a:prstGeom>
            <a:solidFill>
              <a:schemeClr val="accent3">
                <a:lumMod val="60000"/>
                <a:lumOff val="40000"/>
                <a:alpha val="50000"/>
              </a:schemeClr>
            </a:solidFill>
            <a:ln w="38100" algn="ctr">
              <a:noFill/>
              <a:miter lim="800000"/>
              <a:headEnd/>
              <a:tailEnd/>
            </a:ln>
            <a:effectLst/>
          </p:spPr>
          <p:txBody>
            <a:bodyPr wrap="none" lIns="90000" tIns="46800" rIns="90000" bIns="46800" rtlCol="0"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20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5" name="正方形/長方形 4">
              <a:extLst>
                <a:ext uri="{FF2B5EF4-FFF2-40B4-BE49-F238E27FC236}">
                  <a16:creationId xmlns:a16="http://schemas.microsoft.com/office/drawing/2014/main" id="{8E63B507-CB83-A023-FD8E-C59ABB2282D0}"/>
                </a:ext>
              </a:extLst>
            </p:cNvPr>
            <p:cNvSpPr/>
            <p:nvPr/>
          </p:nvSpPr>
          <p:spPr bwMode="auto">
            <a:xfrm>
              <a:off x="710808" y="2335670"/>
              <a:ext cx="4389356" cy="110201"/>
            </a:xfrm>
            <a:prstGeom prst="rect">
              <a:avLst/>
            </a:prstGeom>
            <a:solidFill>
              <a:schemeClr val="accent3">
                <a:lumMod val="60000"/>
                <a:lumOff val="40000"/>
                <a:alpha val="50000"/>
              </a:schemeClr>
            </a:solidFill>
            <a:ln w="38100" algn="ctr">
              <a:noFill/>
              <a:miter lim="800000"/>
              <a:headEnd/>
              <a:tailEnd/>
            </a:ln>
            <a:effectLst/>
          </p:spPr>
          <p:txBody>
            <a:bodyPr wrap="none" lIns="90000" tIns="46800" rIns="90000" bIns="46800" rtlCol="0"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20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grpSp>
      <p:sp>
        <p:nvSpPr>
          <p:cNvPr id="10" name="コンテンツ プレースホルダー 9">
            <a:extLst>
              <a:ext uri="{FF2B5EF4-FFF2-40B4-BE49-F238E27FC236}">
                <a16:creationId xmlns:a16="http://schemas.microsoft.com/office/drawing/2014/main" id="{F8DC0895-E677-C2B5-38F1-5C1A5D5AA92D}"/>
              </a:ext>
            </a:extLst>
          </p:cNvPr>
          <p:cNvSpPr>
            <a:spLocks noGrp="1"/>
          </p:cNvSpPr>
          <p:nvPr>
            <p:ph idx="1"/>
          </p:nvPr>
        </p:nvSpPr>
        <p:spPr>
          <a:xfrm>
            <a:off x="492369" y="1696720"/>
            <a:ext cx="4997429" cy="4854628"/>
          </a:xfrm>
        </p:spPr>
        <p:txBody>
          <a:bodyPr>
            <a:normAutofit/>
          </a:bodyPr>
          <a:lstStyle/>
          <a:p>
            <a:pPr marL="0" indent="0">
              <a:lnSpc>
                <a:spcPct val="150000"/>
              </a:lnSpc>
              <a:buNone/>
            </a:pPr>
            <a:r>
              <a:rPr lang="ja-JP" altLang="en-US" sz="1700" b="1"/>
              <a:t>“好きを楽しもう”をコンセプトに</a:t>
            </a:r>
            <a:r>
              <a:rPr lang="en-US" altLang="ja-JP" sz="1700" b="1"/>
              <a:t>IP</a:t>
            </a:r>
            <a:r>
              <a:rPr lang="ja-JP" altLang="en-US" sz="1700" b="1"/>
              <a:t>コラボイベ</a:t>
            </a:r>
            <a:br>
              <a:rPr lang="en-US" altLang="ja-JP" sz="1700" b="1"/>
            </a:br>
            <a:r>
              <a:rPr lang="ja-JP" altLang="en-US" sz="1700" b="1"/>
              <a:t>ントを展開している</a:t>
            </a:r>
            <a:r>
              <a:rPr lang="en-US" altLang="ja-JP" sz="1700" b="1" u="sng"/>
              <a:t>『</a:t>
            </a:r>
            <a:r>
              <a:rPr lang="ja-JP" altLang="en-US" sz="1700" b="1" u="sng">
                <a:solidFill>
                  <a:schemeClr val="accent4">
                    <a:lumMod val="50000"/>
                  </a:schemeClr>
                </a:solidFill>
                <a:hlinkClick r:id="rId3">
                  <a:extLst>
                    <a:ext uri="{A12FA001-AC4F-418D-AE19-62706E023703}">
                      <ahyp:hlinkClr xmlns:ahyp="http://schemas.microsoft.com/office/drawing/2018/hyperlinkcolor" val="tx"/>
                    </a:ext>
                  </a:extLst>
                </a:hlinkClick>
              </a:rPr>
              <a:t>アトフェス</a:t>
            </a:r>
            <a:r>
              <a:rPr lang="en-US" altLang="ja-JP" sz="1700" b="1" u="sng"/>
              <a:t>』</a:t>
            </a:r>
            <a:r>
              <a:rPr lang="ja-JP" altLang="en-US" sz="1700" b="1"/>
              <a:t>を複数開催！</a:t>
            </a:r>
            <a:endParaRPr lang="en-US" altLang="ja-JP" sz="1400" b="1"/>
          </a:p>
          <a:p>
            <a:pPr marL="0" indent="0">
              <a:lnSpc>
                <a:spcPct val="110000"/>
              </a:lnSpc>
              <a:buNone/>
            </a:pPr>
            <a:r>
              <a:rPr lang="ja-JP" altLang="en-US" sz="1400"/>
              <a:t>＜代表例＞</a:t>
            </a:r>
            <a:endParaRPr lang="en-US" altLang="ja-JP" sz="1400"/>
          </a:p>
          <a:p>
            <a:pPr marL="0" indent="0">
              <a:lnSpc>
                <a:spcPct val="110000"/>
              </a:lnSpc>
              <a:buNone/>
            </a:pPr>
            <a:r>
              <a:rPr lang="ja-JP" altLang="en-US" sz="1400"/>
              <a:t>・</a:t>
            </a:r>
            <a:r>
              <a:rPr lang="en-US" altLang="ja-JP" sz="1400"/>
              <a:t>『</a:t>
            </a:r>
            <a:r>
              <a:rPr lang="ja-JP" altLang="en-US" sz="1400"/>
              <a:t>銀魂</a:t>
            </a:r>
            <a:r>
              <a:rPr lang="en-US" altLang="ja-JP" sz="1400"/>
              <a:t>』</a:t>
            </a:r>
            <a:r>
              <a:rPr lang="ja-JP" altLang="en-US" sz="1400"/>
              <a:t>のコラボイベントを浅草・花やしきで開催。​</a:t>
            </a:r>
            <a:endParaRPr lang="en-US" altLang="ja-JP" sz="1400"/>
          </a:p>
          <a:p>
            <a:pPr>
              <a:lnSpc>
                <a:spcPct val="110000"/>
              </a:lnSpc>
            </a:pPr>
            <a:r>
              <a:rPr lang="ja-JP" altLang="en-US" sz="1400"/>
              <a:t>・海外にも初展開</a:t>
            </a:r>
            <a:r>
              <a:rPr lang="en-US" altLang="ja-JP" sz="1400"/>
              <a:t>(</a:t>
            </a:r>
            <a:r>
              <a:rPr lang="ja-JP" altLang="en-US" sz="1400"/>
              <a:t>上海</a:t>
            </a:r>
            <a:r>
              <a:rPr lang="en-US" altLang="ja-JP" sz="1400"/>
              <a:t>)</a:t>
            </a:r>
            <a:r>
              <a:rPr lang="ja-JP" altLang="en-US" sz="1400" err="1"/>
              <a:t>。</a:t>
            </a:r>
            <a:r>
              <a:rPr lang="en-US" altLang="ja-JP" sz="1400"/>
              <a:t>IP</a:t>
            </a:r>
            <a:r>
              <a:rPr lang="ja-JP" altLang="en-US" sz="1400"/>
              <a:t>は</a:t>
            </a:r>
            <a:r>
              <a:rPr lang="en-US" altLang="ja-JP" sz="1400"/>
              <a:t>『</a:t>
            </a:r>
            <a:r>
              <a:rPr lang="ja-JP" altLang="en-US" sz="1400"/>
              <a:t>ブルーロック</a:t>
            </a:r>
            <a:r>
              <a:rPr lang="en-US" altLang="ja-JP" sz="1400"/>
              <a:t>』</a:t>
            </a:r>
            <a:r>
              <a:rPr lang="ja-JP" altLang="en-US" sz="1400"/>
              <a:t>！</a:t>
            </a:r>
            <a:endParaRPr lang="en-US" altLang="ja-JP" sz="1400"/>
          </a:p>
          <a:p>
            <a:pPr>
              <a:lnSpc>
                <a:spcPct val="110000"/>
              </a:lnSpc>
            </a:pPr>
            <a:endParaRPr lang="en-US" altLang="ja-JP" sz="1400">
              <a:cs typeface="Calibri"/>
            </a:endParaRPr>
          </a:p>
          <a:p>
            <a:pPr marL="0" indent="0">
              <a:lnSpc>
                <a:spcPct val="110000"/>
              </a:lnSpc>
              <a:buNone/>
            </a:pPr>
            <a:r>
              <a:rPr lang="ja-JP" altLang="en-US" sz="1400">
                <a:cs typeface="Calibri"/>
              </a:rPr>
              <a:t>その他、</a:t>
            </a:r>
            <a:endParaRPr lang="en-US" altLang="ja-JP" sz="1400">
              <a:cs typeface="Calibri"/>
            </a:endParaRPr>
          </a:p>
          <a:p>
            <a:pPr marL="0" indent="0">
              <a:lnSpc>
                <a:spcPct val="110000"/>
              </a:lnSpc>
              <a:buNone/>
            </a:pPr>
            <a:r>
              <a:rPr lang="en-US" altLang="ja-JP" sz="1400" b="1">
                <a:cs typeface="Calibri"/>
              </a:rPr>
              <a:t>『</a:t>
            </a:r>
            <a:r>
              <a:rPr lang="ja-JP" altLang="en-US" sz="1400" b="1">
                <a:cs typeface="Calibri"/>
              </a:rPr>
              <a:t>弱虫ペダル</a:t>
            </a:r>
            <a:r>
              <a:rPr lang="en-US" altLang="ja-JP" sz="1400" b="1">
                <a:cs typeface="Calibri"/>
              </a:rPr>
              <a:t>LIMIT BREAK』​『</a:t>
            </a:r>
            <a:r>
              <a:rPr lang="ja-JP" altLang="en-US" sz="1400" b="1">
                <a:cs typeface="Calibri"/>
              </a:rPr>
              <a:t>プリキュア</a:t>
            </a:r>
            <a:r>
              <a:rPr lang="en-US" altLang="ja-JP" sz="1400" b="1">
                <a:cs typeface="Calibri"/>
              </a:rPr>
              <a:t>』</a:t>
            </a:r>
          </a:p>
          <a:p>
            <a:pPr marL="0" indent="0">
              <a:lnSpc>
                <a:spcPct val="110000"/>
              </a:lnSpc>
              <a:buNone/>
            </a:pPr>
            <a:r>
              <a:rPr lang="en-US" altLang="ja-JP" sz="1400" b="1">
                <a:cs typeface="Calibri"/>
              </a:rPr>
              <a:t>『</a:t>
            </a:r>
            <a:r>
              <a:rPr lang="ja-JP" altLang="en-US" sz="1400" b="1">
                <a:cs typeface="Calibri"/>
              </a:rPr>
              <a:t>アイドルマスター </a:t>
            </a:r>
            <a:r>
              <a:rPr lang="en-US" altLang="ja-JP" sz="1400" b="1" err="1">
                <a:cs typeface="Calibri"/>
              </a:rPr>
              <a:t>SideM</a:t>
            </a:r>
            <a:r>
              <a:rPr lang="en-US" altLang="ja-JP" sz="1400" b="1">
                <a:cs typeface="Calibri"/>
              </a:rPr>
              <a:t>』​</a:t>
            </a:r>
          </a:p>
          <a:p>
            <a:pPr marL="0" indent="0">
              <a:lnSpc>
                <a:spcPct val="110000"/>
              </a:lnSpc>
              <a:buNone/>
            </a:pPr>
            <a:r>
              <a:rPr lang="en-US" altLang="ja-JP" sz="1400" b="1">
                <a:cs typeface="Calibri"/>
              </a:rPr>
              <a:t>『</a:t>
            </a:r>
            <a:r>
              <a:rPr lang="ja-JP" altLang="en-US" sz="1400" b="1">
                <a:cs typeface="Calibri"/>
              </a:rPr>
              <a:t>東京リベンジャーズ</a:t>
            </a:r>
            <a:r>
              <a:rPr lang="en-US" altLang="ja-JP" sz="1400" b="1">
                <a:cs typeface="Calibri"/>
              </a:rPr>
              <a:t>』『</a:t>
            </a:r>
            <a:r>
              <a:rPr lang="ja-JP" altLang="en-US" sz="1400" b="1">
                <a:cs typeface="Calibri"/>
              </a:rPr>
              <a:t>夏目友人帳</a:t>
            </a:r>
            <a:r>
              <a:rPr lang="en-US" altLang="ja-JP" sz="1400" b="1">
                <a:cs typeface="Calibri"/>
              </a:rPr>
              <a:t>』</a:t>
            </a:r>
            <a:r>
              <a:rPr lang="ja-JP" altLang="en-US" sz="1400">
                <a:cs typeface="Calibri"/>
              </a:rPr>
              <a:t>など</a:t>
            </a:r>
            <a:endParaRPr lang="en-US" altLang="ja-JP" sz="1400">
              <a:cs typeface="Calibri"/>
            </a:endParaRPr>
          </a:p>
          <a:p>
            <a:pPr marL="0" indent="0">
              <a:lnSpc>
                <a:spcPct val="110000"/>
              </a:lnSpc>
              <a:buNone/>
            </a:pPr>
            <a:r>
              <a:rPr lang="ja-JP" altLang="en-US" sz="1400">
                <a:cs typeface="Calibri"/>
              </a:rPr>
              <a:t>多数のIPを活用したコラボイベントを実施。</a:t>
            </a:r>
          </a:p>
          <a:p>
            <a:pPr marL="0" indent="0">
              <a:lnSpc>
                <a:spcPct val="110000"/>
              </a:lnSpc>
              <a:buNone/>
            </a:pPr>
            <a:endParaRPr lang="ja-JP" altLang="en-US" sz="1400">
              <a:cs typeface="Calibri"/>
            </a:endParaRPr>
          </a:p>
          <a:p>
            <a:pPr marL="0" indent="0">
              <a:lnSpc>
                <a:spcPct val="150000"/>
              </a:lnSpc>
              <a:buNone/>
            </a:pPr>
            <a:endParaRPr lang="ja-JP" altLang="en-US" sz="1400"/>
          </a:p>
        </p:txBody>
      </p:sp>
      <p:sp>
        <p:nvSpPr>
          <p:cNvPr id="11" name="テキスト プレースホルダー 10">
            <a:extLst>
              <a:ext uri="{FF2B5EF4-FFF2-40B4-BE49-F238E27FC236}">
                <a16:creationId xmlns:a16="http://schemas.microsoft.com/office/drawing/2014/main" id="{0106CECB-61DA-465C-3CE2-A700795798F3}"/>
              </a:ext>
            </a:extLst>
          </p:cNvPr>
          <p:cNvSpPr>
            <a:spLocks noGrp="1"/>
          </p:cNvSpPr>
          <p:nvPr>
            <p:ph idx="10"/>
          </p:nvPr>
        </p:nvSpPr>
        <p:spPr>
          <a:xfrm>
            <a:off x="5638914" y="1011447"/>
            <a:ext cx="6359827" cy="5539901"/>
          </a:xfrm>
        </p:spPr>
        <p:txBody>
          <a:bodyPr/>
          <a:lstStyle/>
          <a:p>
            <a:r>
              <a:rPr lang="en-US" altLang="ja-JP" b="1"/>
              <a:t>IP</a:t>
            </a:r>
            <a:r>
              <a:rPr lang="ja-JP" altLang="en-US" b="1"/>
              <a:t>ライセンスを活用したイベントの</a:t>
            </a:r>
            <a:endParaRPr lang="en-US" altLang="ja-JP" b="1"/>
          </a:p>
          <a:p>
            <a:r>
              <a:rPr lang="ja-JP" altLang="en-US" b="1"/>
              <a:t>企画・運営</a:t>
            </a:r>
            <a:r>
              <a:rPr lang="en-US" altLang="ja-JP" b="1"/>
              <a:t>/</a:t>
            </a:r>
            <a:r>
              <a:rPr lang="ja-JP" altLang="en-US" b="1"/>
              <a:t>グッズ制作・販売</a:t>
            </a:r>
          </a:p>
        </p:txBody>
      </p:sp>
      <p:sp>
        <p:nvSpPr>
          <p:cNvPr id="9" name="タイトル 8">
            <a:extLst>
              <a:ext uri="{FF2B5EF4-FFF2-40B4-BE49-F238E27FC236}">
                <a16:creationId xmlns:a16="http://schemas.microsoft.com/office/drawing/2014/main" id="{A7965DBE-A3FC-9906-D5B5-69DBD427BFF6}"/>
              </a:ext>
            </a:extLst>
          </p:cNvPr>
          <p:cNvSpPr>
            <a:spLocks noGrp="1"/>
          </p:cNvSpPr>
          <p:nvPr>
            <p:ph type="title"/>
          </p:nvPr>
        </p:nvSpPr>
        <p:spPr/>
        <p:txBody>
          <a:bodyPr/>
          <a:lstStyle/>
          <a:p>
            <a:r>
              <a:rPr lang="ja-JP" altLang="en-US">
                <a:latin typeface="+mn-lt"/>
              </a:rPr>
              <a:t>最近の取り組み</a:t>
            </a:r>
          </a:p>
        </p:txBody>
      </p:sp>
      <p:sp>
        <p:nvSpPr>
          <p:cNvPr id="2" name="スライド番号プレースホルダー 1">
            <a:extLst>
              <a:ext uri="{FF2B5EF4-FFF2-40B4-BE49-F238E27FC236}">
                <a16:creationId xmlns:a16="http://schemas.microsoft.com/office/drawing/2014/main" id="{7FE3CAFB-6671-CB8F-CCAC-7B25AC1834A3}"/>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5FDD43-FCEC-4ECC-8189-A5C6D2E08DC6}" type="slidenum">
              <a:rPr kumimoji="1" lang="ja-JP" altLang="en-US" sz="900" b="0" i="0" u="none" strike="noStrike" kern="1200" cap="none" spc="0" normalizeH="0" baseline="0" noProof="0" smtClean="0">
                <a:ln>
                  <a:noFill/>
                </a:ln>
                <a:solidFill>
                  <a:srgbClr val="333333"/>
                </a:solidFill>
                <a:effectLst/>
                <a:uLnTx/>
                <a:uFillTx/>
                <a:latin typeface="Noto Sans JP"/>
                <a:ea typeface="Noto Sans JP"/>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1" lang="ja-JP" altLang="en-US" sz="900" b="0" i="0" u="none" strike="noStrike" kern="1200" cap="none" spc="0" normalizeH="0" baseline="0" noProof="0">
              <a:ln>
                <a:noFill/>
              </a:ln>
              <a:solidFill>
                <a:srgbClr val="333333"/>
              </a:solidFill>
              <a:effectLst/>
              <a:uLnTx/>
              <a:uFillTx/>
              <a:latin typeface="Noto Sans JP"/>
              <a:ea typeface="Noto Sans JP"/>
              <a:cs typeface="+mn-cs"/>
            </a:endParaRPr>
          </a:p>
        </p:txBody>
      </p:sp>
      <p:cxnSp>
        <p:nvCxnSpPr>
          <p:cNvPr id="6" name="直線コネクタ 5">
            <a:extLst>
              <a:ext uri="{FF2B5EF4-FFF2-40B4-BE49-F238E27FC236}">
                <a16:creationId xmlns:a16="http://schemas.microsoft.com/office/drawing/2014/main" id="{C1CDD7E5-34AB-3388-5833-5E40A9D7CD43}"/>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四角形: 角を丸くする 12">
            <a:extLst>
              <a:ext uri="{FF2B5EF4-FFF2-40B4-BE49-F238E27FC236}">
                <a16:creationId xmlns:a16="http://schemas.microsoft.com/office/drawing/2014/main" id="{046360FF-CAF8-25E2-B0DF-F1A683BB7DD5}"/>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marL="0" marR="0" lvl="0" indent="0" algn="ctr" defTabSz="914400" rtl="0" eaLnBrk="1" fontAlgn="base" latinLnBrk="0" hangingPunct="1">
              <a:lnSpc>
                <a:spcPct val="150000"/>
              </a:lnSpc>
              <a:spcBef>
                <a:spcPct val="50000"/>
              </a:spcBef>
              <a:spcAft>
                <a:spcPct val="0"/>
              </a:spcAft>
              <a:buClrTx/>
              <a:buSzTx/>
              <a:buFontTx/>
              <a:buNone/>
              <a:tabLst/>
              <a:defRPr/>
            </a:pPr>
            <a:r>
              <a:rPr kumimoji="1" lang="en-US" altLang="ja-JP"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IP</a:t>
            </a:r>
            <a:endPar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FA31BE06-458D-876A-CC0E-3B47924B0868}"/>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marL="0" marR="0" lvl="0" indent="0" algn="ctr" defTabSz="914400" rtl="0" eaLnBrk="1" fontAlgn="base" latinLnBrk="0" hangingPunct="1">
              <a:lnSpc>
                <a:spcPct val="150000"/>
              </a:lnSpc>
              <a:spcBef>
                <a:spcPct val="5000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グッズ制作</a:t>
            </a:r>
          </a:p>
        </p:txBody>
      </p:sp>
      <p:sp>
        <p:nvSpPr>
          <p:cNvPr id="17" name="四角形: 角を丸くする 16">
            <a:extLst>
              <a:ext uri="{FF2B5EF4-FFF2-40B4-BE49-F238E27FC236}">
                <a16:creationId xmlns:a16="http://schemas.microsoft.com/office/drawing/2014/main" id="{5C288476-6424-A1A2-3C01-E0C7FAC14BE6}"/>
              </a:ext>
            </a:extLst>
          </p:cNvPr>
          <p:cNvSpPr/>
          <p:nvPr/>
        </p:nvSpPr>
        <p:spPr bwMode="auto">
          <a:xfrm>
            <a:off x="3534468"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marL="0" marR="0" lvl="0" indent="0" algn="ctr" defTabSz="914400" rtl="0" eaLnBrk="1" fontAlgn="base" latinLnBrk="0" hangingPunct="1">
              <a:lnSpc>
                <a:spcPct val="150000"/>
              </a:lnSpc>
              <a:spcBef>
                <a:spcPct val="5000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イベント主催</a:t>
            </a:r>
          </a:p>
        </p:txBody>
      </p:sp>
      <p:pic>
        <p:nvPicPr>
          <p:cNvPr id="4" name="図 3" descr="Web サイト&#10;&#10;低い精度で自動的に生成された説明">
            <a:extLst>
              <a:ext uri="{FF2B5EF4-FFF2-40B4-BE49-F238E27FC236}">
                <a16:creationId xmlns:a16="http://schemas.microsoft.com/office/drawing/2014/main" id="{5FF301CF-3500-38F7-1479-7E4136C98C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61515" y="2040814"/>
            <a:ext cx="3833098" cy="2156118"/>
          </a:xfrm>
          <a:prstGeom prst="rect">
            <a:avLst/>
          </a:prstGeom>
        </p:spPr>
      </p:pic>
      <p:pic>
        <p:nvPicPr>
          <p:cNvPr id="14" name="図 13" descr="猫の写真のコラージュ&#10;&#10;低い精度で自動的に生成された説明">
            <a:extLst>
              <a:ext uri="{FF2B5EF4-FFF2-40B4-BE49-F238E27FC236}">
                <a16:creationId xmlns:a16="http://schemas.microsoft.com/office/drawing/2014/main" id="{6954FFDD-0DF0-33E1-1ACD-F1008D27B4B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46627" y="4235800"/>
            <a:ext cx="2529840" cy="2529840"/>
          </a:xfrm>
          <a:prstGeom prst="rect">
            <a:avLst/>
          </a:prstGeom>
          <a:ln>
            <a:solidFill>
              <a:schemeClr val="bg2"/>
            </a:solidFill>
          </a:ln>
        </p:spPr>
      </p:pic>
      <p:pic>
        <p:nvPicPr>
          <p:cNvPr id="18" name="図 17" descr="グラフィカル ユーザー インターフェイス, カレンダー&#10;&#10;自動的に生成された説明">
            <a:extLst>
              <a:ext uri="{FF2B5EF4-FFF2-40B4-BE49-F238E27FC236}">
                <a16:creationId xmlns:a16="http://schemas.microsoft.com/office/drawing/2014/main" id="{C97F9134-4BB4-43CE-2D98-FD2982CFF88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69791" y="4235800"/>
            <a:ext cx="2529840" cy="2529840"/>
          </a:xfrm>
          <a:prstGeom prst="rect">
            <a:avLst/>
          </a:prstGeom>
          <a:ln>
            <a:solidFill>
              <a:schemeClr val="bg2"/>
            </a:solidFill>
          </a:ln>
        </p:spPr>
      </p:pic>
    </p:spTree>
    <p:extLst>
      <p:ext uri="{BB962C8B-B14F-4D97-AF65-F5344CB8AC3E}">
        <p14:creationId xmlns:p14="http://schemas.microsoft.com/office/powerpoint/2010/main" val="17502390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57D77-C5B5-3DDD-A47C-F306BC400E23}"/>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0530F72-6405-4A64-AB58-7A185C25F3CF}"/>
              </a:ext>
            </a:extLst>
          </p:cNvPr>
          <p:cNvSpPr>
            <a:spLocks noGrp="1"/>
          </p:cNvSpPr>
          <p:nvPr>
            <p:ph idx="10"/>
          </p:nvPr>
        </p:nvSpPr>
        <p:spPr>
          <a:xfrm>
            <a:off x="653802" y="652081"/>
            <a:ext cx="11086078" cy="544642"/>
          </a:xfrm>
        </p:spPr>
        <p:txBody>
          <a:bodyPr/>
          <a:lstStyle/>
          <a:p>
            <a:r>
              <a:rPr kumimoji="1" lang="ja-JP" altLang="en-US"/>
              <a:t>このほかにも有名</a:t>
            </a:r>
            <a:r>
              <a:rPr kumimoji="1" lang="en-US" altLang="ja-JP"/>
              <a:t>IP</a:t>
            </a:r>
            <a:r>
              <a:rPr kumimoji="1" lang="ja-JP" altLang="en-US"/>
              <a:t>の取り扱いイベント企画・主催やグッズ制作・販売が多数あります。</a:t>
            </a:r>
          </a:p>
        </p:txBody>
      </p:sp>
      <p:sp>
        <p:nvSpPr>
          <p:cNvPr id="3" name="タイトル 2">
            <a:extLst>
              <a:ext uri="{FF2B5EF4-FFF2-40B4-BE49-F238E27FC236}">
                <a16:creationId xmlns:a16="http://schemas.microsoft.com/office/drawing/2014/main" id="{1CB83D3D-FA01-E943-5BE1-79A24FB22D88}"/>
              </a:ext>
            </a:extLst>
          </p:cNvPr>
          <p:cNvSpPr>
            <a:spLocks noGrp="1"/>
          </p:cNvSpPr>
          <p:nvPr>
            <p:ph type="title"/>
          </p:nvPr>
        </p:nvSpPr>
        <p:spPr/>
        <p:txBody>
          <a:bodyPr/>
          <a:lstStyle/>
          <a:p>
            <a:r>
              <a:rPr kumimoji="1" lang="en-US" altLang="ja-JP"/>
              <a:t>IP</a:t>
            </a:r>
            <a:r>
              <a:rPr kumimoji="1" lang="ja-JP" altLang="en-US"/>
              <a:t>コラボレーション実績（一部）</a:t>
            </a:r>
          </a:p>
        </p:txBody>
      </p:sp>
      <p:sp>
        <p:nvSpPr>
          <p:cNvPr id="4" name="スライド番号プレースホルダー 3">
            <a:extLst>
              <a:ext uri="{FF2B5EF4-FFF2-40B4-BE49-F238E27FC236}">
                <a16:creationId xmlns:a16="http://schemas.microsoft.com/office/drawing/2014/main" id="{EFC58D7B-A446-9837-5EA6-0F206DC1C538}"/>
              </a:ext>
            </a:extLst>
          </p:cNvPr>
          <p:cNvSpPr>
            <a:spLocks noGrp="1"/>
          </p:cNvSpPr>
          <p:nvPr>
            <p:ph type="sldNum" sz="quarter" idx="11"/>
          </p:nvPr>
        </p:nvSpPr>
        <p:spPr/>
        <p:txBody>
          <a:bodyPr/>
          <a:lstStyle/>
          <a:p>
            <a:fld id="{B75FDD43-FCEC-4ECC-8189-A5C6D2E08DC6}" type="slidenum">
              <a:rPr lang="ja-JP" altLang="en-US" smtClean="0"/>
              <a:pPr/>
              <a:t>55</a:t>
            </a:fld>
            <a:endParaRPr lang="ja-JP" altLang="en-US"/>
          </a:p>
        </p:txBody>
      </p:sp>
      <p:grpSp>
        <p:nvGrpSpPr>
          <p:cNvPr id="63" name="グループ化 62">
            <a:extLst>
              <a:ext uri="{FF2B5EF4-FFF2-40B4-BE49-F238E27FC236}">
                <a16:creationId xmlns:a16="http://schemas.microsoft.com/office/drawing/2014/main" id="{5B36527D-91D7-9056-5106-F07B8BECFE1E}"/>
              </a:ext>
            </a:extLst>
          </p:cNvPr>
          <p:cNvGrpSpPr/>
          <p:nvPr/>
        </p:nvGrpSpPr>
        <p:grpSpPr>
          <a:xfrm>
            <a:off x="6191905" y="1346804"/>
            <a:ext cx="2947077" cy="5386589"/>
            <a:chOff x="3393858" y="1346992"/>
            <a:chExt cx="2947077" cy="5386589"/>
          </a:xfrm>
        </p:grpSpPr>
        <p:sp>
          <p:nvSpPr>
            <p:cNvPr id="8" name="テキスト ボックス 7">
              <a:extLst>
                <a:ext uri="{FF2B5EF4-FFF2-40B4-BE49-F238E27FC236}">
                  <a16:creationId xmlns:a16="http://schemas.microsoft.com/office/drawing/2014/main" id="{B29860ED-B4AE-07C2-4FBC-726111976184}"/>
                </a:ext>
              </a:extLst>
            </p:cNvPr>
            <p:cNvSpPr txBox="1"/>
            <p:nvPr/>
          </p:nvSpPr>
          <p:spPr>
            <a:xfrm>
              <a:off x="3414460" y="5556336"/>
              <a:ext cx="2926475" cy="1177245"/>
            </a:xfrm>
            <a:prstGeom prst="rect">
              <a:avLst/>
            </a:prstGeom>
            <a:noFill/>
          </p:spPr>
          <p:txBody>
            <a:bodyPr wrap="square" rtlCol="0">
              <a:spAutoFit/>
            </a:bodyPr>
            <a:lstStyle/>
            <a:p>
              <a:pPr>
                <a:lnSpc>
                  <a:spcPct val="150000"/>
                </a:lnSpc>
              </a:pPr>
              <a:r>
                <a:rPr kumimoji="1" lang="en-US" altLang="ja-JP" sz="1100" b="1">
                  <a:latin typeface="メイリオ" panose="020B0604030504040204" pitchFamily="50" charset="-128"/>
                  <a:ea typeface="メイリオ" panose="020B0604030504040204" pitchFamily="50" charset="-128"/>
                </a:rPr>
                <a:t>『</a:t>
              </a:r>
              <a:r>
                <a:rPr lang="ja-JP" altLang="en-US" sz="1100" b="1">
                  <a:latin typeface="メイリオ" panose="020B0604030504040204" pitchFamily="50" charset="-128"/>
                  <a:ea typeface="メイリオ" panose="020B0604030504040204" pitchFamily="50" charset="-128"/>
                </a:rPr>
                <a:t>アイドルマスター シャイニーカラーズ</a:t>
              </a:r>
              <a:r>
                <a:rPr lang="en-US" altLang="ja-JP" sz="1100" b="1">
                  <a:latin typeface="メイリオ" panose="020B0604030504040204" pitchFamily="50" charset="-128"/>
                  <a:ea typeface="メイリオ" panose="020B0604030504040204" pitchFamily="50" charset="-128"/>
                </a:rPr>
                <a:t>』</a:t>
              </a:r>
              <a:endParaRPr kumimoji="1" lang="en-US" altLang="ja-JP" sz="1100" b="1">
                <a:latin typeface="メイリオ" panose="020B0604030504040204" pitchFamily="50" charset="-128"/>
                <a:ea typeface="メイリオ" panose="020B0604030504040204" pitchFamily="50" charset="-128"/>
              </a:endParaRPr>
            </a:p>
            <a:p>
              <a:pPr>
                <a:lnSpc>
                  <a:spcPct val="150000"/>
                </a:lnSpc>
              </a:pPr>
              <a:r>
                <a:rPr lang="ja-JP" altLang="en-US" sz="1200" b="1">
                  <a:latin typeface="メイリオ" panose="020B0604030504040204" pitchFamily="50" charset="-128"/>
                  <a:ea typeface="メイリオ" panose="020B0604030504040204" pitchFamily="50" charset="-128"/>
                </a:rPr>
                <a:t>　</a:t>
              </a:r>
              <a:r>
                <a:rPr kumimoji="1" lang="ja-JP" altLang="en-US" sz="1050" b="1">
                  <a:latin typeface="メイリオ" panose="020B0604030504040204" pitchFamily="50" charset="-128"/>
                  <a:ea typeface="メイリオ" panose="020B0604030504040204" pitchFamily="50" charset="-128"/>
                </a:rPr>
                <a:t>横浜･八景島シーパラダイス</a:t>
              </a:r>
              <a:endParaRPr kumimoji="1" lang="en-US" altLang="ja-JP" sz="1050" b="1">
                <a:latin typeface="メイリオ" panose="020B0604030504040204" pitchFamily="50" charset="-128"/>
                <a:ea typeface="メイリオ" panose="020B0604030504040204" pitchFamily="50" charset="-128"/>
              </a:endParaRPr>
            </a:p>
            <a:p>
              <a:pPr>
                <a:lnSpc>
                  <a:spcPct val="150000"/>
                </a:lnSpc>
              </a:pPr>
              <a:r>
                <a:rPr lang="en-US" altLang="ja-JP" sz="800">
                  <a:latin typeface="メイリオ" panose="020B0604030504040204" pitchFamily="50" charset="-128"/>
                  <a:ea typeface="メイリオ" panose="020B0604030504040204" pitchFamily="50" charset="-128"/>
                </a:rPr>
                <a:t>2024/11/1</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2024/12/17</a:t>
              </a:r>
              <a:endParaRPr kumimoji="1" lang="en-US" altLang="ja-JP" sz="800" b="1">
                <a:latin typeface="メイリオ" panose="020B0604030504040204" pitchFamily="50" charset="-128"/>
                <a:ea typeface="メイリオ" panose="020B0604030504040204" pitchFamily="50" charset="-128"/>
              </a:endParaRPr>
            </a:p>
            <a:p>
              <a:r>
                <a:rPr lang="ja-JP" altLang="en-US" sz="800">
                  <a:latin typeface="メイリオ" panose="020B0604030504040204" pitchFamily="50" charset="-128"/>
                  <a:ea typeface="メイリオ" panose="020B0604030504040204" pitchFamily="50" charset="-128"/>
                </a:rPr>
                <a:t>・オリジナルグッズの販売、スタンプラリー、コラボフード、島内装飾、島内アナウンス、コラボルーム、宿泊者限定特典、ワンデーパスポート特典、スペシャルステージショー</a:t>
              </a:r>
              <a:endParaRPr lang="en-US" altLang="ja-JP" sz="800">
                <a:latin typeface="メイリオ" panose="020B0604030504040204" pitchFamily="50" charset="-128"/>
                <a:ea typeface="メイリオ" panose="020B0604030504040204" pitchFamily="50" charset="-128"/>
              </a:endParaRPr>
            </a:p>
          </p:txBody>
        </p:sp>
        <p:pic>
          <p:nvPicPr>
            <p:cNvPr id="15" name="図 14">
              <a:extLst>
                <a:ext uri="{FF2B5EF4-FFF2-40B4-BE49-F238E27FC236}">
                  <a16:creationId xmlns:a16="http://schemas.microsoft.com/office/drawing/2014/main" id="{1F296C42-F78B-C6A5-BF2E-70033B663D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93858" y="1346992"/>
              <a:ext cx="2750741" cy="1547292"/>
            </a:xfrm>
            <a:prstGeom prst="rect">
              <a:avLst/>
            </a:prstGeom>
          </p:spPr>
        </p:pic>
        <p:pic>
          <p:nvPicPr>
            <p:cNvPr id="24" name="図 23" descr="カレンダー&#10;&#10;自動的に生成された説明">
              <a:extLst>
                <a:ext uri="{FF2B5EF4-FFF2-40B4-BE49-F238E27FC236}">
                  <a16:creationId xmlns:a16="http://schemas.microsoft.com/office/drawing/2014/main" id="{3DF43981-4184-1E69-24A5-BDB4616C3127}"/>
                </a:ext>
              </a:extLst>
            </p:cNvPr>
            <p:cNvPicPr>
              <a:picLocks noChangeAspect="1"/>
            </p:cNvPicPr>
            <p:nvPr/>
          </p:nvPicPr>
          <p:blipFill>
            <a:blip r:embed="rId3" cstate="print">
              <a:extLst>
                <a:ext uri="{28A0092B-C50C-407E-A947-70E740481C1C}">
                  <a14:useLocalDpi xmlns:a14="http://schemas.microsoft.com/office/drawing/2010/main" val="0"/>
                </a:ext>
              </a:extLst>
            </a:blip>
            <a:srcRect b="19450"/>
            <a:stretch/>
          </p:blipFill>
          <p:spPr>
            <a:xfrm>
              <a:off x="3407990" y="2894282"/>
              <a:ext cx="1331176" cy="1516700"/>
            </a:xfrm>
            <a:prstGeom prst="rect">
              <a:avLst/>
            </a:prstGeom>
          </p:spPr>
        </p:pic>
        <p:pic>
          <p:nvPicPr>
            <p:cNvPr id="42" name="図 41" descr="テキスト, カレンダー&#10;&#10;自動的に生成された説明">
              <a:extLst>
                <a:ext uri="{FF2B5EF4-FFF2-40B4-BE49-F238E27FC236}">
                  <a16:creationId xmlns:a16="http://schemas.microsoft.com/office/drawing/2014/main" id="{409AE669-AD10-12F5-97F2-5C236E4533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01527" y="4130403"/>
              <a:ext cx="1332374" cy="1332374"/>
            </a:xfrm>
            <a:prstGeom prst="rect">
              <a:avLst/>
            </a:prstGeom>
          </p:spPr>
        </p:pic>
        <p:pic>
          <p:nvPicPr>
            <p:cNvPr id="44" name="図 43" descr="グラフィカル ユーザー インターフェイス&#10;&#10;自動的に生成された説明">
              <a:extLst>
                <a:ext uri="{FF2B5EF4-FFF2-40B4-BE49-F238E27FC236}">
                  <a16:creationId xmlns:a16="http://schemas.microsoft.com/office/drawing/2014/main" id="{BD14AA5E-3CA8-FE44-7420-053BD601C74A}"/>
                </a:ext>
              </a:extLst>
            </p:cNvPr>
            <p:cNvPicPr>
              <a:picLocks noChangeAspect="1"/>
            </p:cNvPicPr>
            <p:nvPr/>
          </p:nvPicPr>
          <p:blipFill>
            <a:blip r:embed="rId5" cstate="print">
              <a:extLst>
                <a:ext uri="{28A0092B-C50C-407E-A947-70E740481C1C}">
                  <a14:useLocalDpi xmlns:a14="http://schemas.microsoft.com/office/drawing/2010/main" val="0"/>
                </a:ext>
              </a:extLst>
            </a:blip>
            <a:srcRect b="9381"/>
            <a:stretch/>
          </p:blipFill>
          <p:spPr>
            <a:xfrm>
              <a:off x="4736177" y="2894283"/>
              <a:ext cx="1416257" cy="1813481"/>
            </a:xfrm>
            <a:prstGeom prst="rect">
              <a:avLst/>
            </a:prstGeom>
          </p:spPr>
        </p:pic>
        <p:pic>
          <p:nvPicPr>
            <p:cNvPr id="46" name="図 45" descr="カレンダー&#10;&#10;自動的に生成された説明">
              <a:extLst>
                <a:ext uri="{FF2B5EF4-FFF2-40B4-BE49-F238E27FC236}">
                  <a16:creationId xmlns:a16="http://schemas.microsoft.com/office/drawing/2014/main" id="{D5211B9C-FF2D-843A-CBDE-C9C99FA15B59}"/>
                </a:ext>
              </a:extLst>
            </p:cNvPr>
            <p:cNvPicPr>
              <a:picLocks noChangeAspect="1"/>
            </p:cNvPicPr>
            <p:nvPr/>
          </p:nvPicPr>
          <p:blipFill>
            <a:blip r:embed="rId6" cstate="print">
              <a:extLst>
                <a:ext uri="{28A0092B-C50C-407E-A947-70E740481C1C}">
                  <a14:useLocalDpi xmlns:a14="http://schemas.microsoft.com/office/drawing/2010/main" val="0"/>
                </a:ext>
              </a:extLst>
            </a:blip>
            <a:srcRect l="66110" t="13472" r="1169" b="74694"/>
            <a:stretch/>
          </p:blipFill>
          <p:spPr>
            <a:xfrm>
              <a:off x="4733901" y="4715914"/>
              <a:ext cx="1410698" cy="722444"/>
            </a:xfrm>
            <a:prstGeom prst="rect">
              <a:avLst/>
            </a:prstGeom>
          </p:spPr>
        </p:pic>
      </p:grpSp>
      <p:grpSp>
        <p:nvGrpSpPr>
          <p:cNvPr id="65" name="グループ化 64">
            <a:extLst>
              <a:ext uri="{FF2B5EF4-FFF2-40B4-BE49-F238E27FC236}">
                <a16:creationId xmlns:a16="http://schemas.microsoft.com/office/drawing/2014/main" id="{9DC9701C-1EA7-587C-EE7C-99E4AC8072CD}"/>
              </a:ext>
            </a:extLst>
          </p:cNvPr>
          <p:cNvGrpSpPr/>
          <p:nvPr/>
        </p:nvGrpSpPr>
        <p:grpSpPr>
          <a:xfrm>
            <a:off x="9083367" y="1350587"/>
            <a:ext cx="2970889" cy="5195017"/>
            <a:chOff x="471362" y="1385183"/>
            <a:chExt cx="2970889" cy="5195017"/>
          </a:xfrm>
        </p:grpSpPr>
        <p:sp>
          <p:nvSpPr>
            <p:cNvPr id="20" name="テキスト ボックス 19">
              <a:extLst>
                <a:ext uri="{FF2B5EF4-FFF2-40B4-BE49-F238E27FC236}">
                  <a16:creationId xmlns:a16="http://schemas.microsoft.com/office/drawing/2014/main" id="{2F2EDC3D-B0AC-1713-5351-CB221840FC68}"/>
                </a:ext>
              </a:extLst>
            </p:cNvPr>
            <p:cNvSpPr txBox="1"/>
            <p:nvPr/>
          </p:nvSpPr>
          <p:spPr>
            <a:xfrm>
              <a:off x="471362" y="5533760"/>
              <a:ext cx="2970889" cy="1046440"/>
            </a:xfrm>
            <a:prstGeom prst="rect">
              <a:avLst/>
            </a:prstGeom>
            <a:noFill/>
          </p:spPr>
          <p:txBody>
            <a:bodyPr wrap="square" rtlCol="0">
              <a:spAutoFit/>
            </a:bodyPr>
            <a:lstStyle/>
            <a:p>
              <a:pPr>
                <a:lnSpc>
                  <a:spcPct val="150000"/>
                </a:lnSpc>
              </a:pPr>
              <a:r>
                <a:rPr kumimoji="1" lang="en-US" altLang="ja-JP" sz="1200" b="1">
                  <a:latin typeface="メイリオ" panose="020B0604030504040204" pitchFamily="50" charset="-128"/>
                  <a:ea typeface="メイリオ" panose="020B0604030504040204" pitchFamily="50" charset="-128"/>
                </a:rPr>
                <a:t>『</a:t>
              </a:r>
              <a:r>
                <a:rPr lang="ja-JP" altLang="en-US" sz="1200" b="1">
                  <a:latin typeface="メイリオ" panose="020B0604030504040204" pitchFamily="50" charset="-128"/>
                  <a:ea typeface="メイリオ" panose="020B0604030504040204" pitchFamily="50" charset="-128"/>
                </a:rPr>
                <a:t>文豪ストレイドッグス</a:t>
              </a:r>
              <a:r>
                <a:rPr kumimoji="1" lang="en-US" altLang="ja-JP" sz="1200" b="1">
                  <a:latin typeface="メイリオ" panose="020B0604030504040204" pitchFamily="50" charset="-128"/>
                  <a:ea typeface="メイリオ" panose="020B0604030504040204" pitchFamily="50" charset="-128"/>
                </a:rPr>
                <a:t>』</a:t>
              </a:r>
            </a:p>
            <a:p>
              <a:pPr>
                <a:lnSpc>
                  <a:spcPct val="150000"/>
                </a:lnSpc>
              </a:pPr>
              <a:r>
                <a:rPr lang="ja-JP" altLang="en-US" sz="1200" b="1">
                  <a:latin typeface="メイリオ" panose="020B0604030504040204" pitchFamily="50" charset="-128"/>
                  <a:ea typeface="メイリオ" panose="020B0604030504040204" pitchFamily="50" charset="-128"/>
                </a:rPr>
                <a:t>　</a:t>
              </a:r>
              <a:r>
                <a:rPr kumimoji="1" lang="ja-JP" altLang="en-US" sz="1050" b="1">
                  <a:latin typeface="メイリオ" panose="020B0604030504040204" pitchFamily="50" charset="-128"/>
                  <a:ea typeface="メイリオ" panose="020B0604030504040204" pitchFamily="50" charset="-128"/>
                </a:rPr>
                <a:t>浅草花やしき</a:t>
              </a:r>
              <a:endParaRPr kumimoji="1" lang="en-US" altLang="ja-JP" sz="1200" b="1">
                <a:latin typeface="メイリオ" panose="020B0604030504040204" pitchFamily="50" charset="-128"/>
                <a:ea typeface="メイリオ" panose="020B0604030504040204" pitchFamily="50" charset="-128"/>
              </a:endParaRPr>
            </a:p>
            <a:p>
              <a:r>
                <a:rPr lang="en-US" altLang="ja-JP" sz="10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2024/11/13</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2024/12/29</a:t>
              </a:r>
              <a:endParaRPr kumimoji="1" lang="en-US" altLang="ja-JP" sz="800" b="1">
                <a:latin typeface="メイリオ" panose="020B0604030504040204" pitchFamily="50" charset="-128"/>
                <a:ea typeface="メイリオ" panose="020B0604030504040204" pitchFamily="50" charset="-128"/>
              </a:endParaRPr>
            </a:p>
            <a:p>
              <a:r>
                <a:rPr lang="ja-JP" altLang="en-US" sz="800">
                  <a:latin typeface="メイリオ" panose="020B0604030504040204" pitchFamily="50" charset="-128"/>
                  <a:ea typeface="メイリオ" panose="020B0604030504040204" pitchFamily="50" charset="-128"/>
                </a:rPr>
                <a:t>・オリジナルグッズの販売、ウォークラリー、コラボフード、ガラポン、園内装飾、オリジナルアナウンス、謎解きラリー</a:t>
              </a:r>
              <a:endParaRPr lang="en-US" altLang="ja-JP" sz="800">
                <a:latin typeface="メイリオ" panose="020B0604030504040204" pitchFamily="50" charset="-128"/>
                <a:ea typeface="メイリオ" panose="020B0604030504040204" pitchFamily="50" charset="-128"/>
              </a:endParaRPr>
            </a:p>
          </p:txBody>
        </p:sp>
        <p:grpSp>
          <p:nvGrpSpPr>
            <p:cNvPr id="64" name="グループ化 63">
              <a:extLst>
                <a:ext uri="{FF2B5EF4-FFF2-40B4-BE49-F238E27FC236}">
                  <a16:creationId xmlns:a16="http://schemas.microsoft.com/office/drawing/2014/main" id="{7E936436-8DFC-3687-E8C6-0C2ADF864AFF}"/>
                </a:ext>
              </a:extLst>
            </p:cNvPr>
            <p:cNvGrpSpPr/>
            <p:nvPr/>
          </p:nvGrpSpPr>
          <p:grpSpPr>
            <a:xfrm>
              <a:off x="541260" y="1385183"/>
              <a:ext cx="2799289" cy="3966856"/>
              <a:chOff x="541260" y="1385183"/>
              <a:chExt cx="2799289" cy="3966856"/>
            </a:xfrm>
          </p:grpSpPr>
          <p:pic>
            <p:nvPicPr>
              <p:cNvPr id="48" name="図 47" descr="グラフィカル ユーザー インターフェイス が含まれている画像&#10;&#10;自動的に生成された説明">
                <a:extLst>
                  <a:ext uri="{FF2B5EF4-FFF2-40B4-BE49-F238E27FC236}">
                    <a16:creationId xmlns:a16="http://schemas.microsoft.com/office/drawing/2014/main" id="{D7C9FA13-5DEA-2569-EBEB-889F3F0EFF9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62035" y="2929548"/>
                <a:ext cx="1430788" cy="804657"/>
              </a:xfrm>
              <a:prstGeom prst="rect">
                <a:avLst/>
              </a:prstGeom>
            </p:spPr>
          </p:pic>
          <p:pic>
            <p:nvPicPr>
              <p:cNvPr id="50" name="図 49" descr="アプリケーション&#10;&#10;自動的に生成された説明">
                <a:extLst>
                  <a:ext uri="{FF2B5EF4-FFF2-40B4-BE49-F238E27FC236}">
                    <a16:creationId xmlns:a16="http://schemas.microsoft.com/office/drawing/2014/main" id="{3949BF4D-5C2B-F95D-6146-4F6E848A92F9}"/>
                  </a:ext>
                </a:extLst>
              </p:cNvPr>
              <p:cNvPicPr>
                <a:picLocks noChangeAspect="1"/>
              </p:cNvPicPr>
              <p:nvPr/>
            </p:nvPicPr>
            <p:blipFill>
              <a:blip r:embed="rId8" cstate="print">
                <a:extLst>
                  <a:ext uri="{28A0092B-C50C-407E-A947-70E740481C1C}">
                    <a14:useLocalDpi xmlns:a14="http://schemas.microsoft.com/office/drawing/2010/main" val="0"/>
                  </a:ext>
                </a:extLst>
              </a:blip>
              <a:srcRect t="-1" b="69690"/>
              <a:stretch/>
            </p:blipFill>
            <p:spPr>
              <a:xfrm>
                <a:off x="541260" y="4791475"/>
                <a:ext cx="1307955" cy="560564"/>
              </a:xfrm>
              <a:prstGeom prst="rect">
                <a:avLst/>
              </a:prstGeom>
            </p:spPr>
          </p:pic>
          <p:pic>
            <p:nvPicPr>
              <p:cNvPr id="52" name="図 51" descr="テーブル&#10;&#10;中程度の精度で自動的に生成された説明">
                <a:extLst>
                  <a:ext uri="{FF2B5EF4-FFF2-40B4-BE49-F238E27FC236}">
                    <a16:creationId xmlns:a16="http://schemas.microsoft.com/office/drawing/2014/main" id="{FB6E369E-3DAC-D5E2-000F-806ADDDBCBA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61564" y="3734567"/>
                <a:ext cx="1430572" cy="804657"/>
              </a:xfrm>
              <a:prstGeom prst="rect">
                <a:avLst/>
              </a:prstGeom>
            </p:spPr>
          </p:pic>
          <p:pic>
            <p:nvPicPr>
              <p:cNvPr id="54" name="図 53" descr="テキスト&#10;&#10;自動的に生成された説明">
                <a:extLst>
                  <a:ext uri="{FF2B5EF4-FFF2-40B4-BE49-F238E27FC236}">
                    <a16:creationId xmlns:a16="http://schemas.microsoft.com/office/drawing/2014/main" id="{03FCDF94-E56C-AECC-BE80-5266AF92AD3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855678" y="4544031"/>
                <a:ext cx="1436458" cy="808008"/>
              </a:xfrm>
              <a:prstGeom prst="rect">
                <a:avLst/>
              </a:prstGeom>
            </p:spPr>
          </p:pic>
          <p:pic>
            <p:nvPicPr>
              <p:cNvPr id="56" name="図 55" descr="テキスト&#10;&#10;低い精度で自動的に生成された説明">
                <a:extLst>
                  <a:ext uri="{FF2B5EF4-FFF2-40B4-BE49-F238E27FC236}">
                    <a16:creationId xmlns:a16="http://schemas.microsoft.com/office/drawing/2014/main" id="{5635CF7D-C6DC-4598-CF0F-5ADCF2CB922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43536" y="2932108"/>
                <a:ext cx="1318499" cy="1864287"/>
              </a:xfrm>
              <a:prstGeom prst="rect">
                <a:avLst/>
              </a:prstGeom>
            </p:spPr>
          </p:pic>
          <p:pic>
            <p:nvPicPr>
              <p:cNvPr id="62" name="図 61" descr="カレンダー&#10;&#10;中程度の精度で自動的に生成された説明">
                <a:extLst>
                  <a:ext uri="{FF2B5EF4-FFF2-40B4-BE49-F238E27FC236}">
                    <a16:creationId xmlns:a16="http://schemas.microsoft.com/office/drawing/2014/main" id="{A4BFA94E-59A3-AA4F-A8CB-B984ED12E9A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73065" y="1385183"/>
                <a:ext cx="2767484" cy="1556710"/>
              </a:xfrm>
              <a:prstGeom prst="rect">
                <a:avLst/>
              </a:prstGeom>
            </p:spPr>
          </p:pic>
        </p:grpSp>
      </p:grpSp>
      <p:sp>
        <p:nvSpPr>
          <p:cNvPr id="67" name="テキスト ボックス 66">
            <a:extLst>
              <a:ext uri="{FF2B5EF4-FFF2-40B4-BE49-F238E27FC236}">
                <a16:creationId xmlns:a16="http://schemas.microsoft.com/office/drawing/2014/main" id="{2DB12A17-7666-7849-9FD8-3F08AB581E9F}"/>
              </a:ext>
            </a:extLst>
          </p:cNvPr>
          <p:cNvSpPr txBox="1"/>
          <p:nvPr/>
        </p:nvSpPr>
        <p:spPr>
          <a:xfrm>
            <a:off x="474692" y="5610123"/>
            <a:ext cx="2970889" cy="1046440"/>
          </a:xfrm>
          <a:prstGeom prst="rect">
            <a:avLst/>
          </a:prstGeom>
          <a:noFill/>
        </p:spPr>
        <p:txBody>
          <a:bodyPr wrap="square" rtlCol="0">
            <a:spAutoFit/>
          </a:bodyPr>
          <a:lstStyle/>
          <a:p>
            <a:pPr>
              <a:lnSpc>
                <a:spcPct val="150000"/>
              </a:lnSpc>
            </a:pPr>
            <a:r>
              <a:rPr kumimoji="1" lang="en-US" altLang="ja-JP" sz="1200" b="1">
                <a:latin typeface="メイリオ" panose="020B0604030504040204" pitchFamily="50" charset="-128"/>
                <a:ea typeface="メイリオ" panose="020B0604030504040204" pitchFamily="50" charset="-128"/>
              </a:rPr>
              <a:t>『</a:t>
            </a:r>
            <a:r>
              <a:rPr lang="ja-JP" altLang="en-US" sz="1200" b="1">
                <a:latin typeface="メイリオ" panose="020B0604030504040204" pitchFamily="50" charset="-128"/>
                <a:ea typeface="メイリオ" panose="020B0604030504040204" pitchFamily="50" charset="-128"/>
              </a:rPr>
              <a:t>東京リベンジャーズ</a:t>
            </a:r>
            <a:r>
              <a:rPr kumimoji="1" lang="en-US" altLang="ja-JP" sz="1200" b="1">
                <a:latin typeface="メイリオ" panose="020B0604030504040204" pitchFamily="50" charset="-128"/>
                <a:ea typeface="メイリオ" panose="020B0604030504040204" pitchFamily="50" charset="-128"/>
              </a:rPr>
              <a:t>』</a:t>
            </a:r>
          </a:p>
          <a:p>
            <a:pPr>
              <a:lnSpc>
                <a:spcPct val="150000"/>
              </a:lnSpc>
            </a:pPr>
            <a:r>
              <a:rPr lang="ja-JP" altLang="en-US" sz="1200" b="1">
                <a:latin typeface="メイリオ" panose="020B0604030504040204" pitchFamily="50" charset="-128"/>
                <a:ea typeface="メイリオ" panose="020B0604030504040204" pitchFamily="50" charset="-128"/>
              </a:rPr>
              <a:t>　</a:t>
            </a:r>
            <a:r>
              <a:rPr kumimoji="1" lang="ja-JP" altLang="en-US" sz="1050" b="1">
                <a:latin typeface="メイリオ" panose="020B0604030504040204" pitchFamily="50" charset="-128"/>
                <a:ea typeface="メイリオ" panose="020B0604030504040204" pitchFamily="50" charset="-128"/>
              </a:rPr>
              <a:t>浅草花やしき</a:t>
            </a:r>
            <a:endParaRPr kumimoji="1" lang="en-US" altLang="ja-JP" sz="1200" b="1">
              <a:latin typeface="メイリオ" panose="020B0604030504040204" pitchFamily="50" charset="-128"/>
              <a:ea typeface="メイリオ" panose="020B0604030504040204" pitchFamily="50" charset="-128"/>
            </a:endParaRPr>
          </a:p>
          <a:p>
            <a:r>
              <a:rPr lang="en-US" altLang="ja-JP" sz="10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2024/02/01</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2024/02/29</a:t>
            </a:r>
            <a:endParaRPr kumimoji="1" lang="en-US" altLang="ja-JP" sz="800" b="1">
              <a:latin typeface="メイリオ" panose="020B0604030504040204" pitchFamily="50" charset="-128"/>
              <a:ea typeface="メイリオ" panose="020B0604030504040204" pitchFamily="50" charset="-128"/>
            </a:endParaRPr>
          </a:p>
          <a:p>
            <a:r>
              <a:rPr lang="ja-JP" altLang="en-US" sz="800">
                <a:latin typeface="メイリオ" panose="020B0604030504040204" pitchFamily="50" charset="-128"/>
                <a:ea typeface="メイリオ" panose="020B0604030504040204" pitchFamily="50" charset="-128"/>
              </a:rPr>
              <a:t>・オリジナルグッズの販売、ウォークラリー、コラボフード、ガラポン、園内装飾、アトラクション･園内アナウンス</a:t>
            </a:r>
            <a:endParaRPr lang="en-US" altLang="ja-JP" sz="800">
              <a:latin typeface="メイリオ" panose="020B0604030504040204" pitchFamily="50" charset="-128"/>
              <a:ea typeface="メイリオ" panose="020B0604030504040204" pitchFamily="50" charset="-128"/>
            </a:endParaRPr>
          </a:p>
        </p:txBody>
      </p:sp>
      <p:grpSp>
        <p:nvGrpSpPr>
          <p:cNvPr id="74" name="グループ化 73">
            <a:extLst>
              <a:ext uri="{FF2B5EF4-FFF2-40B4-BE49-F238E27FC236}">
                <a16:creationId xmlns:a16="http://schemas.microsoft.com/office/drawing/2014/main" id="{51D52D7C-43E3-AAF7-811A-67FA536977FD}"/>
              </a:ext>
            </a:extLst>
          </p:cNvPr>
          <p:cNvGrpSpPr/>
          <p:nvPr/>
        </p:nvGrpSpPr>
        <p:grpSpPr>
          <a:xfrm>
            <a:off x="536112" y="1336324"/>
            <a:ext cx="2744521" cy="4194944"/>
            <a:chOff x="581460" y="1174429"/>
            <a:chExt cx="2744521" cy="4194944"/>
          </a:xfrm>
        </p:grpSpPr>
        <p:pic>
          <p:nvPicPr>
            <p:cNvPr id="66" name="図 65">
              <a:extLst>
                <a:ext uri="{FF2B5EF4-FFF2-40B4-BE49-F238E27FC236}">
                  <a16:creationId xmlns:a16="http://schemas.microsoft.com/office/drawing/2014/main" id="{B1E995F6-FB1C-38CA-77AE-9FCC830F5B3D}"/>
                </a:ext>
              </a:extLst>
            </p:cNvPr>
            <p:cNvPicPr>
              <a:picLocks noChangeAspect="1"/>
            </p:cNvPicPr>
            <p:nvPr/>
          </p:nvPicPr>
          <p:blipFill>
            <a:blip r:embed="rId13"/>
            <a:stretch>
              <a:fillRect/>
            </a:stretch>
          </p:blipFill>
          <p:spPr>
            <a:xfrm>
              <a:off x="581460" y="1174429"/>
              <a:ext cx="2744521" cy="1259284"/>
            </a:xfrm>
            <a:prstGeom prst="rect">
              <a:avLst/>
            </a:prstGeom>
          </p:spPr>
        </p:pic>
        <p:pic>
          <p:nvPicPr>
            <p:cNvPr id="71" name="図 70">
              <a:extLst>
                <a:ext uri="{FF2B5EF4-FFF2-40B4-BE49-F238E27FC236}">
                  <a16:creationId xmlns:a16="http://schemas.microsoft.com/office/drawing/2014/main" id="{9133FDE3-4027-636A-BA4E-C7ACC45B302B}"/>
                </a:ext>
              </a:extLst>
            </p:cNvPr>
            <p:cNvPicPr>
              <a:picLocks noChangeAspect="1"/>
            </p:cNvPicPr>
            <p:nvPr/>
          </p:nvPicPr>
          <p:blipFill>
            <a:blip r:embed="rId14"/>
            <a:stretch>
              <a:fillRect/>
            </a:stretch>
          </p:blipFill>
          <p:spPr>
            <a:xfrm>
              <a:off x="595896" y="3838535"/>
              <a:ext cx="2730085" cy="1530838"/>
            </a:xfrm>
            <a:prstGeom prst="rect">
              <a:avLst/>
            </a:prstGeom>
          </p:spPr>
        </p:pic>
        <p:grpSp>
          <p:nvGrpSpPr>
            <p:cNvPr id="70" name="グループ化 69">
              <a:extLst>
                <a:ext uri="{FF2B5EF4-FFF2-40B4-BE49-F238E27FC236}">
                  <a16:creationId xmlns:a16="http://schemas.microsoft.com/office/drawing/2014/main" id="{7A6DB383-06F2-BD82-CE68-58FD0D6B7249}"/>
                </a:ext>
              </a:extLst>
            </p:cNvPr>
            <p:cNvGrpSpPr/>
            <p:nvPr/>
          </p:nvGrpSpPr>
          <p:grpSpPr>
            <a:xfrm>
              <a:off x="582229" y="2433713"/>
              <a:ext cx="2743752" cy="1404822"/>
              <a:chOff x="592872" y="2607145"/>
              <a:chExt cx="2865630" cy="1467223"/>
            </a:xfrm>
          </p:grpSpPr>
          <p:pic>
            <p:nvPicPr>
              <p:cNvPr id="68" name="図 67">
                <a:extLst>
                  <a:ext uri="{FF2B5EF4-FFF2-40B4-BE49-F238E27FC236}">
                    <a16:creationId xmlns:a16="http://schemas.microsoft.com/office/drawing/2014/main" id="{D83DF2D9-8D83-AD60-C9B8-B2D174BF6B88}"/>
                  </a:ext>
                </a:extLst>
              </p:cNvPr>
              <p:cNvPicPr>
                <a:picLocks noChangeAspect="1"/>
              </p:cNvPicPr>
              <p:nvPr/>
            </p:nvPicPr>
            <p:blipFill>
              <a:blip r:embed="rId15"/>
              <a:stretch>
                <a:fillRect/>
              </a:stretch>
            </p:blipFill>
            <p:spPr>
              <a:xfrm>
                <a:off x="592872" y="2607145"/>
                <a:ext cx="1471291" cy="1467222"/>
              </a:xfrm>
              <a:prstGeom prst="rect">
                <a:avLst/>
              </a:prstGeom>
            </p:spPr>
          </p:pic>
          <p:pic>
            <p:nvPicPr>
              <p:cNvPr id="69" name="図 68">
                <a:extLst>
                  <a:ext uri="{FF2B5EF4-FFF2-40B4-BE49-F238E27FC236}">
                    <a16:creationId xmlns:a16="http://schemas.microsoft.com/office/drawing/2014/main" id="{EE06855B-5863-D455-1D6F-7DF796516FA2}"/>
                  </a:ext>
                </a:extLst>
              </p:cNvPr>
              <p:cNvPicPr>
                <a:picLocks noChangeAspect="1"/>
              </p:cNvPicPr>
              <p:nvPr/>
            </p:nvPicPr>
            <p:blipFill>
              <a:blip r:embed="rId16"/>
              <a:stretch>
                <a:fillRect/>
              </a:stretch>
            </p:blipFill>
            <p:spPr>
              <a:xfrm>
                <a:off x="2062068" y="2607146"/>
                <a:ext cx="1396434" cy="1467222"/>
              </a:xfrm>
              <a:prstGeom prst="rect">
                <a:avLst/>
              </a:prstGeom>
            </p:spPr>
          </p:pic>
        </p:grpSp>
      </p:grpSp>
      <p:sp>
        <p:nvSpPr>
          <p:cNvPr id="76" name="テキスト ボックス 75">
            <a:extLst>
              <a:ext uri="{FF2B5EF4-FFF2-40B4-BE49-F238E27FC236}">
                <a16:creationId xmlns:a16="http://schemas.microsoft.com/office/drawing/2014/main" id="{5DC32776-9EEE-6A34-3D26-626DBD14F7F0}"/>
              </a:ext>
            </a:extLst>
          </p:cNvPr>
          <p:cNvSpPr txBox="1"/>
          <p:nvPr/>
        </p:nvSpPr>
        <p:spPr>
          <a:xfrm>
            <a:off x="3324308" y="5610123"/>
            <a:ext cx="3004573" cy="977191"/>
          </a:xfrm>
          <a:prstGeom prst="rect">
            <a:avLst/>
          </a:prstGeom>
          <a:noFill/>
        </p:spPr>
        <p:txBody>
          <a:bodyPr wrap="square" rtlCol="0">
            <a:spAutoFit/>
          </a:bodyPr>
          <a:lstStyle/>
          <a:p>
            <a:pPr>
              <a:lnSpc>
                <a:spcPct val="150000"/>
              </a:lnSpc>
            </a:pPr>
            <a:r>
              <a:rPr lang="en-US" altLang="ja-JP" sz="900" b="0" i="0">
                <a:solidFill>
                  <a:srgbClr val="000000"/>
                </a:solidFill>
                <a:effectLst/>
                <a:latin typeface="メイリオ" panose="020B0604030504040204" pitchFamily="50" charset="-128"/>
                <a:ea typeface="メイリオ" panose="020B0604030504040204" pitchFamily="50" charset="-128"/>
              </a:rPr>
              <a:t>ATFES in NAMJATOWN 『The Miracle Summer』</a:t>
            </a:r>
            <a:br>
              <a:rPr lang="en-US" altLang="ja-JP" sz="1100" b="0" i="0">
                <a:solidFill>
                  <a:srgbClr val="000000"/>
                </a:solidFill>
                <a:effectLst/>
                <a:latin typeface="メイリオ" panose="020B0604030504040204" pitchFamily="50" charset="-128"/>
                <a:ea typeface="メイリオ" panose="020B0604030504040204" pitchFamily="50" charset="-128"/>
              </a:rPr>
            </a:br>
            <a:r>
              <a:rPr lang="ja-JP" altLang="en-US" sz="1200" b="1">
                <a:latin typeface="メイリオ" panose="020B0604030504040204" pitchFamily="50" charset="-128"/>
                <a:ea typeface="メイリオ" panose="020B0604030504040204" pitchFamily="50" charset="-128"/>
              </a:rPr>
              <a:t>　</a:t>
            </a:r>
            <a:r>
              <a:rPr kumimoji="1" lang="ja-JP" altLang="en-US" sz="1050" b="1">
                <a:latin typeface="メイリオ" panose="020B0604030504040204" pitchFamily="50" charset="-128"/>
                <a:ea typeface="メイリオ" panose="020B0604030504040204" pitchFamily="50" charset="-128"/>
              </a:rPr>
              <a:t>ナンジャタウン</a:t>
            </a:r>
            <a:endParaRPr kumimoji="1" lang="en-US" altLang="ja-JP" sz="1200" b="1">
              <a:latin typeface="メイリオ" panose="020B0604030504040204" pitchFamily="50" charset="-128"/>
              <a:ea typeface="メイリオ" panose="020B0604030504040204" pitchFamily="50" charset="-128"/>
            </a:endParaRPr>
          </a:p>
          <a:p>
            <a:r>
              <a:rPr lang="en-US" altLang="ja-JP" sz="10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2024/07/12</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2024/08/25</a:t>
            </a:r>
            <a:endParaRPr kumimoji="1" lang="en-US" altLang="ja-JP" sz="800" b="1">
              <a:latin typeface="メイリオ" panose="020B0604030504040204" pitchFamily="50" charset="-128"/>
              <a:ea typeface="メイリオ" panose="020B0604030504040204" pitchFamily="50" charset="-128"/>
            </a:endParaRPr>
          </a:p>
          <a:p>
            <a:r>
              <a:rPr lang="ja-JP" altLang="en-US" sz="800">
                <a:latin typeface="メイリオ" panose="020B0604030504040204" pitchFamily="50" charset="-128"/>
                <a:ea typeface="メイリオ" panose="020B0604030504040204" pitchFamily="50" charset="-128"/>
              </a:rPr>
              <a:t>・オリジナルグッズの販売、オリジナルラリー、コラボフード、館内装飾</a:t>
            </a:r>
            <a:endParaRPr lang="en-US" altLang="ja-JP" sz="800">
              <a:latin typeface="メイリオ" panose="020B0604030504040204" pitchFamily="50" charset="-128"/>
              <a:ea typeface="メイリオ" panose="020B0604030504040204" pitchFamily="50" charset="-128"/>
            </a:endParaRPr>
          </a:p>
        </p:txBody>
      </p:sp>
      <p:grpSp>
        <p:nvGrpSpPr>
          <p:cNvPr id="84" name="グループ化 83">
            <a:extLst>
              <a:ext uri="{FF2B5EF4-FFF2-40B4-BE49-F238E27FC236}">
                <a16:creationId xmlns:a16="http://schemas.microsoft.com/office/drawing/2014/main" id="{3FAC6D29-5D39-51D9-2961-991650A1BE7F}"/>
              </a:ext>
            </a:extLst>
          </p:cNvPr>
          <p:cNvGrpSpPr/>
          <p:nvPr/>
        </p:nvGrpSpPr>
        <p:grpSpPr>
          <a:xfrm>
            <a:off x="3347623" y="1351682"/>
            <a:ext cx="2770620" cy="4066430"/>
            <a:chOff x="3354190" y="1330811"/>
            <a:chExt cx="2770620" cy="4066430"/>
          </a:xfrm>
        </p:grpSpPr>
        <p:pic>
          <p:nvPicPr>
            <p:cNvPr id="78" name="図 77" descr="グラフィカル ユーザー インターフェイス, Web サイト&#10;&#10;自動的に生成された説明">
              <a:extLst>
                <a:ext uri="{FF2B5EF4-FFF2-40B4-BE49-F238E27FC236}">
                  <a16:creationId xmlns:a16="http://schemas.microsoft.com/office/drawing/2014/main" id="{02B5CB4B-4A0C-0320-EA46-851EF5EB1469}"/>
                </a:ext>
              </a:extLst>
            </p:cNvPr>
            <p:cNvPicPr>
              <a:picLocks noChangeAspect="1"/>
            </p:cNvPicPr>
            <p:nvPr/>
          </p:nvPicPr>
          <p:blipFill>
            <a:blip r:embed="rId17" cstate="print">
              <a:extLst>
                <a:ext uri="{28A0092B-C50C-407E-A947-70E740481C1C}">
                  <a14:useLocalDpi xmlns:a14="http://schemas.microsoft.com/office/drawing/2010/main" val="0"/>
                </a:ext>
              </a:extLst>
            </a:blip>
            <a:srcRect b="60725"/>
            <a:stretch/>
          </p:blipFill>
          <p:spPr>
            <a:xfrm>
              <a:off x="3363337" y="1330811"/>
              <a:ext cx="2752326" cy="1528938"/>
            </a:xfrm>
            <a:prstGeom prst="rect">
              <a:avLst/>
            </a:prstGeom>
          </p:spPr>
        </p:pic>
        <p:pic>
          <p:nvPicPr>
            <p:cNvPr id="80" name="図 79" descr="カレンダー&#10;&#10;自動的に生成された説明">
              <a:extLst>
                <a:ext uri="{FF2B5EF4-FFF2-40B4-BE49-F238E27FC236}">
                  <a16:creationId xmlns:a16="http://schemas.microsoft.com/office/drawing/2014/main" id="{A3AEB8A6-0471-A9F6-8B20-0DA490A8F3D7}"/>
                </a:ext>
              </a:extLst>
            </p:cNvPr>
            <p:cNvPicPr>
              <a:picLocks noChangeAspect="1"/>
            </p:cNvPicPr>
            <p:nvPr/>
          </p:nvPicPr>
          <p:blipFill>
            <a:blip r:embed="rId18" cstate="print">
              <a:extLst>
                <a:ext uri="{28A0092B-C50C-407E-A947-70E740481C1C}">
                  <a14:useLocalDpi xmlns:a14="http://schemas.microsoft.com/office/drawing/2010/main" val="0"/>
                </a:ext>
              </a:extLst>
            </a:blip>
            <a:srcRect b="67412"/>
            <a:stretch/>
          </p:blipFill>
          <p:spPr>
            <a:xfrm>
              <a:off x="3354863" y="2853746"/>
              <a:ext cx="2769274" cy="1276469"/>
            </a:xfrm>
            <a:prstGeom prst="rect">
              <a:avLst/>
            </a:prstGeom>
          </p:spPr>
        </p:pic>
        <p:pic>
          <p:nvPicPr>
            <p:cNvPr id="83" name="図 82" descr="カレンダー&#10;&#10;自動的に生成された説明">
              <a:extLst>
                <a:ext uri="{FF2B5EF4-FFF2-40B4-BE49-F238E27FC236}">
                  <a16:creationId xmlns:a16="http://schemas.microsoft.com/office/drawing/2014/main" id="{03E76C04-6126-0E86-05C8-26FCF006BCD7}"/>
                </a:ext>
              </a:extLst>
            </p:cNvPr>
            <p:cNvPicPr>
              <a:picLocks noChangeAspect="1"/>
            </p:cNvPicPr>
            <p:nvPr/>
          </p:nvPicPr>
          <p:blipFill>
            <a:blip r:embed="rId19" cstate="print">
              <a:extLst>
                <a:ext uri="{28A0092B-C50C-407E-A947-70E740481C1C}">
                  <a14:useLocalDpi xmlns:a14="http://schemas.microsoft.com/office/drawing/2010/main" val="0"/>
                </a:ext>
              </a:extLst>
            </a:blip>
            <a:srcRect b="67801"/>
            <a:stretch/>
          </p:blipFill>
          <p:spPr>
            <a:xfrm>
              <a:off x="3354190" y="4135392"/>
              <a:ext cx="2770620" cy="1261849"/>
            </a:xfrm>
            <a:prstGeom prst="rect">
              <a:avLst/>
            </a:prstGeom>
          </p:spPr>
        </p:pic>
      </p:grpSp>
    </p:spTree>
    <p:extLst>
      <p:ext uri="{BB962C8B-B14F-4D97-AF65-F5344CB8AC3E}">
        <p14:creationId xmlns:p14="http://schemas.microsoft.com/office/powerpoint/2010/main" val="35955194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6B9263D3-8AA9-F8FF-C02A-8CE978D99830}"/>
              </a:ext>
            </a:extLst>
          </p:cNvPr>
          <p:cNvSpPr>
            <a:spLocks noGrp="1"/>
          </p:cNvSpPr>
          <p:nvPr>
            <p:ph idx="10"/>
          </p:nvPr>
        </p:nvSpPr>
        <p:spPr>
          <a:xfrm>
            <a:off x="653802" y="652081"/>
            <a:ext cx="11086078" cy="544642"/>
          </a:xfrm>
        </p:spPr>
        <p:txBody>
          <a:bodyPr/>
          <a:lstStyle/>
          <a:p>
            <a:r>
              <a:rPr kumimoji="1" lang="ja-JP" altLang="en-US"/>
              <a:t>このほかにも有名</a:t>
            </a:r>
            <a:r>
              <a:rPr kumimoji="1" lang="en-US" altLang="ja-JP"/>
              <a:t>IP</a:t>
            </a:r>
            <a:r>
              <a:rPr kumimoji="1" lang="ja-JP" altLang="en-US"/>
              <a:t>の取り扱いイベント企画・主催やグッズ制作・販売が多数あります。</a:t>
            </a:r>
          </a:p>
        </p:txBody>
      </p:sp>
      <p:sp>
        <p:nvSpPr>
          <p:cNvPr id="3" name="タイトル 2">
            <a:extLst>
              <a:ext uri="{FF2B5EF4-FFF2-40B4-BE49-F238E27FC236}">
                <a16:creationId xmlns:a16="http://schemas.microsoft.com/office/drawing/2014/main" id="{32A55C93-9342-C23F-B658-9522AAC8AA78}"/>
              </a:ext>
            </a:extLst>
          </p:cNvPr>
          <p:cNvSpPr>
            <a:spLocks noGrp="1"/>
          </p:cNvSpPr>
          <p:nvPr>
            <p:ph type="title"/>
          </p:nvPr>
        </p:nvSpPr>
        <p:spPr/>
        <p:txBody>
          <a:bodyPr/>
          <a:lstStyle/>
          <a:p>
            <a:r>
              <a:rPr kumimoji="1" lang="en-US" altLang="ja-JP"/>
              <a:t>IP</a:t>
            </a:r>
            <a:r>
              <a:rPr kumimoji="1" lang="ja-JP" altLang="en-US"/>
              <a:t>コラボレーション実績（一部）</a:t>
            </a:r>
          </a:p>
        </p:txBody>
      </p:sp>
      <p:sp>
        <p:nvSpPr>
          <p:cNvPr id="4" name="スライド番号プレースホルダー 3">
            <a:extLst>
              <a:ext uri="{FF2B5EF4-FFF2-40B4-BE49-F238E27FC236}">
                <a16:creationId xmlns:a16="http://schemas.microsoft.com/office/drawing/2014/main" id="{287F182B-D547-7E01-1C0C-8DEC4E149BF2}"/>
              </a:ext>
            </a:extLst>
          </p:cNvPr>
          <p:cNvSpPr>
            <a:spLocks noGrp="1"/>
          </p:cNvSpPr>
          <p:nvPr>
            <p:ph type="sldNum" sz="quarter" idx="11"/>
          </p:nvPr>
        </p:nvSpPr>
        <p:spPr/>
        <p:txBody>
          <a:bodyPr/>
          <a:lstStyle/>
          <a:p>
            <a:fld id="{B75FDD43-FCEC-4ECC-8189-A5C6D2E08DC6}" type="slidenum">
              <a:rPr lang="ja-JP" altLang="en-US" smtClean="0"/>
              <a:pPr/>
              <a:t>56</a:t>
            </a:fld>
            <a:endParaRPr lang="ja-JP" altLang="en-US"/>
          </a:p>
        </p:txBody>
      </p:sp>
      <p:grpSp>
        <p:nvGrpSpPr>
          <p:cNvPr id="30" name="グループ化 29">
            <a:extLst>
              <a:ext uri="{FF2B5EF4-FFF2-40B4-BE49-F238E27FC236}">
                <a16:creationId xmlns:a16="http://schemas.microsoft.com/office/drawing/2014/main" id="{1B4CE91E-0D3F-421C-2684-4A92482196D6}"/>
              </a:ext>
            </a:extLst>
          </p:cNvPr>
          <p:cNvGrpSpPr/>
          <p:nvPr/>
        </p:nvGrpSpPr>
        <p:grpSpPr>
          <a:xfrm>
            <a:off x="3410797" y="1335249"/>
            <a:ext cx="2828084" cy="5162070"/>
            <a:chOff x="3598846" y="1161322"/>
            <a:chExt cx="3137768" cy="5727333"/>
          </a:xfrm>
        </p:grpSpPr>
        <p:grpSp>
          <p:nvGrpSpPr>
            <p:cNvPr id="9" name="グループ化 8">
              <a:extLst>
                <a:ext uri="{FF2B5EF4-FFF2-40B4-BE49-F238E27FC236}">
                  <a16:creationId xmlns:a16="http://schemas.microsoft.com/office/drawing/2014/main" id="{332E538D-4773-4B64-3785-D1CBF434B041}"/>
                </a:ext>
              </a:extLst>
            </p:cNvPr>
            <p:cNvGrpSpPr/>
            <p:nvPr/>
          </p:nvGrpSpPr>
          <p:grpSpPr>
            <a:xfrm>
              <a:off x="3598846" y="1161322"/>
              <a:ext cx="3059439" cy="4476237"/>
              <a:chOff x="762580" y="1115910"/>
              <a:chExt cx="3323904" cy="4863174"/>
            </a:xfrm>
          </p:grpSpPr>
          <p:pic>
            <p:nvPicPr>
              <p:cNvPr id="6" name="図 5">
                <a:extLst>
                  <a:ext uri="{FF2B5EF4-FFF2-40B4-BE49-F238E27FC236}">
                    <a16:creationId xmlns:a16="http://schemas.microsoft.com/office/drawing/2014/main" id="{90F2DEC1-5BDE-3CA3-9A1A-235F910B0610}"/>
                  </a:ext>
                </a:extLst>
              </p:cNvPr>
              <p:cNvPicPr>
                <a:picLocks noChangeAspect="1"/>
              </p:cNvPicPr>
              <p:nvPr/>
            </p:nvPicPr>
            <p:blipFill>
              <a:blip r:embed="rId2"/>
              <a:stretch>
                <a:fillRect/>
              </a:stretch>
            </p:blipFill>
            <p:spPr>
              <a:xfrm>
                <a:off x="771673" y="1115910"/>
                <a:ext cx="3314811" cy="1866222"/>
              </a:xfrm>
              <a:prstGeom prst="rect">
                <a:avLst/>
              </a:prstGeom>
            </p:spPr>
          </p:pic>
          <p:pic>
            <p:nvPicPr>
              <p:cNvPr id="7" name="図 6">
                <a:extLst>
                  <a:ext uri="{FF2B5EF4-FFF2-40B4-BE49-F238E27FC236}">
                    <a16:creationId xmlns:a16="http://schemas.microsoft.com/office/drawing/2014/main" id="{498FE184-BB6F-FB22-4BBC-D6899D5BDC6B}"/>
                  </a:ext>
                </a:extLst>
              </p:cNvPr>
              <p:cNvPicPr>
                <a:picLocks noChangeAspect="1"/>
              </p:cNvPicPr>
              <p:nvPr/>
            </p:nvPicPr>
            <p:blipFill>
              <a:blip r:embed="rId3"/>
              <a:stretch>
                <a:fillRect/>
              </a:stretch>
            </p:blipFill>
            <p:spPr>
              <a:xfrm>
                <a:off x="762580" y="2982132"/>
                <a:ext cx="3317684" cy="2996952"/>
              </a:xfrm>
              <a:prstGeom prst="rect">
                <a:avLst/>
              </a:prstGeom>
            </p:spPr>
          </p:pic>
        </p:grpSp>
        <p:sp>
          <p:nvSpPr>
            <p:cNvPr id="8" name="テキスト ボックス 7">
              <a:extLst>
                <a:ext uri="{FF2B5EF4-FFF2-40B4-BE49-F238E27FC236}">
                  <a16:creationId xmlns:a16="http://schemas.microsoft.com/office/drawing/2014/main" id="{0B011FFD-0F9E-1107-BF85-EB90A8F54FF4}"/>
                </a:ext>
              </a:extLst>
            </p:cNvPr>
            <p:cNvSpPr txBox="1"/>
            <p:nvPr/>
          </p:nvSpPr>
          <p:spPr>
            <a:xfrm>
              <a:off x="3607216" y="5642257"/>
              <a:ext cx="3129398" cy="1246398"/>
            </a:xfrm>
            <a:prstGeom prst="rect">
              <a:avLst/>
            </a:prstGeom>
            <a:noFill/>
          </p:spPr>
          <p:txBody>
            <a:bodyPr wrap="square" rtlCol="0">
              <a:spAutoFit/>
            </a:bodyPr>
            <a:lstStyle/>
            <a:p>
              <a:pPr>
                <a:lnSpc>
                  <a:spcPct val="150000"/>
                </a:lnSpc>
              </a:pPr>
              <a:r>
                <a:rPr kumimoji="1" lang="en-US" altLang="ja-JP" sz="1200" b="1">
                  <a:latin typeface="メイリオ" panose="020B0604030504040204" pitchFamily="50" charset="-128"/>
                  <a:ea typeface="メイリオ" panose="020B0604030504040204" pitchFamily="50" charset="-128"/>
                </a:rPr>
                <a:t>『</a:t>
              </a:r>
              <a:r>
                <a:rPr kumimoji="1" lang="ja-JP" altLang="en-US" sz="1200" b="1">
                  <a:latin typeface="メイリオ" panose="020B0604030504040204" pitchFamily="50" charset="-128"/>
                  <a:ea typeface="メイリオ" panose="020B0604030504040204" pitchFamily="50" charset="-128"/>
                </a:rPr>
                <a:t>文豪とアルケミスト</a:t>
              </a:r>
              <a:r>
                <a:rPr kumimoji="1" lang="en-US" altLang="ja-JP" sz="1200" b="1">
                  <a:latin typeface="メイリオ" panose="020B0604030504040204" pitchFamily="50" charset="-128"/>
                  <a:ea typeface="メイリオ" panose="020B0604030504040204" pitchFamily="50" charset="-128"/>
                </a:rPr>
                <a:t>』</a:t>
              </a:r>
            </a:p>
            <a:p>
              <a:pPr>
                <a:lnSpc>
                  <a:spcPct val="150000"/>
                </a:lnSpc>
              </a:pPr>
              <a:r>
                <a:rPr lang="ja-JP" altLang="en-US" sz="1200" b="1">
                  <a:latin typeface="メイリオ" panose="020B0604030504040204" pitchFamily="50" charset="-128"/>
                  <a:ea typeface="メイリオ" panose="020B0604030504040204" pitchFamily="50" charset="-128"/>
                </a:rPr>
                <a:t>　</a:t>
              </a:r>
              <a:r>
                <a:rPr lang="ja-JP" altLang="en-US" sz="1050" b="1">
                  <a:latin typeface="メイリオ" panose="020B0604030504040204" pitchFamily="50" charset="-128"/>
                  <a:ea typeface="メイリオ" panose="020B0604030504040204" pitchFamily="50" charset="-128"/>
                </a:rPr>
                <a:t>レストラン </a:t>
              </a:r>
              <a:r>
                <a:rPr lang="en-US" altLang="ja-JP" sz="1050" b="1" err="1">
                  <a:latin typeface="メイリオ" panose="020B0604030504040204" pitchFamily="50" charset="-128"/>
                  <a:ea typeface="メイリオ" panose="020B0604030504040204" pitchFamily="50" charset="-128"/>
                </a:rPr>
                <a:t>Cassolo</a:t>
              </a:r>
              <a:r>
                <a:rPr lang="ja-JP" altLang="en-US" sz="1050" b="1">
                  <a:latin typeface="メイリオ" panose="020B0604030504040204" pitchFamily="50" charset="-128"/>
                  <a:ea typeface="メイリオ" panose="020B0604030504040204" pitchFamily="50" charset="-128"/>
                </a:rPr>
                <a:t>（カッソーロ）</a:t>
              </a:r>
              <a:endParaRPr kumimoji="1" lang="en-US" altLang="ja-JP" sz="1200" b="1">
                <a:latin typeface="メイリオ" panose="020B0604030504040204" pitchFamily="50" charset="-128"/>
                <a:ea typeface="メイリオ" panose="020B0604030504040204" pitchFamily="50" charset="-128"/>
              </a:endParaRPr>
            </a:p>
            <a:p>
              <a:pPr>
                <a:lnSpc>
                  <a:spcPct val="150000"/>
                </a:lnSpc>
              </a:pPr>
              <a:r>
                <a:rPr lang="en-US" altLang="ja-JP" sz="10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2023/11/25</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2023/12/17※</a:t>
              </a:r>
              <a:r>
                <a:rPr lang="ja-JP" altLang="en-US" sz="800">
                  <a:latin typeface="メイリオ" panose="020B0604030504040204" pitchFamily="50" charset="-128"/>
                  <a:ea typeface="メイリオ" panose="020B0604030504040204" pitchFamily="50" charset="-128"/>
                </a:rPr>
                <a:t>土日のみ開催</a:t>
              </a:r>
              <a:endParaRPr kumimoji="1" lang="en-US" altLang="ja-JP" sz="800" b="1">
                <a:latin typeface="メイリオ" panose="020B0604030504040204" pitchFamily="50" charset="-128"/>
                <a:ea typeface="メイリオ" panose="020B0604030504040204" pitchFamily="50" charset="-128"/>
              </a:endParaRPr>
            </a:p>
            <a:p>
              <a:r>
                <a:rPr lang="ja-JP" altLang="en-US" sz="800">
                  <a:latin typeface="メイリオ" panose="020B0604030504040204" pitchFamily="50" charset="-128"/>
                  <a:ea typeface="メイリオ" panose="020B0604030504040204" pitchFamily="50" charset="-128"/>
                </a:rPr>
                <a:t>・オリジナルグッズの販売、店内装飾、コラボドリンク、フード各種</a:t>
              </a:r>
              <a:endParaRPr lang="en-US" altLang="ja-JP" sz="800">
                <a:latin typeface="メイリオ" panose="020B0604030504040204" pitchFamily="50" charset="-128"/>
                <a:ea typeface="メイリオ" panose="020B0604030504040204" pitchFamily="50" charset="-128"/>
              </a:endParaRPr>
            </a:p>
          </p:txBody>
        </p:sp>
      </p:grpSp>
      <p:grpSp>
        <p:nvGrpSpPr>
          <p:cNvPr id="29" name="グループ化 28">
            <a:extLst>
              <a:ext uri="{FF2B5EF4-FFF2-40B4-BE49-F238E27FC236}">
                <a16:creationId xmlns:a16="http://schemas.microsoft.com/office/drawing/2014/main" id="{6EE17036-FA2A-FDDB-0FA4-2209F227BBA5}"/>
              </a:ext>
            </a:extLst>
          </p:cNvPr>
          <p:cNvGrpSpPr/>
          <p:nvPr/>
        </p:nvGrpSpPr>
        <p:grpSpPr>
          <a:xfrm>
            <a:off x="443571" y="1367711"/>
            <a:ext cx="2970889" cy="4946778"/>
            <a:chOff x="539951" y="1161322"/>
            <a:chExt cx="3051070" cy="5080282"/>
          </a:xfrm>
        </p:grpSpPr>
        <p:sp>
          <p:nvSpPr>
            <p:cNvPr id="20" name="テキスト ボックス 19">
              <a:extLst>
                <a:ext uri="{FF2B5EF4-FFF2-40B4-BE49-F238E27FC236}">
                  <a16:creationId xmlns:a16="http://schemas.microsoft.com/office/drawing/2014/main" id="{4B9576DB-7801-F5DD-40BB-8C50E59BE463}"/>
                </a:ext>
              </a:extLst>
            </p:cNvPr>
            <p:cNvSpPr txBox="1"/>
            <p:nvPr/>
          </p:nvSpPr>
          <p:spPr>
            <a:xfrm>
              <a:off x="539951" y="5293355"/>
              <a:ext cx="3051070" cy="948249"/>
            </a:xfrm>
            <a:prstGeom prst="rect">
              <a:avLst/>
            </a:prstGeom>
            <a:noFill/>
          </p:spPr>
          <p:txBody>
            <a:bodyPr wrap="square" rtlCol="0">
              <a:spAutoFit/>
            </a:bodyPr>
            <a:lstStyle/>
            <a:p>
              <a:pPr>
                <a:lnSpc>
                  <a:spcPct val="150000"/>
                </a:lnSpc>
              </a:pPr>
              <a:r>
                <a:rPr kumimoji="1" lang="en-US" altLang="ja-JP" sz="1200" b="1">
                  <a:latin typeface="メイリオ" panose="020B0604030504040204" pitchFamily="50" charset="-128"/>
                  <a:ea typeface="メイリオ" panose="020B0604030504040204" pitchFamily="50" charset="-128"/>
                </a:rPr>
                <a:t>『</a:t>
              </a:r>
              <a:r>
                <a:rPr lang="ja-JP" altLang="en-US" sz="1200" b="1">
                  <a:latin typeface="メイリオ" panose="020B0604030504040204" pitchFamily="50" charset="-128"/>
                  <a:ea typeface="メイリオ" panose="020B0604030504040204" pitchFamily="50" charset="-128"/>
                </a:rPr>
                <a:t>ポケモンユナイト</a:t>
              </a:r>
              <a:r>
                <a:rPr kumimoji="1" lang="en-US" altLang="ja-JP" sz="1200" b="1">
                  <a:latin typeface="メイリオ" panose="020B0604030504040204" pitchFamily="50" charset="-128"/>
                  <a:ea typeface="メイリオ" panose="020B0604030504040204" pitchFamily="50" charset="-128"/>
                </a:rPr>
                <a:t>』</a:t>
              </a:r>
            </a:p>
            <a:p>
              <a:pPr>
                <a:lnSpc>
                  <a:spcPct val="150000"/>
                </a:lnSpc>
              </a:pPr>
              <a:r>
                <a:rPr lang="ja-JP" altLang="en-US" sz="1200" b="1">
                  <a:latin typeface="メイリオ" panose="020B0604030504040204" pitchFamily="50" charset="-128"/>
                  <a:ea typeface="メイリオ" panose="020B0604030504040204" pitchFamily="50" charset="-128"/>
                </a:rPr>
                <a:t>　</a:t>
              </a:r>
              <a:r>
                <a:rPr kumimoji="1" lang="ja-JP" altLang="en-US" sz="1050" b="1">
                  <a:latin typeface="メイリオ" panose="020B0604030504040204" pitchFamily="50" charset="-128"/>
                  <a:ea typeface="メイリオ" panose="020B0604030504040204" pitchFamily="50" charset="-128"/>
                </a:rPr>
                <a:t>横浜･八景島シーパラダイス</a:t>
              </a:r>
              <a:endParaRPr kumimoji="1" lang="en-US" altLang="ja-JP" sz="1200" b="1">
                <a:latin typeface="メイリオ" panose="020B0604030504040204" pitchFamily="50" charset="-128"/>
                <a:ea typeface="メイリオ" panose="020B0604030504040204" pitchFamily="50" charset="-128"/>
              </a:endParaRPr>
            </a:p>
            <a:p>
              <a:r>
                <a:rPr lang="en-US" altLang="ja-JP" sz="10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2023/12/1</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2024/1/31</a:t>
              </a:r>
              <a:endParaRPr kumimoji="1" lang="en-US" altLang="ja-JP" sz="800" b="1">
                <a:latin typeface="メイリオ" panose="020B0604030504040204" pitchFamily="50" charset="-128"/>
                <a:ea typeface="メイリオ" panose="020B0604030504040204" pitchFamily="50" charset="-128"/>
              </a:endParaRPr>
            </a:p>
            <a:p>
              <a:r>
                <a:rPr lang="ja-JP" altLang="en-US" sz="800">
                  <a:latin typeface="メイリオ" panose="020B0604030504040204" pitchFamily="50" charset="-128"/>
                  <a:ea typeface="メイリオ" panose="020B0604030504040204" pitchFamily="50" charset="-128"/>
                </a:rPr>
                <a:t>・オリジナルラリー、島内装飾　</a:t>
              </a:r>
              <a:r>
                <a:rPr lang="en-US" altLang="ja-JP" sz="800">
                  <a:latin typeface="メイリオ" panose="020B0604030504040204" pitchFamily="50" charset="-128"/>
                  <a:ea typeface="メイリオ" panose="020B0604030504040204" pitchFamily="50" charset="-128"/>
                </a:rPr>
                <a:t>※</a:t>
              </a:r>
              <a:r>
                <a:rPr lang="ja-JP" altLang="en-US" sz="800">
                  <a:latin typeface="メイリオ" panose="020B0604030504040204" pitchFamily="50" charset="-128"/>
                  <a:ea typeface="メイリオ" panose="020B0604030504040204" pitchFamily="50" charset="-128"/>
                </a:rPr>
                <a:t>イベント制作請負</a:t>
              </a:r>
              <a:endParaRPr lang="en-US" altLang="ja-JP" sz="800">
                <a:latin typeface="メイリオ" panose="020B0604030504040204" pitchFamily="50" charset="-128"/>
                <a:ea typeface="メイリオ" panose="020B0604030504040204" pitchFamily="50" charset="-128"/>
              </a:endParaRPr>
            </a:p>
          </p:txBody>
        </p:sp>
        <p:grpSp>
          <p:nvGrpSpPr>
            <p:cNvPr id="28" name="グループ化 27">
              <a:extLst>
                <a:ext uri="{FF2B5EF4-FFF2-40B4-BE49-F238E27FC236}">
                  <a16:creationId xmlns:a16="http://schemas.microsoft.com/office/drawing/2014/main" id="{173D61C7-06C7-772B-4D47-A32F5DC8EB69}"/>
                </a:ext>
              </a:extLst>
            </p:cNvPr>
            <p:cNvGrpSpPr/>
            <p:nvPr/>
          </p:nvGrpSpPr>
          <p:grpSpPr>
            <a:xfrm>
              <a:off x="647086" y="1161322"/>
              <a:ext cx="2830084" cy="4051174"/>
              <a:chOff x="647086" y="1161322"/>
              <a:chExt cx="2830084" cy="4051174"/>
            </a:xfrm>
          </p:grpSpPr>
          <p:pic>
            <p:nvPicPr>
              <p:cNvPr id="19" name="図 18">
                <a:extLst>
                  <a:ext uri="{FF2B5EF4-FFF2-40B4-BE49-F238E27FC236}">
                    <a16:creationId xmlns:a16="http://schemas.microsoft.com/office/drawing/2014/main" id="{5BFED710-B59D-75A6-F538-0D016CEC8967}"/>
                  </a:ext>
                </a:extLst>
              </p:cNvPr>
              <p:cNvPicPr>
                <a:picLocks noChangeAspect="1"/>
              </p:cNvPicPr>
              <p:nvPr/>
            </p:nvPicPr>
            <p:blipFill>
              <a:blip r:embed="rId4"/>
              <a:stretch>
                <a:fillRect/>
              </a:stretch>
            </p:blipFill>
            <p:spPr>
              <a:xfrm>
                <a:off x="653802" y="1161322"/>
                <a:ext cx="2823368" cy="2371870"/>
              </a:xfrm>
              <a:prstGeom prst="rect">
                <a:avLst/>
              </a:prstGeom>
            </p:spPr>
          </p:pic>
          <p:pic>
            <p:nvPicPr>
              <p:cNvPr id="21" name="図 20">
                <a:extLst>
                  <a:ext uri="{FF2B5EF4-FFF2-40B4-BE49-F238E27FC236}">
                    <a16:creationId xmlns:a16="http://schemas.microsoft.com/office/drawing/2014/main" id="{F1DFD852-8CC2-E8A0-0B42-74CE79A0313A}"/>
                  </a:ext>
                </a:extLst>
              </p:cNvPr>
              <p:cNvPicPr>
                <a:picLocks noChangeAspect="1"/>
              </p:cNvPicPr>
              <p:nvPr/>
            </p:nvPicPr>
            <p:blipFill>
              <a:blip r:embed="rId5"/>
              <a:srcRect t="20263" b="8994"/>
              <a:stretch/>
            </p:blipFill>
            <p:spPr>
              <a:xfrm>
                <a:off x="653803" y="3531026"/>
                <a:ext cx="2823367" cy="973731"/>
              </a:xfrm>
              <a:prstGeom prst="rect">
                <a:avLst/>
              </a:prstGeom>
            </p:spPr>
          </p:pic>
          <p:pic>
            <p:nvPicPr>
              <p:cNvPr id="22" name="図 21">
                <a:extLst>
                  <a:ext uri="{FF2B5EF4-FFF2-40B4-BE49-F238E27FC236}">
                    <a16:creationId xmlns:a16="http://schemas.microsoft.com/office/drawing/2014/main" id="{2C78917C-D084-1674-A251-7A04FBD7F2A5}"/>
                  </a:ext>
                </a:extLst>
              </p:cNvPr>
              <p:cNvPicPr>
                <a:picLocks noChangeAspect="1"/>
              </p:cNvPicPr>
              <p:nvPr/>
            </p:nvPicPr>
            <p:blipFill>
              <a:blip r:embed="rId6"/>
              <a:stretch>
                <a:fillRect/>
              </a:stretch>
            </p:blipFill>
            <p:spPr>
              <a:xfrm rot="10800000">
                <a:off x="647086" y="4500823"/>
                <a:ext cx="1095399" cy="711369"/>
              </a:xfrm>
              <a:prstGeom prst="rect">
                <a:avLst/>
              </a:prstGeom>
            </p:spPr>
          </p:pic>
          <p:pic>
            <p:nvPicPr>
              <p:cNvPr id="23" name="図 22" descr="駅の構内&#10;&#10;低い精度で自動的に生成された説明">
                <a:extLst>
                  <a:ext uri="{FF2B5EF4-FFF2-40B4-BE49-F238E27FC236}">
                    <a16:creationId xmlns:a16="http://schemas.microsoft.com/office/drawing/2014/main" id="{1B09815C-803D-6F6C-5E94-9344DC9D9BE6}"/>
                  </a:ext>
                </a:extLst>
              </p:cNvPr>
              <p:cNvPicPr>
                <a:picLocks noChangeAspect="1"/>
              </p:cNvPicPr>
              <p:nvPr/>
            </p:nvPicPr>
            <p:blipFill>
              <a:blip r:embed="rId7" cstate="print">
                <a:extLst>
                  <a:ext uri="{28A0092B-C50C-407E-A947-70E740481C1C}">
                    <a14:useLocalDpi xmlns:a14="http://schemas.microsoft.com/office/drawing/2010/main" val="0"/>
                  </a:ext>
                </a:extLst>
              </a:blip>
              <a:srcRect t="34952" b="10369"/>
              <a:stretch/>
            </p:blipFill>
            <p:spPr>
              <a:xfrm>
                <a:off x="1742485" y="4501127"/>
                <a:ext cx="1734685" cy="711369"/>
              </a:xfrm>
              <a:prstGeom prst="rect">
                <a:avLst/>
              </a:prstGeom>
            </p:spPr>
          </p:pic>
        </p:grpSp>
      </p:grpSp>
      <p:grpSp>
        <p:nvGrpSpPr>
          <p:cNvPr id="32" name="グループ化 31">
            <a:extLst>
              <a:ext uri="{FF2B5EF4-FFF2-40B4-BE49-F238E27FC236}">
                <a16:creationId xmlns:a16="http://schemas.microsoft.com/office/drawing/2014/main" id="{902F01FD-B54D-90A9-A149-6EF23C1DBDE2}"/>
              </a:ext>
            </a:extLst>
          </p:cNvPr>
          <p:cNvGrpSpPr/>
          <p:nvPr/>
        </p:nvGrpSpPr>
        <p:grpSpPr>
          <a:xfrm>
            <a:off x="6238881" y="1354084"/>
            <a:ext cx="2790471" cy="5185167"/>
            <a:chOff x="6736614" y="1182220"/>
            <a:chExt cx="3096036" cy="5752959"/>
          </a:xfrm>
        </p:grpSpPr>
        <p:sp>
          <p:nvSpPr>
            <p:cNvPr id="12" name="テキスト ボックス 11">
              <a:extLst>
                <a:ext uri="{FF2B5EF4-FFF2-40B4-BE49-F238E27FC236}">
                  <a16:creationId xmlns:a16="http://schemas.microsoft.com/office/drawing/2014/main" id="{1B31EEAE-9C21-B2BF-2D17-D3D6DB111314}"/>
                </a:ext>
              </a:extLst>
            </p:cNvPr>
            <p:cNvSpPr txBox="1"/>
            <p:nvPr/>
          </p:nvSpPr>
          <p:spPr>
            <a:xfrm>
              <a:off x="6736614" y="5637559"/>
              <a:ext cx="3051070" cy="1297620"/>
            </a:xfrm>
            <a:prstGeom prst="rect">
              <a:avLst/>
            </a:prstGeom>
            <a:noFill/>
          </p:spPr>
          <p:txBody>
            <a:bodyPr wrap="square" rtlCol="0">
              <a:spAutoFit/>
            </a:bodyPr>
            <a:lstStyle/>
            <a:p>
              <a:pPr>
                <a:lnSpc>
                  <a:spcPct val="150000"/>
                </a:lnSpc>
              </a:pPr>
              <a:r>
                <a:rPr kumimoji="1" lang="en-US" altLang="ja-JP" sz="1200" b="1">
                  <a:latin typeface="メイリオ" panose="020B0604030504040204" pitchFamily="50" charset="-128"/>
                  <a:ea typeface="メイリオ" panose="020B0604030504040204" pitchFamily="50" charset="-128"/>
                </a:rPr>
                <a:t>『</a:t>
              </a:r>
              <a:r>
                <a:rPr lang="ja-JP" altLang="en-US" sz="1200" b="1">
                  <a:latin typeface="メイリオ" panose="020B0604030504040204" pitchFamily="50" charset="-128"/>
                  <a:ea typeface="メイリオ" panose="020B0604030504040204" pitchFamily="50" charset="-128"/>
                </a:rPr>
                <a:t>ブルーロック</a:t>
              </a:r>
              <a:r>
                <a:rPr kumimoji="1" lang="en-US" altLang="ja-JP" sz="1200" b="1">
                  <a:latin typeface="メイリオ" panose="020B0604030504040204" pitchFamily="50" charset="-128"/>
                  <a:ea typeface="メイリオ" panose="020B0604030504040204" pitchFamily="50" charset="-128"/>
                </a:rPr>
                <a:t>』</a:t>
              </a:r>
            </a:p>
            <a:p>
              <a:pPr>
                <a:lnSpc>
                  <a:spcPct val="150000"/>
                </a:lnSpc>
              </a:pPr>
              <a:r>
                <a:rPr lang="ja-JP" altLang="en-US" sz="1200" b="1">
                  <a:latin typeface="メイリオ" panose="020B0604030504040204" pitchFamily="50" charset="-128"/>
                  <a:ea typeface="メイリオ" panose="020B0604030504040204" pitchFamily="50" charset="-128"/>
                </a:rPr>
                <a:t>　</a:t>
              </a:r>
              <a:r>
                <a:rPr lang="ja-JP" altLang="en-US" sz="1050" b="1">
                  <a:latin typeface="メイリオ" panose="020B0604030504040204" pitchFamily="50" charset="-128"/>
                  <a:ea typeface="メイリオ" panose="020B0604030504040204" pitchFamily="50" charset="-128"/>
                </a:rPr>
                <a:t>浅草</a:t>
              </a:r>
              <a:r>
                <a:rPr kumimoji="1" lang="ja-JP" altLang="en-US" sz="1050" b="1">
                  <a:latin typeface="メイリオ" panose="020B0604030504040204" pitchFamily="50" charset="-128"/>
                  <a:ea typeface="メイリオ" panose="020B0604030504040204" pitchFamily="50" charset="-128"/>
                </a:rPr>
                <a:t>花やしき</a:t>
              </a:r>
              <a:endParaRPr kumimoji="1" lang="en-US" altLang="ja-JP" sz="1200" b="1">
                <a:latin typeface="メイリオ" panose="020B0604030504040204" pitchFamily="50" charset="-128"/>
                <a:ea typeface="メイリオ" panose="020B0604030504040204" pitchFamily="50" charset="-128"/>
              </a:endParaRPr>
            </a:p>
            <a:p>
              <a:r>
                <a:rPr lang="en-US" altLang="ja-JP" sz="10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2023/11/22</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2023/12/26 ※</a:t>
              </a:r>
              <a:r>
                <a:rPr lang="ja-JP" altLang="en-US" sz="800">
                  <a:latin typeface="メイリオ" panose="020B0604030504040204" pitchFamily="50" charset="-128"/>
                  <a:ea typeface="メイリオ" panose="020B0604030504040204" pitchFamily="50" charset="-128"/>
                </a:rPr>
                <a:t>土日のみ開催</a:t>
              </a:r>
              <a:endParaRPr kumimoji="1" lang="en-US" altLang="ja-JP" sz="800" b="1">
                <a:latin typeface="メイリオ" panose="020B0604030504040204" pitchFamily="50" charset="-128"/>
                <a:ea typeface="メイリオ" panose="020B0604030504040204" pitchFamily="50" charset="-128"/>
              </a:endParaRPr>
            </a:p>
            <a:p>
              <a:r>
                <a:rPr lang="ja-JP" altLang="en-US" sz="800">
                  <a:latin typeface="メイリオ" panose="020B0604030504040204" pitchFamily="50" charset="-128"/>
                  <a:ea typeface="メイリオ" panose="020B0604030504040204" pitchFamily="50" charset="-128"/>
                </a:rPr>
                <a:t>・オリジナルグッズの販売、ウォークラリー、コラボフード、ガラポン、園内装飾、アトラクション･園内アナウンス、スタンプラリー</a:t>
              </a:r>
              <a:endParaRPr lang="en-US" altLang="ja-JP" sz="800">
                <a:latin typeface="メイリオ" panose="020B0604030504040204" pitchFamily="50" charset="-128"/>
                <a:ea typeface="メイリオ" panose="020B0604030504040204" pitchFamily="50" charset="-128"/>
              </a:endParaRPr>
            </a:p>
          </p:txBody>
        </p:sp>
        <p:grpSp>
          <p:nvGrpSpPr>
            <p:cNvPr id="31" name="グループ化 30">
              <a:extLst>
                <a:ext uri="{FF2B5EF4-FFF2-40B4-BE49-F238E27FC236}">
                  <a16:creationId xmlns:a16="http://schemas.microsoft.com/office/drawing/2014/main" id="{01B6E608-5FCA-17A2-C52D-07FB1FF4BF67}"/>
                </a:ext>
              </a:extLst>
            </p:cNvPr>
            <p:cNvGrpSpPr/>
            <p:nvPr/>
          </p:nvGrpSpPr>
          <p:grpSpPr>
            <a:xfrm>
              <a:off x="6782606" y="1182220"/>
              <a:ext cx="3050044" cy="4411538"/>
              <a:chOff x="6782606" y="1161322"/>
              <a:chExt cx="3050044" cy="4411538"/>
            </a:xfrm>
          </p:grpSpPr>
          <p:pic>
            <p:nvPicPr>
              <p:cNvPr id="25" name="図 24">
                <a:extLst>
                  <a:ext uri="{FF2B5EF4-FFF2-40B4-BE49-F238E27FC236}">
                    <a16:creationId xmlns:a16="http://schemas.microsoft.com/office/drawing/2014/main" id="{794EEE25-864B-187C-DC53-453C1D5A764C}"/>
                  </a:ext>
                </a:extLst>
              </p:cNvPr>
              <p:cNvPicPr>
                <a:picLocks noChangeAspect="1"/>
              </p:cNvPicPr>
              <p:nvPr/>
            </p:nvPicPr>
            <p:blipFill>
              <a:blip r:embed="rId8"/>
              <a:srcRect t="3184" b="8479"/>
              <a:stretch/>
            </p:blipFill>
            <p:spPr>
              <a:xfrm>
                <a:off x="6782606" y="1161322"/>
                <a:ext cx="3046543" cy="2709870"/>
              </a:xfrm>
              <a:prstGeom prst="rect">
                <a:avLst/>
              </a:prstGeom>
            </p:spPr>
          </p:pic>
          <p:pic>
            <p:nvPicPr>
              <p:cNvPr id="26" name="図 25" descr="ダイアグラム が含まれている画像&#10;&#10;自動的に生成された説明">
                <a:extLst>
                  <a:ext uri="{FF2B5EF4-FFF2-40B4-BE49-F238E27FC236}">
                    <a16:creationId xmlns:a16="http://schemas.microsoft.com/office/drawing/2014/main" id="{692A1404-C284-637F-5C0A-570584947127}"/>
                  </a:ext>
                </a:extLst>
              </p:cNvPr>
              <p:cNvPicPr>
                <a:picLocks noChangeAspect="1"/>
              </p:cNvPicPr>
              <p:nvPr/>
            </p:nvPicPr>
            <p:blipFill>
              <a:blip r:embed="rId9" cstate="print">
                <a:extLst>
                  <a:ext uri="{28A0092B-C50C-407E-A947-70E740481C1C}">
                    <a14:useLocalDpi xmlns:a14="http://schemas.microsoft.com/office/drawing/2010/main" val="0"/>
                  </a:ext>
                </a:extLst>
              </a:blip>
              <a:srcRect t="4475"/>
              <a:stretch/>
            </p:blipFill>
            <p:spPr>
              <a:xfrm>
                <a:off x="6782606" y="3866492"/>
                <a:ext cx="1855035" cy="1706368"/>
              </a:xfrm>
              <a:prstGeom prst="rect">
                <a:avLst/>
              </a:prstGeom>
            </p:spPr>
          </p:pic>
          <p:pic>
            <p:nvPicPr>
              <p:cNvPr id="27" name="図 26" descr="部屋 が含まれている画像&#10;&#10;自動的に生成された説明">
                <a:extLst>
                  <a:ext uri="{FF2B5EF4-FFF2-40B4-BE49-F238E27FC236}">
                    <a16:creationId xmlns:a16="http://schemas.microsoft.com/office/drawing/2014/main" id="{8CF64C55-A0D1-811A-4F00-70F3D495369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37641" y="3859394"/>
                <a:ext cx="1195009" cy="1659735"/>
              </a:xfrm>
              <a:prstGeom prst="rect">
                <a:avLst/>
              </a:prstGeom>
            </p:spPr>
          </p:pic>
        </p:grpSp>
      </p:grpSp>
      <p:grpSp>
        <p:nvGrpSpPr>
          <p:cNvPr id="41" name="グループ化 40">
            <a:extLst>
              <a:ext uri="{FF2B5EF4-FFF2-40B4-BE49-F238E27FC236}">
                <a16:creationId xmlns:a16="http://schemas.microsoft.com/office/drawing/2014/main" id="{21DD1413-6FFB-73F7-E69D-64727024C981}"/>
              </a:ext>
            </a:extLst>
          </p:cNvPr>
          <p:cNvGrpSpPr/>
          <p:nvPr/>
        </p:nvGrpSpPr>
        <p:grpSpPr>
          <a:xfrm>
            <a:off x="9059421" y="1335249"/>
            <a:ext cx="2831153" cy="5065978"/>
            <a:chOff x="8782183" y="1086435"/>
            <a:chExt cx="2831153" cy="5065978"/>
          </a:xfrm>
        </p:grpSpPr>
        <p:pic>
          <p:nvPicPr>
            <p:cNvPr id="34" name="図 33">
              <a:extLst>
                <a:ext uri="{FF2B5EF4-FFF2-40B4-BE49-F238E27FC236}">
                  <a16:creationId xmlns:a16="http://schemas.microsoft.com/office/drawing/2014/main" id="{C596D3C3-6498-3A24-33E8-FBEAC384CE51}"/>
                </a:ext>
              </a:extLst>
            </p:cNvPr>
            <p:cNvPicPr>
              <a:picLocks noChangeAspect="1"/>
            </p:cNvPicPr>
            <p:nvPr/>
          </p:nvPicPr>
          <p:blipFill>
            <a:blip r:embed="rId11"/>
            <a:stretch>
              <a:fillRect/>
            </a:stretch>
          </p:blipFill>
          <p:spPr>
            <a:xfrm>
              <a:off x="8861010" y="1086435"/>
              <a:ext cx="2745863" cy="1520066"/>
            </a:xfrm>
            <a:prstGeom prst="rect">
              <a:avLst/>
            </a:prstGeom>
          </p:spPr>
        </p:pic>
        <p:pic>
          <p:nvPicPr>
            <p:cNvPr id="35" name="図 34">
              <a:extLst>
                <a:ext uri="{FF2B5EF4-FFF2-40B4-BE49-F238E27FC236}">
                  <a16:creationId xmlns:a16="http://schemas.microsoft.com/office/drawing/2014/main" id="{23B209BD-FDA8-879E-53E9-6FA1DB33FE77}"/>
                </a:ext>
              </a:extLst>
            </p:cNvPr>
            <p:cNvPicPr>
              <a:picLocks noChangeAspect="1"/>
            </p:cNvPicPr>
            <p:nvPr/>
          </p:nvPicPr>
          <p:blipFill>
            <a:blip r:embed="rId12"/>
            <a:stretch>
              <a:fillRect/>
            </a:stretch>
          </p:blipFill>
          <p:spPr>
            <a:xfrm>
              <a:off x="8865677" y="2596343"/>
              <a:ext cx="2741196" cy="1552784"/>
            </a:xfrm>
            <a:prstGeom prst="rect">
              <a:avLst/>
            </a:prstGeom>
          </p:spPr>
        </p:pic>
        <p:grpSp>
          <p:nvGrpSpPr>
            <p:cNvPr id="39" name="グループ化 38">
              <a:extLst>
                <a:ext uri="{FF2B5EF4-FFF2-40B4-BE49-F238E27FC236}">
                  <a16:creationId xmlns:a16="http://schemas.microsoft.com/office/drawing/2014/main" id="{148D9578-1156-4EF4-5C77-65BA5FB43B9B}"/>
                </a:ext>
              </a:extLst>
            </p:cNvPr>
            <p:cNvGrpSpPr/>
            <p:nvPr/>
          </p:nvGrpSpPr>
          <p:grpSpPr>
            <a:xfrm>
              <a:off x="8861010" y="4149126"/>
              <a:ext cx="2752326" cy="945035"/>
              <a:chOff x="8861010" y="4149126"/>
              <a:chExt cx="2803056" cy="962454"/>
            </a:xfrm>
          </p:grpSpPr>
          <p:pic>
            <p:nvPicPr>
              <p:cNvPr id="36" name="図 35">
                <a:extLst>
                  <a:ext uri="{FF2B5EF4-FFF2-40B4-BE49-F238E27FC236}">
                    <a16:creationId xmlns:a16="http://schemas.microsoft.com/office/drawing/2014/main" id="{AD83FB2C-1537-324A-B2E5-FA086F152751}"/>
                  </a:ext>
                </a:extLst>
              </p:cNvPr>
              <p:cNvPicPr>
                <a:picLocks noChangeAspect="1"/>
              </p:cNvPicPr>
              <p:nvPr/>
            </p:nvPicPr>
            <p:blipFill>
              <a:blip r:embed="rId13"/>
              <a:stretch>
                <a:fillRect/>
              </a:stretch>
            </p:blipFill>
            <p:spPr>
              <a:xfrm>
                <a:off x="8861010" y="4149127"/>
                <a:ext cx="873929" cy="962453"/>
              </a:xfrm>
              <a:prstGeom prst="rect">
                <a:avLst/>
              </a:prstGeom>
            </p:spPr>
          </p:pic>
          <p:pic>
            <p:nvPicPr>
              <p:cNvPr id="37" name="図 36">
                <a:extLst>
                  <a:ext uri="{FF2B5EF4-FFF2-40B4-BE49-F238E27FC236}">
                    <a16:creationId xmlns:a16="http://schemas.microsoft.com/office/drawing/2014/main" id="{B31F3E0C-00D7-4B3E-85FC-083FDA9EB488}"/>
                  </a:ext>
                </a:extLst>
              </p:cNvPr>
              <p:cNvPicPr>
                <a:picLocks noChangeAspect="1"/>
              </p:cNvPicPr>
              <p:nvPr/>
            </p:nvPicPr>
            <p:blipFill>
              <a:blip r:embed="rId14"/>
              <a:stretch>
                <a:fillRect/>
              </a:stretch>
            </p:blipFill>
            <p:spPr>
              <a:xfrm>
                <a:off x="9734938" y="4149126"/>
                <a:ext cx="1185964" cy="946330"/>
              </a:xfrm>
              <a:prstGeom prst="rect">
                <a:avLst/>
              </a:prstGeom>
            </p:spPr>
          </p:pic>
          <p:pic>
            <p:nvPicPr>
              <p:cNvPr id="38" name="図 37">
                <a:extLst>
                  <a:ext uri="{FF2B5EF4-FFF2-40B4-BE49-F238E27FC236}">
                    <a16:creationId xmlns:a16="http://schemas.microsoft.com/office/drawing/2014/main" id="{5F9C4900-5199-91AC-B46D-09A3B61F6098}"/>
                  </a:ext>
                </a:extLst>
              </p:cNvPr>
              <p:cNvPicPr>
                <a:picLocks noChangeAspect="1"/>
              </p:cNvPicPr>
              <p:nvPr/>
            </p:nvPicPr>
            <p:blipFill>
              <a:blip r:embed="rId15"/>
              <a:stretch>
                <a:fillRect/>
              </a:stretch>
            </p:blipFill>
            <p:spPr>
              <a:xfrm>
                <a:off x="10921878" y="4149126"/>
                <a:ext cx="742188" cy="942915"/>
              </a:xfrm>
              <a:prstGeom prst="rect">
                <a:avLst/>
              </a:prstGeom>
            </p:spPr>
          </p:pic>
        </p:grpSp>
        <p:sp>
          <p:nvSpPr>
            <p:cNvPr id="40" name="テキスト ボックス 39">
              <a:extLst>
                <a:ext uri="{FF2B5EF4-FFF2-40B4-BE49-F238E27FC236}">
                  <a16:creationId xmlns:a16="http://schemas.microsoft.com/office/drawing/2014/main" id="{6D481840-FBB0-D16D-E498-B75889A5F218}"/>
                </a:ext>
              </a:extLst>
            </p:cNvPr>
            <p:cNvSpPr txBox="1"/>
            <p:nvPr/>
          </p:nvSpPr>
          <p:spPr>
            <a:xfrm>
              <a:off x="8782183" y="5105973"/>
              <a:ext cx="2749943" cy="1046440"/>
            </a:xfrm>
            <a:prstGeom prst="rect">
              <a:avLst/>
            </a:prstGeom>
            <a:noFill/>
          </p:spPr>
          <p:txBody>
            <a:bodyPr wrap="square" rtlCol="0">
              <a:spAutoFit/>
            </a:bodyPr>
            <a:lstStyle/>
            <a:p>
              <a:pPr>
                <a:lnSpc>
                  <a:spcPct val="150000"/>
                </a:lnSpc>
              </a:pPr>
              <a:r>
                <a:rPr kumimoji="1" lang="en-US" altLang="ja-JP" sz="1200" b="1">
                  <a:latin typeface="メイリオ" panose="020B0604030504040204" pitchFamily="50" charset="-128"/>
                  <a:ea typeface="メイリオ" panose="020B0604030504040204" pitchFamily="50" charset="-128"/>
                </a:rPr>
                <a:t>『</a:t>
              </a:r>
              <a:r>
                <a:rPr lang="ja-JP" altLang="en-US" sz="1200" b="1">
                  <a:latin typeface="メイリオ" panose="020B0604030504040204" pitchFamily="50" charset="-128"/>
                  <a:ea typeface="メイリオ" panose="020B0604030504040204" pitchFamily="50" charset="-128"/>
                </a:rPr>
                <a:t>スプラトゥーン３</a:t>
              </a:r>
              <a:r>
                <a:rPr kumimoji="1" lang="en-US" altLang="ja-JP" sz="1200" b="1">
                  <a:latin typeface="メイリオ" panose="020B0604030504040204" pitchFamily="50" charset="-128"/>
                  <a:ea typeface="メイリオ" panose="020B0604030504040204" pitchFamily="50" charset="-128"/>
                </a:rPr>
                <a:t>』</a:t>
              </a:r>
            </a:p>
            <a:p>
              <a:pPr>
                <a:lnSpc>
                  <a:spcPct val="150000"/>
                </a:lnSpc>
              </a:pPr>
              <a:r>
                <a:rPr lang="ja-JP" altLang="en-US" sz="1200" b="1">
                  <a:latin typeface="メイリオ" panose="020B0604030504040204" pitchFamily="50" charset="-128"/>
                  <a:ea typeface="メイリオ" panose="020B0604030504040204" pitchFamily="50" charset="-128"/>
                </a:rPr>
                <a:t>　</a:t>
              </a:r>
              <a:r>
                <a:rPr kumimoji="1" lang="ja-JP" altLang="en-US" sz="1050" b="1">
                  <a:latin typeface="メイリオ" panose="020B0604030504040204" pitchFamily="50" charset="-128"/>
                  <a:ea typeface="メイリオ" panose="020B0604030504040204" pitchFamily="50" charset="-128"/>
                </a:rPr>
                <a:t>横浜･八景島シーパラダイス</a:t>
              </a:r>
              <a:endParaRPr kumimoji="1" lang="en-US" altLang="ja-JP" sz="1200" b="1">
                <a:latin typeface="メイリオ" panose="020B0604030504040204" pitchFamily="50" charset="-128"/>
                <a:ea typeface="メイリオ" panose="020B0604030504040204" pitchFamily="50" charset="-128"/>
              </a:endParaRPr>
            </a:p>
            <a:p>
              <a:r>
                <a:rPr lang="en-US" altLang="ja-JP" sz="10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2023/7/13</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2023/12/26 </a:t>
              </a:r>
              <a:endParaRPr kumimoji="1" lang="en-US" altLang="ja-JP" sz="800" b="1">
                <a:latin typeface="メイリオ" panose="020B0604030504040204" pitchFamily="50" charset="-128"/>
                <a:ea typeface="メイリオ" panose="020B0604030504040204" pitchFamily="50" charset="-128"/>
              </a:endParaRPr>
            </a:p>
            <a:p>
              <a:r>
                <a:rPr lang="ja-JP" altLang="en-US" sz="800">
                  <a:latin typeface="メイリオ" panose="020B0604030504040204" pitchFamily="50" charset="-128"/>
                  <a:ea typeface="メイリオ" panose="020B0604030504040204" pitchFamily="50" charset="-128"/>
                </a:rPr>
                <a:t>・縁日コーナー、装飾、スタンプラリー、コラボフード</a:t>
              </a:r>
              <a:endParaRPr lang="en-US" altLang="ja-JP" sz="800">
                <a:latin typeface="メイリオ" panose="020B0604030504040204" pitchFamily="50" charset="-128"/>
                <a:ea typeface="メイリオ" panose="020B0604030504040204" pitchFamily="50" charset="-128"/>
              </a:endParaRPr>
            </a:p>
            <a:p>
              <a:r>
                <a:rPr lang="en-US" altLang="ja-JP" sz="800">
                  <a:latin typeface="メイリオ" panose="020B0604030504040204" pitchFamily="50" charset="-128"/>
                  <a:ea typeface="メイリオ" panose="020B0604030504040204" pitchFamily="50" charset="-128"/>
                </a:rPr>
                <a:t>※</a:t>
              </a:r>
              <a:r>
                <a:rPr lang="ja-JP" altLang="en-US" sz="800">
                  <a:latin typeface="メイリオ" panose="020B0604030504040204" pitchFamily="50" charset="-128"/>
                  <a:ea typeface="メイリオ" panose="020B0604030504040204" pitchFamily="50" charset="-128"/>
                </a:rPr>
                <a:t>イベント制作請負</a:t>
              </a:r>
              <a:endParaRPr lang="en-US" altLang="ja-JP" sz="800">
                <a:latin typeface="メイリオ" panose="020B0604030504040204" pitchFamily="50" charset="-128"/>
                <a:ea typeface="メイリオ" panose="020B0604030504040204" pitchFamily="50" charset="-128"/>
              </a:endParaRPr>
            </a:p>
          </p:txBody>
        </p:sp>
      </p:grpSp>
    </p:spTree>
    <p:extLst>
      <p:ext uri="{BB962C8B-B14F-4D97-AF65-F5344CB8AC3E}">
        <p14:creationId xmlns:p14="http://schemas.microsoft.com/office/powerpoint/2010/main" val="935101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1E31A-86C3-3668-8930-2D20EE303C07}"/>
            </a:ext>
          </a:extLst>
        </p:cNvPr>
        <p:cNvGrpSpPr/>
        <p:nvPr/>
      </p:nvGrpSpPr>
      <p:grpSpPr>
        <a:xfrm>
          <a:off x="0" y="0"/>
          <a:ext cx="0" cy="0"/>
          <a:chOff x="0" y="0"/>
          <a:chExt cx="0" cy="0"/>
        </a:xfrm>
      </p:grpSpPr>
      <p:sp>
        <p:nvSpPr>
          <p:cNvPr id="14" name="コンテンツ プレースホルダー 13">
            <a:extLst>
              <a:ext uri="{FF2B5EF4-FFF2-40B4-BE49-F238E27FC236}">
                <a16:creationId xmlns:a16="http://schemas.microsoft.com/office/drawing/2014/main" id="{FED4B7F0-0E1F-09D3-7A73-D33252CF64A1}"/>
              </a:ext>
            </a:extLst>
          </p:cNvPr>
          <p:cNvSpPr>
            <a:spLocks noGrp="1"/>
          </p:cNvSpPr>
          <p:nvPr>
            <p:ph idx="1"/>
          </p:nvPr>
        </p:nvSpPr>
        <p:spPr>
          <a:xfrm>
            <a:off x="486142" y="1706880"/>
            <a:ext cx="4672152" cy="4844468"/>
          </a:xfrm>
        </p:spPr>
        <p:txBody>
          <a:bodyPr>
            <a:noAutofit/>
          </a:bodyPr>
          <a:lstStyle/>
          <a:p>
            <a:pPr marL="0" indent="0">
              <a:lnSpc>
                <a:spcPct val="150000"/>
              </a:lnSpc>
              <a:buNone/>
            </a:pPr>
            <a:r>
              <a:rPr kumimoji="1" lang="en-US" altLang="ja-JP" sz="1600" b="1" dirty="0"/>
              <a:t>Web</a:t>
            </a:r>
            <a:r>
              <a:rPr kumimoji="1" lang="ja-JP" altLang="en-US" sz="1600" b="1" dirty="0"/>
              <a:t>制作スタジオの</a:t>
            </a:r>
            <a:r>
              <a:rPr kumimoji="1" lang="ja-JP" altLang="en-US" sz="1600" b="1" dirty="0">
                <a:solidFill>
                  <a:schemeClr val="accent4">
                    <a:lumMod val="75000"/>
                  </a:schemeClr>
                </a:solidFill>
              </a:rPr>
              <a:t>「</a:t>
            </a:r>
            <a:r>
              <a:rPr kumimoji="1" lang="en-US" altLang="ja-JP" sz="1600" b="1" dirty="0">
                <a:solidFill>
                  <a:schemeClr val="accent4">
                    <a:lumMod val="75000"/>
                  </a:schemeClr>
                </a:solidFill>
                <a:hlinkClick r:id="rId3">
                  <a:extLst>
                    <a:ext uri="{A12FA001-AC4F-418D-AE19-62706E023703}">
                      <ahyp:hlinkClr xmlns:ahyp="http://schemas.microsoft.com/office/drawing/2018/hyperlinkcolor" val="tx"/>
                    </a:ext>
                  </a:extLst>
                </a:hlinkClick>
              </a:rPr>
              <a:t>WEB STUDIO</a:t>
            </a:r>
            <a:r>
              <a:rPr kumimoji="1" lang="ja-JP" altLang="en-US" sz="1600" b="1" dirty="0">
                <a:solidFill>
                  <a:schemeClr val="accent4">
                    <a:lumMod val="75000"/>
                  </a:schemeClr>
                </a:solidFill>
              </a:rPr>
              <a:t>」</a:t>
            </a:r>
            <a:r>
              <a:rPr lang="ja-JP" altLang="en-US" sz="1600" b="1" dirty="0"/>
              <a:t>が</a:t>
            </a:r>
            <a:r>
              <a:rPr kumimoji="1" lang="ja-JP" altLang="en-US" sz="1600" b="1" dirty="0"/>
              <a:t>サイト開発・運用までワンストップ対応。</a:t>
            </a:r>
            <a:r>
              <a:rPr kumimoji="1" lang="en-US" altLang="ja-JP" sz="1600" b="1" dirty="0"/>
              <a:t>SEO</a:t>
            </a:r>
            <a:r>
              <a:rPr kumimoji="1" lang="ja-JP" altLang="en-US" sz="1600" b="1" dirty="0"/>
              <a:t>記事制作やキャンペーン</a:t>
            </a:r>
            <a:r>
              <a:rPr kumimoji="1" lang="en-US" altLang="ja-JP" sz="1600" b="1" dirty="0"/>
              <a:t>LP</a:t>
            </a:r>
            <a:r>
              <a:rPr kumimoji="1" lang="ja-JP" altLang="en-US" sz="1600" b="1" dirty="0"/>
              <a:t>なども担当。</a:t>
            </a:r>
            <a:endParaRPr kumimoji="1" lang="en-US" altLang="ja-JP" sz="1600" b="1" dirty="0"/>
          </a:p>
          <a:p>
            <a:pPr>
              <a:lnSpc>
                <a:spcPct val="100000"/>
              </a:lnSpc>
            </a:pPr>
            <a:endParaRPr kumimoji="0" lang="en-US" altLang="ja-JP" sz="900" dirty="0">
              <a:ln w="19050">
                <a:noFill/>
              </a:ln>
              <a:solidFill>
                <a:srgbClr val="D79B00"/>
              </a:solidFill>
            </a:endParaRPr>
          </a:p>
          <a:p>
            <a:pPr>
              <a:lnSpc>
                <a:spcPct val="100000"/>
              </a:lnSpc>
            </a:pPr>
            <a:endParaRPr kumimoji="0" lang="en-US" altLang="ja-JP" sz="900" b="1" dirty="0">
              <a:ln w="19050">
                <a:noFill/>
              </a:ln>
              <a:solidFill>
                <a:schemeClr val="accent3">
                  <a:lumMod val="50000"/>
                </a:schemeClr>
              </a:solidFill>
            </a:endParaRPr>
          </a:p>
          <a:p>
            <a:pPr>
              <a:lnSpc>
                <a:spcPct val="100000"/>
              </a:lnSpc>
            </a:pPr>
            <a:endParaRPr kumimoji="0" lang="en-US" altLang="ja-JP" sz="1400" b="1" dirty="0">
              <a:ln w="19050">
                <a:noFill/>
              </a:ln>
              <a:solidFill>
                <a:schemeClr val="accent3">
                  <a:lumMod val="50000"/>
                </a:schemeClr>
              </a:solidFill>
            </a:endParaRPr>
          </a:p>
          <a:p>
            <a:pPr>
              <a:lnSpc>
                <a:spcPct val="100000"/>
              </a:lnSpc>
            </a:pPr>
            <a:r>
              <a:rPr kumimoji="0" lang="en-US" altLang="ja-JP" sz="1400" b="1" dirty="0">
                <a:ln w="19050">
                  <a:noFill/>
                </a:ln>
                <a:solidFill>
                  <a:schemeClr val="accent3">
                    <a:lumMod val="50000"/>
                  </a:schemeClr>
                </a:solidFill>
              </a:rPr>
              <a:t>【</a:t>
            </a:r>
            <a:r>
              <a:rPr kumimoji="0" lang="ja-JP" altLang="en-US" sz="1400" b="1" dirty="0">
                <a:ln w="19050">
                  <a:noFill/>
                </a:ln>
                <a:solidFill>
                  <a:schemeClr val="accent3">
                    <a:lumMod val="50000"/>
                  </a:schemeClr>
                </a:solidFill>
              </a:rPr>
              <a:t>案件概要</a:t>
            </a:r>
            <a:r>
              <a:rPr kumimoji="0" lang="en-US" altLang="ja-JP" sz="1400" b="1" dirty="0">
                <a:ln w="19050">
                  <a:noFill/>
                </a:ln>
                <a:solidFill>
                  <a:schemeClr val="accent3">
                    <a:lumMod val="50000"/>
                  </a:schemeClr>
                </a:solidFill>
              </a:rPr>
              <a:t>】</a:t>
            </a:r>
          </a:p>
          <a:p>
            <a:pPr>
              <a:lnSpc>
                <a:spcPct val="100000"/>
              </a:lnSpc>
            </a:pPr>
            <a:r>
              <a:rPr kumimoji="0" lang="ja-JP" altLang="en-US" sz="1400" dirty="0">
                <a:ln w="19050">
                  <a:noFill/>
                </a:ln>
                <a:solidFill>
                  <a:srgbClr val="424F56"/>
                </a:solidFill>
              </a:rPr>
              <a:t>大手</a:t>
            </a:r>
            <a:r>
              <a:rPr kumimoji="0" lang="en-US" altLang="ja-JP" sz="1400" dirty="0">
                <a:ln w="19050">
                  <a:noFill/>
                </a:ln>
                <a:solidFill>
                  <a:srgbClr val="424F56"/>
                </a:solidFill>
              </a:rPr>
              <a:t>IT</a:t>
            </a:r>
            <a:r>
              <a:rPr kumimoji="0" lang="ja-JP" altLang="en-US" sz="1400" dirty="0">
                <a:ln w="19050">
                  <a:noFill/>
                </a:ln>
                <a:solidFill>
                  <a:srgbClr val="424F56"/>
                </a:solidFill>
              </a:rPr>
              <a:t>企業の製品公式サイト制作・開発・運用</a:t>
            </a:r>
            <a:br>
              <a:rPr kumimoji="0" lang="en-US" altLang="ja-JP" sz="1400" dirty="0">
                <a:ln w="19050">
                  <a:noFill/>
                </a:ln>
                <a:solidFill>
                  <a:srgbClr val="424F56"/>
                </a:solidFill>
              </a:rPr>
            </a:br>
            <a:endParaRPr kumimoji="0" lang="ja-JP" altLang="en-US" sz="1400" dirty="0">
              <a:ln w="19050">
                <a:noFill/>
              </a:ln>
              <a:solidFill>
                <a:srgbClr val="424F56"/>
              </a:solidFill>
            </a:endParaRPr>
          </a:p>
          <a:p>
            <a:pPr>
              <a:lnSpc>
                <a:spcPct val="100000"/>
              </a:lnSpc>
            </a:pPr>
            <a:r>
              <a:rPr kumimoji="0" lang="en-US" altLang="ja-JP" sz="1400" b="1" dirty="0">
                <a:ln w="19050">
                  <a:noFill/>
                </a:ln>
                <a:solidFill>
                  <a:schemeClr val="accent3">
                    <a:lumMod val="50000"/>
                  </a:schemeClr>
                </a:solidFill>
              </a:rPr>
              <a:t>【</a:t>
            </a:r>
            <a:r>
              <a:rPr kumimoji="0" lang="ja-JP" altLang="en-US" sz="1400" b="1" dirty="0">
                <a:ln w="19050">
                  <a:noFill/>
                </a:ln>
                <a:solidFill>
                  <a:schemeClr val="accent3">
                    <a:lumMod val="50000"/>
                  </a:schemeClr>
                </a:solidFill>
              </a:rPr>
              <a:t>作業範囲</a:t>
            </a:r>
            <a:r>
              <a:rPr kumimoji="0" lang="en-US" altLang="ja-JP" sz="1400" b="1" dirty="0">
                <a:ln w="19050">
                  <a:noFill/>
                </a:ln>
                <a:solidFill>
                  <a:schemeClr val="accent3">
                    <a:lumMod val="50000"/>
                  </a:schemeClr>
                </a:solidFill>
              </a:rPr>
              <a:t>】</a:t>
            </a:r>
          </a:p>
          <a:p>
            <a:pPr>
              <a:lnSpc>
                <a:spcPct val="100000"/>
              </a:lnSpc>
            </a:pPr>
            <a:r>
              <a:rPr lang="ja-JP" altLang="en-US" sz="1400" b="0" i="0" dirty="0">
                <a:solidFill>
                  <a:srgbClr val="212529"/>
                </a:solidFill>
                <a:effectLst/>
              </a:rPr>
              <a:t>ディレクション </a:t>
            </a:r>
            <a:r>
              <a:rPr lang="en-US" altLang="ja-JP" sz="1400" b="0" i="0" dirty="0">
                <a:solidFill>
                  <a:srgbClr val="212529"/>
                </a:solidFill>
                <a:effectLst/>
              </a:rPr>
              <a:t>/ </a:t>
            </a:r>
            <a:r>
              <a:rPr lang="ja-JP" altLang="en-US" sz="1400" b="0" i="0" dirty="0">
                <a:solidFill>
                  <a:srgbClr val="212529"/>
                </a:solidFill>
                <a:effectLst/>
              </a:rPr>
              <a:t>デザイン </a:t>
            </a:r>
            <a:r>
              <a:rPr lang="en-US" altLang="ja-JP" sz="1400" b="0" i="0" dirty="0">
                <a:solidFill>
                  <a:srgbClr val="212529"/>
                </a:solidFill>
                <a:effectLst/>
              </a:rPr>
              <a:t>/ </a:t>
            </a:r>
            <a:r>
              <a:rPr lang="ja-JP" altLang="en-US" sz="1400" b="0" i="0" dirty="0">
                <a:solidFill>
                  <a:srgbClr val="212529"/>
                </a:solidFill>
                <a:effectLst/>
              </a:rPr>
              <a:t>コーディング</a:t>
            </a:r>
            <a:endParaRPr lang="en-US" altLang="ja-JP" sz="1400" b="0" i="0" dirty="0">
              <a:solidFill>
                <a:srgbClr val="212529"/>
              </a:solidFill>
              <a:effectLst/>
            </a:endParaRPr>
          </a:p>
          <a:p>
            <a:pPr>
              <a:lnSpc>
                <a:spcPct val="100000"/>
              </a:lnSpc>
            </a:pPr>
            <a:r>
              <a:rPr lang="ja-JP" altLang="en-US" sz="1400" b="0" i="0" dirty="0">
                <a:solidFill>
                  <a:srgbClr val="212529"/>
                </a:solidFill>
                <a:effectLst/>
              </a:rPr>
              <a:t>特集</a:t>
            </a:r>
            <a:r>
              <a:rPr lang="en-US" altLang="ja-JP" sz="1400" b="0" i="0" dirty="0">
                <a:solidFill>
                  <a:srgbClr val="212529"/>
                </a:solidFill>
                <a:effectLst/>
              </a:rPr>
              <a:t>LP / </a:t>
            </a:r>
            <a:r>
              <a:rPr lang="ja-JP" altLang="en-US" sz="1400" b="0" i="0" dirty="0">
                <a:solidFill>
                  <a:srgbClr val="212529"/>
                </a:solidFill>
                <a:effectLst/>
              </a:rPr>
              <a:t>キャンペーンページ </a:t>
            </a:r>
            <a:r>
              <a:rPr lang="en-US" altLang="ja-JP" sz="1400" b="0" i="0" dirty="0">
                <a:solidFill>
                  <a:srgbClr val="212529"/>
                </a:solidFill>
                <a:effectLst/>
              </a:rPr>
              <a:t>/ SEO</a:t>
            </a:r>
            <a:r>
              <a:rPr lang="ja-JP" altLang="en-US" sz="1400" b="0" i="0" dirty="0">
                <a:solidFill>
                  <a:srgbClr val="212529"/>
                </a:solidFill>
                <a:effectLst/>
              </a:rPr>
              <a:t>記事 </a:t>
            </a:r>
            <a:r>
              <a:rPr lang="en-US" altLang="ja-JP" sz="1400" b="0" i="0" dirty="0">
                <a:solidFill>
                  <a:srgbClr val="212529"/>
                </a:solidFill>
                <a:effectLst/>
              </a:rPr>
              <a:t>/ </a:t>
            </a:r>
          </a:p>
          <a:p>
            <a:pPr>
              <a:lnSpc>
                <a:spcPct val="100000"/>
              </a:lnSpc>
            </a:pPr>
            <a:r>
              <a:rPr lang="ja-JP" altLang="en-US" sz="1400" b="0" i="0" dirty="0">
                <a:solidFill>
                  <a:srgbClr val="212529"/>
                </a:solidFill>
                <a:effectLst/>
              </a:rPr>
              <a:t>機能開発に関わる要件定義 </a:t>
            </a:r>
            <a:r>
              <a:rPr lang="en-US" altLang="ja-JP" sz="1400" b="0" i="0" dirty="0">
                <a:solidFill>
                  <a:srgbClr val="212529"/>
                </a:solidFill>
                <a:effectLst/>
              </a:rPr>
              <a:t>/ </a:t>
            </a:r>
            <a:r>
              <a:rPr lang="ja-JP" altLang="en-US" sz="1400" b="0" i="0" dirty="0">
                <a:solidFill>
                  <a:srgbClr val="212529"/>
                </a:solidFill>
                <a:effectLst/>
              </a:rPr>
              <a:t>ツール運用</a:t>
            </a:r>
            <a:endParaRPr lang="en-US" altLang="ja-JP" sz="1400" b="0" i="0" dirty="0">
              <a:solidFill>
                <a:srgbClr val="212529"/>
              </a:solidFill>
              <a:effectLst/>
            </a:endParaRPr>
          </a:p>
        </p:txBody>
      </p:sp>
      <p:cxnSp>
        <p:nvCxnSpPr>
          <p:cNvPr id="6" name="直線コネクタ 5">
            <a:extLst>
              <a:ext uri="{FF2B5EF4-FFF2-40B4-BE49-F238E27FC236}">
                <a16:creationId xmlns:a16="http://schemas.microsoft.com/office/drawing/2014/main" id="{DC6CDEB5-7010-B2D3-0DF6-8788F5BFBB32}"/>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D98DE0AC-66AE-6403-9879-2ACC59F24D60}"/>
              </a:ext>
            </a:extLst>
          </p:cNvPr>
          <p:cNvSpPr>
            <a:spLocks noGrp="1"/>
          </p:cNvSpPr>
          <p:nvPr>
            <p:ph idx="10"/>
          </p:nvPr>
        </p:nvSpPr>
        <p:spPr/>
        <p:txBody>
          <a:bodyPr/>
          <a:lstStyle/>
          <a:p>
            <a:r>
              <a:rPr lang="ja-JP" altLang="en-US" b="1"/>
              <a:t>パソコン</a:t>
            </a:r>
            <a:r>
              <a:rPr lang="en-US" altLang="ja-JP" b="1"/>
              <a:t>『LAVIE』</a:t>
            </a:r>
            <a:r>
              <a:rPr lang="ja-JP" altLang="en-US" b="1"/>
              <a:t>製品通販サイト</a:t>
            </a:r>
            <a:endParaRPr lang="en-US" altLang="ja-JP" b="1"/>
          </a:p>
          <a:p>
            <a:r>
              <a:rPr lang="ja-JP" altLang="en-US" b="1"/>
              <a:t>開発･運用</a:t>
            </a:r>
            <a:endParaRPr lang="en-US" altLang="ja-JP" b="1"/>
          </a:p>
        </p:txBody>
      </p:sp>
      <p:sp>
        <p:nvSpPr>
          <p:cNvPr id="11" name="タイトル 10">
            <a:extLst>
              <a:ext uri="{FF2B5EF4-FFF2-40B4-BE49-F238E27FC236}">
                <a16:creationId xmlns:a16="http://schemas.microsoft.com/office/drawing/2014/main" id="{659130E4-999E-0A23-2C8D-3204D418007E}"/>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D74F5A20-960E-E3CD-0AC1-61D05AE3D91F}"/>
              </a:ext>
            </a:extLst>
          </p:cNvPr>
          <p:cNvSpPr>
            <a:spLocks noGrp="1"/>
          </p:cNvSpPr>
          <p:nvPr>
            <p:ph type="sldNum" sz="quarter" idx="11"/>
          </p:nvPr>
        </p:nvSpPr>
        <p:spPr/>
        <p:txBody>
          <a:bodyPr/>
          <a:lstStyle/>
          <a:p>
            <a:fld id="{B75FDD43-FCEC-4ECC-8189-A5C6D2E08DC6}" type="slidenum">
              <a:rPr lang="ja-JP" altLang="en-US" smtClean="0"/>
              <a:pPr/>
              <a:t>57</a:t>
            </a:fld>
            <a:endParaRPr lang="ja-JP" altLang="en-US"/>
          </a:p>
        </p:txBody>
      </p:sp>
      <p:sp>
        <p:nvSpPr>
          <p:cNvPr id="2" name="四角形: 角を丸くする 1">
            <a:extLst>
              <a:ext uri="{FF2B5EF4-FFF2-40B4-BE49-F238E27FC236}">
                <a16:creationId xmlns:a16="http://schemas.microsoft.com/office/drawing/2014/main" id="{34057182-0575-25C9-36CC-6792DD17BD2A}"/>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en-US" altLang="ja-JP" sz="1600" b="1" noProof="0" dirty="0">
                <a:solidFill>
                  <a:schemeClr val="bg1"/>
                </a:solidFill>
                <a:latin typeface="メイリオ" panose="020B0604030504040204" pitchFamily="50" charset="-128"/>
                <a:ea typeface="メイリオ" panose="020B0604030504040204" pitchFamily="50" charset="-128"/>
              </a:rPr>
              <a:t>Web</a:t>
            </a:r>
            <a:r>
              <a:rPr kumimoji="1" lang="ja-JP" altLang="en-US" sz="1600" b="1" noProof="0" dirty="0">
                <a:solidFill>
                  <a:schemeClr val="bg1"/>
                </a:solidFill>
                <a:latin typeface="メイリオ" panose="020B0604030504040204" pitchFamily="50" charset="-128"/>
                <a:ea typeface="メイリオ" panose="020B0604030504040204" pitchFamily="50" charset="-128"/>
              </a:rPr>
              <a:t>サイト</a:t>
            </a:r>
          </a:p>
        </p:txBody>
      </p:sp>
      <p:sp>
        <p:nvSpPr>
          <p:cNvPr id="4" name="四角形: 角を丸くする 3">
            <a:extLst>
              <a:ext uri="{FF2B5EF4-FFF2-40B4-BE49-F238E27FC236}">
                <a16:creationId xmlns:a16="http://schemas.microsoft.com/office/drawing/2014/main" id="{18938C23-F1A2-4D4E-C9C0-D3B7501EFB1C}"/>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開発</a:t>
            </a:r>
            <a:r>
              <a:rPr kumimoji="1" lang="ja-JP" altLang="en-US" sz="1600" b="1" noProof="0">
                <a:solidFill>
                  <a:schemeClr val="bg1"/>
                </a:solidFill>
                <a:latin typeface="メイリオ" panose="020B0604030504040204" pitchFamily="50" charset="-128"/>
                <a:ea typeface="メイリオ" panose="020B0604030504040204" pitchFamily="50" charset="-128"/>
              </a:rPr>
              <a:t>運用</a:t>
            </a:r>
          </a:p>
        </p:txBody>
      </p:sp>
      <p:sp>
        <p:nvSpPr>
          <p:cNvPr id="5" name="四角形: 角を丸くする 4">
            <a:extLst>
              <a:ext uri="{FF2B5EF4-FFF2-40B4-BE49-F238E27FC236}">
                <a16:creationId xmlns:a16="http://schemas.microsoft.com/office/drawing/2014/main" id="{76CD54F3-C90D-EF3F-2608-78498B86989F}"/>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en-US" altLang="ja-JP" sz="1600" b="1" noProof="0">
                <a:solidFill>
                  <a:schemeClr val="bg1"/>
                </a:solidFill>
                <a:latin typeface="メイリオ" panose="020B0604030504040204" pitchFamily="50" charset="-128"/>
                <a:ea typeface="メイリオ" panose="020B0604030504040204" pitchFamily="50" charset="-128"/>
              </a:rPr>
              <a:t>SEO</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50" name="四角形: 角を丸くする 49">
            <a:extLst>
              <a:ext uri="{FF2B5EF4-FFF2-40B4-BE49-F238E27FC236}">
                <a16:creationId xmlns:a16="http://schemas.microsoft.com/office/drawing/2014/main" id="{07F853FD-C389-7958-3581-667F1DA0E3E4}"/>
              </a:ext>
            </a:extLst>
          </p:cNvPr>
          <p:cNvSpPr/>
          <p:nvPr/>
        </p:nvSpPr>
        <p:spPr bwMode="auto">
          <a:xfrm>
            <a:off x="547393" y="3257084"/>
            <a:ext cx="4549650" cy="343831"/>
          </a:xfrm>
          <a:prstGeom prst="roundRect">
            <a:avLst/>
          </a:prstGeom>
          <a:solidFill>
            <a:schemeClr val="accent3"/>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en-US" altLang="ja-JP" sz="2000" b="1">
                <a:solidFill>
                  <a:schemeClr val="bg1"/>
                </a:solidFill>
                <a:latin typeface="Meiryo UI" panose="020B0604030504040204" pitchFamily="50" charset="-128"/>
                <a:ea typeface="Meiryo UI" panose="020B0604030504040204" pitchFamily="50" charset="-128"/>
              </a:rPr>
              <a:t>Web</a:t>
            </a:r>
            <a:r>
              <a:rPr lang="ja-JP" altLang="en-US" sz="2000" b="1">
                <a:solidFill>
                  <a:schemeClr val="bg1"/>
                </a:solidFill>
                <a:latin typeface="Meiryo UI" panose="020B0604030504040204" pitchFamily="50" charset="-128"/>
                <a:ea typeface="Meiryo UI" panose="020B0604030504040204" pitchFamily="50" charset="-128"/>
              </a:rPr>
              <a:t>サイト開発・</a:t>
            </a:r>
            <a:r>
              <a:rPr lang="en-US" altLang="ja-JP" sz="2000" b="1">
                <a:solidFill>
                  <a:schemeClr val="bg1"/>
                </a:solidFill>
                <a:latin typeface="Meiryo UI" panose="020B0604030504040204" pitchFamily="50" charset="-128"/>
                <a:ea typeface="Meiryo UI" panose="020B0604030504040204" pitchFamily="50" charset="-128"/>
              </a:rPr>
              <a:t>SEO</a:t>
            </a:r>
            <a:r>
              <a:rPr lang="ja-JP" altLang="en-US" sz="2000" b="1">
                <a:solidFill>
                  <a:schemeClr val="bg1"/>
                </a:solidFill>
                <a:latin typeface="Meiryo UI" panose="020B0604030504040204" pitchFamily="50" charset="-128"/>
                <a:ea typeface="Meiryo UI" panose="020B0604030504040204" pitchFamily="50" charset="-128"/>
              </a:rPr>
              <a:t>記事制作・運用</a:t>
            </a: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072EF5B4-B630-8785-6335-9EDFE45F092C}"/>
              </a:ext>
            </a:extLst>
          </p:cNvPr>
          <p:cNvSpPr txBox="1"/>
          <p:nvPr/>
        </p:nvSpPr>
        <p:spPr>
          <a:xfrm>
            <a:off x="5467748" y="6236128"/>
            <a:ext cx="1763624" cy="338554"/>
          </a:xfrm>
          <a:prstGeom prst="rect">
            <a:avLst/>
          </a:prstGeom>
          <a:noFill/>
        </p:spPr>
        <p:txBody>
          <a:bodyPr wrap="none" rtlCol="0">
            <a:spAutoFit/>
          </a:bodyPr>
          <a:lstStyle/>
          <a:p>
            <a:pPr algn="r"/>
            <a:r>
              <a:rPr lang="en-US" altLang="ja-JP" sz="800">
                <a:latin typeface="メイリオ" panose="020B0604030504040204" pitchFamily="50" charset="-128"/>
                <a:ea typeface="メイリオ" panose="020B0604030504040204" pitchFamily="50" charset="-128"/>
              </a:rPr>
              <a:t>『</a:t>
            </a:r>
            <a:r>
              <a:rPr kumimoji="0" lang="en-US" altLang="ja-JP" sz="800">
                <a:ln w="19050">
                  <a:noFill/>
                </a:ln>
                <a:solidFill>
                  <a:srgbClr val="424F56"/>
                </a:solidFill>
                <a:latin typeface="メイリオ" panose="020B0604030504040204" pitchFamily="50" charset="-128"/>
                <a:ea typeface="メイリオ" panose="020B0604030504040204" pitchFamily="50" charset="-128"/>
              </a:rPr>
              <a:t> LAVIE</a:t>
            </a:r>
            <a:r>
              <a:rPr lang="en-US" altLang="ja-JP" sz="800">
                <a:latin typeface="メイリオ" panose="020B0604030504040204" pitchFamily="50" charset="-128"/>
                <a:ea typeface="メイリオ" panose="020B0604030504040204" pitchFamily="50" charset="-128"/>
              </a:rPr>
              <a:t>』</a:t>
            </a:r>
            <a:endParaRPr lang="en-US" altLang="ja-JP" sz="800" b="0" i="0">
              <a:effectLst/>
              <a:latin typeface="メイリオ" panose="020B0604030504040204" pitchFamily="50" charset="-128"/>
              <a:ea typeface="メイリオ" panose="020B0604030504040204" pitchFamily="50" charset="-128"/>
            </a:endParaRPr>
          </a:p>
          <a:p>
            <a:pPr algn="r"/>
            <a:r>
              <a:rPr lang="en-US" altLang="ja-JP" sz="800" b="0" i="0">
                <a:effectLst/>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NEC Personal </a:t>
            </a:r>
            <a:r>
              <a:rPr lang="en-US" altLang="ja-JP" sz="800" err="1">
                <a:latin typeface="メイリオ" panose="020B0604030504040204" pitchFamily="50" charset="-128"/>
                <a:ea typeface="メイリオ" panose="020B0604030504040204" pitchFamily="50" charset="-128"/>
              </a:rPr>
              <a:t>Computers,Ltd</a:t>
            </a:r>
            <a:r>
              <a:rPr lang="en-US" altLang="ja-JP" sz="800">
                <a:latin typeface="メイリオ" panose="020B0604030504040204" pitchFamily="50" charset="-128"/>
                <a:ea typeface="メイリオ" panose="020B0604030504040204" pitchFamily="50" charset="-128"/>
              </a:rPr>
              <a:t>.</a:t>
            </a:r>
            <a:endParaRPr kumimoji="1" lang="ja-JP" altLang="en-US" sz="800">
              <a:latin typeface="メイリオ" panose="020B0604030504040204" pitchFamily="50" charset="-128"/>
              <a:ea typeface="メイリオ" panose="020B0604030504040204" pitchFamily="50" charset="-128"/>
            </a:endParaRPr>
          </a:p>
        </p:txBody>
      </p:sp>
      <p:pic>
        <p:nvPicPr>
          <p:cNvPr id="9" name="図 8" descr="コンピューターのスクリーンショット&#10;&#10;自動的に生成された説明">
            <a:extLst>
              <a:ext uri="{FF2B5EF4-FFF2-40B4-BE49-F238E27FC236}">
                <a16:creationId xmlns:a16="http://schemas.microsoft.com/office/drawing/2014/main" id="{3889179B-2F90-D2BF-906F-F10B1E3EDC12}"/>
              </a:ext>
            </a:extLst>
          </p:cNvPr>
          <p:cNvPicPr>
            <a:picLocks noChangeAspect="1"/>
          </p:cNvPicPr>
          <p:nvPr/>
        </p:nvPicPr>
        <p:blipFill>
          <a:blip r:embed="rId4">
            <a:extLst>
              <a:ext uri="{28A0092B-C50C-407E-A947-70E740481C1C}">
                <a14:useLocalDpi xmlns:a14="http://schemas.microsoft.com/office/drawing/2010/main" val="0"/>
              </a:ext>
            </a:extLst>
          </a:blip>
          <a:srcRect b="21975"/>
          <a:stretch/>
        </p:blipFill>
        <p:spPr>
          <a:xfrm>
            <a:off x="7170121" y="1493848"/>
            <a:ext cx="4746021" cy="5350983"/>
          </a:xfrm>
          <a:prstGeom prst="rect">
            <a:avLst/>
          </a:prstGeom>
        </p:spPr>
      </p:pic>
    </p:spTree>
    <p:extLst>
      <p:ext uri="{BB962C8B-B14F-4D97-AF65-F5344CB8AC3E}">
        <p14:creationId xmlns:p14="http://schemas.microsoft.com/office/powerpoint/2010/main" val="8539180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1E31A-86C3-3668-8930-2D20EE303C07}"/>
            </a:ext>
          </a:extLst>
        </p:cNvPr>
        <p:cNvGrpSpPr/>
        <p:nvPr/>
      </p:nvGrpSpPr>
      <p:grpSpPr>
        <a:xfrm>
          <a:off x="0" y="0"/>
          <a:ext cx="0" cy="0"/>
          <a:chOff x="0" y="0"/>
          <a:chExt cx="0" cy="0"/>
        </a:xfrm>
      </p:grpSpPr>
      <p:sp>
        <p:nvSpPr>
          <p:cNvPr id="14" name="コンテンツ プレースホルダー 13">
            <a:extLst>
              <a:ext uri="{FF2B5EF4-FFF2-40B4-BE49-F238E27FC236}">
                <a16:creationId xmlns:a16="http://schemas.microsoft.com/office/drawing/2014/main" id="{FED4B7F0-0E1F-09D3-7A73-D33252CF64A1}"/>
              </a:ext>
            </a:extLst>
          </p:cNvPr>
          <p:cNvSpPr>
            <a:spLocks noGrp="1"/>
          </p:cNvSpPr>
          <p:nvPr>
            <p:ph idx="1"/>
          </p:nvPr>
        </p:nvSpPr>
        <p:spPr>
          <a:xfrm>
            <a:off x="486142" y="1706880"/>
            <a:ext cx="4672152" cy="4844468"/>
          </a:xfrm>
        </p:spPr>
        <p:txBody>
          <a:bodyPr>
            <a:noAutofit/>
          </a:bodyPr>
          <a:lstStyle/>
          <a:p>
            <a:pPr marL="0" indent="0">
              <a:lnSpc>
                <a:spcPct val="150000"/>
              </a:lnSpc>
              <a:buNone/>
            </a:pPr>
            <a:r>
              <a:rPr kumimoji="1" lang="ja-JP" altLang="en-US" sz="1600" b="1" dirty="0"/>
              <a:t>社内ナレッジ共有動画制作や、転職サイトの</a:t>
            </a:r>
            <a:r>
              <a:rPr kumimoji="1" lang="en-US" altLang="ja-JP" sz="1600" b="1" dirty="0"/>
              <a:t>SEO</a:t>
            </a:r>
            <a:r>
              <a:rPr kumimoji="1" lang="ja-JP" altLang="en-US" sz="1600" b="1" dirty="0"/>
              <a:t>記事リライト制作を担当。</a:t>
            </a:r>
            <a:endParaRPr kumimoji="1" lang="en-US" altLang="ja-JP" sz="1600" b="1" dirty="0"/>
          </a:p>
          <a:p>
            <a:pPr>
              <a:lnSpc>
                <a:spcPct val="100000"/>
              </a:lnSpc>
            </a:pPr>
            <a:endParaRPr kumimoji="0" lang="en-US" altLang="ja-JP" sz="900" dirty="0">
              <a:ln w="19050">
                <a:noFill/>
              </a:ln>
              <a:solidFill>
                <a:srgbClr val="D79B00"/>
              </a:solidFill>
            </a:endParaRPr>
          </a:p>
          <a:p>
            <a:pPr>
              <a:lnSpc>
                <a:spcPct val="100000"/>
              </a:lnSpc>
            </a:pPr>
            <a:endParaRPr kumimoji="0" lang="en-US" altLang="ja-JP" sz="900" b="1" dirty="0">
              <a:ln w="19050">
                <a:noFill/>
              </a:ln>
              <a:solidFill>
                <a:schemeClr val="accent3">
                  <a:lumMod val="50000"/>
                </a:schemeClr>
              </a:solidFill>
            </a:endParaRPr>
          </a:p>
          <a:p>
            <a:pPr>
              <a:lnSpc>
                <a:spcPct val="100000"/>
              </a:lnSpc>
            </a:pPr>
            <a:r>
              <a:rPr kumimoji="0" lang="en-US" altLang="ja-JP" sz="900" b="1" dirty="0">
                <a:ln w="19050">
                  <a:noFill/>
                </a:ln>
                <a:solidFill>
                  <a:schemeClr val="accent3">
                    <a:lumMod val="50000"/>
                  </a:schemeClr>
                </a:solidFill>
              </a:rPr>
              <a:t>【</a:t>
            </a:r>
            <a:r>
              <a:rPr kumimoji="0" lang="ja-JP" altLang="en-US" sz="900" b="1" dirty="0">
                <a:ln w="19050">
                  <a:noFill/>
                </a:ln>
                <a:solidFill>
                  <a:schemeClr val="accent3">
                    <a:lumMod val="50000"/>
                  </a:schemeClr>
                </a:solidFill>
              </a:rPr>
              <a:t>案件概要</a:t>
            </a:r>
            <a:r>
              <a:rPr kumimoji="0" lang="en-US" altLang="ja-JP" sz="900" b="1" dirty="0">
                <a:ln w="19050">
                  <a:noFill/>
                </a:ln>
                <a:solidFill>
                  <a:schemeClr val="accent3">
                    <a:lumMod val="50000"/>
                  </a:schemeClr>
                </a:solidFill>
              </a:rPr>
              <a:t>】</a:t>
            </a:r>
          </a:p>
          <a:p>
            <a:pPr>
              <a:lnSpc>
                <a:spcPct val="100000"/>
              </a:lnSpc>
            </a:pPr>
            <a:r>
              <a:rPr kumimoji="0" lang="ja-JP" altLang="en-US" sz="900" dirty="0">
                <a:ln w="19050">
                  <a:noFill/>
                </a:ln>
                <a:solidFill>
                  <a:srgbClr val="424F56"/>
                </a:solidFill>
              </a:rPr>
              <a:t>社内ナレッジ共有の為のインナーメディア</a:t>
            </a:r>
            <a:r>
              <a:rPr kumimoji="0" lang="en-US" altLang="ja-JP" sz="900" dirty="0">
                <a:ln w="19050">
                  <a:noFill/>
                </a:ln>
                <a:solidFill>
                  <a:srgbClr val="424F56"/>
                </a:solidFill>
              </a:rPr>
              <a:t>(</a:t>
            </a:r>
            <a:r>
              <a:rPr kumimoji="0" lang="ja-JP" altLang="en-US" sz="900" dirty="0">
                <a:ln w="19050">
                  <a:noFill/>
                </a:ln>
                <a:solidFill>
                  <a:srgbClr val="424F56"/>
                </a:solidFill>
              </a:rPr>
              <a:t>動画</a:t>
            </a:r>
            <a:r>
              <a:rPr kumimoji="0" lang="en-US" altLang="ja-JP" sz="900" dirty="0">
                <a:ln w="19050">
                  <a:noFill/>
                </a:ln>
                <a:solidFill>
                  <a:srgbClr val="424F56"/>
                </a:solidFill>
              </a:rPr>
              <a:t>)</a:t>
            </a:r>
            <a:r>
              <a:rPr kumimoji="0" lang="ja-JP" altLang="en-US" sz="900" dirty="0">
                <a:ln w="19050">
                  <a:noFill/>
                </a:ln>
                <a:solidFill>
                  <a:srgbClr val="424F56"/>
                </a:solidFill>
              </a:rPr>
              <a:t>制作</a:t>
            </a:r>
            <a:br>
              <a:rPr kumimoji="0" lang="en-US" altLang="ja-JP" sz="900" dirty="0">
                <a:ln w="19050">
                  <a:noFill/>
                </a:ln>
                <a:solidFill>
                  <a:srgbClr val="424F56"/>
                </a:solidFill>
              </a:rPr>
            </a:br>
            <a:r>
              <a:rPr kumimoji="0" lang="ja-JP" altLang="en-US" sz="900" dirty="0">
                <a:ln w="19050">
                  <a:noFill/>
                </a:ln>
                <a:solidFill>
                  <a:srgbClr val="424F56"/>
                </a:solidFill>
              </a:rPr>
              <a:t>（</a:t>
            </a:r>
            <a:r>
              <a:rPr kumimoji="0" lang="en-US" altLang="ja-JP" sz="900" dirty="0">
                <a:ln w="19050">
                  <a:noFill/>
                </a:ln>
                <a:solidFill>
                  <a:srgbClr val="424F56"/>
                </a:solidFill>
              </a:rPr>
              <a:t>Hot Pepper Beauty</a:t>
            </a:r>
            <a:r>
              <a:rPr kumimoji="0" lang="ja-JP" altLang="en-US" sz="900" dirty="0">
                <a:ln w="19050">
                  <a:noFill/>
                </a:ln>
                <a:solidFill>
                  <a:srgbClr val="424F56"/>
                </a:solidFill>
              </a:rPr>
              <a:t>／</a:t>
            </a:r>
            <a:r>
              <a:rPr kumimoji="0" lang="en-US" altLang="ja-JP" sz="900" dirty="0">
                <a:ln w="19050">
                  <a:noFill/>
                </a:ln>
                <a:solidFill>
                  <a:srgbClr val="424F56"/>
                </a:solidFill>
              </a:rPr>
              <a:t>Hot Pepper</a:t>
            </a:r>
            <a:r>
              <a:rPr kumimoji="0" lang="ja-JP" altLang="en-US" sz="900" dirty="0">
                <a:ln w="19050">
                  <a:noFill/>
                </a:ln>
                <a:solidFill>
                  <a:srgbClr val="424F56"/>
                </a:solidFill>
              </a:rPr>
              <a:t>グルメ）</a:t>
            </a:r>
          </a:p>
          <a:p>
            <a:pPr>
              <a:lnSpc>
                <a:spcPct val="100000"/>
              </a:lnSpc>
            </a:pPr>
            <a:r>
              <a:rPr kumimoji="0" lang="en-US" altLang="ja-JP" sz="900" b="1" dirty="0">
                <a:ln w="19050">
                  <a:noFill/>
                </a:ln>
                <a:solidFill>
                  <a:schemeClr val="accent3">
                    <a:lumMod val="50000"/>
                  </a:schemeClr>
                </a:solidFill>
              </a:rPr>
              <a:t>【</a:t>
            </a:r>
            <a:r>
              <a:rPr kumimoji="0" lang="ja-JP" altLang="en-US" sz="900" b="1" dirty="0">
                <a:ln w="19050">
                  <a:noFill/>
                </a:ln>
                <a:solidFill>
                  <a:schemeClr val="accent3">
                    <a:lumMod val="50000"/>
                  </a:schemeClr>
                </a:solidFill>
              </a:rPr>
              <a:t>作業範囲</a:t>
            </a:r>
            <a:r>
              <a:rPr kumimoji="0" lang="en-US" altLang="ja-JP" sz="900" b="1" dirty="0">
                <a:ln w="19050">
                  <a:noFill/>
                </a:ln>
                <a:solidFill>
                  <a:schemeClr val="accent3">
                    <a:lumMod val="50000"/>
                  </a:schemeClr>
                </a:solidFill>
              </a:rPr>
              <a:t>】</a:t>
            </a:r>
          </a:p>
          <a:p>
            <a:pPr>
              <a:lnSpc>
                <a:spcPct val="100000"/>
              </a:lnSpc>
            </a:pPr>
            <a:r>
              <a:rPr kumimoji="0" lang="ja-JP" altLang="en-US" sz="900" dirty="0">
                <a:ln w="19050">
                  <a:noFill/>
                </a:ln>
                <a:solidFill>
                  <a:srgbClr val="424F56"/>
                </a:solidFill>
              </a:rPr>
              <a:t>番組構成作成、取材・撮影、原稿</a:t>
            </a:r>
            <a:r>
              <a:rPr kumimoji="0" lang="en-US" altLang="ja-JP" sz="900" dirty="0">
                <a:ln w="19050">
                  <a:noFill/>
                </a:ln>
                <a:solidFill>
                  <a:srgbClr val="424F56"/>
                </a:solidFill>
              </a:rPr>
              <a:t>(</a:t>
            </a:r>
            <a:r>
              <a:rPr kumimoji="0" lang="ja-JP" altLang="en-US" sz="900" dirty="0">
                <a:ln w="19050">
                  <a:noFill/>
                </a:ln>
                <a:solidFill>
                  <a:srgbClr val="424F56"/>
                </a:solidFill>
              </a:rPr>
              <a:t>台本</a:t>
            </a:r>
            <a:r>
              <a:rPr kumimoji="0" lang="en-US" altLang="ja-JP" sz="900" dirty="0">
                <a:ln w="19050">
                  <a:noFill/>
                </a:ln>
                <a:solidFill>
                  <a:srgbClr val="424F56"/>
                </a:solidFill>
              </a:rPr>
              <a:t>)</a:t>
            </a:r>
            <a:r>
              <a:rPr kumimoji="0" lang="ja-JP" altLang="en-US" sz="900" dirty="0">
                <a:ln w="19050">
                  <a:noFill/>
                </a:ln>
                <a:solidFill>
                  <a:srgbClr val="424F56"/>
                </a:solidFill>
              </a:rPr>
              <a:t>作成、ナレーション収録、編集、進行管理、ディレクション</a:t>
            </a:r>
            <a:endParaRPr kumimoji="0" lang="en-US" altLang="ja-JP" sz="900" dirty="0">
              <a:ln w="19050">
                <a:noFill/>
              </a:ln>
              <a:solidFill>
                <a:srgbClr val="424F56"/>
              </a:solidFill>
            </a:endParaRPr>
          </a:p>
          <a:p>
            <a:pPr>
              <a:lnSpc>
                <a:spcPct val="100000"/>
              </a:lnSpc>
            </a:pPr>
            <a:r>
              <a:rPr kumimoji="0" lang="ja-JP" altLang="en-US" sz="900" dirty="0">
                <a:ln w="19050">
                  <a:noFill/>
                </a:ln>
                <a:solidFill>
                  <a:srgbClr val="424F56"/>
                </a:solidFill>
              </a:rPr>
              <a:t>　社内で表彰歴のある方を取材し、約</a:t>
            </a:r>
            <a:r>
              <a:rPr kumimoji="0" lang="en-US" altLang="ja-JP" sz="900" dirty="0">
                <a:ln w="19050">
                  <a:noFill/>
                </a:ln>
                <a:solidFill>
                  <a:srgbClr val="424F56"/>
                </a:solidFill>
              </a:rPr>
              <a:t>5</a:t>
            </a:r>
            <a:r>
              <a:rPr kumimoji="0" lang="ja-JP" altLang="en-US" sz="900" dirty="0">
                <a:ln w="19050">
                  <a:noFill/>
                </a:ln>
                <a:solidFill>
                  <a:srgbClr val="424F56"/>
                </a:solidFill>
              </a:rPr>
              <a:t>～</a:t>
            </a:r>
            <a:r>
              <a:rPr kumimoji="0" lang="en-US" altLang="ja-JP" sz="900" dirty="0">
                <a:ln w="19050">
                  <a:noFill/>
                </a:ln>
                <a:solidFill>
                  <a:srgbClr val="424F56"/>
                </a:solidFill>
              </a:rPr>
              <a:t>10</a:t>
            </a:r>
            <a:r>
              <a:rPr kumimoji="0" lang="ja-JP" altLang="en-US" sz="900" dirty="0">
                <a:ln w="19050">
                  <a:noFill/>
                </a:ln>
                <a:solidFill>
                  <a:srgbClr val="424F56"/>
                </a:solidFill>
              </a:rPr>
              <a:t>分のドキュメンタリーとして映像化。</a:t>
            </a:r>
            <a:br>
              <a:rPr kumimoji="0" lang="en-US" altLang="ja-JP" sz="900" dirty="0">
                <a:ln w="19050">
                  <a:noFill/>
                </a:ln>
                <a:solidFill>
                  <a:srgbClr val="424F56"/>
                </a:solidFill>
              </a:rPr>
            </a:br>
            <a:r>
              <a:rPr kumimoji="0" lang="ja-JP" altLang="en-US" sz="900" dirty="0">
                <a:ln w="19050">
                  <a:noFill/>
                </a:ln>
                <a:solidFill>
                  <a:srgbClr val="424F56"/>
                </a:solidFill>
              </a:rPr>
              <a:t>　取材対象者と視聴者のモチベーション</a:t>
            </a:r>
            <a:r>
              <a:rPr kumimoji="0" lang="en-US" altLang="ja-JP" sz="900" dirty="0">
                <a:ln w="19050">
                  <a:noFill/>
                </a:ln>
                <a:solidFill>
                  <a:srgbClr val="424F56"/>
                </a:solidFill>
              </a:rPr>
              <a:t>UP</a:t>
            </a:r>
            <a:r>
              <a:rPr kumimoji="0" lang="ja-JP" altLang="en-US" sz="900" dirty="0">
                <a:ln w="19050">
                  <a:noFill/>
                </a:ln>
                <a:solidFill>
                  <a:srgbClr val="424F56"/>
                </a:solidFill>
              </a:rPr>
              <a:t>や、言語化が難しい現場のナレッジを映像にすることでスムーズに装着する。</a:t>
            </a:r>
            <a:endParaRPr kumimoji="0" lang="en-US" altLang="ja-JP" sz="900" kern="100" dirty="0">
              <a:ln w="19050">
                <a:noFill/>
              </a:ln>
              <a:solidFill>
                <a:srgbClr val="424F56"/>
              </a:solidFill>
              <a:cs typeface="Times New Roman" panose="02020603050405020304" pitchFamily="18" charset="0"/>
            </a:endParaRPr>
          </a:p>
          <a:p>
            <a:pPr>
              <a:lnSpc>
                <a:spcPct val="100000"/>
              </a:lnSpc>
            </a:pPr>
            <a:endParaRPr lang="en-US" altLang="ja-JP" sz="900" kern="100" dirty="0">
              <a:solidFill>
                <a:schemeClr val="accent6">
                  <a:lumMod val="75000"/>
                </a:schemeClr>
              </a:solidFill>
              <a:cs typeface="Times New Roman" panose="02020603050405020304" pitchFamily="18" charset="0"/>
            </a:endParaRPr>
          </a:p>
          <a:p>
            <a:pPr algn="just">
              <a:lnSpc>
                <a:spcPct val="100000"/>
              </a:lnSpc>
            </a:pPr>
            <a:endParaRPr lang="en-US" altLang="ja-JP" sz="900" kern="100" dirty="0">
              <a:solidFill>
                <a:schemeClr val="accent6">
                  <a:lumMod val="75000"/>
                </a:schemeClr>
              </a:solidFill>
              <a:cs typeface="Times New Roman" panose="02020603050405020304" pitchFamily="18" charset="0"/>
            </a:endParaRPr>
          </a:p>
          <a:p>
            <a:pPr algn="just">
              <a:lnSpc>
                <a:spcPct val="100000"/>
              </a:lnSpc>
            </a:pPr>
            <a:r>
              <a:rPr lang="en-US" altLang="ja-JP" sz="900" b="1" kern="100" dirty="0">
                <a:solidFill>
                  <a:schemeClr val="accent1">
                    <a:lumMod val="75000"/>
                  </a:schemeClr>
                </a:solidFill>
                <a:cs typeface="Times New Roman" panose="02020603050405020304" pitchFamily="18" charset="0"/>
              </a:rPr>
              <a:t>【</a:t>
            </a:r>
            <a:r>
              <a:rPr lang="ja-JP" altLang="en-US" sz="900" b="1" kern="100" dirty="0">
                <a:solidFill>
                  <a:schemeClr val="accent1">
                    <a:lumMod val="75000"/>
                  </a:schemeClr>
                </a:solidFill>
                <a:cs typeface="Times New Roman" panose="02020603050405020304" pitchFamily="18" charset="0"/>
              </a:rPr>
              <a:t>案件概要</a:t>
            </a:r>
            <a:r>
              <a:rPr lang="en-US" altLang="ja-JP" sz="900" b="1" kern="100" dirty="0">
                <a:solidFill>
                  <a:schemeClr val="accent1">
                    <a:lumMod val="75000"/>
                  </a:schemeClr>
                </a:solidFill>
                <a:cs typeface="Times New Roman" panose="02020603050405020304" pitchFamily="18" charset="0"/>
              </a:rPr>
              <a:t>】</a:t>
            </a:r>
          </a:p>
          <a:p>
            <a:pPr algn="just">
              <a:lnSpc>
                <a:spcPct val="100000"/>
              </a:lnSpc>
            </a:pPr>
            <a:r>
              <a:rPr lang="ja-JP" altLang="en-US" sz="900" kern="100" dirty="0">
                <a:cs typeface="Times New Roman" panose="02020603050405020304" pitchFamily="18" charset="0"/>
              </a:rPr>
              <a:t>サイト内</a:t>
            </a:r>
            <a:r>
              <a:rPr lang="en-US" altLang="ja-JP" sz="900" kern="100" dirty="0">
                <a:cs typeface="Times New Roman" panose="02020603050405020304" pitchFamily="18" charset="0"/>
              </a:rPr>
              <a:t>『</a:t>
            </a:r>
            <a:r>
              <a:rPr lang="ja-JP" altLang="en-US" sz="900" kern="100" dirty="0">
                <a:cs typeface="Times New Roman" panose="02020603050405020304" pitchFamily="18" charset="0"/>
              </a:rPr>
              <a:t>転職成功ガイド</a:t>
            </a:r>
            <a:r>
              <a:rPr lang="en-US" altLang="ja-JP" sz="900" kern="100" dirty="0">
                <a:cs typeface="Times New Roman" panose="02020603050405020304" pitchFamily="18" charset="0"/>
              </a:rPr>
              <a:t>』</a:t>
            </a:r>
            <a:r>
              <a:rPr lang="ja-JP" altLang="en-US" sz="900" kern="100" dirty="0">
                <a:cs typeface="Times New Roman" panose="02020603050405020304" pitchFamily="18" charset="0"/>
              </a:rPr>
              <a:t>記事における</a:t>
            </a:r>
            <a:r>
              <a:rPr lang="en-US" altLang="ja-JP" sz="900" kern="100" dirty="0">
                <a:cs typeface="Times New Roman" panose="02020603050405020304" pitchFamily="18" charset="0"/>
              </a:rPr>
              <a:t>SEO</a:t>
            </a:r>
            <a:r>
              <a:rPr lang="ja-JP" altLang="en-US" sz="900" kern="100" dirty="0">
                <a:cs typeface="Times New Roman" panose="02020603050405020304" pitchFamily="18" charset="0"/>
              </a:rPr>
              <a:t>記事リライト制作</a:t>
            </a:r>
          </a:p>
          <a:p>
            <a:pPr algn="just">
              <a:lnSpc>
                <a:spcPct val="100000"/>
              </a:lnSpc>
            </a:pPr>
            <a:r>
              <a:rPr lang="en-US" altLang="ja-JP" sz="900" b="1" kern="100" dirty="0">
                <a:solidFill>
                  <a:schemeClr val="accent1">
                    <a:lumMod val="75000"/>
                  </a:schemeClr>
                </a:solidFill>
                <a:cs typeface="Times New Roman" panose="02020603050405020304" pitchFamily="18" charset="0"/>
              </a:rPr>
              <a:t>【</a:t>
            </a:r>
            <a:r>
              <a:rPr lang="ja-JP" altLang="en-US" sz="900" b="1" kern="100" dirty="0">
                <a:solidFill>
                  <a:schemeClr val="accent1">
                    <a:lumMod val="75000"/>
                  </a:schemeClr>
                </a:solidFill>
                <a:cs typeface="Times New Roman" panose="02020603050405020304" pitchFamily="18" charset="0"/>
              </a:rPr>
              <a:t>作業範囲</a:t>
            </a:r>
            <a:r>
              <a:rPr lang="en-US" altLang="ja-JP" sz="900" b="1" kern="100" dirty="0">
                <a:solidFill>
                  <a:schemeClr val="accent1">
                    <a:lumMod val="75000"/>
                  </a:schemeClr>
                </a:solidFill>
                <a:cs typeface="Times New Roman" panose="02020603050405020304" pitchFamily="18" charset="0"/>
              </a:rPr>
              <a:t>】</a:t>
            </a:r>
          </a:p>
          <a:p>
            <a:pPr algn="just">
              <a:lnSpc>
                <a:spcPct val="100000"/>
              </a:lnSpc>
            </a:pPr>
            <a:r>
              <a:rPr lang="ja-JP" altLang="en-US" sz="900" kern="100" dirty="0">
                <a:cs typeface="Times New Roman" panose="02020603050405020304" pitchFamily="18" charset="0"/>
              </a:rPr>
              <a:t>ライターアサイン、進行管理、構成企画案作成、</a:t>
            </a:r>
            <a:r>
              <a:rPr lang="en-US" altLang="ja-JP" sz="900" kern="100" dirty="0">
                <a:cs typeface="Times New Roman" panose="02020603050405020304" pitchFamily="18" charset="0"/>
              </a:rPr>
              <a:t>SEO</a:t>
            </a:r>
            <a:r>
              <a:rPr lang="ja-JP" altLang="en-US" sz="900" kern="100" dirty="0">
                <a:cs typeface="Times New Roman" panose="02020603050405020304" pitchFamily="18" charset="0"/>
              </a:rPr>
              <a:t>ライティング</a:t>
            </a:r>
            <a:r>
              <a:rPr lang="en-US" altLang="ja-JP" sz="900" kern="100" dirty="0">
                <a:cs typeface="Times New Roman" panose="02020603050405020304" pitchFamily="18" charset="0"/>
              </a:rPr>
              <a:t>(</a:t>
            </a:r>
            <a:r>
              <a:rPr lang="ja-JP" altLang="en-US" sz="900" kern="100" dirty="0">
                <a:cs typeface="Times New Roman" panose="02020603050405020304" pitchFamily="18" charset="0"/>
              </a:rPr>
              <a:t>リライト</a:t>
            </a:r>
            <a:r>
              <a:rPr lang="en-US" altLang="ja-JP" sz="900" kern="100" dirty="0">
                <a:cs typeface="Times New Roman" panose="02020603050405020304" pitchFamily="18" charset="0"/>
              </a:rPr>
              <a:t>)</a:t>
            </a:r>
            <a:r>
              <a:rPr lang="ja-JP" altLang="en-US" sz="900" kern="100" dirty="0">
                <a:cs typeface="Times New Roman" panose="02020603050405020304" pitchFamily="18" charset="0"/>
              </a:rPr>
              <a:t>、ディスプリクション作成、校正</a:t>
            </a:r>
            <a:r>
              <a:rPr lang="en-US" altLang="ja-JP" sz="900" kern="100" dirty="0">
                <a:cs typeface="Times New Roman" panose="02020603050405020304" pitchFamily="18" charset="0"/>
              </a:rPr>
              <a:t>/</a:t>
            </a:r>
            <a:r>
              <a:rPr lang="ja-JP" altLang="en-US" sz="900" kern="100" dirty="0">
                <a:cs typeface="Times New Roman" panose="02020603050405020304" pitchFamily="18" charset="0"/>
              </a:rPr>
              <a:t>校閲、品質管理</a:t>
            </a:r>
            <a:endParaRPr lang="ja-JP" altLang="en-US" sz="1200" kern="100" dirty="0">
              <a:cs typeface="Times New Roman" panose="02020603050405020304" pitchFamily="18" charset="0"/>
            </a:endParaRPr>
          </a:p>
        </p:txBody>
      </p:sp>
      <p:cxnSp>
        <p:nvCxnSpPr>
          <p:cNvPr id="6" name="直線コネクタ 5">
            <a:extLst>
              <a:ext uri="{FF2B5EF4-FFF2-40B4-BE49-F238E27FC236}">
                <a16:creationId xmlns:a16="http://schemas.microsoft.com/office/drawing/2014/main" id="{DC6CDEB5-7010-B2D3-0DF6-8788F5BFBB32}"/>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D98DE0AC-66AE-6403-9879-2ACC59F24D60}"/>
              </a:ext>
            </a:extLst>
          </p:cNvPr>
          <p:cNvSpPr>
            <a:spLocks noGrp="1"/>
          </p:cNvSpPr>
          <p:nvPr>
            <p:ph idx="10"/>
          </p:nvPr>
        </p:nvSpPr>
        <p:spPr/>
        <p:txBody>
          <a:bodyPr/>
          <a:lstStyle/>
          <a:p>
            <a:r>
              <a:rPr lang="ja-JP" altLang="en-US" b="1"/>
              <a:t>社内ナレッジ動画、</a:t>
            </a:r>
            <a:r>
              <a:rPr lang="en-US" altLang="ja-JP" b="1" dirty="0"/>
              <a:t>SEO</a:t>
            </a:r>
            <a:r>
              <a:rPr lang="ja-JP" altLang="en-US" b="1" dirty="0"/>
              <a:t>記事制作</a:t>
            </a:r>
            <a:endParaRPr lang="en-US" altLang="ja-JP" b="1" dirty="0"/>
          </a:p>
        </p:txBody>
      </p:sp>
      <p:sp>
        <p:nvSpPr>
          <p:cNvPr id="11" name="タイトル 10">
            <a:extLst>
              <a:ext uri="{FF2B5EF4-FFF2-40B4-BE49-F238E27FC236}">
                <a16:creationId xmlns:a16="http://schemas.microsoft.com/office/drawing/2014/main" id="{659130E4-999E-0A23-2C8D-3204D418007E}"/>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D74F5A20-960E-E3CD-0AC1-61D05AE3D91F}"/>
              </a:ext>
            </a:extLst>
          </p:cNvPr>
          <p:cNvSpPr>
            <a:spLocks noGrp="1"/>
          </p:cNvSpPr>
          <p:nvPr>
            <p:ph type="sldNum" sz="quarter" idx="11"/>
          </p:nvPr>
        </p:nvSpPr>
        <p:spPr/>
        <p:txBody>
          <a:bodyPr/>
          <a:lstStyle/>
          <a:p>
            <a:fld id="{B75FDD43-FCEC-4ECC-8189-A5C6D2E08DC6}" type="slidenum">
              <a:rPr lang="ja-JP" altLang="en-US" smtClean="0"/>
              <a:pPr/>
              <a:t>58</a:t>
            </a:fld>
            <a:endParaRPr lang="ja-JP" altLang="en-US"/>
          </a:p>
        </p:txBody>
      </p:sp>
      <p:sp>
        <p:nvSpPr>
          <p:cNvPr id="2" name="四角形: 角を丸くする 1">
            <a:extLst>
              <a:ext uri="{FF2B5EF4-FFF2-40B4-BE49-F238E27FC236}">
                <a16:creationId xmlns:a16="http://schemas.microsoft.com/office/drawing/2014/main" id="{34057182-0575-25C9-36CC-6792DD17BD2A}"/>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組織</a:t>
            </a:r>
          </a:p>
        </p:txBody>
      </p:sp>
      <p:sp>
        <p:nvSpPr>
          <p:cNvPr id="4" name="四角形: 角を丸くする 3">
            <a:extLst>
              <a:ext uri="{FF2B5EF4-FFF2-40B4-BE49-F238E27FC236}">
                <a16:creationId xmlns:a16="http://schemas.microsoft.com/office/drawing/2014/main" id="{18938C23-F1A2-4D4E-C9C0-D3B7501EFB1C}"/>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dirty="0">
                <a:solidFill>
                  <a:schemeClr val="bg1"/>
                </a:solidFill>
                <a:latin typeface="メイリオ" panose="020B0604030504040204" pitchFamily="50" charset="-128"/>
                <a:ea typeface="メイリオ" panose="020B0604030504040204" pitchFamily="50" charset="-128"/>
              </a:rPr>
              <a:t>動画</a:t>
            </a:r>
          </a:p>
        </p:txBody>
      </p:sp>
      <p:sp>
        <p:nvSpPr>
          <p:cNvPr id="5" name="四角形: 角を丸くする 4">
            <a:extLst>
              <a:ext uri="{FF2B5EF4-FFF2-40B4-BE49-F238E27FC236}">
                <a16:creationId xmlns:a16="http://schemas.microsoft.com/office/drawing/2014/main" id="{76CD54F3-C90D-EF3F-2608-78498B86989F}"/>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en-US" altLang="ja-JP" sz="1600" b="1" noProof="0">
                <a:solidFill>
                  <a:schemeClr val="bg1"/>
                </a:solidFill>
                <a:latin typeface="メイリオ" panose="020B0604030504040204" pitchFamily="50" charset="-128"/>
                <a:ea typeface="メイリオ" panose="020B0604030504040204" pitchFamily="50" charset="-128"/>
              </a:rPr>
              <a:t>SEO</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grpSp>
        <p:nvGrpSpPr>
          <p:cNvPr id="39" name="グループ化 38">
            <a:extLst>
              <a:ext uri="{FF2B5EF4-FFF2-40B4-BE49-F238E27FC236}">
                <a16:creationId xmlns:a16="http://schemas.microsoft.com/office/drawing/2014/main" id="{C79AA04B-29E4-1B47-9A7E-024AA1B568BD}"/>
              </a:ext>
            </a:extLst>
          </p:cNvPr>
          <p:cNvGrpSpPr/>
          <p:nvPr/>
        </p:nvGrpSpPr>
        <p:grpSpPr>
          <a:xfrm>
            <a:off x="5793020" y="1690144"/>
            <a:ext cx="5849075" cy="2091253"/>
            <a:chOff x="1417518" y="803548"/>
            <a:chExt cx="9155570" cy="3273443"/>
          </a:xfrm>
        </p:grpSpPr>
        <p:grpSp>
          <p:nvGrpSpPr>
            <p:cNvPr id="40" name="グループ化 39">
              <a:extLst>
                <a:ext uri="{FF2B5EF4-FFF2-40B4-BE49-F238E27FC236}">
                  <a16:creationId xmlns:a16="http://schemas.microsoft.com/office/drawing/2014/main" id="{0431EA67-9F01-B5F6-4B42-71DF39525D03}"/>
                </a:ext>
              </a:extLst>
            </p:cNvPr>
            <p:cNvGrpSpPr/>
            <p:nvPr/>
          </p:nvGrpSpPr>
          <p:grpSpPr>
            <a:xfrm>
              <a:off x="1417518" y="803548"/>
              <a:ext cx="4587162" cy="3273443"/>
              <a:chOff x="1346255" y="650636"/>
              <a:chExt cx="5080054" cy="3625176"/>
            </a:xfrm>
          </p:grpSpPr>
          <p:pic>
            <p:nvPicPr>
              <p:cNvPr id="44" name="図 43" descr="建物に掛けられた看板&#10;&#10;中程度の精度で自動的に生成された説明">
                <a:extLst>
                  <a:ext uri="{FF2B5EF4-FFF2-40B4-BE49-F238E27FC236}">
                    <a16:creationId xmlns:a16="http://schemas.microsoft.com/office/drawing/2014/main" id="{B5D131A5-BF5B-AB40-DC87-F25496EAAA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6255" y="650636"/>
                <a:ext cx="3765777" cy="1998514"/>
              </a:xfrm>
              <a:prstGeom prst="rect">
                <a:avLst/>
              </a:prstGeom>
            </p:spPr>
          </p:pic>
          <p:pic>
            <p:nvPicPr>
              <p:cNvPr id="45" name="図 44" descr="アプリケーション&#10;&#10;中程度の精度で自動的に生成された説明">
                <a:extLst>
                  <a:ext uri="{FF2B5EF4-FFF2-40B4-BE49-F238E27FC236}">
                    <a16:creationId xmlns:a16="http://schemas.microsoft.com/office/drawing/2014/main" id="{6473D3F4-FDFD-2EEB-765A-CAE2AAF2E2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39628" y="2277298"/>
                <a:ext cx="3886681" cy="1998514"/>
              </a:xfrm>
              <a:prstGeom prst="rect">
                <a:avLst/>
              </a:prstGeom>
            </p:spPr>
          </p:pic>
        </p:grpSp>
        <p:grpSp>
          <p:nvGrpSpPr>
            <p:cNvPr id="41" name="グループ化 40">
              <a:extLst>
                <a:ext uri="{FF2B5EF4-FFF2-40B4-BE49-F238E27FC236}">
                  <a16:creationId xmlns:a16="http://schemas.microsoft.com/office/drawing/2014/main" id="{45E7CCE2-C8B0-E8CD-9DFE-5165244C586B}"/>
                </a:ext>
              </a:extLst>
            </p:cNvPr>
            <p:cNvGrpSpPr/>
            <p:nvPr/>
          </p:nvGrpSpPr>
          <p:grpSpPr>
            <a:xfrm>
              <a:off x="5660593" y="803549"/>
              <a:ext cx="4912495" cy="3273442"/>
              <a:chOff x="6096000" y="540775"/>
              <a:chExt cx="5440345" cy="3625175"/>
            </a:xfrm>
          </p:grpSpPr>
          <p:pic>
            <p:nvPicPr>
              <p:cNvPr id="42" name="図 41" descr="夜の街の様子のフォトショップ&#10;&#10;中程度の精度で自動的に生成された説明">
                <a:extLst>
                  <a:ext uri="{FF2B5EF4-FFF2-40B4-BE49-F238E27FC236}">
                    <a16:creationId xmlns:a16="http://schemas.microsoft.com/office/drawing/2014/main" id="{249D8257-0294-C522-DE8F-E88046A0DA0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0" y="540775"/>
                <a:ext cx="3953910" cy="1998514"/>
              </a:xfrm>
              <a:prstGeom prst="rect">
                <a:avLst/>
              </a:prstGeom>
            </p:spPr>
          </p:pic>
          <p:pic>
            <p:nvPicPr>
              <p:cNvPr id="43" name="図 42" descr="白いバックグラウンドの前に立っている女性&#10;&#10;低い精度で自動的に生成された説明">
                <a:extLst>
                  <a:ext uri="{FF2B5EF4-FFF2-40B4-BE49-F238E27FC236}">
                    <a16:creationId xmlns:a16="http://schemas.microsoft.com/office/drawing/2014/main" id="{EFD48A87-FD48-229B-3A7D-F146D05BCC3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68525" y="2167435"/>
                <a:ext cx="3567820" cy="1998515"/>
              </a:xfrm>
              <a:prstGeom prst="rect">
                <a:avLst/>
              </a:prstGeom>
            </p:spPr>
          </p:pic>
        </p:grpSp>
      </p:grpSp>
      <p:pic>
        <p:nvPicPr>
          <p:cNvPr id="46" name="図 45" descr="黒い背景に白い文字がある&#10;&#10;低い精度で自動的に生成された説明">
            <a:extLst>
              <a:ext uri="{FF2B5EF4-FFF2-40B4-BE49-F238E27FC236}">
                <a16:creationId xmlns:a16="http://schemas.microsoft.com/office/drawing/2014/main" id="{3C969849-C12B-871F-E9D5-63EC52F3D23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06400" y="5846553"/>
            <a:ext cx="1862344" cy="271335"/>
          </a:xfrm>
          <a:prstGeom prst="rect">
            <a:avLst/>
          </a:prstGeom>
        </p:spPr>
      </p:pic>
      <p:pic>
        <p:nvPicPr>
          <p:cNvPr id="47" name="図 46" descr="グラフィカル ユーザー インターフェイス, Web サイト&#10;&#10;自動的に生成された説明">
            <a:extLst>
              <a:ext uri="{FF2B5EF4-FFF2-40B4-BE49-F238E27FC236}">
                <a16:creationId xmlns:a16="http://schemas.microsoft.com/office/drawing/2014/main" id="{C13C43BF-8318-434F-2DEE-5609DE1158BC}"/>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4916" t="11259" r="14500" b="7315"/>
          <a:stretch/>
        </p:blipFill>
        <p:spPr>
          <a:xfrm>
            <a:off x="7795260" y="4129114"/>
            <a:ext cx="3846835" cy="2496241"/>
          </a:xfrm>
          <a:prstGeom prst="rect">
            <a:avLst/>
          </a:prstGeom>
          <a:ln w="19050">
            <a:solidFill>
              <a:srgbClr val="3F83A6"/>
            </a:solidFill>
          </a:ln>
          <a:effectLst>
            <a:outerShdw blurRad="50800" dist="38100" dir="2700000" algn="tl" rotWithShape="0">
              <a:prstClr val="black">
                <a:alpha val="40000"/>
              </a:prstClr>
            </a:outerShdw>
          </a:effectLst>
        </p:spPr>
      </p:pic>
      <p:sp>
        <p:nvSpPr>
          <p:cNvPr id="50" name="四角形: 角を丸くする 49">
            <a:extLst>
              <a:ext uri="{FF2B5EF4-FFF2-40B4-BE49-F238E27FC236}">
                <a16:creationId xmlns:a16="http://schemas.microsoft.com/office/drawing/2014/main" id="{07F853FD-C389-7958-3581-667F1DA0E3E4}"/>
              </a:ext>
            </a:extLst>
          </p:cNvPr>
          <p:cNvSpPr/>
          <p:nvPr/>
        </p:nvSpPr>
        <p:spPr bwMode="auto">
          <a:xfrm>
            <a:off x="547393" y="2671110"/>
            <a:ext cx="4549650" cy="343831"/>
          </a:xfrm>
          <a:prstGeom prst="roundRect">
            <a:avLst/>
          </a:prstGeom>
          <a:solidFill>
            <a:schemeClr val="accent3"/>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ja-JP" altLang="en-US" sz="2000" b="1">
                <a:solidFill>
                  <a:schemeClr val="bg1"/>
                </a:solidFill>
                <a:latin typeface="メイリオ" panose="020B0604030504040204" pitchFamily="50" charset="-128"/>
                <a:ea typeface="メイリオ" panose="020B0604030504040204" pitchFamily="50" charset="-128"/>
              </a:rPr>
              <a:t>カルチャー動画制作</a:t>
            </a:r>
            <a:endParaRPr kumimoji="1" lang="ja-JP" altLang="en-US" sz="2000" b="1" noProof="0">
              <a:solidFill>
                <a:schemeClr val="bg1"/>
              </a:solidFill>
              <a:latin typeface="メイリオ" panose="020B0604030504040204" pitchFamily="50" charset="-128"/>
              <a:ea typeface="メイリオ" panose="020B0604030504040204" pitchFamily="50" charset="-128"/>
            </a:endParaRPr>
          </a:p>
        </p:txBody>
      </p:sp>
      <p:sp>
        <p:nvSpPr>
          <p:cNvPr id="51" name="四角形: 角を丸くする 50">
            <a:extLst>
              <a:ext uri="{FF2B5EF4-FFF2-40B4-BE49-F238E27FC236}">
                <a16:creationId xmlns:a16="http://schemas.microsoft.com/office/drawing/2014/main" id="{42EC0FCE-CF31-C50E-7DF1-DE9B30F4FB5D}"/>
              </a:ext>
            </a:extLst>
          </p:cNvPr>
          <p:cNvSpPr/>
          <p:nvPr/>
        </p:nvSpPr>
        <p:spPr bwMode="auto">
          <a:xfrm>
            <a:off x="547393" y="5033403"/>
            <a:ext cx="4549650" cy="343831"/>
          </a:xfrm>
          <a:prstGeom prst="roundRect">
            <a:avLst/>
          </a:prstGeom>
          <a:solidFill>
            <a:schemeClr val="accent1"/>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r>
              <a:rPr lang="en-US" altLang="ja-JP" sz="2000" b="1" dirty="0">
                <a:solidFill>
                  <a:schemeClr val="bg1"/>
                </a:solidFill>
                <a:latin typeface="メイリオ" panose="020B0604030504040204" pitchFamily="50" charset="-128"/>
                <a:ea typeface="メイリオ" panose="020B0604030504040204" pitchFamily="50" charset="-128"/>
              </a:rPr>
              <a:t>SEO</a:t>
            </a:r>
            <a:r>
              <a:rPr lang="ja-JP" altLang="en-US" sz="2000" b="1" dirty="0">
                <a:solidFill>
                  <a:schemeClr val="bg1"/>
                </a:solidFill>
                <a:latin typeface="メイリオ" panose="020B0604030504040204" pitchFamily="50" charset="-128"/>
                <a:ea typeface="メイリオ" panose="020B0604030504040204" pitchFamily="50" charset="-128"/>
              </a:rPr>
              <a:t>記事制作</a:t>
            </a:r>
            <a:endParaRPr kumimoji="1" lang="ja-JP" altLang="en-US" sz="2000" b="1" noProof="0" dirty="0">
              <a:solidFill>
                <a:schemeClr val="bg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DA0A270A-90B6-6EBA-96A6-B8D6C8D8950F}"/>
              </a:ext>
            </a:extLst>
          </p:cNvPr>
          <p:cNvSpPr txBox="1"/>
          <p:nvPr/>
        </p:nvSpPr>
        <p:spPr>
          <a:xfrm>
            <a:off x="5484810" y="6212794"/>
            <a:ext cx="1231427" cy="338554"/>
          </a:xfrm>
          <a:prstGeom prst="rect">
            <a:avLst/>
          </a:prstGeom>
          <a:noFill/>
        </p:spPr>
        <p:txBody>
          <a:bodyPr wrap="none" rtlCol="0">
            <a:spAutoFit/>
          </a:bodyPr>
          <a:lstStyle/>
          <a:p>
            <a:r>
              <a:rPr lang="en-US" altLang="ja-JP" sz="800">
                <a:latin typeface="メイリオ" panose="020B0604030504040204" pitchFamily="50" charset="-128"/>
                <a:ea typeface="メイリオ" panose="020B0604030504040204" pitchFamily="50" charset="-128"/>
              </a:rPr>
              <a:t>『RECRUIT</a:t>
            </a:r>
            <a:r>
              <a:rPr lang="ja-JP" altLang="en-US" sz="8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AGENT』</a:t>
            </a:r>
            <a:endParaRPr lang="en-US" altLang="ja-JP" sz="800" b="0" i="0">
              <a:effectLst/>
              <a:latin typeface="メイリオ" panose="020B0604030504040204" pitchFamily="50" charset="-128"/>
              <a:ea typeface="メイリオ" panose="020B0604030504040204" pitchFamily="50" charset="-128"/>
            </a:endParaRPr>
          </a:p>
          <a:p>
            <a:r>
              <a:rPr lang="en-US" altLang="ja-JP" sz="800" b="0" i="0">
                <a:effectLst/>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R</a:t>
            </a:r>
            <a:r>
              <a:rPr lang="en-US" altLang="ja-JP" sz="800" b="0" i="0">
                <a:effectLst/>
                <a:latin typeface="メイリオ" panose="020B0604030504040204" pitchFamily="50" charset="-128"/>
                <a:ea typeface="メイリオ" panose="020B0604030504040204" pitchFamily="50" charset="-128"/>
              </a:rPr>
              <a:t>ecruit Co., Ltd.</a:t>
            </a:r>
            <a:endParaRPr kumimoji="1" lang="ja-JP" altLang="en-US" sz="80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72EF5B4-B630-8785-6335-9EDFE45F092C}"/>
              </a:ext>
            </a:extLst>
          </p:cNvPr>
          <p:cNvSpPr txBox="1"/>
          <p:nvPr/>
        </p:nvSpPr>
        <p:spPr>
          <a:xfrm>
            <a:off x="5484810" y="3898281"/>
            <a:ext cx="1401346" cy="461665"/>
          </a:xfrm>
          <a:prstGeom prst="rect">
            <a:avLst/>
          </a:prstGeom>
          <a:noFill/>
        </p:spPr>
        <p:txBody>
          <a:bodyPr wrap="none" rtlCol="0">
            <a:spAutoFit/>
          </a:bodyPr>
          <a:lstStyle/>
          <a:p>
            <a:r>
              <a:rPr lang="en-US" altLang="ja-JP" sz="800">
                <a:latin typeface="メイリオ" panose="020B0604030504040204" pitchFamily="50" charset="-128"/>
                <a:ea typeface="メイリオ" panose="020B0604030504040204" pitchFamily="50" charset="-128"/>
              </a:rPr>
              <a:t>『</a:t>
            </a:r>
            <a:r>
              <a:rPr kumimoji="0" lang="en-US" altLang="ja-JP" sz="800">
                <a:ln w="19050">
                  <a:noFill/>
                </a:ln>
                <a:solidFill>
                  <a:srgbClr val="424F56"/>
                </a:solidFill>
                <a:latin typeface="メイリオ" panose="020B0604030504040204" pitchFamily="50" charset="-128"/>
                <a:ea typeface="メイリオ" panose="020B0604030504040204" pitchFamily="50" charset="-128"/>
              </a:rPr>
              <a:t> Hot Pepper Beauty </a:t>
            </a:r>
            <a:r>
              <a:rPr lang="en-US" altLang="ja-JP" sz="800">
                <a:latin typeface="メイリオ" panose="020B0604030504040204" pitchFamily="50" charset="-128"/>
                <a:ea typeface="メイリオ" panose="020B0604030504040204" pitchFamily="50" charset="-128"/>
              </a:rPr>
              <a:t>』</a:t>
            </a:r>
          </a:p>
          <a:p>
            <a:r>
              <a:rPr lang="en-US" altLang="ja-JP" sz="800">
                <a:latin typeface="メイリオ" panose="020B0604030504040204" pitchFamily="50" charset="-128"/>
                <a:ea typeface="メイリオ" panose="020B0604030504040204" pitchFamily="50" charset="-128"/>
              </a:rPr>
              <a:t>『</a:t>
            </a:r>
            <a:r>
              <a:rPr kumimoji="0" lang="en-US" altLang="ja-JP" sz="800">
                <a:ln w="19050">
                  <a:noFill/>
                </a:ln>
                <a:solidFill>
                  <a:srgbClr val="424F56"/>
                </a:solidFill>
                <a:latin typeface="メイリオ" panose="020B0604030504040204" pitchFamily="50" charset="-128"/>
                <a:ea typeface="メイリオ" panose="020B0604030504040204" pitchFamily="50" charset="-128"/>
              </a:rPr>
              <a:t> Hot Pepper</a:t>
            </a:r>
            <a:r>
              <a:rPr kumimoji="0" lang="ja-JP" altLang="en-US" sz="800">
                <a:ln w="19050">
                  <a:noFill/>
                </a:ln>
                <a:solidFill>
                  <a:srgbClr val="424F56"/>
                </a:solidFill>
                <a:latin typeface="メイリオ" panose="020B0604030504040204" pitchFamily="50" charset="-128"/>
                <a:ea typeface="メイリオ" panose="020B0604030504040204" pitchFamily="50" charset="-128"/>
              </a:rPr>
              <a:t>グルメ</a:t>
            </a:r>
            <a:r>
              <a:rPr lang="en-US" altLang="ja-JP" sz="800">
                <a:latin typeface="メイリオ" panose="020B0604030504040204" pitchFamily="50" charset="-128"/>
                <a:ea typeface="メイリオ" panose="020B0604030504040204" pitchFamily="50" charset="-128"/>
              </a:rPr>
              <a:t>』</a:t>
            </a:r>
            <a:endParaRPr lang="en-US" altLang="ja-JP" sz="800" b="0" i="0">
              <a:effectLst/>
              <a:latin typeface="メイリオ" panose="020B0604030504040204" pitchFamily="50" charset="-128"/>
              <a:ea typeface="メイリオ" panose="020B0604030504040204" pitchFamily="50" charset="-128"/>
            </a:endParaRPr>
          </a:p>
          <a:p>
            <a:r>
              <a:rPr lang="en-US" altLang="ja-JP" sz="800" b="0" i="0">
                <a:effectLst/>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R</a:t>
            </a:r>
            <a:r>
              <a:rPr lang="en-US" altLang="ja-JP" sz="800" b="0" i="0">
                <a:effectLst/>
                <a:latin typeface="メイリオ" panose="020B0604030504040204" pitchFamily="50" charset="-128"/>
                <a:ea typeface="メイリオ" panose="020B0604030504040204" pitchFamily="50" charset="-128"/>
              </a:rPr>
              <a:t>ecruit Co., Ltd.</a:t>
            </a:r>
            <a:endParaRPr kumimoji="1" lang="ja-JP" altLang="en-US" sz="8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61339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09747-AE7B-4BA7-1CF2-665957F23330}"/>
            </a:ext>
          </a:extLst>
        </p:cNvPr>
        <p:cNvGrpSpPr/>
        <p:nvPr/>
      </p:nvGrpSpPr>
      <p:grpSpPr>
        <a:xfrm>
          <a:off x="0" y="0"/>
          <a:ext cx="0" cy="0"/>
          <a:chOff x="0" y="0"/>
          <a:chExt cx="0" cy="0"/>
        </a:xfrm>
      </p:grpSpPr>
      <p:sp>
        <p:nvSpPr>
          <p:cNvPr id="14" name="コンテンツ プレースホルダー 13">
            <a:extLst>
              <a:ext uri="{FF2B5EF4-FFF2-40B4-BE49-F238E27FC236}">
                <a16:creationId xmlns:a16="http://schemas.microsoft.com/office/drawing/2014/main" id="{42B7815B-A961-EBE2-8E25-85A9C9898713}"/>
              </a:ext>
            </a:extLst>
          </p:cNvPr>
          <p:cNvSpPr>
            <a:spLocks noGrp="1"/>
          </p:cNvSpPr>
          <p:nvPr>
            <p:ph idx="1"/>
          </p:nvPr>
        </p:nvSpPr>
        <p:spPr>
          <a:xfrm>
            <a:off x="486142" y="1706880"/>
            <a:ext cx="4672152" cy="4844468"/>
          </a:xfrm>
        </p:spPr>
        <p:txBody>
          <a:bodyPr>
            <a:noAutofit/>
          </a:bodyPr>
          <a:lstStyle/>
          <a:p>
            <a:pPr marL="0" indent="0">
              <a:lnSpc>
                <a:spcPct val="150000"/>
              </a:lnSpc>
              <a:buNone/>
            </a:pPr>
            <a:r>
              <a:rPr kumimoji="1" lang="ja-JP" altLang="en-US" sz="1600" b="1">
                <a:latin typeface="+mn-ea"/>
              </a:rPr>
              <a:t>クリーク･アンド･リバー社内の社員教育の一環で採用ブランディング動画を制作</a:t>
            </a:r>
            <a:endParaRPr kumimoji="1" lang="en-US" altLang="ja-JP" sz="1600" b="1">
              <a:latin typeface="+mn-ea"/>
            </a:endParaRPr>
          </a:p>
          <a:p>
            <a:pPr marL="0" indent="0">
              <a:lnSpc>
                <a:spcPct val="150000"/>
              </a:lnSpc>
              <a:buNone/>
            </a:pPr>
            <a:r>
              <a:rPr lang="ja-JP" altLang="en-US" sz="1600">
                <a:latin typeface="+mn-ea"/>
              </a:rPr>
              <a:t>新卒会社説明会や、新入社員・新体制での紹介動画として活用したり、社外へのサービスプロモーションとしても利用しています。</a:t>
            </a:r>
            <a:endParaRPr kumimoji="1" lang="en-US" altLang="ja-JP" sz="1600">
              <a:latin typeface="+mn-ea"/>
            </a:endParaRPr>
          </a:p>
          <a:p>
            <a:pPr marL="0" indent="0">
              <a:lnSpc>
                <a:spcPct val="150000"/>
              </a:lnSpc>
              <a:buNone/>
            </a:pPr>
            <a:endParaRPr lang="en-US" altLang="ja-JP" sz="1600">
              <a:latin typeface="+mn-ea"/>
            </a:endParaRPr>
          </a:p>
          <a:p>
            <a:pPr marL="0" indent="0">
              <a:lnSpc>
                <a:spcPct val="150000"/>
              </a:lnSpc>
              <a:buNone/>
            </a:pPr>
            <a:r>
              <a:rPr lang="ja-JP" altLang="en-US" sz="1600">
                <a:latin typeface="+mn-ea"/>
              </a:rPr>
              <a:t>＜対応領域＞</a:t>
            </a:r>
            <a:endParaRPr lang="en-US" altLang="ja-JP" sz="1600">
              <a:latin typeface="+mn-ea"/>
            </a:endParaRPr>
          </a:p>
          <a:p>
            <a:pPr algn="just"/>
            <a:r>
              <a:rPr lang="ja-JP" altLang="en-US" sz="1600" kern="100">
                <a:latin typeface="+mn-ea"/>
                <a:cs typeface="Times New Roman" panose="02020603050405020304" pitchFamily="18" charset="0"/>
              </a:rPr>
              <a:t>■撮影～編集（撮影場所手配含む）</a:t>
            </a:r>
            <a:endParaRPr lang="en-US" altLang="ja-JP" sz="1600" kern="100">
              <a:latin typeface="+mn-ea"/>
              <a:cs typeface="Times New Roman" panose="02020603050405020304" pitchFamily="18" charset="0"/>
            </a:endParaRPr>
          </a:p>
          <a:p>
            <a:pPr algn="just"/>
            <a:r>
              <a:rPr lang="ja-JP" altLang="en-US" sz="1600" kern="100">
                <a:latin typeface="+mn-ea"/>
                <a:cs typeface="Times New Roman" panose="02020603050405020304" pitchFamily="18" charset="0"/>
              </a:rPr>
              <a:t>■インタビュー実施</a:t>
            </a:r>
            <a:endParaRPr lang="en-US" altLang="ja-JP" sz="1600" kern="100">
              <a:latin typeface="+mn-ea"/>
              <a:cs typeface="Times New Roman" panose="02020603050405020304" pitchFamily="18" charset="0"/>
            </a:endParaRPr>
          </a:p>
          <a:p>
            <a:pPr algn="just"/>
            <a:r>
              <a:rPr lang="ja-JP" altLang="en-US" sz="1600" kern="100">
                <a:latin typeface="+mn-ea"/>
                <a:cs typeface="Times New Roman" panose="02020603050405020304" pitchFamily="18" charset="0"/>
              </a:rPr>
              <a:t>■</a:t>
            </a:r>
            <a:r>
              <a:rPr lang="en-US" altLang="ja-JP" sz="1600" kern="100">
                <a:latin typeface="+mn-ea"/>
                <a:cs typeface="Times New Roman" panose="02020603050405020304" pitchFamily="18" charset="0"/>
              </a:rPr>
              <a:t>YouTube</a:t>
            </a:r>
            <a:r>
              <a:rPr lang="ja-JP" altLang="en-US" sz="1600" kern="100">
                <a:latin typeface="+mn-ea"/>
                <a:cs typeface="Times New Roman" panose="02020603050405020304" pitchFamily="18" charset="0"/>
              </a:rPr>
              <a:t>アカウントへのアップロード</a:t>
            </a:r>
            <a:endParaRPr lang="en-US" altLang="ja-JP" sz="1600">
              <a:latin typeface="+mn-ea"/>
            </a:endParaRPr>
          </a:p>
        </p:txBody>
      </p:sp>
      <p:cxnSp>
        <p:nvCxnSpPr>
          <p:cNvPr id="6" name="直線コネクタ 5">
            <a:extLst>
              <a:ext uri="{FF2B5EF4-FFF2-40B4-BE49-F238E27FC236}">
                <a16:creationId xmlns:a16="http://schemas.microsoft.com/office/drawing/2014/main" id="{D454CEBE-8747-25E4-EFD4-79F90F947075}"/>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6C60EAA0-1B0F-FA51-CD2E-82DDC038197A}"/>
              </a:ext>
            </a:extLst>
          </p:cNvPr>
          <p:cNvSpPr>
            <a:spLocks noGrp="1"/>
          </p:cNvSpPr>
          <p:nvPr>
            <p:ph idx="10"/>
          </p:nvPr>
        </p:nvSpPr>
        <p:spPr/>
        <p:txBody>
          <a:bodyPr/>
          <a:lstStyle/>
          <a:p>
            <a:r>
              <a:rPr lang="ja-JP" altLang="en-US" b="1"/>
              <a:t>採用ブランディング動画の制作</a:t>
            </a:r>
            <a:endParaRPr lang="en-US" altLang="ja-JP" b="1"/>
          </a:p>
        </p:txBody>
      </p:sp>
      <p:sp>
        <p:nvSpPr>
          <p:cNvPr id="11" name="タイトル 10">
            <a:extLst>
              <a:ext uri="{FF2B5EF4-FFF2-40B4-BE49-F238E27FC236}">
                <a16:creationId xmlns:a16="http://schemas.microsoft.com/office/drawing/2014/main" id="{A2383347-7FAA-41F4-1A8E-04EB359E92E9}"/>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19FE070A-B764-12B4-BDE4-838CDF039879}"/>
              </a:ext>
            </a:extLst>
          </p:cNvPr>
          <p:cNvSpPr>
            <a:spLocks noGrp="1"/>
          </p:cNvSpPr>
          <p:nvPr>
            <p:ph type="sldNum" sz="quarter" idx="11"/>
          </p:nvPr>
        </p:nvSpPr>
        <p:spPr/>
        <p:txBody>
          <a:bodyPr/>
          <a:lstStyle/>
          <a:p>
            <a:fld id="{B75FDD43-FCEC-4ECC-8189-A5C6D2E08DC6}" type="slidenum">
              <a:rPr lang="ja-JP" altLang="en-US" smtClean="0"/>
              <a:pPr/>
              <a:t>59</a:t>
            </a:fld>
            <a:endParaRPr lang="ja-JP" altLang="en-US"/>
          </a:p>
        </p:txBody>
      </p:sp>
      <p:sp>
        <p:nvSpPr>
          <p:cNvPr id="2" name="四角形: 角を丸くする 1">
            <a:extLst>
              <a:ext uri="{FF2B5EF4-FFF2-40B4-BE49-F238E27FC236}">
                <a16:creationId xmlns:a16="http://schemas.microsoft.com/office/drawing/2014/main" id="{3D660406-EC86-E75D-A6D4-5B8389995B06}"/>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組織</a:t>
            </a:r>
          </a:p>
        </p:txBody>
      </p:sp>
      <p:sp>
        <p:nvSpPr>
          <p:cNvPr id="4" name="四角形: 角を丸くする 3">
            <a:extLst>
              <a:ext uri="{FF2B5EF4-FFF2-40B4-BE49-F238E27FC236}">
                <a16:creationId xmlns:a16="http://schemas.microsoft.com/office/drawing/2014/main" id="{5798DA64-4367-4903-5C62-03B5711CC3A6}"/>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浸透</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5" name="四角形: 角を丸くする 4">
            <a:extLst>
              <a:ext uri="{FF2B5EF4-FFF2-40B4-BE49-F238E27FC236}">
                <a16:creationId xmlns:a16="http://schemas.microsoft.com/office/drawing/2014/main" id="{BADCA12B-17BF-38E7-FE0C-0A78B2B28A0C}"/>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社員育成</a:t>
            </a:r>
          </a:p>
        </p:txBody>
      </p:sp>
      <p:grpSp>
        <p:nvGrpSpPr>
          <p:cNvPr id="29" name="グループ化 28">
            <a:extLst>
              <a:ext uri="{FF2B5EF4-FFF2-40B4-BE49-F238E27FC236}">
                <a16:creationId xmlns:a16="http://schemas.microsoft.com/office/drawing/2014/main" id="{D52F2DCA-F193-00CC-08C0-2B3880549A57}"/>
              </a:ext>
            </a:extLst>
          </p:cNvPr>
          <p:cNvGrpSpPr/>
          <p:nvPr/>
        </p:nvGrpSpPr>
        <p:grpSpPr>
          <a:xfrm>
            <a:off x="5913639" y="1706880"/>
            <a:ext cx="5670279" cy="2363932"/>
            <a:chOff x="5635504" y="4262163"/>
            <a:chExt cx="6373616" cy="2657152"/>
          </a:xfrm>
        </p:grpSpPr>
        <p:pic>
          <p:nvPicPr>
            <p:cNvPr id="19" name="図 18" descr="スーツを着た男性と文字&#10;&#10;低い精度で自動的に生成された説明">
              <a:extLst>
                <a:ext uri="{FF2B5EF4-FFF2-40B4-BE49-F238E27FC236}">
                  <a16:creationId xmlns:a16="http://schemas.microsoft.com/office/drawing/2014/main" id="{B19AD1B4-C199-063D-18E2-D05621D92E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5862" y="4262163"/>
              <a:ext cx="4323258" cy="2657152"/>
            </a:xfrm>
            <a:prstGeom prst="rect">
              <a:avLst/>
            </a:prstGeom>
          </p:spPr>
        </p:pic>
        <p:grpSp>
          <p:nvGrpSpPr>
            <p:cNvPr id="28" name="グループ化 27">
              <a:extLst>
                <a:ext uri="{FF2B5EF4-FFF2-40B4-BE49-F238E27FC236}">
                  <a16:creationId xmlns:a16="http://schemas.microsoft.com/office/drawing/2014/main" id="{BA46BB82-49F6-9A4C-CDCB-E0395F58D0BB}"/>
                </a:ext>
              </a:extLst>
            </p:cNvPr>
            <p:cNvGrpSpPr/>
            <p:nvPr/>
          </p:nvGrpSpPr>
          <p:grpSpPr>
            <a:xfrm>
              <a:off x="5635504" y="4350070"/>
              <a:ext cx="1975888" cy="2308041"/>
              <a:chOff x="1357210" y="3312710"/>
              <a:chExt cx="3803095" cy="4442406"/>
            </a:xfrm>
          </p:grpSpPr>
          <p:pic>
            <p:nvPicPr>
              <p:cNvPr id="22" name="図 21" descr="屋内, 天井, 人, 空港 が含まれている画像&#10;&#10;自動的に生成された説明">
                <a:extLst>
                  <a:ext uri="{FF2B5EF4-FFF2-40B4-BE49-F238E27FC236}">
                    <a16:creationId xmlns:a16="http://schemas.microsoft.com/office/drawing/2014/main" id="{A153A1F1-DFB9-0274-4C9E-2871EB3AA7D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57210" y="5615056"/>
                <a:ext cx="3803095" cy="2140060"/>
              </a:xfrm>
              <a:prstGeom prst="rect">
                <a:avLst/>
              </a:prstGeom>
            </p:spPr>
          </p:pic>
          <p:pic>
            <p:nvPicPr>
              <p:cNvPr id="24" name="図 23" descr="会議室でパソコンを使っている人&#10;&#10;中程度の精度で自動的に生成された説明">
                <a:extLst>
                  <a:ext uri="{FF2B5EF4-FFF2-40B4-BE49-F238E27FC236}">
                    <a16:creationId xmlns:a16="http://schemas.microsoft.com/office/drawing/2014/main" id="{24B48912-BF1F-324A-3F3D-A03DC685AE7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63775" y="3312710"/>
                <a:ext cx="3789964" cy="2140060"/>
              </a:xfrm>
              <a:prstGeom prst="rect">
                <a:avLst/>
              </a:prstGeom>
            </p:spPr>
          </p:pic>
        </p:grpSp>
      </p:grpSp>
      <p:grpSp>
        <p:nvGrpSpPr>
          <p:cNvPr id="31" name="グループ化 30">
            <a:extLst>
              <a:ext uri="{FF2B5EF4-FFF2-40B4-BE49-F238E27FC236}">
                <a16:creationId xmlns:a16="http://schemas.microsoft.com/office/drawing/2014/main" id="{56476BA7-316B-061E-710C-389C12DE2279}"/>
              </a:ext>
            </a:extLst>
          </p:cNvPr>
          <p:cNvGrpSpPr/>
          <p:nvPr/>
        </p:nvGrpSpPr>
        <p:grpSpPr>
          <a:xfrm>
            <a:off x="5787730" y="4267050"/>
            <a:ext cx="5735684" cy="2448810"/>
            <a:chOff x="5474738" y="1470673"/>
            <a:chExt cx="6309232" cy="2693682"/>
          </a:xfrm>
        </p:grpSpPr>
        <p:pic>
          <p:nvPicPr>
            <p:cNvPr id="32" name="図 31" descr="グラフィカル ユーザー インターフェイス, アプリケーション&#10;&#10;自動的に生成された説明">
              <a:extLst>
                <a:ext uri="{FF2B5EF4-FFF2-40B4-BE49-F238E27FC236}">
                  <a16:creationId xmlns:a16="http://schemas.microsoft.com/office/drawing/2014/main" id="{16CEA5E6-D45C-6F7F-58B4-69D0BE2C004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74738" y="1470673"/>
              <a:ext cx="4422248" cy="2693682"/>
            </a:xfrm>
            <a:prstGeom prst="rect">
              <a:avLst/>
            </a:prstGeom>
          </p:spPr>
        </p:pic>
        <p:grpSp>
          <p:nvGrpSpPr>
            <p:cNvPr id="33" name="グループ化 32">
              <a:extLst>
                <a:ext uri="{FF2B5EF4-FFF2-40B4-BE49-F238E27FC236}">
                  <a16:creationId xmlns:a16="http://schemas.microsoft.com/office/drawing/2014/main" id="{F28097E1-AD65-D2C8-9D36-0EBFBAB587B3}"/>
                </a:ext>
              </a:extLst>
            </p:cNvPr>
            <p:cNvGrpSpPr/>
            <p:nvPr/>
          </p:nvGrpSpPr>
          <p:grpSpPr>
            <a:xfrm>
              <a:off x="9896985" y="1602739"/>
              <a:ext cx="1886985" cy="2300006"/>
              <a:chOff x="15544171" y="1813274"/>
              <a:chExt cx="2178595" cy="2655443"/>
            </a:xfrm>
          </p:grpSpPr>
          <p:pic>
            <p:nvPicPr>
              <p:cNvPr id="34" name="図 33" descr="机の上に座っている女性&#10;&#10;低い精度で自動的に生成された説明">
                <a:extLst>
                  <a:ext uri="{FF2B5EF4-FFF2-40B4-BE49-F238E27FC236}">
                    <a16:creationId xmlns:a16="http://schemas.microsoft.com/office/drawing/2014/main" id="{2CEBEDF9-89AA-8ADB-4F13-D4C9080A240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544171" y="3249056"/>
                <a:ext cx="2172443" cy="1219661"/>
              </a:xfrm>
              <a:prstGeom prst="rect">
                <a:avLst/>
              </a:prstGeom>
            </p:spPr>
          </p:pic>
          <p:pic>
            <p:nvPicPr>
              <p:cNvPr id="35" name="図 34" descr="窓, 屋内, 男, テーブル が含まれている画像&#10;&#10;自動的に生成された説明">
                <a:extLst>
                  <a:ext uri="{FF2B5EF4-FFF2-40B4-BE49-F238E27FC236}">
                    <a16:creationId xmlns:a16="http://schemas.microsoft.com/office/drawing/2014/main" id="{539DB701-4149-9214-462E-08352ED9CCB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5557805" y="1813274"/>
                <a:ext cx="2164961" cy="1219661"/>
              </a:xfrm>
              <a:prstGeom prst="rect">
                <a:avLst/>
              </a:prstGeom>
            </p:spPr>
          </p:pic>
        </p:grpSp>
      </p:grpSp>
      <p:sp>
        <p:nvSpPr>
          <p:cNvPr id="37" name="テキスト ボックス 36">
            <a:extLst>
              <a:ext uri="{FF2B5EF4-FFF2-40B4-BE49-F238E27FC236}">
                <a16:creationId xmlns:a16="http://schemas.microsoft.com/office/drawing/2014/main" id="{29D775BB-E51B-3B3C-FEE8-F3017FB7289F}"/>
              </a:ext>
            </a:extLst>
          </p:cNvPr>
          <p:cNvSpPr txBox="1"/>
          <p:nvPr/>
        </p:nvSpPr>
        <p:spPr>
          <a:xfrm>
            <a:off x="5935521" y="1496423"/>
            <a:ext cx="1595309" cy="261610"/>
          </a:xfrm>
          <a:prstGeom prst="rect">
            <a:avLst/>
          </a:prstGeom>
          <a:noFill/>
        </p:spPr>
        <p:txBody>
          <a:bodyPr wrap="none" rtlCol="0">
            <a:spAutoFit/>
          </a:bodyPr>
          <a:lstStyle/>
          <a:p>
            <a:r>
              <a:rPr kumimoji="1" lang="ja-JP" altLang="en-US" sz="1100">
                <a:solidFill>
                  <a:schemeClr val="accent4">
                    <a:lumMod val="75000"/>
                  </a:schemeClr>
                </a:solidFill>
                <a:latin typeface="メイリオ" panose="020B0604030504040204" pitchFamily="50" charset="-128"/>
                <a:ea typeface="メイリオ" panose="020B0604030504040204" pitchFamily="50" charset="-128"/>
                <a:hlinkClick r:id="rId9">
                  <a:extLst>
                    <a:ext uri="{A12FA001-AC4F-418D-AE19-62706E023703}">
                      <ahyp:hlinkClr xmlns:ahyp="http://schemas.microsoft.com/office/drawing/2018/hyperlinkcolor" val="tx"/>
                    </a:ext>
                  </a:extLst>
                </a:hlinkClick>
              </a:rPr>
              <a:t>▼動画の視聴はこちら</a:t>
            </a:r>
            <a:endParaRPr kumimoji="1" lang="ja-JP" altLang="en-US" sz="1100">
              <a:solidFill>
                <a:schemeClr val="accent4">
                  <a:lumMod val="75000"/>
                </a:schemeClr>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BC19D251-EFD8-5DB0-A8C1-51683133D8D4}"/>
              </a:ext>
            </a:extLst>
          </p:cNvPr>
          <p:cNvSpPr txBox="1"/>
          <p:nvPr/>
        </p:nvSpPr>
        <p:spPr>
          <a:xfrm>
            <a:off x="5935521" y="4119852"/>
            <a:ext cx="1595309" cy="261610"/>
          </a:xfrm>
          <a:prstGeom prst="rect">
            <a:avLst/>
          </a:prstGeom>
          <a:noFill/>
        </p:spPr>
        <p:txBody>
          <a:bodyPr wrap="none" rtlCol="0">
            <a:spAutoFit/>
          </a:bodyPr>
          <a:lstStyle/>
          <a:p>
            <a:r>
              <a:rPr kumimoji="1" lang="ja-JP" altLang="en-US" sz="1100">
                <a:solidFill>
                  <a:schemeClr val="accent4">
                    <a:lumMod val="75000"/>
                  </a:schemeClr>
                </a:solidFill>
                <a:latin typeface="メイリオ" panose="020B0604030504040204" pitchFamily="50" charset="-128"/>
                <a:ea typeface="メイリオ" panose="020B0604030504040204" pitchFamily="50" charset="-128"/>
                <a:hlinkClick r:id="rId9">
                  <a:extLst>
                    <a:ext uri="{A12FA001-AC4F-418D-AE19-62706E023703}">
                      <ahyp:hlinkClr xmlns:ahyp="http://schemas.microsoft.com/office/drawing/2018/hyperlinkcolor" val="tx"/>
                    </a:ext>
                  </a:extLst>
                </a:hlinkClick>
              </a:rPr>
              <a:t>▼動画の視聴はこちら</a:t>
            </a:r>
            <a:endParaRPr kumimoji="1" lang="ja-JP" altLang="en-US" sz="1100">
              <a:solidFill>
                <a:schemeClr val="accent4">
                  <a:lumMod val="7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6589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グループ化 36">
            <a:extLst>
              <a:ext uri="{FF2B5EF4-FFF2-40B4-BE49-F238E27FC236}">
                <a16:creationId xmlns:a16="http://schemas.microsoft.com/office/drawing/2014/main" id="{9998C47F-A0F0-EFE3-3FC6-8EDD1D041CD6}"/>
              </a:ext>
            </a:extLst>
          </p:cNvPr>
          <p:cNvGrpSpPr/>
          <p:nvPr/>
        </p:nvGrpSpPr>
        <p:grpSpPr>
          <a:xfrm>
            <a:off x="653801" y="1995798"/>
            <a:ext cx="4479256" cy="454219"/>
            <a:chOff x="653801" y="1995798"/>
            <a:chExt cx="4479256" cy="454219"/>
          </a:xfrm>
        </p:grpSpPr>
        <p:sp>
          <p:nvSpPr>
            <p:cNvPr id="10" name="正方形/長方形 9">
              <a:extLst>
                <a:ext uri="{FF2B5EF4-FFF2-40B4-BE49-F238E27FC236}">
                  <a16:creationId xmlns:a16="http://schemas.microsoft.com/office/drawing/2014/main" id="{6A548AC5-5F38-8805-49D1-ABB6678F8FF2}"/>
                </a:ext>
              </a:extLst>
            </p:cNvPr>
            <p:cNvSpPr/>
            <p:nvPr/>
          </p:nvSpPr>
          <p:spPr bwMode="auto">
            <a:xfrm>
              <a:off x="653801" y="1995798"/>
              <a:ext cx="4468325" cy="110201"/>
            </a:xfrm>
            <a:prstGeom prst="rect">
              <a:avLst/>
            </a:prstGeom>
            <a:solidFill>
              <a:schemeClr val="accent3">
                <a:lumMod val="60000"/>
                <a:lumOff val="40000"/>
                <a:alpha val="5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68658997-ABB7-A957-DF84-1DE512DEF9F0}"/>
                </a:ext>
              </a:extLst>
            </p:cNvPr>
            <p:cNvSpPr/>
            <p:nvPr/>
          </p:nvSpPr>
          <p:spPr bwMode="auto">
            <a:xfrm>
              <a:off x="664732" y="2339816"/>
              <a:ext cx="4468325" cy="110201"/>
            </a:xfrm>
            <a:prstGeom prst="rect">
              <a:avLst/>
            </a:prstGeom>
            <a:solidFill>
              <a:schemeClr val="accent3">
                <a:lumMod val="60000"/>
                <a:lumOff val="40000"/>
                <a:alpha val="50000"/>
              </a:schemeClr>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sp>
        <p:nvSpPr>
          <p:cNvPr id="14" name="コンテンツ プレースホルダー 13">
            <a:extLst>
              <a:ext uri="{FF2B5EF4-FFF2-40B4-BE49-F238E27FC236}">
                <a16:creationId xmlns:a16="http://schemas.microsoft.com/office/drawing/2014/main" id="{8DD313C8-DCBD-3EB2-E48A-8064C2E8994B}"/>
              </a:ext>
            </a:extLst>
          </p:cNvPr>
          <p:cNvSpPr>
            <a:spLocks noGrp="1"/>
          </p:cNvSpPr>
          <p:nvPr>
            <p:ph idx="1"/>
          </p:nvPr>
        </p:nvSpPr>
        <p:spPr>
          <a:xfrm>
            <a:off x="608082" y="1706880"/>
            <a:ext cx="4819872" cy="3422010"/>
          </a:xfrm>
        </p:spPr>
        <p:txBody>
          <a:bodyPr>
            <a:noAutofit/>
          </a:bodyPr>
          <a:lstStyle/>
          <a:p>
            <a:pPr marL="0" indent="0">
              <a:lnSpc>
                <a:spcPct val="150000"/>
              </a:lnSpc>
              <a:buNone/>
            </a:pPr>
            <a:r>
              <a:rPr kumimoji="1" lang="ja-JP" altLang="en-US" sz="1600" b="1">
                <a:latin typeface="+mn-ea"/>
              </a:rPr>
              <a:t>今年の</a:t>
            </a:r>
            <a:r>
              <a:rPr kumimoji="1" lang="en-US" altLang="ja-JP" sz="1600" b="1">
                <a:latin typeface="+mn-ea"/>
              </a:rPr>
              <a:t>TGS</a:t>
            </a:r>
            <a:r>
              <a:rPr kumimoji="1" lang="ja-JP" altLang="en-US" sz="1600" b="1">
                <a:latin typeface="+mn-ea"/>
              </a:rPr>
              <a:t>は国内出展社数、海外出展社数、出展タイトル数いずれも過去最多での史上最大規模！</a:t>
            </a:r>
            <a:endParaRPr kumimoji="1" lang="en-US" altLang="ja-JP" sz="1600" b="1">
              <a:latin typeface="+mn-ea"/>
            </a:endParaRPr>
          </a:p>
          <a:p>
            <a:pPr marL="0" indent="0">
              <a:lnSpc>
                <a:spcPct val="150000"/>
              </a:lnSpc>
              <a:buNone/>
            </a:pPr>
            <a:r>
              <a:rPr lang="en-US" altLang="ja-JP" sz="1400">
                <a:latin typeface="+mn-ea"/>
              </a:rPr>
              <a:t>PC3</a:t>
            </a:r>
            <a:r>
              <a:rPr lang="ja-JP" altLang="en-US" sz="1400">
                <a:latin typeface="+mn-ea"/>
              </a:rPr>
              <a:t>台での試遊展示には国内外のお客様が来場し、</a:t>
            </a:r>
            <a:r>
              <a:rPr lang="en-US" altLang="ja-JP" sz="1400">
                <a:latin typeface="+mn-ea"/>
              </a:rPr>
              <a:t>1</a:t>
            </a:r>
            <a:r>
              <a:rPr lang="ja-JP" altLang="en-US" sz="1400">
                <a:latin typeface="+mn-ea"/>
              </a:rPr>
              <a:t>日目の</a:t>
            </a:r>
            <a:r>
              <a:rPr lang="en-US" altLang="ja-JP" sz="1400">
                <a:latin typeface="+mn-ea"/>
              </a:rPr>
              <a:t>15</a:t>
            </a:r>
            <a:r>
              <a:rPr lang="ja-JP" altLang="en-US" sz="1400">
                <a:latin typeface="+mn-ea"/>
              </a:rPr>
              <a:t>時までに</a:t>
            </a:r>
            <a:r>
              <a:rPr lang="en-US" altLang="ja-JP" sz="1400">
                <a:latin typeface="+mn-ea"/>
              </a:rPr>
              <a:t>40</a:t>
            </a:r>
            <a:r>
              <a:rPr lang="ja-JP" altLang="en-US" sz="1400">
                <a:latin typeface="+mn-ea"/>
              </a:rPr>
              <a:t>名強がプレイ。その後も急遽整理券の配布が必要なほど大盛況で初日を飾った。</a:t>
            </a:r>
            <a:endParaRPr lang="en-US" altLang="ja-JP" sz="1400">
              <a:latin typeface="+mn-ea"/>
            </a:endParaRPr>
          </a:p>
          <a:p>
            <a:pPr marL="0" indent="0">
              <a:lnSpc>
                <a:spcPct val="150000"/>
              </a:lnSpc>
              <a:buNone/>
            </a:pPr>
            <a:r>
              <a:rPr lang="ja-JP" altLang="en-US" sz="1400">
                <a:solidFill>
                  <a:schemeClr val="accent4">
                    <a:lumMod val="75000"/>
                  </a:schemeClr>
                </a:solidFill>
                <a:latin typeface="+mn-ea"/>
                <a:hlinkClick r:id="rId2">
                  <a:extLst>
                    <a:ext uri="{A12FA001-AC4F-418D-AE19-62706E023703}">
                      <ahyp:hlinkClr xmlns:ahyp="http://schemas.microsoft.com/office/drawing/2018/hyperlinkcolor" val="tx"/>
                    </a:ext>
                  </a:extLst>
                </a:hlinkClick>
              </a:rPr>
              <a:t>クラウドファンディング</a:t>
            </a:r>
            <a:r>
              <a:rPr lang="ja-JP" altLang="en-US" sz="1400">
                <a:latin typeface="+mn-ea"/>
              </a:rPr>
              <a:t>のリターン品フィギュアや</a:t>
            </a:r>
            <a:br>
              <a:rPr lang="en-US" altLang="ja-JP" sz="1400">
                <a:latin typeface="+mn-ea"/>
              </a:rPr>
            </a:br>
            <a:r>
              <a:rPr lang="en-US" altLang="ja-JP" sz="1400">
                <a:latin typeface="+mn-ea"/>
              </a:rPr>
              <a:t>『</a:t>
            </a:r>
            <a:r>
              <a:rPr lang="ja-JP" altLang="en-US" sz="1400">
                <a:latin typeface="+mn-ea"/>
              </a:rPr>
              <a:t>紡ギ箱</a:t>
            </a:r>
            <a:r>
              <a:rPr lang="en-US" altLang="ja-JP" sz="1400">
                <a:latin typeface="+mn-ea"/>
              </a:rPr>
              <a:t>』</a:t>
            </a:r>
            <a:r>
              <a:rPr lang="ja-JP" altLang="en-US" sz="1400">
                <a:latin typeface="+mn-ea"/>
              </a:rPr>
              <a:t>に係るフィギュアも現物展示。</a:t>
            </a:r>
          </a:p>
        </p:txBody>
      </p:sp>
      <p:cxnSp>
        <p:nvCxnSpPr>
          <p:cNvPr id="6" name="直線コネクタ 5">
            <a:extLst>
              <a:ext uri="{FF2B5EF4-FFF2-40B4-BE49-F238E27FC236}">
                <a16:creationId xmlns:a16="http://schemas.microsoft.com/office/drawing/2014/main" id="{A775AC4C-6688-1019-EE9A-3C39A4713FED}"/>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256E532E-6B19-CD2C-EC1F-00C6CCB6A550}"/>
              </a:ext>
            </a:extLst>
          </p:cNvPr>
          <p:cNvSpPr>
            <a:spLocks noGrp="1"/>
          </p:cNvSpPr>
          <p:nvPr>
            <p:ph idx="10"/>
          </p:nvPr>
        </p:nvSpPr>
        <p:spPr>
          <a:xfrm>
            <a:off x="5708412" y="1034781"/>
            <a:ext cx="6420755" cy="5539901"/>
          </a:xfrm>
        </p:spPr>
        <p:txBody>
          <a:bodyPr/>
          <a:lstStyle/>
          <a:p>
            <a:r>
              <a:rPr lang="ja-JP" altLang="en-US" b="1"/>
              <a:t>「東京ゲームショウ</a:t>
            </a:r>
            <a:r>
              <a:rPr lang="en-US" altLang="ja-JP" b="1"/>
              <a:t>2024</a:t>
            </a:r>
            <a:r>
              <a:rPr lang="ja-JP" altLang="en-US" b="1"/>
              <a:t>」に</a:t>
            </a:r>
            <a:endParaRPr lang="en-US" altLang="ja-JP" b="1"/>
          </a:p>
          <a:p>
            <a:r>
              <a:rPr lang="en-US" altLang="ja-JP" b="1" i="0">
                <a:solidFill>
                  <a:schemeClr val="accent4">
                    <a:lumMod val="75000"/>
                  </a:schemeClr>
                </a:solidFill>
                <a:effectLst/>
                <a:highlight>
                  <a:srgbClr val="FFFFFF"/>
                </a:highlight>
                <a:hlinkClick r:id="rId3">
                  <a:extLst>
                    <a:ext uri="{A12FA001-AC4F-418D-AE19-62706E023703}">
                      <ahyp:hlinkClr xmlns:ahyp="http://schemas.microsoft.com/office/drawing/2018/hyperlinkcolor" val="tx"/>
                    </a:ext>
                  </a:extLst>
                </a:hlinkClick>
              </a:rPr>
              <a:t>『IZON. 』</a:t>
            </a:r>
            <a:r>
              <a:rPr lang="ja-JP" altLang="en-US" b="1" i="0">
                <a:effectLst/>
                <a:highlight>
                  <a:srgbClr val="FFFFFF"/>
                </a:highlight>
              </a:rPr>
              <a:t>初のプレイアブル試遊展示</a:t>
            </a:r>
            <a:endParaRPr lang="en-US" altLang="ja-JP" b="1" i="0">
              <a:effectLst/>
              <a:highlight>
                <a:srgbClr val="FFFFFF"/>
              </a:highlight>
            </a:endParaRPr>
          </a:p>
        </p:txBody>
      </p:sp>
      <p:sp>
        <p:nvSpPr>
          <p:cNvPr id="11" name="タイトル 10">
            <a:extLst>
              <a:ext uri="{FF2B5EF4-FFF2-40B4-BE49-F238E27FC236}">
                <a16:creationId xmlns:a16="http://schemas.microsoft.com/office/drawing/2014/main" id="{3EB08307-7A57-4884-4CD6-99C4AE2BAF07}"/>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CECD5F32-41ED-13AB-CD1C-BE39519CBF1E}"/>
              </a:ext>
            </a:extLst>
          </p:cNvPr>
          <p:cNvSpPr>
            <a:spLocks noGrp="1"/>
          </p:cNvSpPr>
          <p:nvPr>
            <p:ph type="sldNum" sz="quarter" idx="11"/>
          </p:nvPr>
        </p:nvSpPr>
        <p:spPr/>
        <p:txBody>
          <a:bodyPr/>
          <a:lstStyle/>
          <a:p>
            <a:fld id="{B75FDD43-FCEC-4ECC-8189-A5C6D2E08DC6}" type="slidenum">
              <a:rPr lang="ja-JP" altLang="en-US" smtClean="0"/>
              <a:pPr/>
              <a:t>60</a:t>
            </a:fld>
            <a:endParaRPr lang="ja-JP" altLang="en-US"/>
          </a:p>
        </p:txBody>
      </p:sp>
      <p:sp>
        <p:nvSpPr>
          <p:cNvPr id="18" name="四角形: 角を丸くする 17">
            <a:extLst>
              <a:ext uri="{FF2B5EF4-FFF2-40B4-BE49-F238E27FC236}">
                <a16:creationId xmlns:a16="http://schemas.microsoft.com/office/drawing/2014/main" id="{AAD7F508-D529-53A4-A96B-EB9141C15C3B}"/>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ゲーム開発</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FBEB1E76-70C7-FFBF-9892-DC3B76904FF0}"/>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en-US" altLang="ja-JP" sz="1600" b="1" noProof="0">
                <a:solidFill>
                  <a:schemeClr val="bg1"/>
                </a:solidFill>
                <a:latin typeface="メイリオ" panose="020B0604030504040204" pitchFamily="50" charset="-128"/>
                <a:ea typeface="メイリオ" panose="020B0604030504040204" pitchFamily="50" charset="-128"/>
              </a:rPr>
              <a:t>Steam</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pic>
        <p:nvPicPr>
          <p:cNvPr id="2" name="図 1" descr="マップ&#10;&#10;自動的に生成された説明">
            <a:extLst>
              <a:ext uri="{FF2B5EF4-FFF2-40B4-BE49-F238E27FC236}">
                <a16:creationId xmlns:a16="http://schemas.microsoft.com/office/drawing/2014/main" id="{70649C47-1EFC-822D-6461-A6A168B0883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517671" y="2339099"/>
            <a:ext cx="3030553" cy="1705063"/>
          </a:xfrm>
          <a:prstGeom prst="rect">
            <a:avLst/>
          </a:prstGeom>
        </p:spPr>
      </p:pic>
      <p:pic>
        <p:nvPicPr>
          <p:cNvPr id="1026" name="Picture 2">
            <a:extLst>
              <a:ext uri="{FF2B5EF4-FFF2-40B4-BE49-F238E27FC236}">
                <a16:creationId xmlns:a16="http://schemas.microsoft.com/office/drawing/2014/main" id="{E2AC7D41-63DC-3C8C-7DBF-8C9E7D14B3ED}"/>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222"/>
          <a:stretch/>
        </p:blipFill>
        <p:spPr bwMode="auto">
          <a:xfrm>
            <a:off x="8665423" y="2339099"/>
            <a:ext cx="3374027" cy="22212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690EE7F-C54E-C512-79F1-CC6D20F4E69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94980" y="4099239"/>
            <a:ext cx="1948215" cy="25976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3607A0B-8D0E-38C9-8726-3F5E8E1CD92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31199" y="4639458"/>
            <a:ext cx="2743201" cy="2057401"/>
          </a:xfrm>
          <a:prstGeom prst="rect">
            <a:avLst/>
          </a:prstGeom>
          <a:noFill/>
          <a:extLst>
            <a:ext uri="{909E8E84-426E-40DD-AFC4-6F175D3DCCD1}">
              <a14:hiddenFill xmlns:a14="http://schemas.microsoft.com/office/drawing/2010/main">
                <a:solidFill>
                  <a:srgbClr val="FFFFFF"/>
                </a:solidFill>
              </a14:hiddenFill>
            </a:ext>
          </a:extLst>
        </p:spPr>
      </p:pic>
      <p:pic>
        <p:nvPicPr>
          <p:cNvPr id="8" name="図 7" descr="小さい, テーブル, 暗い, 花 が含まれている画像&#10;&#10;自動的に生成された説明">
            <a:extLst>
              <a:ext uri="{FF2B5EF4-FFF2-40B4-BE49-F238E27FC236}">
                <a16:creationId xmlns:a16="http://schemas.microsoft.com/office/drawing/2014/main" id="{6A86A29E-63DC-A5DB-B69A-794450EEA408}"/>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1280831" y="4489675"/>
            <a:ext cx="2967976" cy="1978651"/>
          </a:xfrm>
          <a:prstGeom prst="rect">
            <a:avLst/>
          </a:prstGeom>
        </p:spPr>
      </p:pic>
    </p:spTree>
    <p:extLst>
      <p:ext uri="{BB962C8B-B14F-4D97-AF65-F5344CB8AC3E}">
        <p14:creationId xmlns:p14="http://schemas.microsoft.com/office/powerpoint/2010/main" val="7266088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コンテンツ プレースホルダー 13">
            <a:extLst>
              <a:ext uri="{FF2B5EF4-FFF2-40B4-BE49-F238E27FC236}">
                <a16:creationId xmlns:a16="http://schemas.microsoft.com/office/drawing/2014/main" id="{8DD313C8-DCBD-3EB2-E48A-8064C2E8994B}"/>
              </a:ext>
            </a:extLst>
          </p:cNvPr>
          <p:cNvSpPr>
            <a:spLocks noGrp="1"/>
          </p:cNvSpPr>
          <p:nvPr>
            <p:ph idx="1"/>
          </p:nvPr>
        </p:nvSpPr>
        <p:spPr>
          <a:xfrm>
            <a:off x="608082" y="1706880"/>
            <a:ext cx="4672152" cy="2697407"/>
          </a:xfrm>
        </p:spPr>
        <p:txBody>
          <a:bodyPr>
            <a:noAutofit/>
          </a:bodyPr>
          <a:lstStyle/>
          <a:p>
            <a:pPr marL="0" indent="0">
              <a:lnSpc>
                <a:spcPct val="150000"/>
              </a:lnSpc>
              <a:buNone/>
            </a:pPr>
            <a:r>
              <a:rPr lang="ja-JP" altLang="en-US" sz="1600" b="1"/>
              <a:t>モントリオール支社では「</a:t>
            </a:r>
            <a:r>
              <a:rPr lang="en-US" altLang="ja-JP" sz="1600" b="1"/>
              <a:t>COYOTE 3DCG STUDIO</a:t>
            </a:r>
            <a:r>
              <a:rPr lang="ja-JP" altLang="en-US" sz="1600" b="1"/>
              <a:t>」を中心に海外のゲーム企業の多くと接点を持って商談継続中。</a:t>
            </a:r>
            <a:endParaRPr lang="en-US" altLang="ja-JP" sz="1600" b="1"/>
          </a:p>
          <a:p>
            <a:pPr marL="0" indent="0">
              <a:lnSpc>
                <a:spcPct val="150000"/>
              </a:lnSpc>
              <a:buNone/>
            </a:pPr>
            <a:r>
              <a:rPr lang="ja-JP" altLang="en-US" sz="1600"/>
              <a:t>およそ</a:t>
            </a:r>
            <a:r>
              <a:rPr lang="en-US" altLang="ja-JP" sz="1600"/>
              <a:t>17</a:t>
            </a:r>
            <a:r>
              <a:rPr lang="ja-JP" altLang="en-US" sz="1600"/>
              <a:t>時間の時差を超えて日本とのコミュニケーションを重ねながら事業拡大を狙う。</a:t>
            </a:r>
            <a:endParaRPr lang="en-US" altLang="ja-JP" sz="1600"/>
          </a:p>
        </p:txBody>
      </p:sp>
      <p:cxnSp>
        <p:nvCxnSpPr>
          <p:cNvPr id="6" name="直線コネクタ 5">
            <a:extLst>
              <a:ext uri="{FF2B5EF4-FFF2-40B4-BE49-F238E27FC236}">
                <a16:creationId xmlns:a16="http://schemas.microsoft.com/office/drawing/2014/main" id="{A775AC4C-6688-1019-EE9A-3C39A4713FED}"/>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256E532E-6B19-CD2C-EC1F-00C6CCB6A550}"/>
              </a:ext>
            </a:extLst>
          </p:cNvPr>
          <p:cNvSpPr>
            <a:spLocks noGrp="1"/>
          </p:cNvSpPr>
          <p:nvPr>
            <p:ph idx="10"/>
          </p:nvPr>
        </p:nvSpPr>
        <p:spPr/>
        <p:txBody>
          <a:bodyPr/>
          <a:lstStyle/>
          <a:p>
            <a:r>
              <a:rPr lang="ja-JP" altLang="en-US" b="1"/>
              <a:t>海外ゲームクライアントと商談続々</a:t>
            </a:r>
            <a:endParaRPr lang="en-US" altLang="ja-JP" b="1"/>
          </a:p>
        </p:txBody>
      </p:sp>
      <p:sp>
        <p:nvSpPr>
          <p:cNvPr id="11" name="タイトル 10">
            <a:extLst>
              <a:ext uri="{FF2B5EF4-FFF2-40B4-BE49-F238E27FC236}">
                <a16:creationId xmlns:a16="http://schemas.microsoft.com/office/drawing/2014/main" id="{3EB08307-7A57-4884-4CD6-99C4AE2BAF07}"/>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CECD5F32-41ED-13AB-CD1C-BE39519CBF1E}"/>
              </a:ext>
            </a:extLst>
          </p:cNvPr>
          <p:cNvSpPr>
            <a:spLocks noGrp="1"/>
          </p:cNvSpPr>
          <p:nvPr>
            <p:ph type="sldNum" sz="quarter" idx="11"/>
          </p:nvPr>
        </p:nvSpPr>
        <p:spPr/>
        <p:txBody>
          <a:bodyPr/>
          <a:lstStyle/>
          <a:p>
            <a:fld id="{B75FDD43-FCEC-4ECC-8189-A5C6D2E08DC6}" type="slidenum">
              <a:rPr lang="ja-JP" altLang="en-US" smtClean="0"/>
              <a:pPr/>
              <a:t>61</a:t>
            </a:fld>
            <a:endParaRPr lang="ja-JP" altLang="en-US"/>
          </a:p>
        </p:txBody>
      </p:sp>
      <p:sp>
        <p:nvSpPr>
          <p:cNvPr id="18" name="四角形: 角を丸くする 17">
            <a:extLst>
              <a:ext uri="{FF2B5EF4-FFF2-40B4-BE49-F238E27FC236}">
                <a16:creationId xmlns:a16="http://schemas.microsoft.com/office/drawing/2014/main" id="{AAD7F508-D529-53A4-A96B-EB9141C15C3B}"/>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ゲーム</a:t>
            </a:r>
          </a:p>
        </p:txBody>
      </p:sp>
      <p:sp>
        <p:nvSpPr>
          <p:cNvPr id="19" name="四角形: 角を丸くする 18">
            <a:extLst>
              <a:ext uri="{FF2B5EF4-FFF2-40B4-BE49-F238E27FC236}">
                <a16:creationId xmlns:a16="http://schemas.microsoft.com/office/drawing/2014/main" id="{FBEB1E76-70C7-FFBF-9892-DC3B76904FF0}"/>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日本 </a:t>
            </a:r>
            <a:r>
              <a:rPr kumimoji="1" lang="en-US" altLang="ja-JP" sz="1600" b="1" noProof="0">
                <a:solidFill>
                  <a:schemeClr val="bg1"/>
                </a:solidFill>
                <a:latin typeface="メイリオ" panose="020B0604030504040204" pitchFamily="50" charset="-128"/>
                <a:ea typeface="メイリオ" panose="020B0604030504040204" pitchFamily="50" charset="-128"/>
              </a:rPr>
              <a:t>IP</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pic>
        <p:nvPicPr>
          <p:cNvPr id="8" name="図 7" descr="橋と建物&#10;&#10;低い精度で自動的に生成された説明">
            <a:extLst>
              <a:ext uri="{FF2B5EF4-FFF2-40B4-BE49-F238E27FC236}">
                <a16:creationId xmlns:a16="http://schemas.microsoft.com/office/drawing/2014/main" id="{362D1D37-CD4E-52D9-EDF4-647B3F8D17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38915" y="1590387"/>
            <a:ext cx="3751867" cy="2813900"/>
          </a:xfrm>
          <a:prstGeom prst="rect">
            <a:avLst/>
          </a:prstGeom>
        </p:spPr>
      </p:pic>
      <p:pic>
        <p:nvPicPr>
          <p:cNvPr id="13" name="図 12" descr="橋と建物&#10;&#10;中程度の精度で自動的に生成された説明">
            <a:extLst>
              <a:ext uri="{FF2B5EF4-FFF2-40B4-BE49-F238E27FC236}">
                <a16:creationId xmlns:a16="http://schemas.microsoft.com/office/drawing/2014/main" id="{48BE48A3-A542-DC8E-2E98-2C18F80FDC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16053" y="3860847"/>
            <a:ext cx="3618715" cy="2714036"/>
          </a:xfrm>
          <a:prstGeom prst="rect">
            <a:avLst/>
          </a:prstGeom>
        </p:spPr>
      </p:pic>
      <p:pic>
        <p:nvPicPr>
          <p:cNvPr id="20" name="図 19" descr="人, 建物, 民衆, 電車 が含まれている画像&#10;&#10;自動的に生成された説明">
            <a:extLst>
              <a:ext uri="{FF2B5EF4-FFF2-40B4-BE49-F238E27FC236}">
                <a16:creationId xmlns:a16="http://schemas.microsoft.com/office/drawing/2014/main" id="{0C5EF156-5827-45A1-779A-58E49EC1D407}"/>
              </a:ext>
            </a:extLst>
          </p:cNvPr>
          <p:cNvPicPr>
            <a:picLocks noChangeAspect="1"/>
          </p:cNvPicPr>
          <p:nvPr/>
        </p:nvPicPr>
        <p:blipFill>
          <a:blip r:embed="rId5">
            <a:extLst>
              <a:ext uri="{28A0092B-C50C-407E-A947-70E740481C1C}">
                <a14:useLocalDpi xmlns:a14="http://schemas.microsoft.com/office/drawing/2010/main" val="0"/>
              </a:ext>
            </a:extLst>
          </a:blip>
          <a:srcRect t="47375"/>
          <a:stretch/>
        </p:blipFill>
        <p:spPr>
          <a:xfrm>
            <a:off x="608082" y="4031566"/>
            <a:ext cx="4496474" cy="1774715"/>
          </a:xfrm>
          <a:prstGeom prst="rect">
            <a:avLst/>
          </a:prstGeom>
        </p:spPr>
      </p:pic>
      <p:pic>
        <p:nvPicPr>
          <p:cNvPr id="28" name="図 27" descr="建物の前に座っている人たち&#10;&#10;中程度の精度で自動的に生成された説明">
            <a:extLst>
              <a:ext uri="{FF2B5EF4-FFF2-40B4-BE49-F238E27FC236}">
                <a16:creationId xmlns:a16="http://schemas.microsoft.com/office/drawing/2014/main" id="{75D2403A-C391-2715-6C59-91567A90B11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38915" y="4524603"/>
            <a:ext cx="2429347" cy="1822010"/>
          </a:xfrm>
          <a:prstGeom prst="rect">
            <a:avLst/>
          </a:prstGeom>
        </p:spPr>
      </p:pic>
      <p:pic>
        <p:nvPicPr>
          <p:cNvPr id="32" name="図 31" descr="交差点にある交通信号&#10;&#10;自動的に生成された説明">
            <a:extLst>
              <a:ext uri="{FF2B5EF4-FFF2-40B4-BE49-F238E27FC236}">
                <a16:creationId xmlns:a16="http://schemas.microsoft.com/office/drawing/2014/main" id="{20272C48-4897-D3C3-8B9D-5EB4E663F0D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561510" y="1590387"/>
            <a:ext cx="1628035" cy="2170714"/>
          </a:xfrm>
          <a:prstGeom prst="rect">
            <a:avLst/>
          </a:prstGeom>
        </p:spPr>
      </p:pic>
    </p:spTree>
    <p:extLst>
      <p:ext uri="{BB962C8B-B14F-4D97-AF65-F5344CB8AC3E}">
        <p14:creationId xmlns:p14="http://schemas.microsoft.com/office/powerpoint/2010/main" val="8104079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コンテンツ プレースホルダー 13">
            <a:extLst>
              <a:ext uri="{FF2B5EF4-FFF2-40B4-BE49-F238E27FC236}">
                <a16:creationId xmlns:a16="http://schemas.microsoft.com/office/drawing/2014/main" id="{8DD313C8-DCBD-3EB2-E48A-8064C2E8994B}"/>
              </a:ext>
            </a:extLst>
          </p:cNvPr>
          <p:cNvSpPr>
            <a:spLocks noGrp="1"/>
          </p:cNvSpPr>
          <p:nvPr>
            <p:ph idx="1"/>
          </p:nvPr>
        </p:nvSpPr>
        <p:spPr>
          <a:xfrm>
            <a:off x="608082" y="1706880"/>
            <a:ext cx="4672152" cy="4844468"/>
          </a:xfrm>
        </p:spPr>
        <p:txBody>
          <a:bodyPr>
            <a:noAutofit/>
          </a:bodyPr>
          <a:lstStyle/>
          <a:p>
            <a:pPr marL="0" indent="0">
              <a:lnSpc>
                <a:spcPct val="150000"/>
              </a:lnSpc>
              <a:buNone/>
            </a:pPr>
            <a:r>
              <a:rPr kumimoji="1" lang="ja-JP" altLang="en-US" sz="1600" b="1"/>
              <a:t>「</a:t>
            </a:r>
            <a:r>
              <a:rPr kumimoji="1" lang="en-US" altLang="ja-JP" sz="1600" b="1"/>
              <a:t>C&amp;R</a:t>
            </a:r>
            <a:r>
              <a:rPr kumimoji="1" lang="ja-JP" altLang="en-US" sz="1600" b="1"/>
              <a:t> </a:t>
            </a:r>
            <a:r>
              <a:rPr lang="en-US" altLang="ja-JP" sz="1600" b="1"/>
              <a:t>C</a:t>
            </a:r>
            <a:r>
              <a:rPr kumimoji="1" lang="en-US" altLang="ja-JP" sz="1600" b="1"/>
              <a:t>reative</a:t>
            </a:r>
            <a:r>
              <a:rPr kumimoji="1" lang="ja-JP" altLang="en-US" sz="1600" b="1"/>
              <a:t> </a:t>
            </a:r>
            <a:r>
              <a:rPr kumimoji="1" lang="en-US" altLang="ja-JP" sz="1600" b="1"/>
              <a:t>Academy</a:t>
            </a:r>
            <a:r>
              <a:rPr lang="ja-JP" altLang="en-US" sz="1600" b="1"/>
              <a:t>」</a:t>
            </a:r>
            <a:r>
              <a:rPr kumimoji="1" lang="ja-JP" altLang="en-US" sz="1600" b="1"/>
              <a:t>のカリキュラムを活用した海外との教育コラボレーション</a:t>
            </a:r>
            <a:endParaRPr kumimoji="1" lang="en-US" altLang="ja-JP" sz="1600" b="1"/>
          </a:p>
          <a:p>
            <a:pPr marL="0" indent="0">
              <a:lnSpc>
                <a:spcPct val="150000"/>
              </a:lnSpc>
              <a:buNone/>
            </a:pPr>
            <a:r>
              <a:rPr lang="en-US" altLang="ja-JP" sz="1600"/>
              <a:t>2023</a:t>
            </a:r>
            <a:r>
              <a:rPr lang="ja-JP" altLang="en-US" sz="1600"/>
              <a:t>年</a:t>
            </a:r>
            <a:r>
              <a:rPr lang="en-US" altLang="ja-JP" sz="1600"/>
              <a:t>3</a:t>
            </a:r>
            <a:r>
              <a:rPr lang="ja-JP" altLang="en-US" sz="1600"/>
              <a:t>月～</a:t>
            </a:r>
            <a:r>
              <a:rPr lang="en-US" altLang="ja-JP" sz="1600"/>
              <a:t>5</a:t>
            </a:r>
            <a:r>
              <a:rPr lang="ja-JP" altLang="en-US" sz="1600"/>
              <a:t>月にシンガポールの専門学校</a:t>
            </a:r>
            <a:r>
              <a:rPr lang="ja-JP" altLang="en-US" sz="1600">
                <a:solidFill>
                  <a:schemeClr val="accent4">
                    <a:lumMod val="75000"/>
                  </a:schemeClr>
                </a:solidFill>
                <a:hlinkClick r:id="rId3">
                  <a:extLst>
                    <a:ext uri="{A12FA001-AC4F-418D-AE19-62706E023703}">
                      <ahyp:hlinkClr xmlns:ahyp="http://schemas.microsoft.com/office/drawing/2018/hyperlinkcolor" val="tx"/>
                    </a:ext>
                  </a:extLst>
                </a:hlinkClick>
              </a:rPr>
              <a:t>「</a:t>
            </a:r>
            <a:r>
              <a:rPr lang="en-US" altLang="ja-JP" sz="1600">
                <a:solidFill>
                  <a:schemeClr val="accent4">
                    <a:lumMod val="75000"/>
                  </a:schemeClr>
                </a:solidFill>
                <a:hlinkClick r:id="rId3">
                  <a:extLst>
                    <a:ext uri="{A12FA001-AC4F-418D-AE19-62706E023703}">
                      <ahyp:hlinkClr xmlns:ahyp="http://schemas.microsoft.com/office/drawing/2018/hyperlinkcolor" val="tx"/>
                    </a:ext>
                  </a:extLst>
                </a:hlinkClick>
              </a:rPr>
              <a:t>Nanyang Polytechnic (NYP) </a:t>
            </a:r>
            <a:r>
              <a:rPr lang="ja-JP" altLang="en-US" sz="1600">
                <a:solidFill>
                  <a:schemeClr val="accent4">
                    <a:lumMod val="75000"/>
                  </a:schemeClr>
                </a:solidFill>
                <a:hlinkClick r:id="rId3">
                  <a:extLst>
                    <a:ext uri="{A12FA001-AC4F-418D-AE19-62706E023703}">
                      <ahyp:hlinkClr xmlns:ahyp="http://schemas.microsoft.com/office/drawing/2018/hyperlinkcolor" val="tx"/>
                    </a:ext>
                  </a:extLst>
                </a:hlinkClick>
              </a:rPr>
              <a:t>」</a:t>
            </a:r>
            <a:r>
              <a:rPr lang="ja-JP" altLang="en-US" sz="1600"/>
              <a:t>から２名の</a:t>
            </a:r>
            <a:br>
              <a:rPr lang="en-US" altLang="ja-JP" sz="1600"/>
            </a:br>
            <a:r>
              <a:rPr lang="ja-JP" altLang="en-US" sz="1600"/>
              <a:t>学生を招待し、</a:t>
            </a:r>
            <a:r>
              <a:rPr lang="en-US" altLang="ja-JP" sz="1600"/>
              <a:t>C++</a:t>
            </a:r>
            <a:r>
              <a:rPr lang="ja-JP" altLang="en-US" sz="1600"/>
              <a:t>と</a:t>
            </a:r>
            <a:r>
              <a:rPr lang="en-US" altLang="ja-JP" sz="1600"/>
              <a:t>Unity</a:t>
            </a:r>
            <a:r>
              <a:rPr lang="ja-JP" altLang="en-US" sz="1600"/>
              <a:t>の基礎学習と３回の成果発表会を実施。</a:t>
            </a:r>
            <a:endParaRPr lang="en-US" altLang="ja-JP" sz="1600"/>
          </a:p>
          <a:p>
            <a:pPr marL="0" indent="0">
              <a:lnSpc>
                <a:spcPct val="150000"/>
              </a:lnSpc>
              <a:buNone/>
            </a:pPr>
            <a:endParaRPr lang="en-US" altLang="ja-JP" sz="1600"/>
          </a:p>
          <a:p>
            <a:pPr marL="0" indent="0">
              <a:lnSpc>
                <a:spcPct val="150000"/>
              </a:lnSpc>
              <a:buNone/>
            </a:pPr>
            <a:endParaRPr lang="en-US" altLang="ja-JP" sz="1600"/>
          </a:p>
          <a:p>
            <a:pPr marL="0" indent="0">
              <a:lnSpc>
                <a:spcPct val="150000"/>
              </a:lnSpc>
              <a:buNone/>
            </a:pPr>
            <a:endParaRPr lang="en-US" altLang="ja-JP" sz="1600"/>
          </a:p>
          <a:p>
            <a:pPr marL="0" indent="0">
              <a:lnSpc>
                <a:spcPct val="150000"/>
              </a:lnSpc>
              <a:buNone/>
            </a:pPr>
            <a:r>
              <a:rPr lang="ja-JP" altLang="en-US" sz="1600"/>
              <a:t>タイでもアカデミー事業を展開し、現地で育成した人材をもとに人材と制作ビジネスへ参入検討。</a:t>
            </a:r>
            <a:endParaRPr lang="en-US" altLang="ja-JP" sz="1600"/>
          </a:p>
        </p:txBody>
      </p:sp>
      <p:cxnSp>
        <p:nvCxnSpPr>
          <p:cNvPr id="6" name="直線コネクタ 5">
            <a:extLst>
              <a:ext uri="{FF2B5EF4-FFF2-40B4-BE49-F238E27FC236}">
                <a16:creationId xmlns:a16="http://schemas.microsoft.com/office/drawing/2014/main" id="{A775AC4C-6688-1019-EE9A-3C39A4713FED}"/>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256E532E-6B19-CD2C-EC1F-00C6CCB6A550}"/>
              </a:ext>
            </a:extLst>
          </p:cNvPr>
          <p:cNvSpPr>
            <a:spLocks noGrp="1"/>
          </p:cNvSpPr>
          <p:nvPr>
            <p:ph idx="10"/>
          </p:nvPr>
        </p:nvSpPr>
        <p:spPr/>
        <p:txBody>
          <a:bodyPr/>
          <a:lstStyle/>
          <a:p>
            <a:r>
              <a:rPr lang="ja-JP" altLang="en-US" b="1"/>
              <a:t>シンガポール教育機関からインターン受入、タイのアカデミー事業展開</a:t>
            </a:r>
            <a:endParaRPr lang="en-US" altLang="ja-JP" b="1"/>
          </a:p>
        </p:txBody>
      </p:sp>
      <p:sp>
        <p:nvSpPr>
          <p:cNvPr id="11" name="タイトル 10">
            <a:extLst>
              <a:ext uri="{FF2B5EF4-FFF2-40B4-BE49-F238E27FC236}">
                <a16:creationId xmlns:a16="http://schemas.microsoft.com/office/drawing/2014/main" id="{3EB08307-7A57-4884-4CD6-99C4AE2BAF07}"/>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CECD5F32-41ED-13AB-CD1C-BE39519CBF1E}"/>
              </a:ext>
            </a:extLst>
          </p:cNvPr>
          <p:cNvSpPr>
            <a:spLocks noGrp="1"/>
          </p:cNvSpPr>
          <p:nvPr>
            <p:ph type="sldNum" sz="quarter" idx="11"/>
          </p:nvPr>
        </p:nvSpPr>
        <p:spPr/>
        <p:txBody>
          <a:bodyPr/>
          <a:lstStyle/>
          <a:p>
            <a:fld id="{B75FDD43-FCEC-4ECC-8189-A5C6D2E08DC6}" type="slidenum">
              <a:rPr lang="ja-JP" altLang="en-US" smtClean="0"/>
              <a:pPr/>
              <a:t>62</a:t>
            </a:fld>
            <a:endParaRPr lang="ja-JP" altLang="en-US"/>
          </a:p>
        </p:txBody>
      </p:sp>
      <p:sp>
        <p:nvSpPr>
          <p:cNvPr id="2" name="四角形: 角を丸くする 1">
            <a:extLst>
              <a:ext uri="{FF2B5EF4-FFF2-40B4-BE49-F238E27FC236}">
                <a16:creationId xmlns:a16="http://schemas.microsoft.com/office/drawing/2014/main" id="{463DE21C-6BEB-80D7-0065-2CA3575A403D}"/>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ゲーム</a:t>
            </a:r>
          </a:p>
        </p:txBody>
      </p:sp>
      <p:sp>
        <p:nvSpPr>
          <p:cNvPr id="4" name="四角形: 角を丸くする 3">
            <a:extLst>
              <a:ext uri="{FF2B5EF4-FFF2-40B4-BE49-F238E27FC236}">
                <a16:creationId xmlns:a16="http://schemas.microsoft.com/office/drawing/2014/main" id="{545AFC38-BCE5-435E-F10B-FC5BE582A62B}"/>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教育</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5" name="四角形: 角を丸くする 4">
            <a:extLst>
              <a:ext uri="{FF2B5EF4-FFF2-40B4-BE49-F238E27FC236}">
                <a16:creationId xmlns:a16="http://schemas.microsoft.com/office/drawing/2014/main" id="{B01EDFFC-EB18-599D-CB42-054D9CFF7723}"/>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育成</a:t>
            </a:r>
          </a:p>
        </p:txBody>
      </p:sp>
      <p:pic>
        <p:nvPicPr>
          <p:cNvPr id="8" name="図 7" descr="人, 建物, 立つ, グループ が含まれている画像&#10;&#10;自動的に生成された説明">
            <a:extLst>
              <a:ext uri="{FF2B5EF4-FFF2-40B4-BE49-F238E27FC236}">
                <a16:creationId xmlns:a16="http://schemas.microsoft.com/office/drawing/2014/main" id="{C876554A-ECAF-8EA7-C7DD-897DF4C67B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1801" y="3963482"/>
            <a:ext cx="3481600" cy="2611200"/>
          </a:xfrm>
          <a:prstGeom prst="rect">
            <a:avLst/>
          </a:prstGeom>
        </p:spPr>
      </p:pic>
      <p:grpSp>
        <p:nvGrpSpPr>
          <p:cNvPr id="21" name="グループ化 20">
            <a:extLst>
              <a:ext uri="{FF2B5EF4-FFF2-40B4-BE49-F238E27FC236}">
                <a16:creationId xmlns:a16="http://schemas.microsoft.com/office/drawing/2014/main" id="{CB6E131C-26F4-0C2F-64D7-674F2077880C}"/>
              </a:ext>
            </a:extLst>
          </p:cNvPr>
          <p:cNvGrpSpPr/>
          <p:nvPr/>
        </p:nvGrpSpPr>
        <p:grpSpPr>
          <a:xfrm>
            <a:off x="1725627" y="4129114"/>
            <a:ext cx="1654406" cy="1424831"/>
            <a:chOff x="746608" y="5125833"/>
            <a:chExt cx="1732974" cy="1492497"/>
          </a:xfrm>
        </p:grpSpPr>
        <p:pic>
          <p:nvPicPr>
            <p:cNvPr id="15" name="図 14" descr="覆い, 大きい, 記号, 夜 が含まれている画像&#10;&#10;自動的に生成された説明">
              <a:extLst>
                <a:ext uri="{FF2B5EF4-FFF2-40B4-BE49-F238E27FC236}">
                  <a16:creationId xmlns:a16="http://schemas.microsoft.com/office/drawing/2014/main" id="{9637496B-9ED0-BE6E-2778-39A63E69021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40052" y="5125833"/>
              <a:ext cx="839530" cy="1492497"/>
            </a:xfrm>
            <a:prstGeom prst="rect">
              <a:avLst/>
            </a:prstGeom>
          </p:spPr>
        </p:pic>
        <p:pic>
          <p:nvPicPr>
            <p:cNvPr id="20" name="図 19" descr="テキスト が含まれている画像&#10;&#10;自動的に生成された説明">
              <a:extLst>
                <a:ext uri="{FF2B5EF4-FFF2-40B4-BE49-F238E27FC236}">
                  <a16:creationId xmlns:a16="http://schemas.microsoft.com/office/drawing/2014/main" id="{D5A571AD-0C92-D61A-FB35-DE52F8263F3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6608" y="5125833"/>
              <a:ext cx="839530" cy="1492497"/>
            </a:xfrm>
            <a:prstGeom prst="rect">
              <a:avLst/>
            </a:prstGeom>
          </p:spPr>
        </p:pic>
      </p:grpSp>
      <p:grpSp>
        <p:nvGrpSpPr>
          <p:cNvPr id="26" name="グループ化 25">
            <a:extLst>
              <a:ext uri="{FF2B5EF4-FFF2-40B4-BE49-F238E27FC236}">
                <a16:creationId xmlns:a16="http://schemas.microsoft.com/office/drawing/2014/main" id="{55E9EEDD-E302-94B2-8AD9-8C8C7EA0C05C}"/>
              </a:ext>
            </a:extLst>
          </p:cNvPr>
          <p:cNvGrpSpPr/>
          <p:nvPr/>
        </p:nvGrpSpPr>
        <p:grpSpPr>
          <a:xfrm>
            <a:off x="3454954" y="4129114"/>
            <a:ext cx="1657922" cy="1424831"/>
            <a:chOff x="3162001" y="5058850"/>
            <a:chExt cx="1736659" cy="1492498"/>
          </a:xfrm>
        </p:grpSpPr>
        <p:pic>
          <p:nvPicPr>
            <p:cNvPr id="23" name="図 22" descr="挿絵 が含まれている画像&#10;&#10;自動的に生成された説明">
              <a:extLst>
                <a:ext uri="{FF2B5EF4-FFF2-40B4-BE49-F238E27FC236}">
                  <a16:creationId xmlns:a16="http://schemas.microsoft.com/office/drawing/2014/main" id="{0EF8BEC2-08BE-2B83-1CFB-8FF4F351D4B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162001" y="5058850"/>
              <a:ext cx="839530" cy="1492498"/>
            </a:xfrm>
            <a:prstGeom prst="rect">
              <a:avLst/>
            </a:prstGeom>
          </p:spPr>
        </p:pic>
        <p:pic>
          <p:nvPicPr>
            <p:cNvPr id="25" name="図 24" descr="カレンダー&#10;&#10;自動的に生成された説明">
              <a:extLst>
                <a:ext uri="{FF2B5EF4-FFF2-40B4-BE49-F238E27FC236}">
                  <a16:creationId xmlns:a16="http://schemas.microsoft.com/office/drawing/2014/main" id="{7D1C0C8E-8EB6-5CC5-F7B9-ED354A5CF46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59130" y="5058850"/>
              <a:ext cx="839530" cy="1492498"/>
            </a:xfrm>
            <a:prstGeom prst="rect">
              <a:avLst/>
            </a:prstGeom>
          </p:spPr>
        </p:pic>
      </p:grpSp>
      <p:sp>
        <p:nvSpPr>
          <p:cNvPr id="27" name="テキスト ボックス 26">
            <a:extLst>
              <a:ext uri="{FF2B5EF4-FFF2-40B4-BE49-F238E27FC236}">
                <a16:creationId xmlns:a16="http://schemas.microsoft.com/office/drawing/2014/main" id="{0B996359-78E3-C62E-15FB-FB16AB000E31}"/>
              </a:ext>
            </a:extLst>
          </p:cNvPr>
          <p:cNvSpPr txBox="1"/>
          <p:nvPr/>
        </p:nvSpPr>
        <p:spPr>
          <a:xfrm>
            <a:off x="3421670" y="3902745"/>
            <a:ext cx="1917513" cy="261610"/>
          </a:xfrm>
          <a:prstGeom prst="rect">
            <a:avLst/>
          </a:prstGeom>
          <a:noFill/>
        </p:spPr>
        <p:txBody>
          <a:bodyPr wrap="none" rtlCol="0">
            <a:spAutoFit/>
          </a:bodyPr>
          <a:lstStyle/>
          <a:p>
            <a:r>
              <a:rPr kumimoji="1" lang="ja-JP" altLang="en-US" sz="1100">
                <a:latin typeface="メイリオ" panose="020B0604030504040204" pitchFamily="50" charset="-128"/>
                <a:ea typeface="メイリオ" panose="020B0604030504040204" pitchFamily="50" charset="-128"/>
              </a:rPr>
              <a:t>生徒作品　開発環境：</a:t>
            </a:r>
            <a:r>
              <a:rPr kumimoji="1" lang="en-US" altLang="ja-JP" sz="1100">
                <a:latin typeface="メイリオ" panose="020B0604030504040204" pitchFamily="50" charset="-128"/>
                <a:ea typeface="メイリオ" panose="020B0604030504040204" pitchFamily="50" charset="-128"/>
              </a:rPr>
              <a:t>C</a:t>
            </a:r>
            <a:r>
              <a:rPr lang="en-US" altLang="ja-JP" sz="1100">
                <a:latin typeface="メイリオ" panose="020B0604030504040204" pitchFamily="50" charset="-128"/>
                <a:ea typeface="メイリオ" panose="020B0604030504040204" pitchFamily="50" charset="-128"/>
              </a:rPr>
              <a:t>++</a:t>
            </a:r>
            <a:endParaRPr kumimoji="1" lang="ja-JP" altLang="en-US" sz="1100">
              <a:latin typeface="メイリオ" panose="020B0604030504040204" pitchFamily="50" charset="-128"/>
              <a:ea typeface="メイリオ" panose="020B0604030504040204" pitchFamily="50" charset="-128"/>
            </a:endParaRPr>
          </a:p>
        </p:txBody>
      </p:sp>
      <p:pic>
        <p:nvPicPr>
          <p:cNvPr id="9" name="図 8" descr="床, 人, 屋内, 立つ が含まれている画像&#10;&#10;自動的に生成された説明">
            <a:extLst>
              <a:ext uri="{FF2B5EF4-FFF2-40B4-BE49-F238E27FC236}">
                <a16:creationId xmlns:a16="http://schemas.microsoft.com/office/drawing/2014/main" id="{F72D96B9-997F-D6BE-3F1D-A868D30BA94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870268" y="2073378"/>
            <a:ext cx="3399279" cy="2550179"/>
          </a:xfrm>
          <a:prstGeom prst="rect">
            <a:avLst/>
          </a:prstGeom>
        </p:spPr>
      </p:pic>
    </p:spTree>
    <p:extLst>
      <p:ext uri="{BB962C8B-B14F-4D97-AF65-F5344CB8AC3E}">
        <p14:creationId xmlns:p14="http://schemas.microsoft.com/office/powerpoint/2010/main" val="38801385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コンテンツ プレースホルダー 13">
            <a:extLst>
              <a:ext uri="{FF2B5EF4-FFF2-40B4-BE49-F238E27FC236}">
                <a16:creationId xmlns:a16="http://schemas.microsoft.com/office/drawing/2014/main" id="{8DD313C8-DCBD-3EB2-E48A-8064C2E8994B}"/>
              </a:ext>
            </a:extLst>
          </p:cNvPr>
          <p:cNvSpPr>
            <a:spLocks noGrp="1"/>
          </p:cNvSpPr>
          <p:nvPr>
            <p:ph idx="1"/>
          </p:nvPr>
        </p:nvSpPr>
        <p:spPr>
          <a:xfrm>
            <a:off x="608082" y="1706880"/>
            <a:ext cx="4672152" cy="4844468"/>
          </a:xfrm>
        </p:spPr>
        <p:txBody>
          <a:bodyPr>
            <a:noAutofit/>
          </a:bodyPr>
          <a:lstStyle/>
          <a:p>
            <a:pPr marL="0" indent="0">
              <a:lnSpc>
                <a:spcPct val="150000"/>
              </a:lnSpc>
              <a:buNone/>
            </a:pPr>
            <a:r>
              <a:rPr lang="ja-JP" altLang="en-US" sz="1400">
                <a:latin typeface="+mn-ea"/>
              </a:rPr>
              <a:t>ゲーム系メディア「</a:t>
            </a:r>
            <a:r>
              <a:rPr lang="en-US" altLang="ja-JP" sz="1400">
                <a:latin typeface="+mn-ea"/>
              </a:rPr>
              <a:t>CGWORLD.JP</a:t>
            </a:r>
            <a:r>
              <a:rPr lang="ja-JP" altLang="en-US" sz="1400">
                <a:latin typeface="+mn-ea"/>
              </a:rPr>
              <a:t>」に掲載された</a:t>
            </a:r>
            <a:r>
              <a:rPr lang="en-US" altLang="ja-JP" sz="1400" b="1">
                <a:solidFill>
                  <a:schemeClr val="accent4">
                    <a:lumMod val="75000"/>
                  </a:schemeClr>
                </a:solidFill>
                <a:latin typeface="+mn-ea"/>
                <a:hlinkClick r:id="rId3">
                  <a:extLst>
                    <a:ext uri="{A12FA001-AC4F-418D-AE19-62706E023703}">
                      <ahyp:hlinkClr xmlns:ahyp="http://schemas.microsoft.com/office/drawing/2018/hyperlinkcolor" val="tx"/>
                    </a:ext>
                  </a:extLst>
                </a:hlinkClick>
              </a:rPr>
              <a:t>C&amp;R</a:t>
            </a:r>
            <a:r>
              <a:rPr lang="ja-JP" altLang="en-US" sz="1400" b="1">
                <a:solidFill>
                  <a:schemeClr val="accent4">
                    <a:lumMod val="75000"/>
                  </a:schemeClr>
                </a:solidFill>
                <a:latin typeface="+mn-ea"/>
                <a:hlinkClick r:id="rId3">
                  <a:extLst>
                    <a:ext uri="{A12FA001-AC4F-418D-AE19-62706E023703}">
                      <ahyp:hlinkClr xmlns:ahyp="http://schemas.microsoft.com/office/drawing/2018/hyperlinkcolor" val="tx"/>
                    </a:ext>
                  </a:extLst>
                </a:hlinkClick>
              </a:rPr>
              <a:t>クリエイティブスタジオのインタビュー記事</a:t>
            </a:r>
            <a:r>
              <a:rPr lang="ja-JP" altLang="en-US" sz="1400">
                <a:latin typeface="+mn-ea"/>
              </a:rPr>
              <a:t>が有名タイトル記事を抑えて月間アクセス１位を獲得！</a:t>
            </a:r>
            <a:endParaRPr lang="en-US" altLang="ja-JP" sz="1400">
              <a:latin typeface="+mn-ea"/>
            </a:endParaRPr>
          </a:p>
        </p:txBody>
      </p:sp>
      <p:cxnSp>
        <p:nvCxnSpPr>
          <p:cNvPr id="6" name="直線コネクタ 5">
            <a:extLst>
              <a:ext uri="{FF2B5EF4-FFF2-40B4-BE49-F238E27FC236}">
                <a16:creationId xmlns:a16="http://schemas.microsoft.com/office/drawing/2014/main" id="{A775AC4C-6688-1019-EE9A-3C39A4713FED}"/>
              </a:ext>
            </a:extLst>
          </p:cNvPr>
          <p:cNvCxnSpPr>
            <a:cxnSpLocks/>
          </p:cNvCxnSpPr>
          <p:nvPr/>
        </p:nvCxnSpPr>
        <p:spPr>
          <a:xfrm>
            <a:off x="5312398" y="1011447"/>
            <a:ext cx="0" cy="5278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256E532E-6B19-CD2C-EC1F-00C6CCB6A550}"/>
              </a:ext>
            </a:extLst>
          </p:cNvPr>
          <p:cNvSpPr>
            <a:spLocks noGrp="1"/>
          </p:cNvSpPr>
          <p:nvPr>
            <p:ph idx="10"/>
          </p:nvPr>
        </p:nvSpPr>
        <p:spPr/>
        <p:txBody>
          <a:bodyPr/>
          <a:lstStyle/>
          <a:p>
            <a:r>
              <a:rPr lang="ja-JP" altLang="en-US" b="1"/>
              <a:t>外国籍クリエイターが日本で活躍！</a:t>
            </a:r>
            <a:endParaRPr lang="en-US" altLang="ja-JP" b="1"/>
          </a:p>
          <a:p>
            <a:r>
              <a:rPr lang="ja-JP" altLang="en-US" b="1"/>
              <a:t>憧れの日本ゲーム開発参画を実現</a:t>
            </a:r>
            <a:endParaRPr lang="en-US" altLang="ja-JP" b="1"/>
          </a:p>
        </p:txBody>
      </p:sp>
      <p:sp>
        <p:nvSpPr>
          <p:cNvPr id="11" name="タイトル 10">
            <a:extLst>
              <a:ext uri="{FF2B5EF4-FFF2-40B4-BE49-F238E27FC236}">
                <a16:creationId xmlns:a16="http://schemas.microsoft.com/office/drawing/2014/main" id="{3EB08307-7A57-4884-4CD6-99C4AE2BAF07}"/>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CECD5F32-41ED-13AB-CD1C-BE39519CBF1E}"/>
              </a:ext>
            </a:extLst>
          </p:cNvPr>
          <p:cNvSpPr>
            <a:spLocks noGrp="1"/>
          </p:cNvSpPr>
          <p:nvPr>
            <p:ph type="sldNum" sz="quarter" idx="11"/>
          </p:nvPr>
        </p:nvSpPr>
        <p:spPr/>
        <p:txBody>
          <a:bodyPr/>
          <a:lstStyle/>
          <a:p>
            <a:fld id="{B75FDD43-FCEC-4ECC-8189-A5C6D2E08DC6}" type="slidenum">
              <a:rPr lang="ja-JP" altLang="en-US" smtClean="0"/>
              <a:pPr/>
              <a:t>63</a:t>
            </a:fld>
            <a:endParaRPr lang="ja-JP" altLang="en-US"/>
          </a:p>
        </p:txBody>
      </p:sp>
      <p:sp>
        <p:nvSpPr>
          <p:cNvPr id="2" name="四角形: 角を丸くする 1">
            <a:extLst>
              <a:ext uri="{FF2B5EF4-FFF2-40B4-BE49-F238E27FC236}">
                <a16:creationId xmlns:a16="http://schemas.microsoft.com/office/drawing/2014/main" id="{463DE21C-6BEB-80D7-0065-2CA3575A403D}"/>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ゲーム</a:t>
            </a:r>
          </a:p>
        </p:txBody>
      </p:sp>
      <p:sp>
        <p:nvSpPr>
          <p:cNvPr id="4" name="四角形: 角を丸くする 3">
            <a:extLst>
              <a:ext uri="{FF2B5EF4-FFF2-40B4-BE49-F238E27FC236}">
                <a16:creationId xmlns:a16="http://schemas.microsoft.com/office/drawing/2014/main" id="{545AFC38-BCE5-435E-F10B-FC5BE582A62B}"/>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語学支援</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5" name="四角形: 角を丸くする 4">
            <a:extLst>
              <a:ext uri="{FF2B5EF4-FFF2-40B4-BE49-F238E27FC236}">
                <a16:creationId xmlns:a16="http://schemas.microsoft.com/office/drawing/2014/main" id="{B01EDFFC-EB18-599D-CB42-054D9CFF7723}"/>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就業支援</a:t>
            </a:r>
          </a:p>
        </p:txBody>
      </p:sp>
      <p:grpSp>
        <p:nvGrpSpPr>
          <p:cNvPr id="21" name="グループ化 20">
            <a:extLst>
              <a:ext uri="{FF2B5EF4-FFF2-40B4-BE49-F238E27FC236}">
                <a16:creationId xmlns:a16="http://schemas.microsoft.com/office/drawing/2014/main" id="{9566F345-476E-A848-682A-58894EAAF5BF}"/>
              </a:ext>
            </a:extLst>
          </p:cNvPr>
          <p:cNvGrpSpPr/>
          <p:nvPr/>
        </p:nvGrpSpPr>
        <p:grpSpPr>
          <a:xfrm>
            <a:off x="1290582" y="3295114"/>
            <a:ext cx="3174462" cy="2883771"/>
            <a:chOff x="608082" y="3675152"/>
            <a:chExt cx="3174462" cy="2883771"/>
          </a:xfrm>
        </p:grpSpPr>
        <p:grpSp>
          <p:nvGrpSpPr>
            <p:cNvPr id="15" name="グループ化 14">
              <a:extLst>
                <a:ext uri="{FF2B5EF4-FFF2-40B4-BE49-F238E27FC236}">
                  <a16:creationId xmlns:a16="http://schemas.microsoft.com/office/drawing/2014/main" id="{09EA969F-38CF-CA0B-6D24-15E11E532D57}"/>
                </a:ext>
              </a:extLst>
            </p:cNvPr>
            <p:cNvGrpSpPr/>
            <p:nvPr/>
          </p:nvGrpSpPr>
          <p:grpSpPr>
            <a:xfrm>
              <a:off x="757864" y="3675152"/>
              <a:ext cx="2922762" cy="2812370"/>
              <a:chOff x="877771" y="1012732"/>
              <a:chExt cx="4686103" cy="4509110"/>
            </a:xfrm>
          </p:grpSpPr>
          <p:pic>
            <p:nvPicPr>
              <p:cNvPr id="7" name="図 6">
                <a:extLst>
                  <a:ext uri="{FF2B5EF4-FFF2-40B4-BE49-F238E27FC236}">
                    <a16:creationId xmlns:a16="http://schemas.microsoft.com/office/drawing/2014/main" id="{D76A779A-26A3-284D-4A81-41B4A11A1CEE}"/>
                  </a:ext>
                </a:extLst>
              </p:cNvPr>
              <p:cNvPicPr>
                <a:picLocks noChangeAspect="1"/>
              </p:cNvPicPr>
              <p:nvPr/>
            </p:nvPicPr>
            <p:blipFill rotWithShape="1">
              <a:blip r:embed="rId4"/>
              <a:srcRect l="24741" t="17979" r="40186" b="22717"/>
              <a:stretch/>
            </p:blipFill>
            <p:spPr>
              <a:xfrm>
                <a:off x="877771" y="1012732"/>
                <a:ext cx="4686103" cy="4509110"/>
              </a:xfrm>
              <a:prstGeom prst="rect">
                <a:avLst/>
              </a:prstGeom>
              <a:ln>
                <a:solidFill>
                  <a:schemeClr val="tx1"/>
                </a:solidFill>
              </a:ln>
            </p:spPr>
          </p:pic>
          <p:sp>
            <p:nvSpPr>
              <p:cNvPr id="9" name="正方形/長方形 8">
                <a:extLst>
                  <a:ext uri="{FF2B5EF4-FFF2-40B4-BE49-F238E27FC236}">
                    <a16:creationId xmlns:a16="http://schemas.microsoft.com/office/drawing/2014/main" id="{4A9F6B3A-0335-FB13-210E-7F2AA80BC54C}"/>
                  </a:ext>
                </a:extLst>
              </p:cNvPr>
              <p:cNvSpPr/>
              <p:nvPr/>
            </p:nvSpPr>
            <p:spPr>
              <a:xfrm>
                <a:off x="1195824" y="3087240"/>
                <a:ext cx="4068417" cy="917713"/>
              </a:xfrm>
              <a:prstGeom prst="rect">
                <a:avLst/>
              </a:prstGeom>
              <a:no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0" name="小波 19">
              <a:extLst>
                <a:ext uri="{FF2B5EF4-FFF2-40B4-BE49-F238E27FC236}">
                  <a16:creationId xmlns:a16="http://schemas.microsoft.com/office/drawing/2014/main" id="{F7A94AEE-C698-F4DF-8F17-8929050CEC62}"/>
                </a:ext>
              </a:extLst>
            </p:cNvPr>
            <p:cNvSpPr/>
            <p:nvPr/>
          </p:nvSpPr>
          <p:spPr bwMode="auto">
            <a:xfrm>
              <a:off x="608082" y="6445193"/>
              <a:ext cx="3174462" cy="113730"/>
            </a:xfrm>
            <a:prstGeom prst="doubleWave">
              <a:avLst/>
            </a:prstGeom>
            <a:solidFill>
              <a:schemeClr val="bg1"/>
            </a:solidFill>
            <a:ln w="3175" algn="ctr">
              <a:solidFill>
                <a:schemeClr val="bg1">
                  <a:lumMod val="75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grpSp>
      <p:sp>
        <p:nvSpPr>
          <p:cNvPr id="22" name="テキスト ボックス 21">
            <a:extLst>
              <a:ext uri="{FF2B5EF4-FFF2-40B4-BE49-F238E27FC236}">
                <a16:creationId xmlns:a16="http://schemas.microsoft.com/office/drawing/2014/main" id="{E9902722-F39A-9139-F09C-C2152BE06EA9}"/>
              </a:ext>
            </a:extLst>
          </p:cNvPr>
          <p:cNvSpPr txBox="1"/>
          <p:nvPr/>
        </p:nvSpPr>
        <p:spPr>
          <a:xfrm>
            <a:off x="3010133" y="6216767"/>
            <a:ext cx="1611339" cy="230832"/>
          </a:xfrm>
          <a:prstGeom prst="rect">
            <a:avLst/>
          </a:prstGeom>
          <a:noFill/>
        </p:spPr>
        <p:txBody>
          <a:bodyPr wrap="none" rtlCol="0">
            <a:spAutoFit/>
          </a:bodyPr>
          <a:lstStyle/>
          <a:p>
            <a:r>
              <a:rPr kumimoji="1" lang="ja-JP" altLang="en-US" sz="900">
                <a:latin typeface="メイリオ" panose="020B0604030504040204" pitchFamily="50" charset="-128"/>
                <a:ea typeface="メイリオ" panose="020B0604030504040204" pitchFamily="50" charset="-128"/>
              </a:rPr>
              <a:t>引用：</a:t>
            </a:r>
            <a:r>
              <a:rPr kumimoji="1" lang="en-US" altLang="ja-JP" sz="900">
                <a:latin typeface="メイリオ" panose="020B0604030504040204" pitchFamily="50" charset="-128"/>
                <a:ea typeface="メイリオ" panose="020B0604030504040204" pitchFamily="50" charset="-128"/>
              </a:rPr>
              <a:t>https://cgworld.jp/</a:t>
            </a:r>
            <a:endParaRPr kumimoji="1" lang="ja-JP" altLang="en-US" sz="900">
              <a:latin typeface="メイリオ" panose="020B0604030504040204" pitchFamily="50" charset="-128"/>
              <a:ea typeface="メイリオ" panose="020B0604030504040204" pitchFamily="50" charset="-128"/>
            </a:endParaRPr>
          </a:p>
        </p:txBody>
      </p:sp>
      <p:pic>
        <p:nvPicPr>
          <p:cNvPr id="25" name="図 24">
            <a:extLst>
              <a:ext uri="{FF2B5EF4-FFF2-40B4-BE49-F238E27FC236}">
                <a16:creationId xmlns:a16="http://schemas.microsoft.com/office/drawing/2014/main" id="{E969CE40-2EF8-0F56-8147-E3D8666F8EB6}"/>
              </a:ext>
            </a:extLst>
          </p:cNvPr>
          <p:cNvPicPr>
            <a:picLocks noChangeAspect="1"/>
          </p:cNvPicPr>
          <p:nvPr/>
        </p:nvPicPr>
        <p:blipFill rotWithShape="1">
          <a:blip r:embed="rId5"/>
          <a:srcRect t="-1" b="9234"/>
          <a:stretch/>
        </p:blipFill>
        <p:spPr>
          <a:xfrm>
            <a:off x="5570050" y="2037453"/>
            <a:ext cx="2619105" cy="4410146"/>
          </a:xfrm>
          <a:prstGeom prst="rect">
            <a:avLst/>
          </a:prstGeom>
          <a:solidFill>
            <a:schemeClr val="tx1"/>
          </a:solidFill>
          <a:ln>
            <a:solidFill>
              <a:schemeClr val="tx1"/>
            </a:solidFill>
          </a:ln>
        </p:spPr>
      </p:pic>
      <p:sp>
        <p:nvSpPr>
          <p:cNvPr id="31" name="小波 30">
            <a:extLst>
              <a:ext uri="{FF2B5EF4-FFF2-40B4-BE49-F238E27FC236}">
                <a16:creationId xmlns:a16="http://schemas.microsoft.com/office/drawing/2014/main" id="{39DDDDAB-FC62-6463-85F2-378D473BC2DF}"/>
              </a:ext>
            </a:extLst>
          </p:cNvPr>
          <p:cNvSpPr/>
          <p:nvPr/>
        </p:nvSpPr>
        <p:spPr bwMode="auto">
          <a:xfrm>
            <a:off x="5418404" y="6369438"/>
            <a:ext cx="2834991" cy="106156"/>
          </a:xfrm>
          <a:prstGeom prst="doubleWave">
            <a:avLst/>
          </a:prstGeom>
          <a:solidFill>
            <a:schemeClr val="bg1"/>
          </a:solidFill>
          <a:ln w="3175" algn="ctr">
            <a:solidFill>
              <a:schemeClr val="bg1">
                <a:lumMod val="75000"/>
              </a:schemeClr>
            </a:solid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78ABAC72-C92E-8E64-A0BB-EDB7B013F881}"/>
              </a:ext>
            </a:extLst>
          </p:cNvPr>
          <p:cNvSpPr txBox="1"/>
          <p:nvPr/>
        </p:nvSpPr>
        <p:spPr>
          <a:xfrm>
            <a:off x="6698161" y="6447599"/>
            <a:ext cx="1611339" cy="230832"/>
          </a:xfrm>
          <a:prstGeom prst="rect">
            <a:avLst/>
          </a:prstGeom>
          <a:noFill/>
        </p:spPr>
        <p:txBody>
          <a:bodyPr wrap="none" rtlCol="0">
            <a:spAutoFit/>
          </a:bodyPr>
          <a:lstStyle/>
          <a:p>
            <a:r>
              <a:rPr kumimoji="1" lang="ja-JP" altLang="en-US" sz="900">
                <a:latin typeface="メイリオ" panose="020B0604030504040204" pitchFamily="50" charset="-128"/>
                <a:ea typeface="メイリオ" panose="020B0604030504040204" pitchFamily="50" charset="-128"/>
              </a:rPr>
              <a:t>引用：</a:t>
            </a:r>
            <a:r>
              <a:rPr kumimoji="1" lang="en-US" altLang="ja-JP" sz="900">
                <a:latin typeface="メイリオ" panose="020B0604030504040204" pitchFamily="50" charset="-128"/>
                <a:ea typeface="メイリオ" panose="020B0604030504040204" pitchFamily="50" charset="-128"/>
              </a:rPr>
              <a:t>https://cgworld.jp/</a:t>
            </a:r>
            <a:endParaRPr kumimoji="1" lang="ja-JP" altLang="en-US" sz="900">
              <a:latin typeface="メイリオ" panose="020B0604030504040204" pitchFamily="50" charset="-128"/>
              <a:ea typeface="メイリオ" panose="020B0604030504040204" pitchFamily="50" charset="-128"/>
            </a:endParaRPr>
          </a:p>
        </p:txBody>
      </p:sp>
      <p:pic>
        <p:nvPicPr>
          <p:cNvPr id="33" name="図 32" descr="机の上のノートパソコンを見ている男性&#10;&#10;中程度の精度で自動的に生成された説明">
            <a:extLst>
              <a:ext uri="{FF2B5EF4-FFF2-40B4-BE49-F238E27FC236}">
                <a16:creationId xmlns:a16="http://schemas.microsoft.com/office/drawing/2014/main" id="{1F34A724-D3E4-DF99-906D-6C4C79808A6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53395" y="2355044"/>
            <a:ext cx="3632012" cy="2421342"/>
          </a:xfrm>
          <a:prstGeom prst="rect">
            <a:avLst/>
          </a:prstGeom>
        </p:spPr>
      </p:pic>
      <p:sp>
        <p:nvSpPr>
          <p:cNvPr id="34" name="テキスト ボックス 20">
            <a:extLst>
              <a:ext uri="{FF2B5EF4-FFF2-40B4-BE49-F238E27FC236}">
                <a16:creationId xmlns:a16="http://schemas.microsoft.com/office/drawing/2014/main" id="{9A8EA94C-797C-0AA3-B784-8BAF78C92783}"/>
              </a:ext>
            </a:extLst>
          </p:cNvPr>
          <p:cNvSpPr txBox="1"/>
          <p:nvPr/>
        </p:nvSpPr>
        <p:spPr>
          <a:xfrm>
            <a:off x="8296891" y="4821527"/>
            <a:ext cx="3632012" cy="988540"/>
          </a:xfrm>
          <a:prstGeom prst="rect">
            <a:avLst/>
          </a:prstGeom>
          <a:noFill/>
        </p:spPr>
        <p:txBody>
          <a:bodyPr wrap="square" lIns="91440" tIns="45720" rIns="91440" bIns="45720" rtlCol="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lnSpc>
                <a:spcPct val="150000"/>
              </a:lnSpc>
            </a:pPr>
            <a:r>
              <a:rPr kumimoji="1" lang="ja-JP" altLang="en-US" sz="1000">
                <a:latin typeface="メイリオ" panose="020B0604030504040204" pitchFamily="50" charset="-128"/>
                <a:ea typeface="メイリオ" panose="020B0604030504040204" pitchFamily="50" charset="-128"/>
              </a:rPr>
              <a:t>▲インタビューイーはロシア出身のイワン･アントノフさん</a:t>
            </a:r>
            <a:endParaRPr kumimoji="1" lang="en-US" altLang="ja-JP" sz="1000">
              <a:latin typeface="メイリオ" panose="020B0604030504040204" pitchFamily="50" charset="-128"/>
              <a:ea typeface="メイリオ" panose="020B0604030504040204" pitchFamily="50" charset="-128"/>
            </a:endParaRPr>
          </a:p>
          <a:p>
            <a:pPr algn="r">
              <a:lnSpc>
                <a:spcPct val="150000"/>
              </a:lnSpc>
            </a:pPr>
            <a:r>
              <a:rPr kumimoji="1" lang="ja-JP" altLang="en-US" sz="1000">
                <a:latin typeface="メイリオ" panose="020B0604030504040204" pitchFamily="50" charset="-128"/>
                <a:ea typeface="メイリオ" panose="020B0604030504040204" pitchFamily="50" charset="-128"/>
              </a:rPr>
              <a:t>イワンさんが所属する</a:t>
            </a:r>
            <a:endParaRPr kumimoji="1" lang="en-US" altLang="ja-JP" sz="1000">
              <a:latin typeface="メイリオ" panose="020B0604030504040204" pitchFamily="50" charset="-128"/>
              <a:ea typeface="メイリオ" panose="020B0604030504040204" pitchFamily="50" charset="-128"/>
            </a:endParaRPr>
          </a:p>
          <a:p>
            <a:pPr algn="r">
              <a:lnSpc>
                <a:spcPct val="150000"/>
              </a:lnSpc>
            </a:pPr>
            <a:r>
              <a:rPr kumimoji="1" lang="ja-JP" altLang="en-US" sz="1000" b="1">
                <a:solidFill>
                  <a:schemeClr val="accent4">
                    <a:lumMod val="75000"/>
                  </a:schemeClr>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３</a:t>
            </a:r>
            <a:r>
              <a:rPr kumimoji="1" lang="en-US" altLang="ja-JP" sz="1000" b="1">
                <a:solidFill>
                  <a:schemeClr val="accent4">
                    <a:lumMod val="75000"/>
                  </a:schemeClr>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DCG</a:t>
            </a:r>
            <a:r>
              <a:rPr kumimoji="1" lang="ja-JP" altLang="en-US" sz="1000" b="1">
                <a:solidFill>
                  <a:schemeClr val="accent4">
                    <a:lumMod val="75000"/>
                  </a:schemeClr>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制作スタジオ「</a:t>
            </a:r>
            <a:r>
              <a:rPr kumimoji="1" lang="en-US" altLang="ja-JP" sz="1000" b="1">
                <a:solidFill>
                  <a:schemeClr val="accent4">
                    <a:lumMod val="75000"/>
                  </a:schemeClr>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COYOTE 3DCG STUDIO</a:t>
            </a:r>
            <a:r>
              <a:rPr kumimoji="1" lang="ja-JP" altLang="en-US" sz="1000" b="1">
                <a:solidFill>
                  <a:schemeClr val="accent4">
                    <a:lumMod val="75000"/>
                  </a:schemeClr>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」の</a:t>
            </a:r>
            <a:endParaRPr kumimoji="1" lang="en-US" altLang="ja-JP" sz="1000" b="1">
              <a:solidFill>
                <a:schemeClr val="accent4">
                  <a:lumMod val="75000"/>
                </a:schemeClr>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endParaRPr>
          </a:p>
          <a:p>
            <a:pPr algn="r">
              <a:lnSpc>
                <a:spcPct val="150000"/>
              </a:lnSpc>
            </a:pPr>
            <a:r>
              <a:rPr kumimoji="1" lang="ja-JP" altLang="en-US" sz="1000" b="1">
                <a:solidFill>
                  <a:schemeClr val="accent4">
                    <a:lumMod val="75000"/>
                  </a:schemeClr>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ゲーム開発実績はこちら</a:t>
            </a:r>
            <a:endParaRPr kumimoji="1" lang="ja-JP" altLang="en-US" sz="1000" b="1">
              <a:solidFill>
                <a:schemeClr val="accent4">
                  <a:lumMod val="75000"/>
                </a:schemeClr>
              </a:solidFill>
              <a:latin typeface="メイリオ" panose="020B0604030504040204" pitchFamily="50" charset="-128"/>
              <a:ea typeface="メイリオ" panose="020B0604030504040204" pitchFamily="50" charset="-128"/>
            </a:endParaRPr>
          </a:p>
        </p:txBody>
      </p:sp>
      <p:pic>
        <p:nvPicPr>
          <p:cNvPr id="36" name="図 35" descr="挿絵, 抽象 が含まれている画像&#10;&#10;自動的に生成された説明">
            <a:extLst>
              <a:ext uri="{FF2B5EF4-FFF2-40B4-BE49-F238E27FC236}">
                <a16:creationId xmlns:a16="http://schemas.microsoft.com/office/drawing/2014/main" id="{EEF3C9FA-1CD9-72B5-F2CE-3E8FBBBC455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711555" y="5867755"/>
            <a:ext cx="2122833" cy="728734"/>
          </a:xfrm>
          <a:prstGeom prst="rect">
            <a:avLst/>
          </a:prstGeom>
        </p:spPr>
      </p:pic>
    </p:spTree>
    <p:extLst>
      <p:ext uri="{BB962C8B-B14F-4D97-AF65-F5344CB8AC3E}">
        <p14:creationId xmlns:p14="http://schemas.microsoft.com/office/powerpoint/2010/main" val="23764172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A6367-2268-E48F-D519-B960F79C8313}"/>
            </a:ext>
          </a:extLst>
        </p:cNvPr>
        <p:cNvGrpSpPr/>
        <p:nvPr/>
      </p:nvGrpSpPr>
      <p:grpSpPr>
        <a:xfrm>
          <a:off x="0" y="0"/>
          <a:ext cx="0" cy="0"/>
          <a:chOff x="0" y="0"/>
          <a:chExt cx="0" cy="0"/>
        </a:xfrm>
      </p:grpSpPr>
      <p:pic>
        <p:nvPicPr>
          <p:cNvPr id="2" name="図 1" descr="テーブル, 屋内, 座る, コンピュータ が含まれている画像&#10;&#10;自動的に生成された説明">
            <a:extLst>
              <a:ext uri="{FF2B5EF4-FFF2-40B4-BE49-F238E27FC236}">
                <a16:creationId xmlns:a16="http://schemas.microsoft.com/office/drawing/2014/main" id="{FC52D72E-3138-1201-2FE1-7F6FEDDC4397}"/>
              </a:ext>
            </a:extLst>
          </p:cNvPr>
          <p:cNvPicPr>
            <a:picLocks noChangeAspect="1"/>
          </p:cNvPicPr>
          <p:nvPr/>
        </p:nvPicPr>
        <p:blipFill>
          <a:blip r:embed="rId3"/>
          <a:stretch>
            <a:fillRect/>
          </a:stretch>
        </p:blipFill>
        <p:spPr>
          <a:xfrm>
            <a:off x="5868469" y="2465417"/>
            <a:ext cx="3795659" cy="2135058"/>
          </a:xfrm>
          <a:prstGeom prst="rect">
            <a:avLst/>
          </a:prstGeom>
        </p:spPr>
      </p:pic>
      <p:sp>
        <p:nvSpPr>
          <p:cNvPr id="7" name="四角形: 角を丸くする 6">
            <a:extLst>
              <a:ext uri="{FF2B5EF4-FFF2-40B4-BE49-F238E27FC236}">
                <a16:creationId xmlns:a16="http://schemas.microsoft.com/office/drawing/2014/main" id="{DDCF697D-CFB4-D4C6-AA8A-ED654750A74F}"/>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メタバース</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AE5483D6-C774-9693-8BC9-7D8426FB586C}"/>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クリエイター</a:t>
            </a:r>
          </a:p>
        </p:txBody>
      </p:sp>
      <p:pic>
        <p:nvPicPr>
          <p:cNvPr id="12" name="図 11">
            <a:extLst>
              <a:ext uri="{FF2B5EF4-FFF2-40B4-BE49-F238E27FC236}">
                <a16:creationId xmlns:a16="http://schemas.microsoft.com/office/drawing/2014/main" id="{6CF3AB68-BAD4-100F-6F24-F5215BD020D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7106" y="4587695"/>
            <a:ext cx="3896020" cy="1983073"/>
          </a:xfrm>
          <a:prstGeom prst="rect">
            <a:avLst/>
          </a:prstGeom>
        </p:spPr>
      </p:pic>
      <p:sp>
        <p:nvSpPr>
          <p:cNvPr id="8" name="コンテンツ プレースホルダー 7">
            <a:extLst>
              <a:ext uri="{FF2B5EF4-FFF2-40B4-BE49-F238E27FC236}">
                <a16:creationId xmlns:a16="http://schemas.microsoft.com/office/drawing/2014/main" id="{FA182491-9F5A-B18B-4672-4C8076CAF300}"/>
              </a:ext>
            </a:extLst>
          </p:cNvPr>
          <p:cNvSpPr>
            <a:spLocks noGrp="1"/>
          </p:cNvSpPr>
          <p:nvPr>
            <p:ph idx="1"/>
          </p:nvPr>
        </p:nvSpPr>
        <p:spPr>
          <a:xfrm>
            <a:off x="608082" y="1635760"/>
            <a:ext cx="4784858" cy="4915588"/>
          </a:xfrm>
        </p:spPr>
        <p:txBody>
          <a:bodyPr anchor="t">
            <a:normAutofit/>
          </a:bodyPr>
          <a:lstStyle/>
          <a:p>
            <a:pPr marL="0" indent="0">
              <a:lnSpc>
                <a:spcPct val="100000"/>
              </a:lnSpc>
              <a:buNone/>
            </a:pPr>
            <a:r>
              <a:rPr lang="ja-JP" altLang="en-US" sz="1600"/>
              <a:t>クリエイターがポートフォリオ展示や仕事開拓、コミュニティ形成を行うためのメタバース空間</a:t>
            </a:r>
            <a:endParaRPr lang="en-US" altLang="ja-JP" sz="1600"/>
          </a:p>
          <a:p>
            <a:pPr marL="0" indent="0">
              <a:lnSpc>
                <a:spcPct val="100000"/>
              </a:lnSpc>
              <a:buNone/>
            </a:pPr>
            <a:r>
              <a:rPr lang="en-US" altLang="ja-JP" sz="1600" b="1"/>
              <a:t>『</a:t>
            </a:r>
            <a:r>
              <a:rPr lang="en-US" altLang="ja-JP" sz="1600" b="1">
                <a:solidFill>
                  <a:schemeClr val="accent4">
                    <a:lumMod val="50000"/>
                  </a:schemeClr>
                </a:solidFill>
                <a:hlinkClick r:id="rId5">
                  <a:extLst>
                    <a:ext uri="{A12FA001-AC4F-418D-AE19-62706E023703}">
                      <ahyp:hlinkClr xmlns:ahyp="http://schemas.microsoft.com/office/drawing/2018/hyperlinkcolor" val="tx"/>
                    </a:ext>
                  </a:extLst>
                </a:hlinkClick>
              </a:rPr>
              <a:t>C&amp;R Creative</a:t>
            </a:r>
            <a:r>
              <a:rPr lang="ja-JP" altLang="en-US" sz="1600" b="1">
                <a:solidFill>
                  <a:schemeClr val="accent4">
                    <a:lumMod val="50000"/>
                  </a:schemeClr>
                </a:solidFill>
                <a:hlinkClick r:id="rId5">
                  <a:extLst>
                    <a:ext uri="{A12FA001-AC4F-418D-AE19-62706E023703}">
                      <ahyp:hlinkClr xmlns:ahyp="http://schemas.microsoft.com/office/drawing/2018/hyperlinkcolor" val="tx"/>
                    </a:ext>
                  </a:extLst>
                </a:hlinkClick>
              </a:rPr>
              <a:t> </a:t>
            </a:r>
            <a:r>
              <a:rPr lang="en-US" altLang="ja-JP" sz="1600" b="1">
                <a:solidFill>
                  <a:schemeClr val="accent4">
                    <a:lumMod val="50000"/>
                  </a:schemeClr>
                </a:solidFill>
                <a:hlinkClick r:id="rId5">
                  <a:extLst>
                    <a:ext uri="{A12FA001-AC4F-418D-AE19-62706E023703}">
                      <ahyp:hlinkClr xmlns:ahyp="http://schemas.microsoft.com/office/drawing/2018/hyperlinkcolor" val="tx"/>
                    </a:ext>
                  </a:extLst>
                </a:hlinkClick>
              </a:rPr>
              <a:t>Studios Metaverse</a:t>
            </a:r>
            <a:r>
              <a:rPr lang="en-US" altLang="ja-JP" sz="1600" b="1"/>
              <a:t>』</a:t>
            </a:r>
            <a:r>
              <a:rPr lang="ja-JP" altLang="en-US" sz="1600"/>
              <a:t>を開発。</a:t>
            </a:r>
            <a:endParaRPr lang="en-US" altLang="ja-JP" sz="1600"/>
          </a:p>
          <a:p>
            <a:pPr marL="0" indent="0">
              <a:lnSpc>
                <a:spcPct val="100000"/>
              </a:lnSpc>
              <a:buNone/>
            </a:pPr>
            <a:endParaRPr lang="en-US" altLang="ja-JP" sz="1600"/>
          </a:p>
          <a:p>
            <a:pPr marL="0" indent="0">
              <a:lnSpc>
                <a:spcPct val="100000"/>
              </a:lnSpc>
              <a:buNone/>
            </a:pPr>
            <a:r>
              <a:rPr lang="ja-JP" altLang="en-US" sz="1600"/>
              <a:t>リアル空間での</a:t>
            </a:r>
            <a:r>
              <a:rPr lang="en-US" altLang="ja-JP" sz="1600"/>
              <a:t>C&amp;R</a:t>
            </a:r>
            <a:r>
              <a:rPr lang="ja-JP" altLang="en-US" sz="1600"/>
              <a:t> </a:t>
            </a:r>
            <a:r>
              <a:rPr lang="en-US" altLang="ja-JP" sz="1600"/>
              <a:t>Creative Studios</a:t>
            </a:r>
            <a:r>
              <a:rPr lang="ja-JP" altLang="en-US" sz="1600"/>
              <a:t>機能と</a:t>
            </a:r>
            <a:endParaRPr lang="en-US" altLang="ja-JP" sz="1600"/>
          </a:p>
          <a:p>
            <a:pPr marL="0" indent="0">
              <a:lnSpc>
                <a:spcPct val="100000"/>
              </a:lnSpc>
              <a:buNone/>
            </a:pPr>
            <a:r>
              <a:rPr lang="ja-JP" altLang="en-US" sz="1600"/>
              <a:t>組み合わせて、当社だからこそ提供できる</a:t>
            </a:r>
            <a:endParaRPr lang="en-US" altLang="ja-JP" sz="1600"/>
          </a:p>
          <a:p>
            <a:pPr marL="0" indent="0">
              <a:lnSpc>
                <a:spcPct val="100000"/>
              </a:lnSpc>
              <a:buNone/>
            </a:pPr>
            <a:r>
              <a:rPr lang="ja-JP" altLang="en-US" sz="1600"/>
              <a:t>クリエイターのためのオリジナルサービスを展開する。</a:t>
            </a:r>
            <a:endParaRPr lang="en-US" altLang="ja-JP" sz="1600"/>
          </a:p>
          <a:p>
            <a:pPr marL="0" indent="0">
              <a:lnSpc>
                <a:spcPct val="100000"/>
              </a:lnSpc>
              <a:buNone/>
            </a:pPr>
            <a:endParaRPr lang="ja-JP" altLang="en-US" sz="1600"/>
          </a:p>
        </p:txBody>
      </p:sp>
      <p:sp>
        <p:nvSpPr>
          <p:cNvPr id="15" name="テキスト プレースホルダー 14">
            <a:extLst>
              <a:ext uri="{FF2B5EF4-FFF2-40B4-BE49-F238E27FC236}">
                <a16:creationId xmlns:a16="http://schemas.microsoft.com/office/drawing/2014/main" id="{FCAEB948-6181-A370-0E5B-23E2980ACAD8}"/>
              </a:ext>
            </a:extLst>
          </p:cNvPr>
          <p:cNvSpPr>
            <a:spLocks noGrp="1"/>
          </p:cNvSpPr>
          <p:nvPr>
            <p:ph idx="10"/>
          </p:nvPr>
        </p:nvSpPr>
        <p:spPr/>
        <p:txBody>
          <a:bodyPr>
            <a:normAutofit/>
          </a:bodyPr>
          <a:lstStyle/>
          <a:p>
            <a:pPr>
              <a:lnSpc>
                <a:spcPct val="100000"/>
              </a:lnSpc>
            </a:pPr>
            <a:r>
              <a:rPr lang="ja-JP" altLang="en-US" b="1"/>
              <a:t>世界中のクリエイターのための</a:t>
            </a:r>
            <a:endParaRPr lang="en-US" altLang="ja-JP" b="1"/>
          </a:p>
          <a:p>
            <a:pPr>
              <a:lnSpc>
                <a:spcPct val="100000"/>
              </a:lnSpc>
            </a:pPr>
            <a:r>
              <a:rPr lang="ja-JP" altLang="en-US" b="1"/>
              <a:t>メタバースサービス</a:t>
            </a:r>
            <a:endParaRPr kumimoji="1" lang="ja-JP" altLang="en-US" b="1"/>
          </a:p>
          <a:p>
            <a:pPr>
              <a:lnSpc>
                <a:spcPct val="100000"/>
              </a:lnSpc>
            </a:pPr>
            <a:endParaRPr lang="ja-JP" altLang="en-US" sz="2000"/>
          </a:p>
        </p:txBody>
      </p:sp>
      <p:sp>
        <p:nvSpPr>
          <p:cNvPr id="6" name="タイトル 5">
            <a:extLst>
              <a:ext uri="{FF2B5EF4-FFF2-40B4-BE49-F238E27FC236}">
                <a16:creationId xmlns:a16="http://schemas.microsoft.com/office/drawing/2014/main" id="{9ED6017D-5027-8352-F0B7-453E3875DE74}"/>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98FD475F-9568-9D3C-1C8D-0749AF8C9A10}"/>
              </a:ext>
            </a:extLst>
          </p:cNvPr>
          <p:cNvSpPr>
            <a:spLocks noGrp="1"/>
          </p:cNvSpPr>
          <p:nvPr>
            <p:ph type="sldNum" sz="quarter" idx="11"/>
          </p:nvPr>
        </p:nvSpPr>
        <p:spPr/>
        <p:txBody>
          <a:bodyPr/>
          <a:lstStyle/>
          <a:p>
            <a:fld id="{B75FDD43-FCEC-4ECC-8189-A5C6D2E08DC6}" type="slidenum">
              <a:rPr lang="ja-JP" altLang="en-US" smtClean="0"/>
              <a:pPr/>
              <a:t>64</a:t>
            </a:fld>
            <a:endParaRPr lang="ja-JP" altLang="en-US"/>
          </a:p>
        </p:txBody>
      </p:sp>
      <p:pic>
        <p:nvPicPr>
          <p:cNvPr id="4" name="図 3">
            <a:extLst>
              <a:ext uri="{FF2B5EF4-FFF2-40B4-BE49-F238E27FC236}">
                <a16:creationId xmlns:a16="http://schemas.microsoft.com/office/drawing/2014/main" id="{70FD053D-D788-6233-FA3D-9575B19F3D66}"/>
              </a:ext>
            </a:extLst>
          </p:cNvPr>
          <p:cNvPicPr>
            <a:picLocks noChangeAspect="1"/>
          </p:cNvPicPr>
          <p:nvPr/>
        </p:nvPicPr>
        <p:blipFill>
          <a:blip r:embed="rId6"/>
          <a:stretch>
            <a:fillRect/>
          </a:stretch>
        </p:blipFill>
        <p:spPr>
          <a:xfrm>
            <a:off x="7659388" y="4709033"/>
            <a:ext cx="3964722" cy="1861735"/>
          </a:xfrm>
          <a:prstGeom prst="rect">
            <a:avLst/>
          </a:prstGeom>
        </p:spPr>
      </p:pic>
    </p:spTree>
    <p:extLst>
      <p:ext uri="{BB962C8B-B14F-4D97-AF65-F5344CB8AC3E}">
        <p14:creationId xmlns:p14="http://schemas.microsoft.com/office/powerpoint/2010/main" val="38913068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FCE235C4-29E8-3250-FCE9-838AC394C71A}"/>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en-US" altLang="ja-JP" sz="1600" b="1">
                <a:solidFill>
                  <a:schemeClr val="bg1"/>
                </a:solidFill>
                <a:latin typeface="メイリオ" panose="020B0604030504040204" pitchFamily="50" charset="-128"/>
                <a:ea typeface="メイリオ" panose="020B0604030504040204" pitchFamily="50" charset="-128"/>
              </a:rPr>
              <a:t>XR</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4E82E7CC-B8F7-E355-ADD3-65255916B7A3}"/>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ハードウェア</a:t>
            </a:r>
          </a:p>
        </p:txBody>
      </p:sp>
      <p:sp>
        <p:nvSpPr>
          <p:cNvPr id="22" name="コンテンツ プレースホルダー 21">
            <a:extLst>
              <a:ext uri="{FF2B5EF4-FFF2-40B4-BE49-F238E27FC236}">
                <a16:creationId xmlns:a16="http://schemas.microsoft.com/office/drawing/2014/main" id="{871678F1-8633-C2A6-D802-592934A020FF}"/>
              </a:ext>
            </a:extLst>
          </p:cNvPr>
          <p:cNvSpPr>
            <a:spLocks noGrp="1"/>
          </p:cNvSpPr>
          <p:nvPr>
            <p:ph idx="1"/>
          </p:nvPr>
        </p:nvSpPr>
        <p:spPr>
          <a:xfrm>
            <a:off x="608081" y="1482181"/>
            <a:ext cx="4609009" cy="5069167"/>
          </a:xfrm>
        </p:spPr>
        <p:txBody>
          <a:bodyPr>
            <a:noAutofit/>
          </a:bodyPr>
          <a:lstStyle/>
          <a:p>
            <a:pPr marL="0" indent="0">
              <a:lnSpc>
                <a:spcPct val="150000"/>
              </a:lnSpc>
              <a:buNone/>
            </a:pPr>
            <a:r>
              <a:rPr lang="ja-JP" altLang="en-US" sz="1600"/>
              <a:t>子会社の</a:t>
            </a:r>
            <a:r>
              <a:rPr lang="en-US" altLang="ja-JP" sz="1600"/>
              <a:t>VR Japan</a:t>
            </a:r>
            <a:r>
              <a:rPr lang="ja-JP" altLang="en-US" sz="1600"/>
              <a:t>、</a:t>
            </a:r>
            <a:r>
              <a:rPr lang="en-US" altLang="ja-JP" sz="1600" err="1"/>
              <a:t>Shiftall</a:t>
            </a:r>
            <a:r>
              <a:rPr lang="ja-JP" altLang="en-US" sz="1600"/>
              <a:t>とのコラボレーションにより業界随一の</a:t>
            </a:r>
            <a:r>
              <a:rPr lang="en-US" altLang="ja-JP" sz="1600"/>
              <a:t>XR</a:t>
            </a:r>
            <a:r>
              <a:rPr lang="ja-JP" altLang="en-US" sz="1600"/>
              <a:t>関連サービスを提供。</a:t>
            </a:r>
            <a:endParaRPr lang="en-US" altLang="ja-JP" sz="1600"/>
          </a:p>
          <a:p>
            <a:pPr marL="0" indent="0">
              <a:lnSpc>
                <a:spcPct val="150000"/>
              </a:lnSpc>
              <a:buNone/>
            </a:pPr>
            <a:r>
              <a:rPr lang="en-US" altLang="ja-JP" sz="1600"/>
              <a:t>C&amp;R Creative Studios</a:t>
            </a:r>
            <a:r>
              <a:rPr lang="ja-JP" altLang="en-US" sz="1600"/>
              <a:t>では、</a:t>
            </a:r>
            <a:r>
              <a:rPr lang="en-US" altLang="ja-JP" sz="1600"/>
              <a:t>XR(VR/AR/MR)</a:t>
            </a:r>
            <a:r>
              <a:rPr lang="ja-JP" altLang="en-US" sz="1600"/>
              <a:t>などの先端技術を活かした、様々なソリューションでデジタル推進を強力サポート。</a:t>
            </a:r>
            <a:br>
              <a:rPr lang="en-US" altLang="ja-JP" sz="1600"/>
            </a:br>
            <a:endParaRPr lang="en-US" altLang="ja-JP" sz="1600"/>
          </a:p>
          <a:p>
            <a:pPr>
              <a:lnSpc>
                <a:spcPct val="150000"/>
              </a:lnSpc>
            </a:pPr>
            <a:r>
              <a:rPr lang="ja-JP" altLang="en-US" sz="1600" b="1"/>
              <a:t>　コンテンツ開発</a:t>
            </a:r>
            <a:endParaRPr lang="en-US" altLang="ja-JP" sz="1600" b="1"/>
          </a:p>
          <a:p>
            <a:pPr>
              <a:lnSpc>
                <a:spcPct val="150000"/>
              </a:lnSpc>
            </a:pPr>
            <a:r>
              <a:rPr lang="ja-JP" altLang="en-US" sz="1600" b="1"/>
              <a:t>　オリジナルシステム</a:t>
            </a:r>
            <a:endParaRPr lang="en-US" altLang="ja-JP" sz="1600"/>
          </a:p>
          <a:p>
            <a:pPr>
              <a:lnSpc>
                <a:spcPct val="150000"/>
              </a:lnSpc>
            </a:pPr>
            <a:r>
              <a:rPr lang="ja-JP" altLang="en-US" sz="1600" b="1"/>
              <a:t>　ハードウェア販売・レンタル</a:t>
            </a:r>
            <a:endParaRPr lang="en-US" altLang="ja-JP" sz="1600"/>
          </a:p>
          <a:p>
            <a:pPr>
              <a:lnSpc>
                <a:spcPct val="150000"/>
              </a:lnSpc>
            </a:pPr>
            <a:r>
              <a:rPr lang="ja-JP" altLang="en-US" sz="1600" b="1"/>
              <a:t>　コンサルティング</a:t>
            </a:r>
            <a:endParaRPr lang="en-US" altLang="ja-JP" sz="1600" b="1"/>
          </a:p>
          <a:p>
            <a:pPr>
              <a:lnSpc>
                <a:spcPct val="150000"/>
              </a:lnSpc>
            </a:pPr>
            <a:r>
              <a:rPr lang="ja-JP" altLang="en-US" sz="1600" b="1"/>
              <a:t>　専門人材サービス</a:t>
            </a:r>
            <a:endParaRPr lang="en-US" altLang="ja-JP" sz="1600" b="1"/>
          </a:p>
        </p:txBody>
      </p:sp>
      <p:sp>
        <p:nvSpPr>
          <p:cNvPr id="15" name="テキスト プレースホルダー 14">
            <a:extLst>
              <a:ext uri="{FF2B5EF4-FFF2-40B4-BE49-F238E27FC236}">
                <a16:creationId xmlns:a16="http://schemas.microsoft.com/office/drawing/2014/main" id="{66174B07-79D8-0FF4-FB53-51A8B8E248D9}"/>
              </a:ext>
            </a:extLst>
          </p:cNvPr>
          <p:cNvSpPr>
            <a:spLocks noGrp="1"/>
          </p:cNvSpPr>
          <p:nvPr>
            <p:ph idx="10"/>
          </p:nvPr>
        </p:nvSpPr>
        <p:spPr/>
        <p:txBody>
          <a:bodyPr>
            <a:normAutofit/>
          </a:bodyPr>
          <a:lstStyle/>
          <a:p>
            <a:r>
              <a:rPr lang="ja-JP" altLang="en-US" b="1"/>
              <a:t>ハード・ソフト・流通まで、</a:t>
            </a:r>
            <a:br>
              <a:rPr lang="en-US" altLang="ja-JP" b="1"/>
            </a:br>
            <a:r>
              <a:rPr lang="ja-JP" altLang="en-US" b="1"/>
              <a:t>業界随一の</a:t>
            </a:r>
            <a:r>
              <a:rPr lang="en-US" altLang="ja-JP" b="1"/>
              <a:t>XR</a:t>
            </a:r>
            <a:r>
              <a:rPr lang="ja-JP" altLang="en-US" b="1"/>
              <a:t>関連サービス</a:t>
            </a:r>
          </a:p>
        </p:txBody>
      </p:sp>
      <p:sp>
        <p:nvSpPr>
          <p:cNvPr id="6" name="タイトル 5">
            <a:extLst>
              <a:ext uri="{FF2B5EF4-FFF2-40B4-BE49-F238E27FC236}">
                <a16:creationId xmlns:a16="http://schemas.microsoft.com/office/drawing/2014/main" id="{4072AEAD-A5C5-4448-AF54-A1D0C80A95B3}"/>
              </a:ext>
            </a:extLst>
          </p:cNvPr>
          <p:cNvSpPr>
            <a:spLocks noGrp="1"/>
          </p:cNvSpPr>
          <p:nvPr>
            <p:ph type="title"/>
          </p:nvPr>
        </p:nvSpPr>
        <p:spPr/>
        <p:txBody>
          <a:bodyPr/>
          <a:lstStyle/>
          <a:p>
            <a:r>
              <a:rPr lang="ja-JP" altLang="en-US">
                <a:latin typeface="+mn-lt"/>
              </a:rPr>
              <a:t>最近の取り組み</a:t>
            </a:r>
          </a:p>
        </p:txBody>
      </p:sp>
      <p:sp>
        <p:nvSpPr>
          <p:cNvPr id="3" name="スライド番号プレースホルダー 2">
            <a:extLst>
              <a:ext uri="{FF2B5EF4-FFF2-40B4-BE49-F238E27FC236}">
                <a16:creationId xmlns:a16="http://schemas.microsoft.com/office/drawing/2014/main" id="{A8A4270C-9884-1F0C-E95A-DA8692049B4D}"/>
              </a:ext>
            </a:extLst>
          </p:cNvPr>
          <p:cNvSpPr>
            <a:spLocks noGrp="1"/>
          </p:cNvSpPr>
          <p:nvPr>
            <p:ph type="sldNum" sz="quarter" idx="11"/>
          </p:nvPr>
        </p:nvSpPr>
        <p:spPr/>
        <p:txBody>
          <a:bodyPr/>
          <a:lstStyle/>
          <a:p>
            <a:fld id="{B75FDD43-FCEC-4ECC-8189-A5C6D2E08DC6}" type="slidenum">
              <a:rPr lang="ja-JP" altLang="en-US" smtClean="0"/>
              <a:pPr/>
              <a:t>65</a:t>
            </a:fld>
            <a:endParaRPr lang="ja-JP" altLang="en-US"/>
          </a:p>
        </p:txBody>
      </p:sp>
      <p:sp>
        <p:nvSpPr>
          <p:cNvPr id="2" name="四角形: 角を丸くする 1">
            <a:extLst>
              <a:ext uri="{FF2B5EF4-FFF2-40B4-BE49-F238E27FC236}">
                <a16:creationId xmlns:a16="http://schemas.microsoft.com/office/drawing/2014/main" id="{4335C194-F406-A261-BAD4-1796C0051564}"/>
              </a:ext>
            </a:extLst>
          </p:cNvPr>
          <p:cNvSpPr/>
          <p:nvPr/>
        </p:nvSpPr>
        <p:spPr bwMode="auto">
          <a:xfrm>
            <a:off x="356041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先端技術</a:t>
            </a:r>
          </a:p>
        </p:txBody>
      </p:sp>
      <p:sp>
        <p:nvSpPr>
          <p:cNvPr id="4" name="正方形/長方形 3">
            <a:extLst>
              <a:ext uri="{FF2B5EF4-FFF2-40B4-BE49-F238E27FC236}">
                <a16:creationId xmlns:a16="http://schemas.microsoft.com/office/drawing/2014/main" id="{D91D8521-F560-BF60-B1B3-E839CB06FBB2}"/>
              </a:ext>
            </a:extLst>
          </p:cNvPr>
          <p:cNvSpPr/>
          <p:nvPr/>
        </p:nvSpPr>
        <p:spPr bwMode="auto">
          <a:xfrm>
            <a:off x="653801" y="4036221"/>
            <a:ext cx="124585" cy="2264569"/>
          </a:xfrm>
          <a:prstGeom prst="rect">
            <a:avLst/>
          </a:prstGeom>
          <a:solidFill>
            <a:schemeClr val="bg2"/>
          </a:solidFill>
          <a:ln w="38100" algn="ctr">
            <a:noFill/>
            <a:miter lim="800000"/>
            <a:headEnd/>
            <a:tailEnd/>
          </a:ln>
          <a:effectLst/>
        </p:spPr>
        <p:txBody>
          <a:bodyPr wrap="none" lIns="90000" tIns="46800" rIns="90000" bIns="46800" rtlCol="0" anchor="ctr"/>
          <a:lstStyle/>
          <a:p>
            <a:pPr algn="l" defTabSz="914400" fontAlgn="base">
              <a:spcBef>
                <a:spcPct val="50000"/>
              </a:spcBef>
              <a:spcAft>
                <a:spcPct val="0"/>
              </a:spcAft>
            </a:pPr>
            <a:endParaRPr kumimoji="1" lang="ja-JP" altLang="en-US" sz="2000" b="1" noProof="0">
              <a:solidFill>
                <a:schemeClr val="bg1"/>
              </a:solidFill>
              <a:latin typeface="Meiryo UI" panose="020B0604030504040204" pitchFamily="50" charset="-128"/>
              <a:ea typeface="Meiryo UI" panose="020B0604030504040204" pitchFamily="50" charset="-128"/>
            </a:endParaRPr>
          </a:p>
        </p:txBody>
      </p:sp>
      <p:pic>
        <p:nvPicPr>
          <p:cNvPr id="8" name="図 7">
            <a:extLst>
              <a:ext uri="{FF2B5EF4-FFF2-40B4-BE49-F238E27FC236}">
                <a16:creationId xmlns:a16="http://schemas.microsoft.com/office/drawing/2014/main" id="{C41D3845-F6F6-456A-2808-D4E99FFD749C}"/>
              </a:ext>
            </a:extLst>
          </p:cNvPr>
          <p:cNvPicPr>
            <a:picLocks noChangeAspect="1"/>
          </p:cNvPicPr>
          <p:nvPr/>
        </p:nvPicPr>
        <p:blipFill>
          <a:blip r:embed="rId4"/>
          <a:stretch>
            <a:fillRect/>
          </a:stretch>
        </p:blipFill>
        <p:spPr>
          <a:xfrm>
            <a:off x="5638915" y="2157265"/>
            <a:ext cx="2377441" cy="732037"/>
          </a:xfrm>
          <a:prstGeom prst="rect">
            <a:avLst/>
          </a:prstGeom>
          <a:ln>
            <a:solidFill>
              <a:schemeClr val="bg1"/>
            </a:solidFill>
          </a:ln>
        </p:spPr>
      </p:pic>
      <p:sp>
        <p:nvSpPr>
          <p:cNvPr id="14" name="テキスト ボックス 13">
            <a:extLst>
              <a:ext uri="{FF2B5EF4-FFF2-40B4-BE49-F238E27FC236}">
                <a16:creationId xmlns:a16="http://schemas.microsoft.com/office/drawing/2014/main" id="{08975F20-C2F7-5151-8E81-A3A01E2180A6}"/>
              </a:ext>
            </a:extLst>
          </p:cNvPr>
          <p:cNvSpPr txBox="1"/>
          <p:nvPr/>
        </p:nvSpPr>
        <p:spPr>
          <a:xfrm>
            <a:off x="8494926" y="2178414"/>
            <a:ext cx="2784737" cy="711733"/>
          </a:xfrm>
          <a:prstGeom prst="rect">
            <a:avLst/>
          </a:prstGeom>
          <a:noFill/>
        </p:spPr>
        <p:txBody>
          <a:bodyPr wrap="none" rtlCol="0">
            <a:spAutoFit/>
          </a:bodyPr>
          <a:lstStyle/>
          <a:p>
            <a:pPr>
              <a:lnSpc>
                <a:spcPct val="150000"/>
              </a:lnSpc>
            </a:pPr>
            <a:r>
              <a:rPr kumimoji="1" lang="en-US" altLang="ja-JP" sz="1400" b="1">
                <a:latin typeface="メイリオ" panose="020B0604030504040204" pitchFamily="50" charset="-128"/>
                <a:ea typeface="メイリオ" panose="020B0604030504040204" pitchFamily="50" charset="-128"/>
              </a:rPr>
              <a:t>VR</a:t>
            </a:r>
            <a:r>
              <a:rPr kumimoji="1" lang="ja-JP" altLang="en-US" sz="1400" b="1">
                <a:latin typeface="メイリオ" panose="020B0604030504040204" pitchFamily="50" charset="-128"/>
                <a:ea typeface="メイリオ" panose="020B0604030504040204" pitchFamily="50" charset="-128"/>
              </a:rPr>
              <a:t>関連のハードウェアを中心に</a:t>
            </a:r>
            <a:endParaRPr kumimoji="1" lang="en-US" altLang="ja-JP" sz="1400" b="1">
              <a:latin typeface="メイリオ" panose="020B0604030504040204" pitchFamily="50" charset="-128"/>
              <a:ea typeface="メイリオ" panose="020B0604030504040204" pitchFamily="50" charset="-128"/>
            </a:endParaRPr>
          </a:p>
          <a:p>
            <a:pPr>
              <a:lnSpc>
                <a:spcPct val="150000"/>
              </a:lnSpc>
            </a:pPr>
            <a:r>
              <a:rPr kumimoji="1" lang="ja-JP" altLang="en-US" sz="1400" b="1">
                <a:latin typeface="メイリオ" panose="020B0604030504040204" pitchFamily="50" charset="-128"/>
                <a:ea typeface="メイリオ" panose="020B0604030504040204" pitchFamily="50" charset="-128"/>
              </a:rPr>
              <a:t>日・米・欧へ販売</a:t>
            </a:r>
            <a:endParaRPr kumimoji="1" lang="en-US" altLang="ja-JP" sz="1400" b="1">
              <a:latin typeface="メイリオ" panose="020B0604030504040204" pitchFamily="50" charset="-128"/>
              <a:ea typeface="メイリオ" panose="020B0604030504040204" pitchFamily="50" charset="-128"/>
            </a:endParaRPr>
          </a:p>
        </p:txBody>
      </p:sp>
      <p:grpSp>
        <p:nvGrpSpPr>
          <p:cNvPr id="11" name="Group 10">
            <a:extLst>
              <a:ext uri="{FF2B5EF4-FFF2-40B4-BE49-F238E27FC236}">
                <a16:creationId xmlns:a16="http://schemas.microsoft.com/office/drawing/2014/main" id="{049EBF49-75A4-086C-D9D6-9DC405F4A2D1}"/>
              </a:ext>
            </a:extLst>
          </p:cNvPr>
          <p:cNvGrpSpPr/>
          <p:nvPr/>
        </p:nvGrpSpPr>
        <p:grpSpPr>
          <a:xfrm>
            <a:off x="6003077" y="3065141"/>
            <a:ext cx="4670174" cy="3591418"/>
            <a:chOff x="5451534" y="4110169"/>
            <a:chExt cx="3160689" cy="2408505"/>
          </a:xfrm>
        </p:grpSpPr>
        <p:pic>
          <p:nvPicPr>
            <p:cNvPr id="24" name="図 23" descr="ビデオゲームのリモコン&#10;&#10;中程度の精度で自動的に生成された説明">
              <a:extLst>
                <a:ext uri="{FF2B5EF4-FFF2-40B4-BE49-F238E27FC236}">
                  <a16:creationId xmlns:a16="http://schemas.microsoft.com/office/drawing/2014/main" id="{C514DAEE-A381-1C74-12E8-7042AFEA90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45127" y="4110169"/>
              <a:ext cx="1609725" cy="1123950"/>
            </a:xfrm>
            <a:prstGeom prst="rect">
              <a:avLst/>
            </a:prstGeom>
          </p:spPr>
        </p:pic>
        <p:pic>
          <p:nvPicPr>
            <p:cNvPr id="10" name="図 9" descr="アイコン が含まれている画像&#10;&#10;自動的に生成された説明">
              <a:extLst>
                <a:ext uri="{FF2B5EF4-FFF2-40B4-BE49-F238E27FC236}">
                  <a16:creationId xmlns:a16="http://schemas.microsoft.com/office/drawing/2014/main" id="{02125297-251E-F72D-9A67-44D275FF946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1534" y="5260955"/>
              <a:ext cx="1555564" cy="1191777"/>
            </a:xfrm>
            <a:prstGeom prst="rect">
              <a:avLst/>
            </a:prstGeom>
          </p:spPr>
        </p:pic>
        <p:pic>
          <p:nvPicPr>
            <p:cNvPr id="16" name="図 15" descr="レゴ, カメラ が含まれている画像&#10;&#10;自動的に生成された説明">
              <a:extLst>
                <a:ext uri="{FF2B5EF4-FFF2-40B4-BE49-F238E27FC236}">
                  <a16:creationId xmlns:a16="http://schemas.microsoft.com/office/drawing/2014/main" id="{A2B2882C-CFB6-BF25-C32C-D1D54D193F4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17095" y="5148083"/>
              <a:ext cx="1495128" cy="1370591"/>
            </a:xfrm>
            <a:prstGeom prst="rect">
              <a:avLst/>
            </a:prstGeom>
          </p:spPr>
        </p:pic>
        <p:pic>
          <p:nvPicPr>
            <p:cNvPr id="17" name="図 16" descr="グラフィカル ユーザー インターフェイス&#10;&#10;自動的に生成された説明">
              <a:extLst>
                <a:ext uri="{FF2B5EF4-FFF2-40B4-BE49-F238E27FC236}">
                  <a16:creationId xmlns:a16="http://schemas.microsoft.com/office/drawing/2014/main" id="{6485D76C-7AD8-492E-99E5-76BDEB12781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182010" y="4200808"/>
              <a:ext cx="1365298" cy="885599"/>
            </a:xfrm>
            <a:prstGeom prst="rect">
              <a:avLst/>
            </a:prstGeom>
          </p:spPr>
        </p:pic>
      </p:grpSp>
    </p:spTree>
    <p:extLst>
      <p:ext uri="{BB962C8B-B14F-4D97-AF65-F5344CB8AC3E}">
        <p14:creationId xmlns:p14="http://schemas.microsoft.com/office/powerpoint/2010/main" val="236093172"/>
      </p:ext>
    </p:extLst>
  </p:cSld>
  <p:clrMapOvr>
    <a:masterClrMapping/>
  </p:clrMapOvr>
  <p:extLst>
    <p:ext uri="{6950BFC3-D8DA-4A85-94F7-54DA5524770B}">
      <p188:commentRel xmlns:p188="http://schemas.microsoft.com/office/powerpoint/2018/8/main" r:id="rId3"/>
    </p:ext>
  </p:extLs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コンテンツ プレースホルダー 13">
            <a:extLst>
              <a:ext uri="{FF2B5EF4-FFF2-40B4-BE49-F238E27FC236}">
                <a16:creationId xmlns:a16="http://schemas.microsoft.com/office/drawing/2014/main" id="{8DD313C8-DCBD-3EB2-E48A-8064C2E8994B}"/>
              </a:ext>
            </a:extLst>
          </p:cNvPr>
          <p:cNvSpPr>
            <a:spLocks noGrp="1"/>
          </p:cNvSpPr>
          <p:nvPr>
            <p:ph idx="1"/>
          </p:nvPr>
        </p:nvSpPr>
        <p:spPr>
          <a:xfrm>
            <a:off x="608081" y="1628502"/>
            <a:ext cx="4609009" cy="4922845"/>
          </a:xfrm>
        </p:spPr>
        <p:txBody>
          <a:bodyPr>
            <a:noAutofit/>
          </a:bodyPr>
          <a:lstStyle/>
          <a:p>
            <a:pPr marL="0" indent="0">
              <a:lnSpc>
                <a:spcPct val="100000"/>
              </a:lnSpc>
              <a:buNone/>
            </a:pPr>
            <a:r>
              <a:rPr lang="en-US" altLang="ja-JP" sz="1600" b="1"/>
              <a:t>『</a:t>
            </a:r>
            <a:r>
              <a:rPr lang="en-US" altLang="ja-JP" sz="1600" b="1" err="1">
                <a:solidFill>
                  <a:schemeClr val="accent4">
                    <a:lumMod val="50000"/>
                  </a:schemeClr>
                </a:solidFill>
                <a:hlinkClick r:id="rId3">
                  <a:extLst>
                    <a:ext uri="{A12FA001-AC4F-418D-AE19-62706E023703}">
                      <ahyp:hlinkClr xmlns:ahyp="http://schemas.microsoft.com/office/drawing/2018/hyperlinkcolor" val="tx"/>
                    </a:ext>
                  </a:extLst>
                </a:hlinkClick>
              </a:rPr>
              <a:t>Cassolo</a:t>
            </a:r>
            <a:r>
              <a:rPr lang="ja-JP" altLang="en-US" sz="1600" b="1"/>
              <a:t>（カッソーロ）</a:t>
            </a:r>
            <a:r>
              <a:rPr lang="en-US" altLang="ja-JP" sz="1600" b="1"/>
              <a:t>』</a:t>
            </a:r>
          </a:p>
          <a:p>
            <a:pPr marL="0" indent="0">
              <a:lnSpc>
                <a:spcPct val="100000"/>
              </a:lnSpc>
              <a:buNone/>
            </a:pPr>
            <a:r>
              <a:rPr lang="ja-JP" altLang="en-US" sz="1600"/>
              <a:t>新虎通り</a:t>
            </a:r>
            <a:r>
              <a:rPr lang="en-US" altLang="ja-JP" sz="1600"/>
              <a:t>CORE</a:t>
            </a:r>
            <a:r>
              <a:rPr lang="ja-JP" altLang="en-US" sz="1600"/>
              <a:t>ビル ２</a:t>
            </a:r>
            <a:r>
              <a:rPr lang="en-US" altLang="ja-JP" sz="1600"/>
              <a:t>F</a:t>
            </a:r>
            <a:endParaRPr lang="en-US" altLang="ja-JP" sz="1600">
              <a:cs typeface="Calibri"/>
            </a:endParaRPr>
          </a:p>
          <a:p>
            <a:pPr marL="0" indent="0">
              <a:lnSpc>
                <a:spcPct val="100000"/>
              </a:lnSpc>
              <a:buNone/>
            </a:pPr>
            <a:endParaRPr lang="en-US" altLang="ja-JP" sz="1600">
              <a:cs typeface="Calibri"/>
            </a:endParaRPr>
          </a:p>
          <a:p>
            <a:pPr marL="0" indent="0">
              <a:lnSpc>
                <a:spcPct val="100000"/>
              </a:lnSpc>
              <a:buNone/>
            </a:pPr>
            <a:r>
              <a:rPr lang="ja-JP" altLang="en-US" sz="1600" b="0" i="0">
                <a:effectLst/>
              </a:rPr>
              <a:t>料理人（シェフ）の独立開業を支援する</a:t>
            </a:r>
            <a:endParaRPr lang="en-US" altLang="ja-JP" sz="1600" b="0" i="0">
              <a:effectLst/>
            </a:endParaRPr>
          </a:p>
          <a:p>
            <a:pPr marL="0" indent="0">
              <a:lnSpc>
                <a:spcPct val="100000"/>
              </a:lnSpc>
              <a:buNone/>
            </a:pPr>
            <a:r>
              <a:rPr lang="en-US" altLang="ja-JP" sz="1600" b="0" i="0">
                <a:effectLst/>
              </a:rPr>
              <a:t>Chef’s value</a:t>
            </a:r>
            <a:r>
              <a:rPr lang="ja-JP" altLang="en-US" sz="1600" b="0" i="0">
                <a:effectLst/>
              </a:rPr>
              <a:t>直営のスタートアップ１号店！</a:t>
            </a:r>
            <a:endParaRPr lang="en-US" altLang="ja-JP" sz="1600" b="0" i="0">
              <a:effectLst/>
            </a:endParaRPr>
          </a:p>
          <a:p>
            <a:pPr marL="0" indent="0">
              <a:lnSpc>
                <a:spcPct val="100000"/>
              </a:lnSpc>
              <a:buNone/>
            </a:pPr>
            <a:endParaRPr lang="en-US" altLang="ja-JP" sz="1600"/>
          </a:p>
          <a:p>
            <a:pPr marL="0" indent="0">
              <a:lnSpc>
                <a:spcPct val="100000"/>
              </a:lnSpc>
              <a:buNone/>
            </a:pPr>
            <a:r>
              <a:rPr lang="ja-JP" altLang="en-US" sz="1600" b="0" i="0">
                <a:effectLst/>
              </a:rPr>
              <a:t>この店舗で経営経験を積んだシェフが次々と</a:t>
            </a:r>
            <a:endParaRPr lang="en-US" altLang="ja-JP" sz="1600" b="0" i="0">
              <a:effectLst/>
            </a:endParaRPr>
          </a:p>
          <a:p>
            <a:pPr marL="0" indent="0">
              <a:lnSpc>
                <a:spcPct val="100000"/>
              </a:lnSpc>
              <a:buNone/>
            </a:pPr>
            <a:r>
              <a:rPr lang="ja-JP" altLang="en-US" sz="1600" b="0" i="0">
                <a:effectLst/>
              </a:rPr>
              <a:t>飛び立つと同時に、一緒に飛び続けるための</a:t>
            </a:r>
            <a:endParaRPr lang="en-US" altLang="ja-JP" sz="1600" b="0" i="0">
              <a:effectLst/>
            </a:endParaRPr>
          </a:p>
          <a:p>
            <a:pPr marL="0" indent="0">
              <a:lnSpc>
                <a:spcPct val="100000"/>
              </a:lnSpc>
              <a:buNone/>
            </a:pPr>
            <a:r>
              <a:rPr lang="ja-JP" altLang="en-US" sz="1600" b="0" i="0">
                <a:effectLst/>
              </a:rPr>
              <a:t>帰還場所でもあるというコンセプト。</a:t>
            </a:r>
            <a:endParaRPr lang="en-US" altLang="ja-JP" sz="1600" b="0" i="0">
              <a:effectLst/>
            </a:endParaRPr>
          </a:p>
          <a:p>
            <a:pPr marL="0" indent="0">
              <a:lnSpc>
                <a:spcPct val="100000"/>
              </a:lnSpc>
              <a:buNone/>
            </a:pPr>
            <a:endParaRPr lang="ja-JP" altLang="en-US" sz="1600"/>
          </a:p>
        </p:txBody>
      </p:sp>
      <p:sp>
        <p:nvSpPr>
          <p:cNvPr id="17" name="テキスト プレースホルダー 16">
            <a:extLst>
              <a:ext uri="{FF2B5EF4-FFF2-40B4-BE49-F238E27FC236}">
                <a16:creationId xmlns:a16="http://schemas.microsoft.com/office/drawing/2014/main" id="{256E532E-6B19-CD2C-EC1F-00C6CCB6A550}"/>
              </a:ext>
            </a:extLst>
          </p:cNvPr>
          <p:cNvSpPr>
            <a:spLocks noGrp="1"/>
          </p:cNvSpPr>
          <p:nvPr>
            <p:ph idx="10"/>
          </p:nvPr>
        </p:nvSpPr>
        <p:spPr/>
        <p:txBody>
          <a:bodyPr/>
          <a:lstStyle/>
          <a:p>
            <a:r>
              <a:rPr lang="ja-JP" altLang="en-US" b="1"/>
              <a:t>シェフを独立支援するための</a:t>
            </a:r>
            <a:br>
              <a:rPr lang="en-US" altLang="ja-JP" b="1"/>
            </a:br>
            <a:r>
              <a:rPr lang="ja-JP" altLang="en-US" b="1"/>
              <a:t>レストランをオープン</a:t>
            </a:r>
          </a:p>
        </p:txBody>
      </p:sp>
      <p:sp>
        <p:nvSpPr>
          <p:cNvPr id="11" name="タイトル 10">
            <a:extLst>
              <a:ext uri="{FF2B5EF4-FFF2-40B4-BE49-F238E27FC236}">
                <a16:creationId xmlns:a16="http://schemas.microsoft.com/office/drawing/2014/main" id="{3EB08307-7A57-4884-4CD6-99C4AE2BAF07}"/>
              </a:ext>
            </a:extLst>
          </p:cNvPr>
          <p:cNvSpPr>
            <a:spLocks noGrp="1"/>
          </p:cNvSpPr>
          <p:nvPr>
            <p:ph type="title"/>
          </p:nvPr>
        </p:nvSpPr>
        <p:spPr/>
        <p:txBody>
          <a:bodyPr/>
          <a:lstStyle/>
          <a:p>
            <a:r>
              <a:rPr lang="ja-JP" altLang="en-US">
                <a:latin typeface="+mn-lt"/>
              </a:rPr>
              <a:t>最近の取り組み</a:t>
            </a:r>
          </a:p>
        </p:txBody>
      </p:sp>
      <p:sp>
        <p:nvSpPr>
          <p:cNvPr id="2" name="スライド番号プレースホルダー 1">
            <a:extLst>
              <a:ext uri="{FF2B5EF4-FFF2-40B4-BE49-F238E27FC236}">
                <a16:creationId xmlns:a16="http://schemas.microsoft.com/office/drawing/2014/main" id="{2B58EEA3-5578-2972-E863-A747BE382F09}"/>
              </a:ext>
            </a:extLst>
          </p:cNvPr>
          <p:cNvSpPr>
            <a:spLocks noGrp="1"/>
          </p:cNvSpPr>
          <p:nvPr>
            <p:ph type="sldNum" sz="quarter" idx="11"/>
          </p:nvPr>
        </p:nvSpPr>
        <p:spPr/>
        <p:txBody>
          <a:bodyPr/>
          <a:lstStyle/>
          <a:p>
            <a:fld id="{B75FDD43-FCEC-4ECC-8189-A5C6D2E08DC6}" type="slidenum">
              <a:rPr lang="ja-JP" altLang="en-US" smtClean="0"/>
              <a:pPr/>
              <a:t>66</a:t>
            </a:fld>
            <a:endParaRPr lang="ja-JP" altLang="en-US"/>
          </a:p>
        </p:txBody>
      </p:sp>
      <p:sp>
        <p:nvSpPr>
          <p:cNvPr id="18" name="四角形: 角を丸くする 17">
            <a:extLst>
              <a:ext uri="{FF2B5EF4-FFF2-40B4-BE49-F238E27FC236}">
                <a16:creationId xmlns:a16="http://schemas.microsoft.com/office/drawing/2014/main" id="{AAD7F508-D529-53A4-A96B-EB9141C15C3B}"/>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食</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FBEB1E76-70C7-FFBF-9892-DC3B76904FF0}"/>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シェフ</a:t>
            </a:r>
          </a:p>
        </p:txBody>
      </p:sp>
      <p:pic>
        <p:nvPicPr>
          <p:cNvPr id="20" name="図 19">
            <a:extLst>
              <a:ext uri="{FF2B5EF4-FFF2-40B4-BE49-F238E27FC236}">
                <a16:creationId xmlns:a16="http://schemas.microsoft.com/office/drawing/2014/main" id="{4C474DFB-7C76-0B87-B3BC-986612804C20}"/>
              </a:ext>
            </a:extLst>
          </p:cNvPr>
          <p:cNvPicPr>
            <a:picLocks noChangeAspect="1"/>
          </p:cNvPicPr>
          <p:nvPr/>
        </p:nvPicPr>
        <p:blipFill>
          <a:blip r:embed="rId4"/>
          <a:stretch>
            <a:fillRect/>
          </a:stretch>
        </p:blipFill>
        <p:spPr>
          <a:xfrm>
            <a:off x="8096911" y="2362988"/>
            <a:ext cx="3760761" cy="2354869"/>
          </a:xfrm>
          <a:prstGeom prst="rect">
            <a:avLst/>
          </a:prstGeom>
        </p:spPr>
      </p:pic>
      <p:pic>
        <p:nvPicPr>
          <p:cNvPr id="21" name="図 20">
            <a:extLst>
              <a:ext uri="{FF2B5EF4-FFF2-40B4-BE49-F238E27FC236}">
                <a16:creationId xmlns:a16="http://schemas.microsoft.com/office/drawing/2014/main" id="{76000E76-FD9E-A3C2-543A-79C4C738E281}"/>
              </a:ext>
            </a:extLst>
          </p:cNvPr>
          <p:cNvPicPr>
            <a:picLocks noChangeAspect="1"/>
          </p:cNvPicPr>
          <p:nvPr/>
        </p:nvPicPr>
        <p:blipFill>
          <a:blip r:embed="rId5"/>
          <a:stretch>
            <a:fillRect/>
          </a:stretch>
        </p:blipFill>
        <p:spPr>
          <a:xfrm>
            <a:off x="5638914" y="4018430"/>
            <a:ext cx="3551989" cy="2271687"/>
          </a:xfrm>
          <a:prstGeom prst="rect">
            <a:avLst/>
          </a:prstGeom>
        </p:spPr>
      </p:pic>
      <p:sp>
        <p:nvSpPr>
          <p:cNvPr id="22" name="四角形: 角を丸くする 21">
            <a:extLst>
              <a:ext uri="{FF2B5EF4-FFF2-40B4-BE49-F238E27FC236}">
                <a16:creationId xmlns:a16="http://schemas.microsoft.com/office/drawing/2014/main" id="{980352CE-7557-DD8B-99BD-CAE3E5A43D8A}"/>
              </a:ext>
            </a:extLst>
          </p:cNvPr>
          <p:cNvSpPr/>
          <p:nvPr/>
        </p:nvSpPr>
        <p:spPr bwMode="auto">
          <a:xfrm>
            <a:off x="3534468"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独立支援</a:t>
            </a:r>
          </a:p>
        </p:txBody>
      </p:sp>
    </p:spTree>
    <p:extLst>
      <p:ext uri="{BB962C8B-B14F-4D97-AF65-F5344CB8AC3E}">
        <p14:creationId xmlns:p14="http://schemas.microsoft.com/office/powerpoint/2010/main" val="10398816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テキスト プレースホルダー 16">
            <a:extLst>
              <a:ext uri="{FF2B5EF4-FFF2-40B4-BE49-F238E27FC236}">
                <a16:creationId xmlns:a16="http://schemas.microsoft.com/office/drawing/2014/main" id="{256E532E-6B19-CD2C-EC1F-00C6CCB6A550}"/>
              </a:ext>
            </a:extLst>
          </p:cNvPr>
          <p:cNvSpPr>
            <a:spLocks noGrp="1"/>
          </p:cNvSpPr>
          <p:nvPr>
            <p:ph idx="10"/>
          </p:nvPr>
        </p:nvSpPr>
        <p:spPr/>
        <p:txBody>
          <a:bodyPr vert="horz" lIns="91440" tIns="45720" rIns="91440" bIns="45720" rtlCol="0" anchor="t">
            <a:normAutofit/>
          </a:bodyPr>
          <a:lstStyle/>
          <a:p>
            <a:r>
              <a:rPr lang="ja-JP" b="1">
                <a:latin typeface="Meiryo"/>
                <a:ea typeface="Meiryo"/>
              </a:rPr>
              <a:t>農業とクリエイティブの</a:t>
            </a:r>
            <a:r>
              <a:rPr lang="ja-JP" altLang="en-US" b="1">
                <a:latin typeface="メイリオ"/>
                <a:ea typeface="メイリオ"/>
              </a:rPr>
              <a:t>街づくり</a:t>
            </a:r>
            <a:endParaRPr lang="en-US"/>
          </a:p>
        </p:txBody>
      </p:sp>
      <p:sp>
        <p:nvSpPr>
          <p:cNvPr id="11" name="タイトル 10">
            <a:extLst>
              <a:ext uri="{FF2B5EF4-FFF2-40B4-BE49-F238E27FC236}">
                <a16:creationId xmlns:a16="http://schemas.microsoft.com/office/drawing/2014/main" id="{3EB08307-7A57-4884-4CD6-99C4AE2BAF07}"/>
              </a:ext>
            </a:extLst>
          </p:cNvPr>
          <p:cNvSpPr>
            <a:spLocks noGrp="1"/>
          </p:cNvSpPr>
          <p:nvPr>
            <p:ph type="title"/>
          </p:nvPr>
        </p:nvSpPr>
        <p:spPr/>
        <p:txBody>
          <a:bodyPr/>
          <a:lstStyle/>
          <a:p>
            <a:r>
              <a:rPr lang="ja-JP" altLang="en-US">
                <a:latin typeface="+mn-lt"/>
              </a:rPr>
              <a:t>最近の取り組み</a:t>
            </a:r>
          </a:p>
        </p:txBody>
      </p:sp>
      <p:sp>
        <p:nvSpPr>
          <p:cNvPr id="4" name="スライド番号プレースホルダー 3">
            <a:extLst>
              <a:ext uri="{FF2B5EF4-FFF2-40B4-BE49-F238E27FC236}">
                <a16:creationId xmlns:a16="http://schemas.microsoft.com/office/drawing/2014/main" id="{9E2089E0-9729-C835-8D68-B08BDB83D247}"/>
              </a:ext>
            </a:extLst>
          </p:cNvPr>
          <p:cNvSpPr>
            <a:spLocks noGrp="1"/>
          </p:cNvSpPr>
          <p:nvPr>
            <p:ph type="sldNum" sz="quarter" idx="11"/>
          </p:nvPr>
        </p:nvSpPr>
        <p:spPr/>
        <p:txBody>
          <a:bodyPr/>
          <a:lstStyle/>
          <a:p>
            <a:fld id="{B75FDD43-FCEC-4ECC-8189-A5C6D2E08DC6}" type="slidenum">
              <a:rPr lang="ja-JP" altLang="en-US" smtClean="0"/>
              <a:pPr/>
              <a:t>67</a:t>
            </a:fld>
            <a:endParaRPr lang="ja-JP" altLang="en-US"/>
          </a:p>
        </p:txBody>
      </p:sp>
      <p:sp>
        <p:nvSpPr>
          <p:cNvPr id="18" name="四角形: 角を丸くする 17">
            <a:extLst>
              <a:ext uri="{FF2B5EF4-FFF2-40B4-BE49-F238E27FC236}">
                <a16:creationId xmlns:a16="http://schemas.microsoft.com/office/drawing/2014/main" id="{AAD7F508-D529-53A4-A96B-EB9141C15C3B}"/>
              </a:ext>
            </a:extLst>
          </p:cNvPr>
          <p:cNvSpPr/>
          <p:nvPr/>
        </p:nvSpPr>
        <p:spPr bwMode="auto">
          <a:xfrm>
            <a:off x="641684"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lang="ja-JP" altLang="en-US" sz="1600" b="1">
                <a:solidFill>
                  <a:schemeClr val="bg1"/>
                </a:solidFill>
                <a:latin typeface="メイリオ" panose="020B0604030504040204" pitchFamily="50" charset="-128"/>
                <a:ea typeface="メイリオ" panose="020B0604030504040204" pitchFamily="50" charset="-128"/>
              </a:rPr>
              <a:t>農業</a:t>
            </a:r>
            <a:endParaRPr kumimoji="1" lang="ja-JP" altLang="en-US" sz="1600" b="1" noProof="0">
              <a:solidFill>
                <a:schemeClr val="bg1"/>
              </a:solidFill>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FBEB1E76-70C7-FFBF-9892-DC3B76904FF0}"/>
              </a:ext>
            </a:extLst>
          </p:cNvPr>
          <p:cNvSpPr/>
          <p:nvPr/>
        </p:nvSpPr>
        <p:spPr bwMode="auto">
          <a:xfrm>
            <a:off x="2101049"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建築</a:t>
            </a:r>
          </a:p>
        </p:txBody>
      </p:sp>
      <p:sp>
        <p:nvSpPr>
          <p:cNvPr id="22" name="四角形: 角を丸くする 21">
            <a:extLst>
              <a:ext uri="{FF2B5EF4-FFF2-40B4-BE49-F238E27FC236}">
                <a16:creationId xmlns:a16="http://schemas.microsoft.com/office/drawing/2014/main" id="{980352CE-7557-DD8B-99BD-CAE3E5A43D8A}"/>
              </a:ext>
            </a:extLst>
          </p:cNvPr>
          <p:cNvSpPr/>
          <p:nvPr/>
        </p:nvSpPr>
        <p:spPr bwMode="auto">
          <a:xfrm>
            <a:off x="3534468" y="1100937"/>
            <a:ext cx="1327541" cy="381244"/>
          </a:xfrm>
          <a:prstGeom prst="roundRect">
            <a:avLst/>
          </a:prstGeom>
          <a:solidFill>
            <a:schemeClr val="accent4">
              <a:lumMod val="75000"/>
            </a:schemeClr>
          </a:solidFill>
          <a:ln w="38100" algn="ctr">
            <a:noFill/>
            <a:miter lim="800000"/>
            <a:headEnd/>
            <a:tailEnd/>
          </a:ln>
          <a:effectLst/>
        </p:spPr>
        <p:txBody>
          <a:bodyPr wrap="none" lIns="90000" tIns="46800" rIns="90000" bIns="46800" rtlCol="0" anchor="ctr"/>
          <a:lstStyle/>
          <a:p>
            <a:pPr algn="ctr" defTabSz="914400" fontAlgn="base">
              <a:lnSpc>
                <a:spcPct val="150000"/>
              </a:lnSpc>
              <a:spcBef>
                <a:spcPct val="50000"/>
              </a:spcBef>
              <a:spcAft>
                <a:spcPct val="0"/>
              </a:spcAft>
            </a:pPr>
            <a:r>
              <a:rPr kumimoji="1" lang="ja-JP" altLang="en-US" sz="1600" b="1" noProof="0">
                <a:solidFill>
                  <a:schemeClr val="bg1"/>
                </a:solidFill>
                <a:latin typeface="メイリオ" panose="020B0604030504040204" pitchFamily="50" charset="-128"/>
                <a:ea typeface="メイリオ" panose="020B0604030504040204" pitchFamily="50" charset="-128"/>
              </a:rPr>
              <a:t>先端技術</a:t>
            </a:r>
          </a:p>
        </p:txBody>
      </p:sp>
      <p:pic>
        <p:nvPicPr>
          <p:cNvPr id="12" name="Picture 11">
            <a:extLst>
              <a:ext uri="{FF2B5EF4-FFF2-40B4-BE49-F238E27FC236}">
                <a16:creationId xmlns:a16="http://schemas.microsoft.com/office/drawing/2014/main" id="{7E79A18E-E99A-5339-104C-52975E4A0E46}"/>
              </a:ext>
            </a:extLst>
          </p:cNvPr>
          <p:cNvPicPr>
            <a:picLocks noChangeAspect="1"/>
          </p:cNvPicPr>
          <p:nvPr/>
        </p:nvPicPr>
        <p:blipFill>
          <a:blip r:embed="rId3"/>
          <a:stretch>
            <a:fillRect/>
          </a:stretch>
        </p:blipFill>
        <p:spPr>
          <a:xfrm>
            <a:off x="5589254" y="1618408"/>
            <a:ext cx="5929407" cy="4572001"/>
          </a:xfrm>
          <a:prstGeom prst="rect">
            <a:avLst/>
          </a:prstGeom>
        </p:spPr>
      </p:pic>
      <p:sp>
        <p:nvSpPr>
          <p:cNvPr id="5" name="コンテンツ プレースホルダー 13">
            <a:extLst>
              <a:ext uri="{FF2B5EF4-FFF2-40B4-BE49-F238E27FC236}">
                <a16:creationId xmlns:a16="http://schemas.microsoft.com/office/drawing/2014/main" id="{5C191BC8-67BC-C2E0-9F1F-33C6DECB82D5}"/>
              </a:ext>
            </a:extLst>
          </p:cNvPr>
          <p:cNvSpPr>
            <a:spLocks noGrp="1"/>
          </p:cNvSpPr>
          <p:nvPr>
            <p:ph idx="1"/>
          </p:nvPr>
        </p:nvSpPr>
        <p:spPr>
          <a:xfrm>
            <a:off x="608013" y="1684338"/>
            <a:ext cx="4608512" cy="4867275"/>
          </a:xfrm>
        </p:spPr>
        <p:txBody>
          <a:bodyPr>
            <a:noAutofit/>
          </a:bodyPr>
          <a:lstStyle/>
          <a:p>
            <a:pPr>
              <a:lnSpc>
                <a:spcPct val="150000"/>
              </a:lnSpc>
            </a:pPr>
            <a:r>
              <a:rPr lang="ja-JP" altLang="en-US" sz="1600" b="1" dirty="0"/>
              <a:t>福島県大熊町に農・食の複合施設「</a:t>
            </a:r>
            <a:r>
              <a:rPr lang="en-US" altLang="ja-JP" sz="1600" b="1" dirty="0"/>
              <a:t>FUN EAT MAKERS in Okuma</a:t>
            </a:r>
            <a:r>
              <a:rPr lang="ja-JP" altLang="en-US" sz="1600" b="1" dirty="0"/>
              <a:t>」がグランドオープン</a:t>
            </a:r>
            <a:endParaRPr lang="en-US" altLang="ja-JP" sz="1600" b="1" dirty="0"/>
          </a:p>
          <a:p>
            <a:pPr>
              <a:lnSpc>
                <a:spcPct val="150000"/>
              </a:lnSpc>
            </a:pPr>
            <a:r>
              <a:rPr lang="ja-JP" altLang="en-US" sz="1600" dirty="0"/>
              <a:t>アグリカルチャー分野の子会社である株式会社コネクトアラウンドは</a:t>
            </a:r>
            <a:r>
              <a:rPr lang="en-US" altLang="ja-JP" sz="1600" dirty="0"/>
              <a:t>6</a:t>
            </a:r>
            <a:r>
              <a:rPr lang="ja-JP" altLang="en-US" sz="1600" dirty="0"/>
              <a:t>月</a:t>
            </a:r>
            <a:r>
              <a:rPr lang="en-US" altLang="ja-JP" sz="1600" dirty="0"/>
              <a:t>14</a:t>
            </a:r>
            <a:r>
              <a:rPr lang="ja-JP" altLang="en-US" sz="1600" dirty="0"/>
              <a:t>日（土）、アグリテック（</a:t>
            </a:r>
            <a:r>
              <a:rPr lang="en-US" altLang="ja-JP" sz="1600" dirty="0"/>
              <a:t>AI</a:t>
            </a:r>
            <a:r>
              <a:rPr lang="ja-JP" altLang="en-US" sz="1600" dirty="0"/>
              <a:t>や先端技術を活用した農業）や誰もが自分の能力を活かして働けるユニバーサルなワークフローを導入した「農業」「食」「滞在」をテーマとした複合施設「</a:t>
            </a:r>
            <a:r>
              <a:rPr lang="en-US" altLang="ja-JP" sz="1600" dirty="0"/>
              <a:t>FUN EAT MAKERS in Okuma</a:t>
            </a:r>
            <a:r>
              <a:rPr lang="ja-JP" altLang="en-US" sz="1600" dirty="0"/>
              <a:t>」（大熊中央産業拠点プロジェクト）をグランドオープンいたしました！</a:t>
            </a:r>
          </a:p>
        </p:txBody>
      </p:sp>
      <p:sp>
        <p:nvSpPr>
          <p:cNvPr id="6" name="テキスト ボックス 5">
            <a:extLst>
              <a:ext uri="{FF2B5EF4-FFF2-40B4-BE49-F238E27FC236}">
                <a16:creationId xmlns:a16="http://schemas.microsoft.com/office/drawing/2014/main" id="{2FBEC110-62A2-4520-231C-0A7F393FDA79}"/>
              </a:ext>
            </a:extLst>
          </p:cNvPr>
          <p:cNvSpPr txBox="1"/>
          <p:nvPr/>
        </p:nvSpPr>
        <p:spPr>
          <a:xfrm>
            <a:off x="1322994" y="5759074"/>
            <a:ext cx="3945374" cy="815608"/>
          </a:xfrm>
          <a:prstGeom prst="rect">
            <a:avLst/>
          </a:prstGeom>
          <a:noFill/>
        </p:spPr>
        <p:txBody>
          <a:bodyPr wrap="square" rtlCol="0">
            <a:spAutoFit/>
          </a:bodyPr>
          <a:lstStyle/>
          <a:p>
            <a:r>
              <a:rPr lang="en-US" altLang="ja-JP" sz="1200" b="1" dirty="0">
                <a:latin typeface="メイリオ" panose="020B0604030504040204" pitchFamily="50" charset="-128"/>
                <a:ea typeface="メイリオ" panose="020B0604030504040204" pitchFamily="50" charset="-128"/>
              </a:rPr>
              <a:t>■</a:t>
            </a: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FUN EAT MAKERS in Okuma</a:t>
            </a:r>
            <a:r>
              <a:rPr lang="ja-JP" altLang="en-US" sz="1200" b="1" dirty="0">
                <a:latin typeface="メイリオ" panose="020B0604030504040204" pitchFamily="50" charset="-128"/>
                <a:ea typeface="メイリオ" panose="020B0604030504040204" pitchFamily="50" charset="-128"/>
              </a:rPr>
              <a:t>」とは</a:t>
            </a:r>
            <a:endParaRPr lang="en-US" altLang="ja-JP" sz="1200" b="1" dirty="0">
              <a:latin typeface="メイリオ" panose="020B0604030504040204" pitchFamily="50" charset="-128"/>
              <a:ea typeface="メイリオ" panose="020B0604030504040204" pitchFamily="50" charset="-128"/>
            </a:endParaRPr>
          </a:p>
          <a:p>
            <a:r>
              <a:rPr lang="ja-JP" altLang="en-US" sz="700" dirty="0">
                <a:latin typeface="メイリオ" panose="020B0604030504040204" pitchFamily="50" charset="-128"/>
                <a:ea typeface="メイリオ" panose="020B0604030504040204" pitchFamily="50" charset="-128"/>
              </a:rPr>
              <a:t>さまざまな人が農業に関わり（つくる）、美味しくて体によい食（たべる）を通じて、たくさんの人が大熊町とつながる（であう）場所です。これを実現するべく、「高付加価値農業生産エリア」「食を楽しむエリア」「様々なプロフェッショナルがつながるワーケーション滞在エリア」の</a:t>
            </a:r>
            <a:r>
              <a:rPr lang="en-US" altLang="ja-JP" sz="700" dirty="0">
                <a:latin typeface="メイリオ" panose="020B0604030504040204" pitchFamily="50" charset="-128"/>
                <a:ea typeface="メイリオ" panose="020B0604030504040204" pitchFamily="50" charset="-128"/>
              </a:rPr>
              <a:t>3</a:t>
            </a:r>
            <a:r>
              <a:rPr lang="ja-JP" altLang="en-US" sz="700" dirty="0">
                <a:latin typeface="メイリオ" panose="020B0604030504040204" pitchFamily="50" charset="-128"/>
                <a:ea typeface="メイリオ" panose="020B0604030504040204" pitchFamily="50" charset="-128"/>
              </a:rPr>
              <a:t>つのエリアで構成する建物と、「大熊町と様々な人がつながる」半屋外エリアと「大熊町の自然の景色とつながる」屋外エリアの</a:t>
            </a:r>
            <a:r>
              <a:rPr lang="en-US" altLang="ja-JP" sz="700" dirty="0">
                <a:latin typeface="メイリオ" panose="020B0604030504040204" pitchFamily="50" charset="-128"/>
                <a:ea typeface="メイリオ" panose="020B0604030504040204" pitchFamily="50" charset="-128"/>
              </a:rPr>
              <a:t>5</a:t>
            </a:r>
            <a:r>
              <a:rPr lang="ja-JP" altLang="en-US" sz="700" dirty="0">
                <a:latin typeface="メイリオ" panose="020B0604030504040204" pitchFamily="50" charset="-128"/>
                <a:ea typeface="メイリオ" panose="020B0604030504040204" pitchFamily="50" charset="-128"/>
              </a:rPr>
              <a:t>つで構成されています。</a:t>
            </a:r>
            <a:endParaRPr kumimoji="1" lang="ja-JP" altLang="en-US" sz="700" dirty="0">
              <a:latin typeface="メイリオ" panose="020B0604030504040204" pitchFamily="50" charset="-128"/>
              <a:ea typeface="メイリオ" panose="020B0604030504040204" pitchFamily="50" charset="-128"/>
            </a:endParaRPr>
          </a:p>
        </p:txBody>
      </p:sp>
      <p:pic>
        <p:nvPicPr>
          <p:cNvPr id="7" name="図 6" descr="ロゴ が含まれている画像&#10;&#10;AI 生成コンテンツは誤りを含む可能性があります。">
            <a:extLst>
              <a:ext uri="{FF2B5EF4-FFF2-40B4-BE49-F238E27FC236}">
                <a16:creationId xmlns:a16="http://schemas.microsoft.com/office/drawing/2014/main" id="{51B4ED9D-7D5F-9393-CCB7-B656B74A16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2127" y="5834170"/>
            <a:ext cx="938931" cy="665416"/>
          </a:xfrm>
          <a:prstGeom prst="rect">
            <a:avLst/>
          </a:prstGeom>
        </p:spPr>
      </p:pic>
    </p:spTree>
    <p:extLst>
      <p:ext uri="{BB962C8B-B14F-4D97-AF65-F5344CB8AC3E}">
        <p14:creationId xmlns:p14="http://schemas.microsoft.com/office/powerpoint/2010/main" val="2846305280"/>
      </p:ext>
    </p:extLst>
  </p:cSld>
  <p:clrMapOvr>
    <a:masterClrMapping/>
  </p:clrMapOvr>
  <p:extLst>
    <p:ext uri="{6950BFC3-D8DA-4A85-94F7-54DA5524770B}">
      <p188:commentRel xmlns:p188="http://schemas.microsoft.com/office/powerpoint/2018/8/main" r:id="rId2"/>
    </p:ext>
  </p:extLs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テキスト ボックス 15">
            <a:extLst>
              <a:ext uri="{FF2B5EF4-FFF2-40B4-BE49-F238E27FC236}">
                <a16:creationId xmlns:a16="http://schemas.microsoft.com/office/drawing/2014/main" id="{D08CDBB3-025E-D062-5064-6EAFEF419B10}"/>
              </a:ext>
            </a:extLst>
          </p:cNvPr>
          <p:cNvSpPr txBox="1"/>
          <p:nvPr/>
        </p:nvSpPr>
        <p:spPr>
          <a:xfrm>
            <a:off x="1051858" y="938568"/>
            <a:ext cx="10443885" cy="2062103"/>
          </a:xfrm>
          <a:prstGeom prst="rect">
            <a:avLst/>
          </a:prstGeom>
          <a:noFill/>
        </p:spPr>
        <p:txBody>
          <a:bodyPr wrap="none" rtlCol="0">
            <a:spAutoFit/>
          </a:bodyPr>
          <a:lstStyle/>
          <a:p>
            <a:pPr algn="ctr"/>
            <a:r>
              <a:rPr kumimoji="1" lang="en-US" altLang="ja-JP" sz="3200" b="1" dirty="0">
                <a:latin typeface="メイリオ" panose="020B0604030504040204" pitchFamily="50" charset="-128"/>
                <a:ea typeface="メイリオ" panose="020B0604030504040204" pitchFamily="50" charset="-128"/>
              </a:rPr>
              <a:t>C&amp;R</a:t>
            </a:r>
            <a:r>
              <a:rPr kumimoji="1" lang="ja-JP" altLang="en-US" sz="3200" b="1" dirty="0">
                <a:latin typeface="メイリオ" panose="020B0604030504040204" pitchFamily="50" charset="-128"/>
                <a:ea typeface="メイリオ" panose="020B0604030504040204" pitchFamily="50" charset="-128"/>
              </a:rPr>
              <a:t>グループには、</a:t>
            </a:r>
            <a:endParaRPr kumimoji="1" lang="en-US" altLang="ja-JP" sz="3200" b="1" dirty="0">
              <a:latin typeface="メイリオ" panose="020B0604030504040204" pitchFamily="50" charset="-128"/>
              <a:ea typeface="メイリオ" panose="020B0604030504040204" pitchFamily="50" charset="-128"/>
            </a:endParaRPr>
          </a:p>
          <a:p>
            <a:pPr algn="ctr"/>
            <a:r>
              <a:rPr kumimoji="1" lang="ja-JP" altLang="en-US" sz="3200" b="1" dirty="0">
                <a:latin typeface="メイリオ" panose="020B0604030504040204" pitchFamily="50" charset="-128"/>
                <a:ea typeface="メイリオ" panose="020B0604030504040204" pitchFamily="50" charset="-128"/>
              </a:rPr>
              <a:t>さまざまなクリエイターをはじめとする</a:t>
            </a:r>
            <a:endParaRPr kumimoji="1" lang="en-US" altLang="ja-JP" sz="3200" b="1" dirty="0">
              <a:latin typeface="メイリオ" panose="020B0604030504040204" pitchFamily="50" charset="-128"/>
              <a:ea typeface="メイリオ" panose="020B0604030504040204" pitchFamily="50" charset="-128"/>
            </a:endParaRPr>
          </a:p>
          <a:p>
            <a:pPr algn="ctr"/>
            <a:r>
              <a:rPr kumimoji="1" lang="ja-JP" altLang="en-US" sz="3200" b="1" dirty="0">
                <a:latin typeface="メイリオ" panose="020B0604030504040204" pitchFamily="50" charset="-128"/>
                <a:ea typeface="メイリオ" panose="020B0604030504040204" pitchFamily="50" charset="-128"/>
              </a:rPr>
              <a:t>プロフェッショナルを起点に、</a:t>
            </a:r>
            <a:endParaRPr kumimoji="1" lang="en-US" altLang="ja-JP" sz="3200" b="1" dirty="0">
              <a:latin typeface="メイリオ" panose="020B0604030504040204" pitchFamily="50" charset="-128"/>
              <a:ea typeface="メイリオ" panose="020B0604030504040204" pitchFamily="50" charset="-128"/>
            </a:endParaRPr>
          </a:p>
          <a:p>
            <a:pPr algn="ctr"/>
            <a:r>
              <a:rPr kumimoji="1" lang="ja-JP" altLang="en-US" sz="3200" b="1" dirty="0">
                <a:latin typeface="メイリオ" panose="020B0604030504040204" pitchFamily="50" charset="-128"/>
                <a:ea typeface="メイリオ" panose="020B0604030504040204" pitchFamily="50" charset="-128"/>
              </a:rPr>
              <a:t>次々と話題のプロジェクトが生まれる環境があります。</a:t>
            </a:r>
            <a:endParaRPr kumimoji="1" lang="ja-JP" altLang="en-US" sz="2800" b="1" dirty="0">
              <a:latin typeface="メイリオ" panose="020B0604030504040204" pitchFamily="50" charset="-128"/>
              <a:ea typeface="メイリオ" panose="020B0604030504040204" pitchFamily="50" charset="-128"/>
            </a:endParaRPr>
          </a:p>
        </p:txBody>
      </p:sp>
      <p:pic>
        <p:nvPicPr>
          <p:cNvPr id="14" name="Picture 3" descr="https://prcdn.freetls.fastly.net/release_image/3670/2620/3670-2620-f3d271dbbebb23cd335e219d607cc941-1131x1600.jpg?format=jpeg&amp;auto=webp&amp;quality=85%2C65&amp;width=1950&amp;height=1350&amp;fit=bounds">
            <a:extLst>
              <a:ext uri="{FF2B5EF4-FFF2-40B4-BE49-F238E27FC236}">
                <a16:creationId xmlns:a16="http://schemas.microsoft.com/office/drawing/2014/main" id="{662F314B-345C-AD40-C7D4-AAA8ABF647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4560" y="5026207"/>
            <a:ext cx="1044621" cy="1480506"/>
          </a:xfrm>
          <a:prstGeom prst="rect">
            <a:avLst/>
          </a:prstGeom>
          <a:noFill/>
          <a:extLst>
            <a:ext uri="{909E8E84-426E-40DD-AFC4-6F175D3DCCD1}">
              <a14:hiddenFill xmlns:a14="http://schemas.microsoft.com/office/drawing/2010/main">
                <a:solidFill>
                  <a:srgbClr val="FFFFFF"/>
                </a:solidFill>
              </a14:hiddenFill>
            </a:ext>
          </a:extLst>
        </p:spPr>
      </p:pic>
      <p:pic>
        <p:nvPicPr>
          <p:cNvPr id="17" name="図 16">
            <a:extLst>
              <a:ext uri="{FF2B5EF4-FFF2-40B4-BE49-F238E27FC236}">
                <a16:creationId xmlns:a16="http://schemas.microsoft.com/office/drawing/2014/main" id="{881BEFE2-602A-4691-06D5-69A3E6EBDFD1}"/>
              </a:ext>
            </a:extLst>
          </p:cNvPr>
          <p:cNvPicPr>
            <a:picLocks noChangeAspect="1"/>
          </p:cNvPicPr>
          <p:nvPr/>
        </p:nvPicPr>
        <p:blipFill>
          <a:blip r:embed="rId4"/>
          <a:stretch>
            <a:fillRect/>
          </a:stretch>
        </p:blipFill>
        <p:spPr>
          <a:xfrm>
            <a:off x="7912922" y="3255365"/>
            <a:ext cx="2470200" cy="1626737"/>
          </a:xfrm>
          <a:prstGeom prst="rect">
            <a:avLst/>
          </a:prstGeom>
        </p:spPr>
      </p:pic>
      <p:pic>
        <p:nvPicPr>
          <p:cNvPr id="19" name="図 18" descr="壁に掛けられた看板&#10;&#10;説明は自動で生成されたものです">
            <a:extLst>
              <a:ext uri="{FF2B5EF4-FFF2-40B4-BE49-F238E27FC236}">
                <a16:creationId xmlns:a16="http://schemas.microsoft.com/office/drawing/2014/main" id="{4B9CD127-4229-24D0-2A22-BB8D97232835}"/>
              </a:ext>
            </a:extLst>
          </p:cNvPr>
          <p:cNvPicPr>
            <a:picLocks noChangeAspect="1"/>
          </p:cNvPicPr>
          <p:nvPr/>
        </p:nvPicPr>
        <p:blipFill>
          <a:blip r:embed="rId5"/>
          <a:stretch>
            <a:fillRect/>
          </a:stretch>
        </p:blipFill>
        <p:spPr>
          <a:xfrm>
            <a:off x="4666480" y="5029623"/>
            <a:ext cx="2236761" cy="1464533"/>
          </a:xfrm>
          <a:prstGeom prst="rect">
            <a:avLst/>
          </a:prstGeom>
        </p:spPr>
      </p:pic>
      <p:sp>
        <p:nvSpPr>
          <p:cNvPr id="2" name="スライド番号プレースホルダー 1">
            <a:extLst>
              <a:ext uri="{FF2B5EF4-FFF2-40B4-BE49-F238E27FC236}">
                <a16:creationId xmlns:a16="http://schemas.microsoft.com/office/drawing/2014/main" id="{6FFCF18D-7673-4878-C34A-EDA054A3307B}"/>
              </a:ext>
            </a:extLst>
          </p:cNvPr>
          <p:cNvSpPr>
            <a:spLocks noGrp="1"/>
          </p:cNvSpPr>
          <p:nvPr>
            <p:ph type="sldNum" sz="quarter" idx="10"/>
          </p:nvPr>
        </p:nvSpPr>
        <p:spPr/>
        <p:txBody>
          <a:bodyPr/>
          <a:lstStyle/>
          <a:p>
            <a:fld id="{B75FDD43-FCEC-4ECC-8189-A5C6D2E08DC6}" type="slidenum">
              <a:rPr lang="ja-JP" altLang="en-US" smtClean="0"/>
              <a:pPr/>
              <a:t>68</a:t>
            </a:fld>
            <a:endParaRPr lang="ja-JP" altLang="en-US"/>
          </a:p>
        </p:txBody>
      </p:sp>
      <p:pic>
        <p:nvPicPr>
          <p:cNvPr id="5" name="図 4" descr="らくがき が含まれている画像&#10;&#10;AI 生成コンテンツは誤りを含む可能性があります。">
            <a:extLst>
              <a:ext uri="{FF2B5EF4-FFF2-40B4-BE49-F238E27FC236}">
                <a16:creationId xmlns:a16="http://schemas.microsoft.com/office/drawing/2014/main" id="{7E37B942-F554-24E2-024F-DA4BED84EB8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54070" y="3255365"/>
            <a:ext cx="2974836" cy="1626737"/>
          </a:xfrm>
          <a:prstGeom prst="rect">
            <a:avLst/>
          </a:prstGeom>
        </p:spPr>
      </p:pic>
      <p:pic>
        <p:nvPicPr>
          <p:cNvPr id="7" name="図 6">
            <a:extLst>
              <a:ext uri="{FF2B5EF4-FFF2-40B4-BE49-F238E27FC236}">
                <a16:creationId xmlns:a16="http://schemas.microsoft.com/office/drawing/2014/main" id="{840E0652-14FA-CB7E-D0C8-A154A7C22B14}"/>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190500" y="5026208"/>
            <a:ext cx="1044621" cy="1480062"/>
          </a:xfrm>
          <a:prstGeom prst="rect">
            <a:avLst/>
          </a:prstGeom>
        </p:spPr>
      </p:pic>
      <p:pic>
        <p:nvPicPr>
          <p:cNvPr id="8" name="図 7" descr="ダイアグラム&#10;&#10;AI によって生成されたコンテンツは間違っている可能性があります。">
            <a:extLst>
              <a:ext uri="{FF2B5EF4-FFF2-40B4-BE49-F238E27FC236}">
                <a16:creationId xmlns:a16="http://schemas.microsoft.com/office/drawing/2014/main" id="{A0142FBA-DFF9-13B6-0C34-25917BD7429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356440" y="5026207"/>
            <a:ext cx="1044621" cy="1477757"/>
          </a:xfrm>
          <a:prstGeom prst="rect">
            <a:avLst/>
          </a:prstGeom>
        </p:spPr>
      </p:pic>
      <p:pic>
        <p:nvPicPr>
          <p:cNvPr id="10" name="図 9">
            <a:extLst>
              <a:ext uri="{FF2B5EF4-FFF2-40B4-BE49-F238E27FC236}">
                <a16:creationId xmlns:a16="http://schemas.microsoft.com/office/drawing/2014/main" id="{DA2D84B5-0033-DF10-516B-34E4DFADA719}"/>
              </a:ext>
            </a:extLst>
          </p:cNvPr>
          <p:cNvPicPr>
            <a:picLocks noChangeAspect="1"/>
          </p:cNvPicPr>
          <p:nvPr/>
        </p:nvPicPr>
        <p:blipFill>
          <a:blip r:embed="rId9"/>
          <a:stretch>
            <a:fillRect/>
          </a:stretch>
        </p:blipFill>
        <p:spPr>
          <a:xfrm>
            <a:off x="1795218" y="5026478"/>
            <a:ext cx="2749943" cy="1548204"/>
          </a:xfrm>
          <a:prstGeom prst="rect">
            <a:avLst/>
          </a:prstGeom>
        </p:spPr>
      </p:pic>
      <p:pic>
        <p:nvPicPr>
          <p:cNvPr id="13" name="図 12" descr="テキスト が含まれている画像&#10;&#10;AI 生成コンテンツは誤りを含む可能性があります。">
            <a:extLst>
              <a:ext uri="{FF2B5EF4-FFF2-40B4-BE49-F238E27FC236}">
                <a16:creationId xmlns:a16="http://schemas.microsoft.com/office/drawing/2014/main" id="{C4544BED-F259-B601-37FA-CF1C11428E0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95218" y="3255365"/>
            <a:ext cx="2903687" cy="1633324"/>
          </a:xfrm>
          <a:prstGeom prst="rect">
            <a:avLst/>
          </a:prstGeom>
        </p:spPr>
      </p:pic>
    </p:spTree>
    <p:extLst>
      <p:ext uri="{BB962C8B-B14F-4D97-AF65-F5344CB8AC3E}">
        <p14:creationId xmlns:p14="http://schemas.microsoft.com/office/powerpoint/2010/main" val="109239209"/>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DGALL規定テーマ_白">
  <a:themeElements>
    <a:clrScheme name="DGALL">
      <a:dk1>
        <a:srgbClr val="333333"/>
      </a:dk1>
      <a:lt1>
        <a:srgbClr val="FFFFFF"/>
      </a:lt1>
      <a:dk2>
        <a:srgbClr val="111111"/>
      </a:dk2>
      <a:lt2>
        <a:srgbClr val="EEEEEE"/>
      </a:lt2>
      <a:accent1>
        <a:srgbClr val="E99168"/>
      </a:accent1>
      <a:accent2>
        <a:srgbClr val="E8D966"/>
      </a:accent2>
      <a:accent3>
        <a:srgbClr val="94C86B"/>
      </a:accent3>
      <a:accent4>
        <a:srgbClr val="73BACB"/>
      </a:accent4>
      <a:accent5>
        <a:srgbClr val="D9A91A"/>
      </a:accent5>
      <a:accent6>
        <a:srgbClr val="E35B5B"/>
      </a:accent6>
      <a:hlink>
        <a:srgbClr val="0066C0"/>
      </a:hlink>
      <a:folHlink>
        <a:srgbClr val="993CF6"/>
      </a:folHlink>
    </a:clrScheme>
    <a:fontScheme name="DGALL資料規定フォント">
      <a:majorFont>
        <a:latin typeface="Noto Sans JP SemiBold"/>
        <a:ea typeface="Noto Sans JP SemiBold"/>
        <a:cs typeface=""/>
      </a:majorFont>
      <a:minorFont>
        <a:latin typeface="Noto Sans JP"/>
        <a:ea typeface="Noto Sans JP"/>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gradFill flip="none" rotWithShape="1">
          <a:gsLst>
            <a:gs pos="7000">
              <a:schemeClr val="bg1"/>
            </a:gs>
            <a:gs pos="63000">
              <a:srgbClr val="0093A8"/>
            </a:gs>
          </a:gsLst>
          <a:lin ang="10800000" scaled="1"/>
          <a:tileRect/>
        </a:gradFill>
        <a:ln w="38100" algn="ctr">
          <a:noFill/>
          <a:miter lim="800000"/>
          <a:headEnd/>
          <a:tailEnd/>
        </a:ln>
        <a:effectLst/>
      </a:spPr>
      <a:bodyPr wrap="none" lIns="90000" tIns="46800" rIns="90000" bIns="46800" anchor="ctr"/>
      <a:lstStyle>
        <a:defPPr algn="l" defTabSz="914400" fontAlgn="base">
          <a:spcBef>
            <a:spcPct val="50000"/>
          </a:spcBef>
          <a:spcAft>
            <a:spcPct val="0"/>
          </a:spcAft>
          <a:defRPr sz="2000" b="1" noProof="0" dirty="0">
            <a:solidFill>
              <a:schemeClr val="bg1"/>
            </a:solidFill>
            <a:latin typeface="Meiryo UI" panose="020B0604030504040204" pitchFamily="50" charset="-128"/>
            <a:ea typeface="Meiryo UI" panose="020B0604030504040204" pitchFamily="50" charset="-128"/>
          </a:defRPr>
        </a:defPPr>
      </a:lstStyle>
    </a:spDef>
  </a:objectDefaults>
  <a:extraClrSchemeLst/>
  <a:extLst>
    <a:ext uri="{05A4C25C-085E-4340-85A3-A5531E510DB2}">
      <thm15:themeFamily xmlns:thm15="http://schemas.microsoft.com/office/thememl/2012/main" name="クリエイター向け会社案内資料" id="{4200C329-F7F7-9B4C-9260-0BB3EDBDEB1E}" vid="{9230B84E-7BC6-F841-8F93-11B0A45BC935}"/>
    </a:ext>
  </a:extLst>
</a:theme>
</file>

<file path=ppt/theme/theme2.xml><?xml version="1.0" encoding="utf-8"?>
<a:theme xmlns:a="http://schemas.openxmlformats.org/drawingml/2006/main" name="DGALL規定テーマ_黒">
  <a:themeElements>
    <a:clrScheme name="DGALL規定_黒">
      <a:dk1>
        <a:srgbClr val="EEEEEE"/>
      </a:dk1>
      <a:lt1>
        <a:srgbClr val="111111"/>
      </a:lt1>
      <a:dk2>
        <a:srgbClr val="333333"/>
      </a:dk2>
      <a:lt2>
        <a:srgbClr val="FFFFFF"/>
      </a:lt2>
      <a:accent1>
        <a:srgbClr val="E99168"/>
      </a:accent1>
      <a:accent2>
        <a:srgbClr val="E8D966"/>
      </a:accent2>
      <a:accent3>
        <a:srgbClr val="94C86B"/>
      </a:accent3>
      <a:accent4>
        <a:srgbClr val="73BACB"/>
      </a:accent4>
      <a:accent5>
        <a:srgbClr val="D9A91A"/>
      </a:accent5>
      <a:accent6>
        <a:srgbClr val="E35B5B"/>
      </a:accent6>
      <a:hlink>
        <a:srgbClr val="0066C0"/>
      </a:hlink>
      <a:folHlink>
        <a:srgbClr val="993CF6"/>
      </a:folHlink>
    </a:clrScheme>
    <a:fontScheme name="DGALL資料規定フォント">
      <a:majorFont>
        <a:latin typeface="Noto Sans JP SemiBold"/>
        <a:ea typeface="Noto Sans JP SemiBold"/>
        <a:cs typeface=""/>
      </a:majorFont>
      <a:minorFont>
        <a:latin typeface="Noto Sans JP"/>
        <a:ea typeface="Noto Sans JP"/>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gradFill flip="none" rotWithShape="1">
          <a:gsLst>
            <a:gs pos="7000">
              <a:schemeClr val="bg1"/>
            </a:gs>
            <a:gs pos="63000">
              <a:srgbClr val="0093A8"/>
            </a:gs>
          </a:gsLst>
          <a:lin ang="10800000" scaled="1"/>
          <a:tileRect/>
        </a:gradFill>
        <a:ln w="38100" algn="ctr">
          <a:noFill/>
          <a:miter lim="800000"/>
          <a:headEnd/>
          <a:tailEnd/>
        </a:ln>
        <a:effectLst/>
      </a:spPr>
      <a:bodyPr wrap="none" lIns="90000" tIns="46800" rIns="90000" bIns="46800" anchor="ctr"/>
      <a:lstStyle>
        <a:defPPr algn="l" defTabSz="914400" fontAlgn="base">
          <a:spcBef>
            <a:spcPct val="50000"/>
          </a:spcBef>
          <a:spcAft>
            <a:spcPct val="0"/>
          </a:spcAft>
          <a:defRPr sz="2000" b="1" noProof="0" dirty="0">
            <a:solidFill>
              <a:schemeClr val="bg1"/>
            </a:solidFill>
            <a:latin typeface="Meiryo UI" panose="020B0604030504040204" pitchFamily="50" charset="-128"/>
            <a:ea typeface="Meiryo UI" panose="020B0604030504040204" pitchFamily="50" charset="-128"/>
          </a:defRPr>
        </a:defPPr>
      </a:lstStyle>
    </a:spDef>
  </a:objectDefaults>
  <a:extraClrSchemeLst/>
  <a:extLst>
    <a:ext uri="{05A4C25C-085E-4340-85A3-A5531E510DB2}">
      <thm15:themeFamily xmlns:thm15="http://schemas.microsoft.com/office/thememl/2012/main" name="クリエイター向け会社案内資料" id="{4200C329-F7F7-9B4C-9260-0BB3EDBDEB1E}" vid="{9230B84E-7BC6-F841-8F93-11B0A45BC935}"/>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FC32C6BEDBB72044BFB24B956C32B724" ma:contentTypeVersion="18" ma:contentTypeDescription="新しいドキュメントを作成します。" ma:contentTypeScope="" ma:versionID="8224afac838a8a7b07751081bb6e6f7e">
  <xsd:schema xmlns:xsd="http://www.w3.org/2001/XMLSchema" xmlns:xs="http://www.w3.org/2001/XMLSchema" xmlns:p="http://schemas.microsoft.com/office/2006/metadata/properties" xmlns:ns2="1c6484e4-94e8-4642-83d9-154ebb74b2be" xmlns:ns3="8f52a9fb-6a13-40a1-9ccb-f44440a20e94" targetNamespace="http://schemas.microsoft.com/office/2006/metadata/properties" ma:root="true" ma:fieldsID="7127870f698c1ec2e12518ae138a0fdd" ns2:_="" ns3:_="">
    <xsd:import namespace="1c6484e4-94e8-4642-83d9-154ebb74b2be"/>
    <xsd:import namespace="8f52a9fb-6a13-40a1-9ccb-f44440a20e9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_x5171__x6709__x30ea__x30f3__x30af_"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6484e4-94e8-4642-83d9-154ebb74b2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4a020c28-1639-4b77-9f9f-b5744ddc7084" ma:termSetId="09814cd3-568e-fe90-9814-8d621ff8fb84" ma:anchorId="fba54fb3-c3e1-fe81-a776-ca4b69148c4d" ma:open="true" ma:isKeyword="false">
      <xsd:complexType>
        <xsd:sequence>
          <xsd:element ref="pc:Terms" minOccurs="0" maxOccurs="1"/>
        </xsd:sequence>
      </xsd:complexType>
    </xsd:element>
    <xsd:element name="MediaServiceLocation" ma:index="21" nillable="true" ma:displayName="Location" ma:indexed="true" ma:internalName="MediaServiceLocatio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_x5171__x6709__x30ea__x30f3__x30af_" ma:index="23" nillable="true" ma:displayName="共有リンク" ma:format="Hyperlink" ma:internalName="_x5171__x6709__x30ea__x30f3__x30af_">
      <xsd:complexType>
        <xsd:complexContent>
          <xsd:extension base="dms:URL">
            <xsd:sequence>
              <xsd:element name="Url" type="dms:ValidUrl" minOccurs="0" nillable="true"/>
              <xsd:element name="Description" type="xsd:string" nillable="true"/>
            </xsd:sequence>
          </xsd:extension>
        </xsd:complexContent>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f52a9fb-6a13-40a1-9ccb-f44440a20e94"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518e7f00-f2ad-4bb8-a067-a1b8b96d1335}" ma:internalName="TaxCatchAll" ma:showField="CatchAllData" ma:web="8f52a9fb-6a13-40a1-9ccb-f44440a20e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x5171__x6709__x30ea__x30f3__x30af_ xmlns="1c6484e4-94e8-4642-83d9-154ebb74b2be">
      <Url xsi:nil="true"/>
      <Description xsi:nil="true"/>
    </_x5171__x6709__x30ea__x30f3__x30af_>
    <lcf76f155ced4ddcb4097134ff3c332f xmlns="1c6484e4-94e8-4642-83d9-154ebb74b2be">
      <Terms xmlns="http://schemas.microsoft.com/office/infopath/2007/PartnerControls"/>
    </lcf76f155ced4ddcb4097134ff3c332f>
    <TaxCatchAll xmlns="8f52a9fb-6a13-40a1-9ccb-f44440a20e94" xsi:nil="true"/>
  </documentManagement>
</p:properties>
</file>

<file path=customXml/itemProps1.xml><?xml version="1.0" encoding="utf-8"?>
<ds:datastoreItem xmlns:ds="http://schemas.openxmlformats.org/officeDocument/2006/customXml" ds:itemID="{1BFFA371-4FCB-43C3-87C4-CA9DA2665D28}">
  <ds:schemaRefs>
    <ds:schemaRef ds:uri="http://schemas.microsoft.com/sharepoint/v3/contenttype/forms"/>
  </ds:schemaRefs>
</ds:datastoreItem>
</file>

<file path=customXml/itemProps2.xml><?xml version="1.0" encoding="utf-8"?>
<ds:datastoreItem xmlns:ds="http://schemas.openxmlformats.org/officeDocument/2006/customXml" ds:itemID="{C8B13F5A-080C-47D3-B4C3-77480960A8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6484e4-94e8-4642-83d9-154ebb74b2be"/>
    <ds:schemaRef ds:uri="8f52a9fb-6a13-40a1-9ccb-f44440a20e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69EC2B6-B3E1-493E-A379-FACAB4B27FF6}">
  <ds:schemaRefs>
    <ds:schemaRef ds:uri="http://purl.org/dc/dcmitype/"/>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purl.org/dc/terms/"/>
    <ds:schemaRef ds:uri="http://schemas.microsoft.com/office/infopath/2007/PartnerControls"/>
    <ds:schemaRef ds:uri="8f52a9fb-6a13-40a1-9ccb-f44440a20e94"/>
    <ds:schemaRef ds:uri="1c6484e4-94e8-4642-83d9-154ebb74b2b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610</TotalTime>
  <Words>7037</Words>
  <Application>Microsoft Office PowerPoint</Application>
  <PresentationFormat>ワイド画面</PresentationFormat>
  <Paragraphs>1193</Paragraphs>
  <Slides>69</Slides>
  <Notes>50</Notes>
  <HiddenSlides>0</HiddenSlides>
  <MMClips>0</MMClips>
  <ScaleCrop>false</ScaleCrop>
  <HeadingPairs>
    <vt:vector size="6" baseType="variant">
      <vt:variant>
        <vt:lpstr>使用されているフォント</vt:lpstr>
      </vt:variant>
      <vt:variant>
        <vt:i4>11</vt:i4>
      </vt:variant>
      <vt:variant>
        <vt:lpstr>テーマ</vt:lpstr>
      </vt:variant>
      <vt:variant>
        <vt:i4>2</vt:i4>
      </vt:variant>
      <vt:variant>
        <vt:lpstr>スライド タイトル</vt:lpstr>
      </vt:variant>
      <vt:variant>
        <vt:i4>69</vt:i4>
      </vt:variant>
    </vt:vector>
  </HeadingPairs>
  <TitlesOfParts>
    <vt:vector size="82" baseType="lpstr">
      <vt:lpstr>HGP創英角ｺﾞｼｯｸUB</vt:lpstr>
      <vt:lpstr>Meiryo UI</vt:lpstr>
      <vt:lpstr>Noto Sans JP</vt:lpstr>
      <vt:lpstr>Noto Sans JP SemiBold</vt:lpstr>
      <vt:lpstr>メイリオ</vt:lpstr>
      <vt:lpstr>メイリオ</vt:lpstr>
      <vt:lpstr>游ゴシック</vt:lpstr>
      <vt:lpstr>Arial</vt:lpstr>
      <vt:lpstr>Barlow Black</vt:lpstr>
      <vt:lpstr>Calibri</vt:lpstr>
      <vt:lpstr>Times New Roman</vt:lpstr>
      <vt:lpstr>DGALL規定テーマ_白</vt:lpstr>
      <vt:lpstr>DGALL規定テーマ_黒</vt:lpstr>
      <vt:lpstr>C&amp;Rグループ 株式会社クリーク･アンド･リバー社</vt:lpstr>
      <vt:lpstr>会社概要</vt:lpstr>
      <vt:lpstr>C&amp;Rグループの経営理念</vt:lpstr>
      <vt:lpstr>C&amp;Rグループのビジネスモデル</vt:lpstr>
      <vt:lpstr>PowerPoint プレゼンテーション</vt:lpstr>
      <vt:lpstr>C&amp;Rグループ紹介</vt:lpstr>
      <vt:lpstr>C&amp;Rグループの売上高</vt:lpstr>
      <vt:lpstr>C&amp;Rグループの対応分野と取引社数</vt:lpstr>
      <vt:lpstr>プロデュース事業の開発・請負</vt:lpstr>
      <vt:lpstr>ゲーム･ライツ事業を中心とした デジタルエンタテインメント領域</vt:lpstr>
      <vt:lpstr>ゲーム･ライツ事業の各種サービス領域</vt:lpstr>
      <vt:lpstr>日本最大級のスタジオを選ぶ理由</vt:lpstr>
      <vt:lpstr>日本最大級のスタジオを選ぶ理由１：制作開発（Games）</vt:lpstr>
      <vt:lpstr>PowerPoint プレゼンテーション</vt:lpstr>
      <vt:lpstr>PowerPoint プレゼンテーション</vt:lpstr>
      <vt:lpstr>PowerPoint プレゼンテーション</vt:lpstr>
      <vt:lpstr>ゲーム受託開発</vt:lpstr>
      <vt:lpstr>パブリッシング支援</vt:lpstr>
      <vt:lpstr>PowerPoint プレゼンテーション</vt:lpstr>
      <vt:lpstr>PowerPoint プレゼンテーション</vt:lpstr>
      <vt:lpstr>CGアセット制作およびCGテクニカルサポート</vt:lpstr>
      <vt:lpstr>CGアセット制作</vt:lpstr>
      <vt:lpstr>CGアセット制作および映像制作</vt:lpstr>
      <vt:lpstr>映像制作</vt:lpstr>
      <vt:lpstr>CGアセット制作</vt:lpstr>
      <vt:lpstr>日本最大級のスタジオを選ぶ理由１：制作開発（Web）</vt:lpstr>
      <vt:lpstr>PowerPoint プレゼンテーション</vt:lpstr>
      <vt:lpstr>取引先一覧（順不同、一部抜粋）</vt:lpstr>
      <vt:lpstr>日本最大級のスタジオを選ぶ理由２：体制構築</vt:lpstr>
      <vt:lpstr>日本最大級のスタジオを選ぶ理由２：盤石の制作･開発体制</vt:lpstr>
      <vt:lpstr>日本最大級のスタジオを選ぶ理由３：採用支援 リスキリング</vt:lpstr>
      <vt:lpstr>日本最大級のスタジオを選ぶ理由３：採用支援 RPO</vt:lpstr>
      <vt:lpstr>私たちが大切にしていること：ミッションと行動指針</vt:lpstr>
      <vt:lpstr>PowerPoint プレゼンテーション</vt:lpstr>
      <vt:lpstr>開発スタジオから技術情報を発信中</vt:lpstr>
      <vt:lpstr>ご提案から導入までの流れ</vt:lpstr>
      <vt:lpstr>VTuberコンテンツ制作サービス</vt:lpstr>
      <vt:lpstr>教育事業　C&amp;R Creative Academy</vt:lpstr>
      <vt:lpstr>C&amp;R Creative Academyによる若手育成</vt:lpstr>
      <vt:lpstr>2024年 クリエイター交流会イベント実績（一部）</vt:lpstr>
      <vt:lpstr>取材・撮影ネットワーク</vt:lpstr>
      <vt:lpstr>採用Webコンテンツアップデートサービス</vt:lpstr>
      <vt:lpstr>インバウンド向けWebコンテンツ制作</vt:lpstr>
      <vt:lpstr>エージェンシー事業の派遣・紹介</vt:lpstr>
      <vt:lpstr>2024年 採用関連イベント実績（一部）</vt:lpstr>
      <vt:lpstr>求人サイト『ファミキャリ』</vt:lpstr>
      <vt:lpstr>転職スカウトサイト『ゲームキャリアスカウト』</vt:lpstr>
      <vt:lpstr>C&amp;Rグループ 最近の取り組み</vt:lpstr>
      <vt:lpstr>最近の取り組み</vt:lpstr>
      <vt:lpstr>最近の取り組み</vt:lpstr>
      <vt:lpstr>最近の取り組み</vt:lpstr>
      <vt:lpstr>最近の取り組み</vt:lpstr>
      <vt:lpstr>最近の取り組み</vt:lpstr>
      <vt:lpstr>最近の取り組み</vt:lpstr>
      <vt:lpstr>最近の取り組み</vt:lpstr>
      <vt:lpstr>IPコラボレーション実績（一部）</vt:lpstr>
      <vt:lpstr>IPコラボレーション実績（一部）</vt:lpstr>
      <vt:lpstr>最近の取り組み</vt:lpstr>
      <vt:lpstr>最近の取り組み</vt:lpstr>
      <vt:lpstr>最近の取り組み</vt:lpstr>
      <vt:lpstr>最近の取り組み</vt:lpstr>
      <vt:lpstr>最近の取り組み</vt:lpstr>
      <vt:lpstr>最近の取り組み</vt:lpstr>
      <vt:lpstr>最近の取り組み</vt:lpstr>
      <vt:lpstr>最近の取り組み</vt:lpstr>
      <vt:lpstr>最近の取り組み</vt:lpstr>
      <vt:lpstr>最近の取り組み</vt:lpstr>
      <vt:lpstr>最近の取り組み</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Norishige Hirama(CR)</dc:creator>
  <cp:lastModifiedBy>Kikuchi,Kazunari CR/1DG</cp:lastModifiedBy>
  <cp:revision>91</cp:revision>
  <dcterms:created xsi:type="dcterms:W3CDTF">2018-10-12T06:42:43Z</dcterms:created>
  <dcterms:modified xsi:type="dcterms:W3CDTF">2026-04-06T08:04:37Z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0x010100FC32C6BEDBB72044BFB24B956C32B724</vt:lpwstr>
  </property>
  <property fmtid="{D5CDD505-2E9C-101B-9397-08002B2CF9AE}" pid="3" name="MediaServiceImageTags">
    <vt:lpwstr/>
  </property>
</Properties>
</file>